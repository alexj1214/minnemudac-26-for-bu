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12192000"/>
  <p:notesSz cx="6858000" cy="12192000"/>
  <p:embeddedFontLst>
    <p:embeddedFont>
      <p:font typeface="Source Sans 3"/>
      <p:regular r:id="rId39"/>
      <p:bold r:id="rId40"/>
      <p:italic r:id="rId41"/>
      <p:boldItalic r:id="rId42"/>
    </p:embeddedFont>
    <p:embeddedFont>
      <p:font typeface="Source Serif 4"/>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7" roundtripDataSignature="AMtx7mj2W39Ffa7VH+h6AgSosPndLVsJ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4A676D-5FE0-4728-95B7-5A5512F2545D}">
  <a:tblStyle styleId="{B14A676D-5FE0-4728-95B7-5A5512F2545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SourceSans3-bold.fntdata"/><Relationship Id="rId20" Type="http://schemas.openxmlformats.org/officeDocument/2006/relationships/slide" Target="slides/slide15.xml"/><Relationship Id="rId42" Type="http://schemas.openxmlformats.org/officeDocument/2006/relationships/font" Target="fonts/SourceSans3-boldItalic.fntdata"/><Relationship Id="rId41" Type="http://schemas.openxmlformats.org/officeDocument/2006/relationships/font" Target="fonts/SourceSans3-italic.fntdata"/><Relationship Id="rId22" Type="http://schemas.openxmlformats.org/officeDocument/2006/relationships/slide" Target="slides/slide17.xml"/><Relationship Id="rId44" Type="http://schemas.openxmlformats.org/officeDocument/2006/relationships/font" Target="fonts/SourceSerif4-bold.fntdata"/><Relationship Id="rId21" Type="http://schemas.openxmlformats.org/officeDocument/2006/relationships/slide" Target="slides/slide16.xml"/><Relationship Id="rId43" Type="http://schemas.openxmlformats.org/officeDocument/2006/relationships/font" Target="fonts/SourceSerif4-regular.fntdata"/><Relationship Id="rId24" Type="http://schemas.openxmlformats.org/officeDocument/2006/relationships/slide" Target="slides/slide19.xml"/><Relationship Id="rId46" Type="http://schemas.openxmlformats.org/officeDocument/2006/relationships/font" Target="fonts/SourceSerif4-boldItalic.fntdata"/><Relationship Id="rId23" Type="http://schemas.openxmlformats.org/officeDocument/2006/relationships/slide" Target="slides/slide18.xml"/><Relationship Id="rId45" Type="http://schemas.openxmlformats.org/officeDocument/2006/relationships/font" Target="fonts/SourceSerif4-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SourceSans3-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Source Sans 3"/>
                <a:ea typeface="Source Sans 3"/>
                <a:cs typeface="Source Sans 3"/>
                <a:sym typeface="Source Sans 3"/>
              </a:rPr>
              <a:t>‹#›</a:t>
            </a:fld>
            <a:endParaRPr b="0" i="0" sz="1200" u="none" cap="none" strike="noStrike">
              <a:solidFill>
                <a:schemeClr val="dk1"/>
              </a:solidFill>
              <a:latin typeface="Source Sans 3"/>
              <a:ea typeface="Source Sans 3"/>
              <a:cs typeface="Source Sans 3"/>
              <a:sym typeface="Source Sans 3"/>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~25 sec. Open with the tension: 636,000 Minnesotans are food insecure, and the same food shelves now serve 62% more people than in 2022. But the people walking in are not a direct read of who needs help. One idea runs through the talk: demand is not need. Demand follows money (prices and SNAP) and access (where shelves are). We will show each piece, then what The Food Group can do about it.</a:t>
            </a:r>
            <a:endParaRP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~30 sec. Lead with the answer. Our one idea: demand is not need. Food shelf traffic follows money and access more than it follows need. That gives four moves: shift pounds to rural food deserts; reach the 117 tracts with no nearby shelf, by mobile stop in the country and by hours or delivery in the city; defend SNAP with numbers, because a 49-million-dollar-a-month cut lifted visits 18 to 26 percent; and staff and stock for the August and fall peaks, using our county forecast. Then: here is the evidence, question by question.</a:t>
            </a:r>
            <a:endParaRPr/>
          </a:p>
        </p:txBody>
      </p:sp>
      <p:sp>
        <p:nvSpPr>
          <p:cNvPr id="57" name="Google Shape;5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~50 sec. Q1: do Feeding America's need numbers and food shelf activity tell the same story? Mostly yes. Each dot is a county; more food-insecure people, more people served, correlation 0.92, and pounds, visits and individuals agree within a point (pounds slightly strongest). Where it breaks down: Steele, Rice and Washington sit far above the line because regional hub sites serve people from other counties. Scott and Pope sit below it. Wilkin has 810 food-insecure people and no records at all. Among county traits, only distance to the nearest food shelf explains the gap. Theme: demand is not need.</a:t>
            </a:r>
            <a:endParaRPr/>
          </a:p>
        </p:txBody>
      </p:sp>
      <p:sp>
        <p:nvSpPr>
          <p:cNvPr id="105" name="Google Shape;10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Bridge from Q1: if activity only follows need in totals, we need a separate measure of need. ~55 sec. Q6: food shelf data shows where people arrive, not where they need help and do not get it. Our need index combines three county measures, none from food shelves: the food-insecurity rate, the local cost of a meal, and the share of food-insecure people below the SNAP income limit. Comparing it with all three activity metrics, seven small rural counties (orange) sit below their need every year; Swift has one food shelf for the whole county. The blue counties are the Q1 hubs. It is falsifiable: we would reject it if it added nothing beyond the food-insecurity rate; we tested that and the rate explains only about half of it. And need barely lines up with per-resident activity at all, which is our theme in one number.</a:t>
            </a:r>
            <a:endParaRPr/>
          </a:p>
        </p:txBody>
      </p:sp>
      <p:sp>
        <p:nvSpPr>
          <p:cNvPr id="140" name="Google Shape;14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Bridge: if demand does not simply follow need, what moves it? Money, starting with prices. ~35 sec. Q4: do more people come when grocery prices rise? Yes, but modestly. Each bar is the extra monthly change in people served after trend and season are removed. A typical month's food price rise adds only about one point. It does not happen at once: there is no same-month link, and the effect builds over several months. Over a year, one point more food inflation goes with about 3.4 points faster growth in people served. All three metrics move the same way; people served shows it most clearly, and pounds least, because pounds also depends on supply. The calendar matters more than prices: a typical October adds five and a half points and December takes away eight, with peaks in August and October to November. The biggest bar is the end of SNAP emergency allotments, which is the next slide. So what: food shelves should plan stock and staff on the calendar, and donors should expect demand to grow faster while food inflation stays high.</a:t>
            </a:r>
            <a:endParaRPr/>
          </a:p>
        </p:txBody>
      </p:sp>
      <p:sp>
        <p:nvSpPr>
          <p:cNvPr id="173" name="Google Shape;17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30c2c2845587104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h30c2c2845587104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~40 sec. Q5: SNAP and food shelves. The shaded band is spring 2023, when SNAP emergency allotments ended: about 49 million dollars a month left Minnesota grocery budgets, and benefit per person fell from about 260 to 160 dollars. The orange line is actual food shelf visits; the dashed line is what trend, prices and season predict without the cut. Visits ran 18 to 26 percent above that prediction, and a placebo test that tries every month as the break point picks spring 2023. Do SNAP and food shelves move together or replace each other? Both. Over time they replace each other: 10 percent less SNAP per person goes with about 5 percent more visits. Across counties they rise together, because both follow need. By location, there is no metro difference, and small counties were hit hardest per resident. So what for lawmakers: a SNAP cut lands on food shelves, which cannot fully absorb it.</a:t>
            </a:r>
            <a:endParaRPr/>
          </a:p>
        </p:txBody>
      </p:sp>
      <p:sp>
        <p:nvSpPr>
          <p:cNvPr id="208" name="Google Shape;208;h30c2c2845587104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Bridge: once we know what moves demand, we can predict it. ~50 sec. Q7 is scored by forecast error across counties, so we built the test to match: use only data through July, predict August, compare, for three past Augusts. Why does the model say what it says? Each county's August forecast is simply its average of May, June and July. We also tried adjusting for each county's change in unemployment from the Bureau of Labor Statistics. It looked better on the two years we used to choose, then lost badly on August 2025, which we had held back as a final exam, so we did not trust it. The simple average was 5.6% off on visits. Our August 2026 forecast: about 236,000 visits statewide (range 229,000 to 263,000), 12.3 million pounds and 730,000 people. No input goes past July 2026.</a:t>
            </a:r>
            <a:endParaRPr/>
          </a:p>
        </p:txBody>
      </p:sp>
      <p:sp>
        <p:nvSpPr>
          <p:cNvPr id="240" name="Google Shape;24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Bridge: a forecast says how many will come; Q8 asks who cannot reach a shelf at all. ~65 sec. Q8. USDA calls a census tract low-income, low-access, a food desert, when incomes are low and the nearest supermarket is more than a mile away in town or ten miles in the country. Does the food shelf network reach them? Less well: 65% of people in poverty in these tracts have a food shelf within USDA's distance, against 72% in other low-income tracts, and rural food deserts can reach 94 pounds of food a year per person, about half of other rural poor tracts. Does it fill the retail gap or repeat it? In cities there is no link. In rural Minnesota, where the grocery is twice as far, the food shelf is about 76% farther: the network repeats the retail pattern. The orange tracts are the 117 gaps: 28 rural tracts a median 12.6 miles from a shelf, and 89 urban tracts a mile and a half away where many families have no car. It holds in all ten definitions we tried. Limits: straight-line distance, partner sites only.</a:t>
            </a:r>
            <a:endParaRPr/>
          </a:p>
        </p:txBody>
      </p:sp>
      <p:sp>
        <p:nvSpPr>
          <p:cNvPr id="273" name="Google Shape;27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~40 sec. Close the loop: these are the four moves from the opening, now with the evidence the judges have just seen, and each is something The Food Group can act on with what it has today. Allocate: rural food deserts reach about 94 pounds per person a year, half of nearby areas, and the Q6 counties are the same thin rural networks, so shift pounds there and plan in pounds per person, not visits. Reach: the 117 gap tracts are two problems, a truck stop in the country and evening hours or delivery in the city; the gap list is ready to use. Advocate: we put a number on a SNAP cut, 49 million dollars a month and an 18 to 26 percent jump in visits. Prepare: August and October to November are the peaks every year; re-run the simple county forecast monthly and watch the SNAP dashboard. Close with: demand is not need.</a:t>
            </a:r>
            <a:endParaRPr/>
          </a:p>
        </p:txBody>
      </p:sp>
      <p:sp>
        <p:nvSpPr>
          <p:cNvPr id="309" name="Google Shape;30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 sec. Thank the judges, repeat "demand is not need", and open for questions. Point to the appendix for detail on any question.</a:t>
            </a:r>
            <a:endParaRPr/>
          </a:p>
        </p:txBody>
      </p:sp>
      <p:sp>
        <p:nvSpPr>
          <p:cNvPr id="353" name="Google Shape;35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Not presented. Jump here during Q&amp;A.</a:t>
            </a:r>
            <a:endParaRPr/>
          </a:p>
        </p:txBody>
      </p:sp>
      <p:sp>
        <p:nvSpPr>
          <p:cNvPr id="370" name="Google Shape;37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 backup for Q&amp;A. Households served is the brief's visit field and equals about 28% of The Food Group's published visit totals, so we report changes, not absolute visits.</a:t>
            </a:r>
            <a:endParaRPr/>
          </a:p>
        </p:txBody>
      </p:sp>
      <p:sp>
        <p:nvSpPr>
          <p:cNvPr id="472" name="Google Shape;47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A2, backup for Q&amp;A. SNAP source, grain and lag as Q5 asks: DCYF dashboard, county or Tribal Nation by accounting month, about one month lag. Tribal Nations are folded into Mille Lacs, Beltrami and Mahnomen.</a:t>
            </a:r>
            <a:endParaRPr/>
          </a:p>
        </p:txBody>
      </p:sp>
      <p:sp>
        <p:nvSpPr>
          <p:cNvPr id="490" name="Google Shape;49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A3, backup for Q&amp;A. Census population turns counts into rates per 1,000 residents. BLS county unemployment was tried as a Q7 input and rejected on the holdout year.</a:t>
            </a:r>
            <a:endParaRPr/>
          </a:p>
        </p:txBody>
      </p:sp>
      <p:sp>
        <p:nvSpPr>
          <p:cNvPr id="508" name="Google Shape;50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A4, backup for Q&amp;A. Main LILA flag: SRAM 2025, driving distance, 1 mile urban and 10 miles rural. The 2019 Atlas, which the brief names, is the check.</a:t>
            </a:r>
            <a:endParaRPr/>
          </a:p>
        </p:txBody>
      </p:sp>
      <p:sp>
        <p:nvSpPr>
          <p:cNvPr id="526" name="Google Shape;52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0" name="Google Shape;54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A5, backup for Q&amp;A. The crosswalk uses shared land area because block populations for both vintages are not in the relationship file.</a:t>
            </a:r>
            <a:endParaRPr/>
          </a:p>
        </p:txBody>
      </p:sp>
      <p:sp>
        <p:nvSpPr>
          <p:cNvPr id="541" name="Google Shape;54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A6, backup for Q&amp;A. The Waseca unit error alone would create a fake statewide spike. Per the code of conduct, operational data problems go back to The Food Group, assuming positive intent.</a:t>
            </a:r>
            <a:endParaRPr/>
          </a:p>
        </p:txBody>
      </p:sp>
      <p:sp>
        <p:nvSpPr>
          <p:cNvPr id="556" name="Google Shape;55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A7, backup for Q&amp;A. All three metrics correlate about 0.92 to 0.93 with Feeding America counts, pounds slightly strongest. That is mostly size; per resident the link is weak. The outliers are about the network: regional hubs and missing coverage.</a:t>
            </a:r>
            <a:endParaRPr/>
          </a:p>
        </p:txBody>
      </p:sp>
      <p:sp>
        <p:nvSpPr>
          <p:cNvPr id="571" name="Google Shape;57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A8, backup for Q&amp;A. Q1 asks for county characteristics. Poverty, SNAP share, no-vehicle share, rural share and hub concentration are not significant; distance to the nearest shelf is.</a:t>
            </a:r>
            <a:endParaRPr/>
          </a:p>
        </p:txBody>
      </p:sp>
      <p:sp>
        <p:nvSpPr>
          <p:cNvPr id="599" name="Google Shape;59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A9, backup for Q&amp;A. Wadena and Chippewa also rank under-served in 2 of 3 years. Wilkin cannot be scored: it has need but no rows at all.</a:t>
            </a:r>
            <a:endParaRPr/>
          </a:p>
        </p:txBody>
      </p:sp>
      <p:sp>
        <p:nvSpPr>
          <p:cNvPr id="627" name="Google Shape;62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A10, backup for Q&amp;A. The four items the addendum requires, stated plainly. The index is an extension of the food-insecurity rate, not a replacement.</a:t>
            </a:r>
            <a:endParaRPr/>
          </a:p>
        </p:txBody>
      </p:sp>
      <p:sp>
        <p:nvSpPr>
          <p:cNvPr id="655" name="Google Shape;65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A11, backup for Q&amp;A. Rurality is the strongest driver of hidden need; shelf density adds a little. The extra components matter: on the food-insecurity rate alone, five of the nine cluster counties drop out.</a:t>
            </a:r>
            <a:endParaRPr/>
          </a:p>
        </p:txBody>
      </p:sp>
      <p:sp>
        <p:nvSpPr>
          <p:cNvPr id="670" name="Google Shape;67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4" name="Google Shape;69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A12, backup for Q&amp;A. Answer Q4 directly: yes, modestly; not at once; the calendar and SNAP shocks are bigger. Activity peaks in August and October to November every year.</a:t>
            </a:r>
            <a:endParaRPr/>
          </a:p>
        </p:txBody>
      </p:sp>
      <p:sp>
        <p:nvSpPr>
          <p:cNvPr id="695" name="Google Shape;69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A13, backup for Q&amp;A. Individuals respond most consistently; pounds least, because pounds reflects supply as well as demand.</a:t>
            </a:r>
            <a:endParaRPr/>
          </a:p>
        </p:txBody>
      </p:sp>
      <p:sp>
        <p:nvSpPr>
          <p:cNvPr id="732" name="Google Shape;73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A14, backup for Q&amp;A. Move together or replace? Both: across counties they rise together because both follow need; over time SNAP money replaces food shelf trips.</a:t>
            </a:r>
            <a:endParaRPr/>
          </a:p>
        </p:txBody>
      </p:sp>
      <p:sp>
        <p:nvSpPr>
          <p:cNvPr id="756" name="Google Shape;75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8" name="Google Shape;78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A15, backup for Q&amp;A. Together across places, replacing over time; no robust month-to-month link inside one county.</a:t>
            </a:r>
            <a:endParaRPr/>
          </a:p>
        </p:txBody>
      </p:sp>
      <p:sp>
        <p:nvSpPr>
          <p:cNvPr id="789" name="Google Shape;78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3" name="Google Shape;80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A16, backup for Q&amp;A. How we know it was SNAP and not prices: CPI is controlled, prices were flat after April 2023, and the placebo scan picks March to June 2023.</a:t>
            </a:r>
            <a:endParaRPr/>
          </a:p>
        </p:txBody>
      </p:sp>
      <p:sp>
        <p:nvSpPr>
          <p:cNvPr id="804" name="Google Shape;80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8" name="Google Shape;81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A17, backup for Q&amp;A. If asked why not fancier: unemployment looked better on the years used to choose and lost on the held-back year, which is the overfitting the holdout exists to catch. Pounds is hardest: 11% error, because pounds also depends on supply; past Augusts ran above the May–July average, so its range sits above the point.</a:t>
            </a:r>
            <a:endParaRPr/>
          </a:p>
        </p:txBody>
      </p:sp>
      <p:sp>
        <p:nvSpPr>
          <p:cNvPr id="819" name="Google Shape;819;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2" name="Google Shape;84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A18, backup for Q&amp;A. Comparison group holds income roughly constant, so the difference is grocery access. The two-step catchment avoids double-counting a shelf shared by several tracts.</a:t>
            </a:r>
            <a:endParaRPr/>
          </a:p>
        </p:txBody>
      </p:sp>
      <p:sp>
        <p:nvSpPr>
          <p:cNvPr id="843" name="Google Shape;84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5" name="Google Shape;86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A19, backup for Q&amp;A. Slope 1 means the network repeats the retail map; 0 means independent; below 0 means it fills the gap. Rural Minnesota is close to repeating.</a:t>
            </a:r>
            <a:endParaRPr/>
          </a:p>
        </p:txBody>
      </p:sp>
      <p:sp>
        <p:nvSpPr>
          <p:cNvPr id="866" name="Google Shape;86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 name="Google Shape;89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A20, backup for Q&amp;A. Two problems: a mobile stop in the country, hours, delivery or transit in the city. The gap list is ranked by people in poverty.</a:t>
            </a:r>
            <a:endParaRPr/>
          </a:p>
        </p:txBody>
      </p:sp>
      <p:sp>
        <p:nvSpPr>
          <p:cNvPr id="893" name="Google Shape;89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9" name="Google Shape;929;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A21, backup for Q&amp;A. The coverage gap appears every time; capacity reverses only under the vehicle-access definition. The 2019 Atlas gives the same answer.</a:t>
            </a:r>
            <a:endParaRPr/>
          </a:p>
        </p:txBody>
      </p:sp>
      <p:sp>
        <p:nvSpPr>
          <p:cNvPr id="930" name="Google Shape;930;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4" name="Google Shape;94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A22, backup for Q&amp;A. Judges reward honesty about limits. Left: what our data cannot tell you. Right: how we tried to prove ourselves wrong.</a:t>
            </a:r>
            <a:endParaRPr/>
          </a:p>
        </p:txBody>
      </p:sp>
      <p:sp>
        <p:nvSpPr>
          <p:cNvPr id="945" name="Google Shape;94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7F2E8"/>
        </a:solidFill>
      </p:bgPr>
    </p:bg>
    <p:spTree>
      <p:nvGrpSpPr>
        <p:cNvPr id="13" name="Shape 13"/>
        <p:cNvGrpSpPr/>
        <p:nvPr/>
      </p:nvGrpSpPr>
      <p:grpSpPr>
        <a:xfrm>
          <a:off x="0" y="0"/>
          <a:ext cx="0" cy="0"/>
          <a:chOff x="0" y="0"/>
          <a:chExt cx="0" cy="0"/>
        </a:xfrm>
      </p:grpSpPr>
      <p:sp>
        <p:nvSpPr>
          <p:cNvPr id="14" name="Google Shape;14;p36"/>
          <p:cNvSpPr txBox="1"/>
          <p:nvPr>
            <p:ph type="title"/>
          </p:nvPr>
        </p:nvSpPr>
        <p:spPr>
          <a:xfrm>
            <a:off x="1320800" y="945505"/>
            <a:ext cx="10261600" cy="29334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3B2D"/>
              </a:buClr>
              <a:buSzPts val="2100"/>
              <a:buFont typeface="Source Serif 4"/>
              <a:buNone/>
              <a:defRPr sz="2100">
                <a:solidFill>
                  <a:srgbClr val="1F3B2D"/>
                </a:solidFill>
                <a:latin typeface="Source Serif 4"/>
                <a:ea typeface="Source Serif 4"/>
                <a:cs typeface="Source Serif 4"/>
                <a:sym typeface="Source Serif 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6"/>
          <p:cNvSpPr txBox="1"/>
          <p:nvPr>
            <p:ph idx="1" type="body"/>
          </p:nvPr>
        </p:nvSpPr>
        <p:spPr>
          <a:xfrm>
            <a:off x="1320800" y="1543645"/>
            <a:ext cx="10058400" cy="4501555"/>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3B2D"/>
              </a:buClr>
              <a:buSzPts val="1600"/>
              <a:buNone/>
              <a:defRPr sz="1600">
                <a:solidFill>
                  <a:srgbClr val="1F3B2D"/>
                </a:solidFill>
                <a:latin typeface="Source Sans 3"/>
                <a:ea typeface="Source Sans 3"/>
                <a:cs typeface="Source Sans 3"/>
                <a:sym typeface="Source Sans 3"/>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 name="Google Shape;16;p36"/>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
        <p:nvSpPr>
          <p:cNvPr id="18" name="Google Shape;18;p37"/>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1320800" y="945505"/>
            <a:ext cx="10261600" cy="29334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3B2D"/>
              </a:buClr>
              <a:buSzPts val="2100"/>
              <a:buFont typeface="Source Serif 4"/>
              <a:buNone/>
              <a:defRPr b="0" i="0" sz="2100" u="none" cap="none" strike="noStrike">
                <a:solidFill>
                  <a:srgbClr val="1F3B2D"/>
                </a:solidFill>
                <a:latin typeface="Source Serif 4"/>
                <a:ea typeface="Source Serif 4"/>
                <a:cs typeface="Source Serif 4"/>
                <a:sym typeface="Source Serif 4"/>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5"/>
          <p:cNvSpPr txBox="1"/>
          <p:nvPr>
            <p:ph idx="1" type="body"/>
          </p:nvPr>
        </p:nvSpPr>
        <p:spPr>
          <a:xfrm>
            <a:off x="1320800" y="1543645"/>
            <a:ext cx="10058400" cy="4501555"/>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3B2D"/>
              </a:buClr>
              <a:buSzPts val="1600"/>
              <a:buFont typeface="Arial"/>
              <a:buNone/>
              <a:defRPr b="0" i="0" sz="1600" u="none" cap="none" strike="noStrike">
                <a:solidFill>
                  <a:srgbClr val="1F3B2D"/>
                </a:solidFill>
                <a:latin typeface="Source Sans 3"/>
                <a:ea typeface="Source Sans 3"/>
                <a:cs typeface="Source Sans 3"/>
                <a:sym typeface="Source Sans 3"/>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Source Sans 3"/>
                <a:ea typeface="Source Sans 3"/>
                <a:cs typeface="Source Sans 3"/>
                <a:sym typeface="Source Sans 3"/>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Source Sans 3"/>
                <a:ea typeface="Source Sans 3"/>
                <a:cs typeface="Source Sans 3"/>
                <a:sym typeface="Source Sans 3"/>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9pPr>
          </a:lstStyle>
          <a:p/>
        </p:txBody>
      </p:sp>
      <p:sp>
        <p:nvSpPr>
          <p:cNvPr id="12" name="Google Shape;12;p35"/>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23" name="Shape 23"/>
        <p:cNvGrpSpPr/>
        <p:nvPr/>
      </p:nvGrpSpPr>
      <p:grpSpPr>
        <a:xfrm>
          <a:off x="0" y="0"/>
          <a:ext cx="0" cy="0"/>
          <a:chOff x="0" y="0"/>
          <a:chExt cx="0" cy="0"/>
        </a:xfrm>
      </p:grpSpPr>
      <p:sp>
        <p:nvSpPr>
          <p:cNvPr id="24" name="Google Shape;24;p1"/>
          <p:cNvSpPr/>
          <p:nvPr/>
        </p:nvSpPr>
        <p:spPr>
          <a:xfrm>
            <a:off x="7493000" y="0"/>
            <a:ext cx="4699000" cy="6858000"/>
          </a:xfrm>
          <a:prstGeom prst="rect">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
          <p:cNvSpPr/>
          <p:nvPr/>
        </p:nvSpPr>
        <p:spPr>
          <a:xfrm>
            <a:off x="7874000" y="952500"/>
            <a:ext cx="405511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FOUR QUESTIONS, ONE STORY</a:t>
            </a:r>
            <a:endParaRPr b="0" i="0" sz="1200" u="none" cap="none" strike="noStrike">
              <a:solidFill>
                <a:schemeClr val="dk1"/>
              </a:solidFill>
              <a:latin typeface="Source Sans 3"/>
              <a:ea typeface="Source Sans 3"/>
              <a:cs typeface="Source Sans 3"/>
              <a:sym typeface="Source Sans 3"/>
            </a:endParaRPr>
          </a:p>
        </p:txBody>
      </p:sp>
      <p:sp>
        <p:nvSpPr>
          <p:cNvPr id="26" name="Google Shape;26;p1"/>
          <p:cNvSpPr/>
          <p:nvPr/>
        </p:nvSpPr>
        <p:spPr>
          <a:xfrm>
            <a:off x="7877175" y="1308695"/>
            <a:ext cx="3930650" cy="745430"/>
          </a:xfrm>
          <a:prstGeom prst="roundRect">
            <a:avLst>
              <a:gd fmla="val 14908" name="adj"/>
            </a:avLst>
          </a:prstGeom>
          <a:solidFill>
            <a:srgbClr val="FFFFFF">
              <a:alpha val="12157"/>
            </a:srgbClr>
          </a:solidFill>
          <a:ln cap="flat" cmpd="sng" w="9525">
            <a:solidFill>
              <a:srgbClr val="FFFFFF">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
          <p:cNvSpPr/>
          <p:nvPr/>
        </p:nvSpPr>
        <p:spPr>
          <a:xfrm>
            <a:off x="8045450" y="1308695"/>
            <a:ext cx="495300" cy="7454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1</a:t>
            </a:r>
            <a:endParaRPr b="0" i="0" sz="3600" u="none" cap="none" strike="noStrike">
              <a:solidFill>
                <a:schemeClr val="dk1"/>
              </a:solidFill>
              <a:latin typeface="Source Sans 3"/>
              <a:ea typeface="Source Sans 3"/>
              <a:cs typeface="Source Sans 3"/>
              <a:sym typeface="Source Sans 3"/>
            </a:endParaRPr>
          </a:p>
        </p:txBody>
      </p:sp>
      <p:sp>
        <p:nvSpPr>
          <p:cNvPr id="28" name="Google Shape;28;p1"/>
          <p:cNvSpPr/>
          <p:nvPr/>
        </p:nvSpPr>
        <p:spPr>
          <a:xfrm>
            <a:off x="8642350" y="1449000"/>
            <a:ext cx="3087116" cy="243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Source Serif 4"/>
              <a:buNone/>
            </a:pPr>
            <a:r>
              <a:rPr b="1" i="0" lang="en-US" sz="1600" u="none" cap="none" strike="noStrike">
                <a:solidFill>
                  <a:srgbClr val="FFFFFF"/>
                </a:solidFill>
                <a:latin typeface="Source Serif 4"/>
                <a:ea typeface="Source Serif 4"/>
                <a:cs typeface="Source Serif 4"/>
                <a:sym typeface="Source Serif 4"/>
              </a:rPr>
              <a:t>Need</a:t>
            </a:r>
            <a:endParaRPr b="0" i="0" sz="1600" u="none" cap="none" strike="noStrike">
              <a:solidFill>
                <a:schemeClr val="dk1"/>
              </a:solidFill>
              <a:latin typeface="Source Sans 3"/>
              <a:ea typeface="Source Sans 3"/>
              <a:cs typeface="Source Sans 3"/>
              <a:sym typeface="Source Sans 3"/>
            </a:endParaRPr>
          </a:p>
        </p:txBody>
      </p:sp>
      <p:sp>
        <p:nvSpPr>
          <p:cNvPr id="29" name="Google Shape;29;p1"/>
          <p:cNvSpPr/>
          <p:nvPr/>
        </p:nvSpPr>
        <p:spPr>
          <a:xfrm>
            <a:off x="8642350" y="1730940"/>
            <a:ext cx="3087116"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Q1 · Q6: Does activity match need?</a:t>
            </a:r>
            <a:endParaRPr b="0" i="0" sz="1200" u="none" cap="none" strike="noStrike">
              <a:solidFill>
                <a:schemeClr val="dk1"/>
              </a:solidFill>
              <a:latin typeface="Source Sans 3"/>
              <a:ea typeface="Source Sans 3"/>
              <a:cs typeface="Source Sans 3"/>
              <a:sym typeface="Source Sans 3"/>
            </a:endParaRPr>
          </a:p>
        </p:txBody>
      </p:sp>
      <p:sp>
        <p:nvSpPr>
          <p:cNvPr id="30" name="Google Shape;30;p1"/>
          <p:cNvSpPr/>
          <p:nvPr/>
        </p:nvSpPr>
        <p:spPr>
          <a:xfrm>
            <a:off x="7877175" y="2200176"/>
            <a:ext cx="3930650" cy="745430"/>
          </a:xfrm>
          <a:prstGeom prst="roundRect">
            <a:avLst>
              <a:gd fmla="val 14908" name="adj"/>
            </a:avLst>
          </a:prstGeom>
          <a:solidFill>
            <a:srgbClr val="FFFFFF">
              <a:alpha val="12157"/>
            </a:srgbClr>
          </a:solidFill>
          <a:ln cap="flat" cmpd="sng" w="9525">
            <a:solidFill>
              <a:srgbClr val="FFFFFF">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1"/>
          <p:cNvSpPr/>
          <p:nvPr/>
        </p:nvSpPr>
        <p:spPr>
          <a:xfrm>
            <a:off x="8045450" y="2200176"/>
            <a:ext cx="495300" cy="7454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2</a:t>
            </a:r>
            <a:endParaRPr b="0" i="0" sz="3600" u="none" cap="none" strike="noStrike">
              <a:solidFill>
                <a:schemeClr val="dk1"/>
              </a:solidFill>
              <a:latin typeface="Source Sans 3"/>
              <a:ea typeface="Source Sans 3"/>
              <a:cs typeface="Source Sans 3"/>
              <a:sym typeface="Source Sans 3"/>
            </a:endParaRPr>
          </a:p>
        </p:txBody>
      </p:sp>
      <p:sp>
        <p:nvSpPr>
          <p:cNvPr id="32" name="Google Shape;32;p1"/>
          <p:cNvSpPr/>
          <p:nvPr/>
        </p:nvSpPr>
        <p:spPr>
          <a:xfrm>
            <a:off x="8642350" y="2340481"/>
            <a:ext cx="3087116" cy="243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Source Serif 4"/>
              <a:buNone/>
            </a:pPr>
            <a:r>
              <a:rPr b="1" i="0" lang="en-US" sz="1600" u="none" cap="none" strike="noStrike">
                <a:solidFill>
                  <a:srgbClr val="FFFFFF"/>
                </a:solidFill>
                <a:latin typeface="Source Serif 4"/>
                <a:ea typeface="Source Serif 4"/>
                <a:cs typeface="Source Serif 4"/>
                <a:sym typeface="Source Serif 4"/>
              </a:rPr>
              <a:t>Money</a:t>
            </a:r>
            <a:endParaRPr b="0" i="0" sz="1600" u="none" cap="none" strike="noStrike">
              <a:solidFill>
                <a:schemeClr val="dk1"/>
              </a:solidFill>
              <a:latin typeface="Source Sans 3"/>
              <a:ea typeface="Source Sans 3"/>
              <a:cs typeface="Source Sans 3"/>
              <a:sym typeface="Source Sans 3"/>
            </a:endParaRPr>
          </a:p>
        </p:txBody>
      </p:sp>
      <p:sp>
        <p:nvSpPr>
          <p:cNvPr id="33" name="Google Shape;33;p1"/>
          <p:cNvSpPr/>
          <p:nvPr/>
        </p:nvSpPr>
        <p:spPr>
          <a:xfrm>
            <a:off x="8642350" y="2622421"/>
            <a:ext cx="3087116"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Q4 · Q5: Prices and SNAP</a:t>
            </a:r>
            <a:endParaRPr b="0" i="0" sz="1200" u="none" cap="none" strike="noStrike">
              <a:solidFill>
                <a:schemeClr val="dk1"/>
              </a:solidFill>
              <a:latin typeface="Source Sans 3"/>
              <a:ea typeface="Source Sans 3"/>
              <a:cs typeface="Source Sans 3"/>
              <a:sym typeface="Source Sans 3"/>
            </a:endParaRPr>
          </a:p>
        </p:txBody>
      </p:sp>
      <p:sp>
        <p:nvSpPr>
          <p:cNvPr id="34" name="Google Shape;34;p1"/>
          <p:cNvSpPr/>
          <p:nvPr/>
        </p:nvSpPr>
        <p:spPr>
          <a:xfrm>
            <a:off x="7877175" y="3091656"/>
            <a:ext cx="3930650" cy="745430"/>
          </a:xfrm>
          <a:prstGeom prst="roundRect">
            <a:avLst>
              <a:gd fmla="val 14908" name="adj"/>
            </a:avLst>
          </a:prstGeom>
          <a:solidFill>
            <a:srgbClr val="FFFFFF">
              <a:alpha val="12157"/>
            </a:srgbClr>
          </a:solidFill>
          <a:ln cap="flat" cmpd="sng" w="9525">
            <a:solidFill>
              <a:srgbClr val="FFFFFF">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1"/>
          <p:cNvSpPr/>
          <p:nvPr/>
        </p:nvSpPr>
        <p:spPr>
          <a:xfrm>
            <a:off x="8045450" y="3091656"/>
            <a:ext cx="495300" cy="7454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3</a:t>
            </a:r>
            <a:endParaRPr b="0" i="0" sz="3600" u="none" cap="none" strike="noStrike">
              <a:solidFill>
                <a:schemeClr val="dk1"/>
              </a:solidFill>
              <a:latin typeface="Source Sans 3"/>
              <a:ea typeface="Source Sans 3"/>
              <a:cs typeface="Source Sans 3"/>
              <a:sym typeface="Source Sans 3"/>
            </a:endParaRPr>
          </a:p>
        </p:txBody>
      </p:sp>
      <p:sp>
        <p:nvSpPr>
          <p:cNvPr id="36" name="Google Shape;36;p1"/>
          <p:cNvSpPr/>
          <p:nvPr/>
        </p:nvSpPr>
        <p:spPr>
          <a:xfrm>
            <a:off x="8642350" y="3231961"/>
            <a:ext cx="3087116" cy="243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Source Serif 4"/>
              <a:buNone/>
            </a:pPr>
            <a:r>
              <a:rPr b="1" i="0" lang="en-US" sz="1600" u="none" cap="none" strike="noStrike">
                <a:solidFill>
                  <a:srgbClr val="FFFFFF"/>
                </a:solidFill>
                <a:latin typeface="Source Serif 4"/>
                <a:ea typeface="Source Serif 4"/>
                <a:cs typeface="Source Serif 4"/>
                <a:sym typeface="Source Serif 4"/>
              </a:rPr>
              <a:t>Forecast</a:t>
            </a:r>
            <a:endParaRPr b="0" i="0" sz="1600" u="none" cap="none" strike="noStrike">
              <a:solidFill>
                <a:schemeClr val="dk1"/>
              </a:solidFill>
              <a:latin typeface="Source Sans 3"/>
              <a:ea typeface="Source Sans 3"/>
              <a:cs typeface="Source Sans 3"/>
              <a:sym typeface="Source Sans 3"/>
            </a:endParaRPr>
          </a:p>
        </p:txBody>
      </p:sp>
      <p:sp>
        <p:nvSpPr>
          <p:cNvPr id="37" name="Google Shape;37;p1"/>
          <p:cNvSpPr/>
          <p:nvPr/>
        </p:nvSpPr>
        <p:spPr>
          <a:xfrm>
            <a:off x="8642350" y="3513901"/>
            <a:ext cx="3087116"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Q7: August 2026 by county</a:t>
            </a:r>
            <a:endParaRPr b="0" i="0" sz="1200" u="none" cap="none" strike="noStrike">
              <a:solidFill>
                <a:schemeClr val="dk1"/>
              </a:solidFill>
              <a:latin typeface="Source Sans 3"/>
              <a:ea typeface="Source Sans 3"/>
              <a:cs typeface="Source Sans 3"/>
              <a:sym typeface="Source Sans 3"/>
            </a:endParaRPr>
          </a:p>
        </p:txBody>
      </p:sp>
      <p:sp>
        <p:nvSpPr>
          <p:cNvPr id="38" name="Google Shape;38;p1"/>
          <p:cNvSpPr/>
          <p:nvPr/>
        </p:nvSpPr>
        <p:spPr>
          <a:xfrm>
            <a:off x="7877175" y="3983137"/>
            <a:ext cx="3930650" cy="745430"/>
          </a:xfrm>
          <a:prstGeom prst="roundRect">
            <a:avLst>
              <a:gd fmla="val 14908" name="adj"/>
            </a:avLst>
          </a:prstGeom>
          <a:solidFill>
            <a:srgbClr val="FFFFFF">
              <a:alpha val="12157"/>
            </a:srgbClr>
          </a:solidFill>
          <a:ln cap="flat" cmpd="sng" w="9525">
            <a:solidFill>
              <a:srgbClr val="FFFFFF">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
          <p:cNvSpPr/>
          <p:nvPr/>
        </p:nvSpPr>
        <p:spPr>
          <a:xfrm>
            <a:off x="8045450" y="3983137"/>
            <a:ext cx="495300" cy="7454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4</a:t>
            </a:r>
            <a:endParaRPr b="0" i="0" sz="3600" u="none" cap="none" strike="noStrike">
              <a:solidFill>
                <a:schemeClr val="dk1"/>
              </a:solidFill>
              <a:latin typeface="Source Sans 3"/>
              <a:ea typeface="Source Sans 3"/>
              <a:cs typeface="Source Sans 3"/>
              <a:sym typeface="Source Sans 3"/>
            </a:endParaRPr>
          </a:p>
        </p:txBody>
      </p:sp>
      <p:sp>
        <p:nvSpPr>
          <p:cNvPr id="40" name="Google Shape;40;p1"/>
          <p:cNvSpPr/>
          <p:nvPr/>
        </p:nvSpPr>
        <p:spPr>
          <a:xfrm>
            <a:off x="8642350" y="4123442"/>
            <a:ext cx="3087116" cy="243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Source Serif 4"/>
              <a:buNone/>
            </a:pPr>
            <a:r>
              <a:rPr b="1" i="0" lang="en-US" sz="1600" u="none" cap="none" strike="noStrike">
                <a:solidFill>
                  <a:srgbClr val="FFFFFF"/>
                </a:solidFill>
                <a:latin typeface="Source Serif 4"/>
                <a:ea typeface="Source Serif 4"/>
                <a:cs typeface="Source Serif 4"/>
                <a:sym typeface="Source Serif 4"/>
              </a:rPr>
              <a:t>Access</a:t>
            </a:r>
            <a:endParaRPr b="0" i="0" sz="1600" u="none" cap="none" strike="noStrike">
              <a:solidFill>
                <a:schemeClr val="dk1"/>
              </a:solidFill>
              <a:latin typeface="Source Sans 3"/>
              <a:ea typeface="Source Sans 3"/>
              <a:cs typeface="Source Sans 3"/>
              <a:sym typeface="Source Sans 3"/>
            </a:endParaRPr>
          </a:p>
        </p:txBody>
      </p:sp>
      <p:sp>
        <p:nvSpPr>
          <p:cNvPr id="41" name="Google Shape;41;p1"/>
          <p:cNvSpPr/>
          <p:nvPr/>
        </p:nvSpPr>
        <p:spPr>
          <a:xfrm>
            <a:off x="8642350" y="4405382"/>
            <a:ext cx="3087116"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Q8: Food deserts and the network</a:t>
            </a:r>
            <a:endParaRPr b="0" i="0" sz="1200" u="none" cap="none" strike="noStrike">
              <a:solidFill>
                <a:schemeClr val="dk1"/>
              </a:solidFill>
              <a:latin typeface="Source Sans 3"/>
              <a:ea typeface="Source Sans 3"/>
              <a:cs typeface="Source Sans 3"/>
              <a:sym typeface="Source Sans 3"/>
            </a:endParaRPr>
          </a:p>
        </p:txBody>
      </p:sp>
      <p:sp>
        <p:nvSpPr>
          <p:cNvPr id="42" name="Google Shape;42;p1"/>
          <p:cNvSpPr/>
          <p:nvPr/>
        </p:nvSpPr>
        <p:spPr>
          <a:xfrm>
            <a:off x="609600" y="1170037"/>
            <a:ext cx="4860975" cy="34032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FFDF8"/>
              </a:buClr>
              <a:buSzPts val="1200"/>
              <a:buFont typeface="Source Sans 3"/>
              <a:buNone/>
            </a:pPr>
            <a:r>
              <a:rPr b="1" i="0" lang="en-US" sz="1200" u="none" cap="none" strike="noStrike">
                <a:solidFill>
                  <a:srgbClr val="FFFDF8"/>
                </a:solidFill>
                <a:latin typeface="Source Sans 3"/>
                <a:ea typeface="Source Sans 3"/>
                <a:cs typeface="Source Sans 3"/>
                <a:sym typeface="Source Sans 3"/>
              </a:rPr>
              <a:t>MINNEMUDAC 2026 · GRADUATE DIVISION · THE FOOD GROUP</a:t>
            </a:r>
            <a:endParaRPr b="0" i="0" sz="1200" u="none" cap="none" strike="noStrike">
              <a:solidFill>
                <a:schemeClr val="dk1"/>
              </a:solidFill>
              <a:latin typeface="Source Sans 3"/>
              <a:ea typeface="Source Sans 3"/>
              <a:cs typeface="Source Sans 3"/>
              <a:sym typeface="Source Sans 3"/>
            </a:endParaRPr>
          </a:p>
        </p:txBody>
      </p:sp>
      <p:sp>
        <p:nvSpPr>
          <p:cNvPr id="43" name="Google Shape;43;p1"/>
          <p:cNvSpPr txBox="1"/>
          <p:nvPr>
            <p:ph type="title"/>
          </p:nvPr>
        </p:nvSpPr>
        <p:spPr>
          <a:xfrm>
            <a:off x="609600" y="1738957"/>
            <a:ext cx="6540500" cy="1701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F3B2D"/>
              </a:buClr>
              <a:buSzPts val="6600"/>
              <a:buFont typeface="Source Serif 4"/>
              <a:buNone/>
            </a:pPr>
            <a:r>
              <a:rPr b="1" i="0" lang="en-US" sz="6600">
                <a:solidFill>
                  <a:srgbClr val="1F3B2D"/>
                </a:solidFill>
                <a:latin typeface="Source Serif 4"/>
                <a:ea typeface="Source Serif 4"/>
                <a:cs typeface="Source Serif 4"/>
                <a:sym typeface="Source Serif 4"/>
              </a:rPr>
              <a:t>Demand is</a:t>
            </a:r>
            <a:endParaRPr sz="6600"/>
          </a:p>
          <a:p>
            <a:pPr indent="0" lvl="0" marL="0" rtl="0" algn="l">
              <a:lnSpc>
                <a:spcPct val="100000"/>
              </a:lnSpc>
              <a:spcBef>
                <a:spcPts val="0"/>
              </a:spcBef>
              <a:spcAft>
                <a:spcPts val="0"/>
              </a:spcAft>
              <a:buClr>
                <a:srgbClr val="1F3B2D"/>
              </a:buClr>
              <a:buSzPts val="6600"/>
              <a:buFont typeface="Source Serif 4"/>
              <a:buNone/>
            </a:pPr>
            <a:r>
              <a:rPr b="1" i="0" lang="en-US" sz="6600">
                <a:solidFill>
                  <a:srgbClr val="1F3B2D"/>
                </a:solidFill>
                <a:latin typeface="Source Serif 4"/>
                <a:ea typeface="Source Serif 4"/>
                <a:cs typeface="Source Serif 4"/>
                <a:sym typeface="Source Serif 4"/>
              </a:rPr>
              <a:t>not need.</a:t>
            </a:r>
            <a:endParaRPr sz="6600"/>
          </a:p>
        </p:txBody>
      </p:sp>
      <p:sp>
        <p:nvSpPr>
          <p:cNvPr id="44" name="Google Shape;44;p1"/>
          <p:cNvSpPr/>
          <p:nvPr/>
        </p:nvSpPr>
        <p:spPr>
          <a:xfrm>
            <a:off x="609600" y="3954923"/>
            <a:ext cx="5755500" cy="6084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B5A50"/>
              </a:buClr>
              <a:buSzPts val="1700"/>
              <a:buFont typeface="Source Sans 3"/>
              <a:buNone/>
            </a:pPr>
            <a:r>
              <a:rPr b="0" i="0" lang="en-US" sz="1700" u="none" cap="none" strike="noStrike">
                <a:solidFill>
                  <a:srgbClr val="4B5A50"/>
                </a:solidFill>
                <a:latin typeface="Source Sans 3"/>
                <a:ea typeface="Source Sans 3"/>
                <a:cs typeface="Source Sans 3"/>
                <a:sym typeface="Source Sans 3"/>
              </a:rPr>
              <a:t>Where Minnesota's food shelf demand comes from, and where it misses the people who need it most</a:t>
            </a:r>
            <a:endParaRPr b="0" i="0" sz="1700" u="none" cap="none" strike="noStrike">
              <a:solidFill>
                <a:schemeClr val="dk1"/>
              </a:solidFill>
              <a:latin typeface="Source Sans 3"/>
              <a:ea typeface="Source Sans 3"/>
              <a:cs typeface="Source Sans 3"/>
              <a:sym typeface="Source Sans 3"/>
            </a:endParaRPr>
          </a:p>
        </p:txBody>
      </p:sp>
      <p:sp>
        <p:nvSpPr>
          <p:cNvPr id="45" name="Google Shape;45;p1"/>
          <p:cNvSpPr/>
          <p:nvPr/>
        </p:nvSpPr>
        <p:spPr>
          <a:xfrm>
            <a:off x="615950" y="4772784"/>
            <a:ext cx="2705100" cy="742200"/>
          </a:xfrm>
          <a:prstGeom prst="roundRect">
            <a:avLst>
              <a:gd fmla="val 12832"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1"/>
          <p:cNvSpPr/>
          <p:nvPr/>
        </p:nvSpPr>
        <p:spPr>
          <a:xfrm>
            <a:off x="787400" y="4868034"/>
            <a:ext cx="2433000" cy="3453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636,610</a:t>
            </a:r>
            <a:endParaRPr b="0" i="0" sz="2400" u="none" cap="none" strike="noStrike">
              <a:solidFill>
                <a:schemeClr val="dk1"/>
              </a:solidFill>
              <a:latin typeface="Source Sans 3"/>
              <a:ea typeface="Source Sans 3"/>
              <a:cs typeface="Source Sans 3"/>
              <a:sym typeface="Source Sans 3"/>
            </a:endParaRPr>
          </a:p>
        </p:txBody>
      </p:sp>
      <p:sp>
        <p:nvSpPr>
          <p:cNvPr id="47" name="Google Shape;47;p1"/>
          <p:cNvSpPr/>
          <p:nvPr/>
        </p:nvSpPr>
        <p:spPr>
          <a:xfrm>
            <a:off x="787400" y="5213464"/>
            <a:ext cx="24330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food-insecure Minnesotans, 2024</a:t>
            </a:r>
            <a:endParaRPr b="0" i="0" sz="1300" u="none" cap="none" strike="noStrike">
              <a:solidFill>
                <a:schemeClr val="dk1"/>
              </a:solidFill>
              <a:latin typeface="Source Sans 3"/>
              <a:ea typeface="Source Sans 3"/>
              <a:cs typeface="Source Sans 3"/>
              <a:sym typeface="Source Sans 3"/>
            </a:endParaRPr>
          </a:p>
        </p:txBody>
      </p:sp>
      <p:sp>
        <p:nvSpPr>
          <p:cNvPr id="48" name="Google Shape;48;p1"/>
          <p:cNvSpPr/>
          <p:nvPr/>
        </p:nvSpPr>
        <p:spPr>
          <a:xfrm>
            <a:off x="3486150" y="4772784"/>
            <a:ext cx="2705100" cy="742200"/>
          </a:xfrm>
          <a:prstGeom prst="roundRect">
            <a:avLst>
              <a:gd fmla="val 12832"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
          <p:cNvSpPr/>
          <p:nvPr/>
        </p:nvSpPr>
        <p:spPr>
          <a:xfrm>
            <a:off x="3657600" y="4868034"/>
            <a:ext cx="2433000" cy="3453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+62%</a:t>
            </a:r>
            <a:endParaRPr b="0" i="0" sz="2400" u="none" cap="none" strike="noStrike">
              <a:solidFill>
                <a:schemeClr val="dk1"/>
              </a:solidFill>
              <a:latin typeface="Source Sans 3"/>
              <a:ea typeface="Source Sans 3"/>
              <a:cs typeface="Source Sans 3"/>
              <a:sym typeface="Source Sans 3"/>
            </a:endParaRPr>
          </a:p>
        </p:txBody>
      </p:sp>
      <p:sp>
        <p:nvSpPr>
          <p:cNvPr id="50" name="Google Shape;50;p1"/>
          <p:cNvSpPr/>
          <p:nvPr/>
        </p:nvSpPr>
        <p:spPr>
          <a:xfrm>
            <a:off x="3657600" y="5213464"/>
            <a:ext cx="24330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people served since 2022</a:t>
            </a:r>
            <a:endParaRPr b="0" i="0" sz="1300" u="none" cap="none" strike="noStrike">
              <a:solidFill>
                <a:schemeClr val="dk1"/>
              </a:solidFill>
              <a:latin typeface="Source Sans 3"/>
              <a:ea typeface="Source Sans 3"/>
              <a:cs typeface="Source Sans 3"/>
              <a:sym typeface="Source Sans 3"/>
            </a:endParaRPr>
          </a:p>
        </p:txBody>
      </p:sp>
      <p:sp>
        <p:nvSpPr>
          <p:cNvPr id="51" name="Google Shape;51;p1"/>
          <p:cNvSpPr/>
          <p:nvPr/>
        </p:nvSpPr>
        <p:spPr>
          <a:xfrm>
            <a:off x="609600" y="5750039"/>
            <a:ext cx="65406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400"/>
              <a:buFont typeface="Source Sans 3"/>
              <a:buNone/>
            </a:pPr>
            <a:r>
              <a:rPr b="1" i="0" lang="en-US" sz="1400" u="none" cap="none" strike="noStrike">
                <a:solidFill>
                  <a:srgbClr val="1F3B2D"/>
                </a:solidFill>
                <a:latin typeface="Source Sans 3"/>
                <a:ea typeface="Source Sans 3"/>
                <a:cs typeface="Source Sans 3"/>
                <a:sym typeface="Source Sans 3"/>
              </a:rPr>
              <a:t>Brian · Suji · Akbar · Vishesh · Alex</a:t>
            </a:r>
            <a:endParaRPr b="0" i="0" sz="1400" u="none" cap="none" strike="noStrike">
              <a:solidFill>
                <a:schemeClr val="dk1"/>
              </a:solidFill>
              <a:latin typeface="Source Sans 3"/>
              <a:ea typeface="Source Sans 3"/>
              <a:cs typeface="Source Sans 3"/>
              <a:sym typeface="Source Sans 3"/>
            </a:endParaRPr>
          </a:p>
        </p:txBody>
      </p:sp>
      <p:sp>
        <p:nvSpPr>
          <p:cNvPr id="52" name="Google Shape;52;p1"/>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 name="Google Shape;53;p1"/>
          <p:cNvSpPr/>
          <p:nvPr/>
        </p:nvSpPr>
        <p:spPr>
          <a:xfrm>
            <a:off x="0" y="6803136"/>
            <a:ext cx="12192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8" name="Shape 58"/>
        <p:cNvGrpSpPr/>
        <p:nvPr/>
      </p:nvGrpSpPr>
      <p:grpSpPr>
        <a:xfrm>
          <a:off x="0" y="0"/>
          <a:ext cx="0" cy="0"/>
          <a:chOff x="0" y="0"/>
          <a:chExt cx="0" cy="0"/>
        </a:xfrm>
      </p:grpSpPr>
      <p:sp>
        <p:nvSpPr>
          <p:cNvPr id="59" name="Google Shape;59;p2"/>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Executive Summary</a:t>
            </a:r>
            <a:endParaRPr b="0" i="0" sz="1300" u="none" cap="none" strike="noStrike">
              <a:solidFill>
                <a:schemeClr val="dk1"/>
              </a:solidFill>
              <a:latin typeface="Source Sans 3"/>
              <a:ea typeface="Source Sans 3"/>
              <a:cs typeface="Source Sans 3"/>
              <a:sym typeface="Source Sans 3"/>
            </a:endParaRPr>
          </a:p>
        </p:txBody>
      </p:sp>
      <p:sp>
        <p:nvSpPr>
          <p:cNvPr id="61" name="Google Shape;61;p2"/>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2" name="Google Shape;62;p2"/>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3" name="Google Shape;63;p2"/>
          <p:cNvSpPr txBox="1"/>
          <p:nvPr>
            <p:ph type="title"/>
          </p:nvPr>
        </p:nvSpPr>
        <p:spPr>
          <a:xfrm>
            <a:off x="609600" y="890290"/>
            <a:ext cx="109728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i="0" lang="en-US" sz="2300">
                <a:solidFill>
                  <a:srgbClr val="1F3B2D"/>
                </a:solidFill>
                <a:latin typeface="Source Serif 4"/>
                <a:ea typeface="Source Serif 4"/>
                <a:cs typeface="Source Serif 4"/>
                <a:sym typeface="Source Serif 4"/>
              </a:rPr>
              <a:t>Shift food rural, reach </a:t>
            </a:r>
            <a:r>
              <a:rPr b="1" i="0" lang="en-US" sz="2300">
                <a:solidFill>
                  <a:srgbClr val="B5501F"/>
                </a:solidFill>
                <a:latin typeface="Source Serif 4"/>
                <a:ea typeface="Source Serif 4"/>
                <a:cs typeface="Source Serif 4"/>
                <a:sym typeface="Source Serif 4"/>
              </a:rPr>
              <a:t>117 gap tracts</a:t>
            </a:r>
            <a:r>
              <a:rPr b="1" i="0" lang="en-US" sz="2300">
                <a:solidFill>
                  <a:srgbClr val="1F3B2D"/>
                </a:solidFill>
                <a:latin typeface="Source Serif 4"/>
                <a:ea typeface="Source Serif 4"/>
                <a:cs typeface="Source Serif 4"/>
                <a:sym typeface="Source Serif 4"/>
              </a:rPr>
              <a:t>, defend SNAP, and staff for August peaks</a:t>
            </a:r>
            <a:endParaRPr sz="2300"/>
          </a:p>
        </p:txBody>
      </p:sp>
      <p:sp>
        <p:nvSpPr>
          <p:cNvPr id="64" name="Google Shape;64;p2"/>
          <p:cNvSpPr/>
          <p:nvPr/>
        </p:nvSpPr>
        <p:spPr>
          <a:xfrm>
            <a:off x="615950" y="1555750"/>
            <a:ext cx="2616200" cy="3568700"/>
          </a:xfrm>
          <a:prstGeom prst="roundRect">
            <a:avLst>
              <a:gd fmla="val 4126"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
          <p:cNvSpPr/>
          <p:nvPr/>
        </p:nvSpPr>
        <p:spPr>
          <a:xfrm>
            <a:off x="787400" y="1727200"/>
            <a:ext cx="381000" cy="38100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1500"/>
              <a:buFont typeface="Source Serif 4"/>
              <a:buNone/>
            </a:pPr>
            <a:r>
              <a:rPr b="1" i="0" lang="en-US" sz="1500" u="none" cap="none" strike="noStrike">
                <a:solidFill>
                  <a:srgbClr val="F2B544"/>
                </a:solidFill>
                <a:latin typeface="Source Serif 4"/>
                <a:ea typeface="Source Serif 4"/>
                <a:cs typeface="Source Serif 4"/>
                <a:sym typeface="Source Serif 4"/>
              </a:rPr>
              <a:t>1</a:t>
            </a:r>
            <a:endParaRPr b="0" i="0" sz="1500" u="none" cap="none" strike="noStrike">
              <a:solidFill>
                <a:schemeClr val="dk1"/>
              </a:solidFill>
              <a:latin typeface="Source Sans 3"/>
              <a:ea typeface="Source Sans 3"/>
              <a:cs typeface="Source Sans 3"/>
              <a:sym typeface="Source Sans 3"/>
            </a:endParaRPr>
          </a:p>
        </p:txBody>
      </p:sp>
      <p:sp>
        <p:nvSpPr>
          <p:cNvPr id="66" name="Google Shape;66;p2"/>
          <p:cNvSpPr/>
          <p:nvPr/>
        </p:nvSpPr>
        <p:spPr>
          <a:xfrm>
            <a:off x="1270000" y="1727200"/>
            <a:ext cx="1057692"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900"/>
              <a:buFont typeface="Source Serif 4"/>
              <a:buNone/>
            </a:pPr>
            <a:r>
              <a:rPr b="1" i="0" lang="en-US" sz="1900" u="none" cap="none" strike="noStrike">
                <a:solidFill>
                  <a:srgbClr val="1F3B2D"/>
                </a:solidFill>
                <a:latin typeface="Source Serif 4"/>
                <a:ea typeface="Source Serif 4"/>
                <a:cs typeface="Source Serif 4"/>
                <a:sym typeface="Source Serif 4"/>
              </a:rPr>
              <a:t>Allocate</a:t>
            </a:r>
            <a:endParaRPr b="0" i="0" sz="1900" u="none" cap="none" strike="noStrike">
              <a:solidFill>
                <a:schemeClr val="dk1"/>
              </a:solidFill>
              <a:latin typeface="Source Sans 3"/>
              <a:ea typeface="Source Sans 3"/>
              <a:cs typeface="Source Sans 3"/>
              <a:sym typeface="Source Sans 3"/>
            </a:endParaRPr>
          </a:p>
        </p:txBody>
      </p:sp>
      <p:sp>
        <p:nvSpPr>
          <p:cNvPr id="67" name="Google Shape;67;p2"/>
          <p:cNvSpPr/>
          <p:nvPr/>
        </p:nvSpPr>
        <p:spPr>
          <a:xfrm>
            <a:off x="787400" y="2521000"/>
            <a:ext cx="2341499"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rgbClr val="D9622B"/>
                </a:solidFill>
                <a:latin typeface="Source Serif 4"/>
                <a:ea typeface="Source Serif 4"/>
                <a:cs typeface="Source Serif 4"/>
                <a:sym typeface="Source Serif 4"/>
              </a:rPr>
              <a:t>94 lb</a:t>
            </a:r>
            <a:endParaRPr b="0" i="0" sz="4800" u="none" cap="none" strike="noStrike">
              <a:solidFill>
                <a:schemeClr val="dk1"/>
              </a:solidFill>
              <a:latin typeface="Source Sans 3"/>
              <a:ea typeface="Source Sans 3"/>
              <a:cs typeface="Source Sans 3"/>
              <a:sym typeface="Source Sans 3"/>
            </a:endParaRPr>
          </a:p>
        </p:txBody>
      </p:sp>
      <p:sp>
        <p:nvSpPr>
          <p:cNvPr id="68" name="Google Shape;68;p2"/>
          <p:cNvSpPr/>
          <p:nvPr/>
        </p:nvSpPr>
        <p:spPr>
          <a:xfrm>
            <a:off x="787400" y="3232200"/>
            <a:ext cx="2341499"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0" i="0" lang="en-US" sz="1600" u="none" cap="none" strike="noStrike">
                <a:solidFill>
                  <a:srgbClr val="1F3B2D"/>
                </a:solidFill>
                <a:latin typeface="Source Sans 3"/>
                <a:ea typeface="Source Sans 3"/>
                <a:cs typeface="Source Sans 3"/>
                <a:sym typeface="Source Sans 3"/>
              </a:rPr>
              <a:t>Shift food to rural food deserts</a:t>
            </a:r>
            <a:endParaRPr b="0" i="0" sz="1600" u="none" cap="none" strike="noStrike">
              <a:solidFill>
                <a:schemeClr val="dk1"/>
              </a:solidFill>
              <a:latin typeface="Source Sans 3"/>
              <a:ea typeface="Source Sans 3"/>
              <a:cs typeface="Source Sans 3"/>
              <a:sym typeface="Source Sans 3"/>
            </a:endParaRPr>
          </a:p>
        </p:txBody>
      </p:sp>
      <p:sp>
        <p:nvSpPr>
          <p:cNvPr id="69" name="Google Shape;69;p2"/>
          <p:cNvSpPr/>
          <p:nvPr/>
        </p:nvSpPr>
        <p:spPr>
          <a:xfrm>
            <a:off x="787400" y="3841800"/>
            <a:ext cx="2341499" cy="4215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per person a year there, vs 172 nearby</a:t>
            </a:r>
            <a:endParaRPr b="0" i="0" sz="1200" u="none" cap="none" strike="noStrike">
              <a:solidFill>
                <a:schemeClr val="dk1"/>
              </a:solidFill>
              <a:latin typeface="Source Sans 3"/>
              <a:ea typeface="Source Sans 3"/>
              <a:cs typeface="Source Sans 3"/>
              <a:sym typeface="Source Sans 3"/>
            </a:endParaRPr>
          </a:p>
        </p:txBody>
      </p:sp>
      <p:cxnSp>
        <p:nvCxnSpPr>
          <p:cNvPr id="70" name="Google Shape;70;p2"/>
          <p:cNvCxnSpPr/>
          <p:nvPr/>
        </p:nvCxnSpPr>
        <p:spPr>
          <a:xfrm>
            <a:off x="787400" y="4657130"/>
            <a:ext cx="2273300" cy="0"/>
          </a:xfrm>
          <a:prstGeom prst="straightConnector1">
            <a:avLst/>
          </a:prstGeom>
          <a:noFill/>
          <a:ln cap="flat" cmpd="sng" w="12700">
            <a:solidFill>
              <a:srgbClr val="E3D9C6"/>
            </a:solidFill>
            <a:prstDash val="solid"/>
            <a:round/>
            <a:headEnd len="sm" w="sm" type="none"/>
            <a:tailEnd len="sm" w="sm" type="none"/>
          </a:ln>
        </p:spPr>
      </p:cxnSp>
      <p:sp>
        <p:nvSpPr>
          <p:cNvPr id="71" name="Google Shape;71;p2"/>
          <p:cNvSpPr/>
          <p:nvPr/>
        </p:nvSpPr>
        <p:spPr>
          <a:xfrm>
            <a:off x="787400" y="4739680"/>
            <a:ext cx="234149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Q6 · Q8</a:t>
            </a:r>
            <a:endParaRPr b="0" i="0" sz="1200" u="none" cap="none" strike="noStrike">
              <a:solidFill>
                <a:schemeClr val="dk1"/>
              </a:solidFill>
              <a:latin typeface="Source Sans 3"/>
              <a:ea typeface="Source Sans 3"/>
              <a:cs typeface="Source Sans 3"/>
              <a:sym typeface="Source Sans 3"/>
            </a:endParaRPr>
          </a:p>
        </p:txBody>
      </p:sp>
      <p:sp>
        <p:nvSpPr>
          <p:cNvPr id="72" name="Google Shape;72;p2"/>
          <p:cNvSpPr/>
          <p:nvPr/>
        </p:nvSpPr>
        <p:spPr>
          <a:xfrm>
            <a:off x="3397250" y="1555750"/>
            <a:ext cx="2616200" cy="3568700"/>
          </a:xfrm>
          <a:prstGeom prst="roundRect">
            <a:avLst>
              <a:gd fmla="val 4126"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
          <p:cNvSpPr/>
          <p:nvPr/>
        </p:nvSpPr>
        <p:spPr>
          <a:xfrm>
            <a:off x="3568700" y="1727200"/>
            <a:ext cx="381000" cy="38100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1500"/>
              <a:buFont typeface="Source Serif 4"/>
              <a:buNone/>
            </a:pPr>
            <a:r>
              <a:rPr b="1" i="0" lang="en-US" sz="1500" u="none" cap="none" strike="noStrike">
                <a:solidFill>
                  <a:srgbClr val="F2B544"/>
                </a:solidFill>
                <a:latin typeface="Source Serif 4"/>
                <a:ea typeface="Source Serif 4"/>
                <a:cs typeface="Source Serif 4"/>
                <a:sym typeface="Source Serif 4"/>
              </a:rPr>
              <a:t>2</a:t>
            </a:r>
            <a:endParaRPr b="0" i="0" sz="1500" u="none" cap="none" strike="noStrike">
              <a:solidFill>
                <a:schemeClr val="dk1"/>
              </a:solidFill>
              <a:latin typeface="Source Sans 3"/>
              <a:ea typeface="Source Sans 3"/>
              <a:cs typeface="Source Sans 3"/>
              <a:sym typeface="Source Sans 3"/>
            </a:endParaRPr>
          </a:p>
        </p:txBody>
      </p:sp>
      <p:sp>
        <p:nvSpPr>
          <p:cNvPr id="74" name="Google Shape;74;p2"/>
          <p:cNvSpPr/>
          <p:nvPr/>
        </p:nvSpPr>
        <p:spPr>
          <a:xfrm>
            <a:off x="4051300" y="1727200"/>
            <a:ext cx="786051"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900"/>
              <a:buFont typeface="Source Serif 4"/>
              <a:buNone/>
            </a:pPr>
            <a:r>
              <a:rPr b="1" i="0" lang="en-US" sz="1900" u="none" cap="none" strike="noStrike">
                <a:solidFill>
                  <a:srgbClr val="1F3B2D"/>
                </a:solidFill>
                <a:latin typeface="Source Serif 4"/>
                <a:ea typeface="Source Serif 4"/>
                <a:cs typeface="Source Serif 4"/>
                <a:sym typeface="Source Serif 4"/>
              </a:rPr>
              <a:t>Reach</a:t>
            </a:r>
            <a:endParaRPr b="0" i="0" sz="1900" u="none" cap="none" strike="noStrike">
              <a:solidFill>
                <a:schemeClr val="dk1"/>
              </a:solidFill>
              <a:latin typeface="Source Sans 3"/>
              <a:ea typeface="Source Sans 3"/>
              <a:cs typeface="Source Sans 3"/>
              <a:sym typeface="Source Sans 3"/>
            </a:endParaRPr>
          </a:p>
        </p:txBody>
      </p:sp>
      <p:sp>
        <p:nvSpPr>
          <p:cNvPr id="75" name="Google Shape;75;p2"/>
          <p:cNvSpPr/>
          <p:nvPr/>
        </p:nvSpPr>
        <p:spPr>
          <a:xfrm>
            <a:off x="3568700" y="2521000"/>
            <a:ext cx="2341499"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rgbClr val="D9622B"/>
                </a:solidFill>
                <a:latin typeface="Source Serif 4"/>
                <a:ea typeface="Source Serif 4"/>
                <a:cs typeface="Source Serif 4"/>
                <a:sym typeface="Source Serif 4"/>
              </a:rPr>
              <a:t>117</a:t>
            </a:r>
            <a:endParaRPr b="0" i="0" sz="4800" u="none" cap="none" strike="noStrike">
              <a:solidFill>
                <a:schemeClr val="dk1"/>
              </a:solidFill>
              <a:latin typeface="Source Sans 3"/>
              <a:ea typeface="Source Sans 3"/>
              <a:cs typeface="Source Sans 3"/>
              <a:sym typeface="Source Sans 3"/>
            </a:endParaRPr>
          </a:p>
        </p:txBody>
      </p:sp>
      <p:sp>
        <p:nvSpPr>
          <p:cNvPr id="76" name="Google Shape;76;p2"/>
          <p:cNvSpPr/>
          <p:nvPr/>
        </p:nvSpPr>
        <p:spPr>
          <a:xfrm>
            <a:off x="3568700" y="3232200"/>
            <a:ext cx="2341499"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0" i="0" lang="en-US" sz="1600" u="none" cap="none" strike="noStrike">
                <a:solidFill>
                  <a:srgbClr val="1F3B2D"/>
                </a:solidFill>
                <a:latin typeface="Source Sans 3"/>
                <a:ea typeface="Source Sans 3"/>
                <a:cs typeface="Source Sans 3"/>
                <a:sym typeface="Source Sans 3"/>
              </a:rPr>
              <a:t>Mobile stops rural; hours or delivery urban</a:t>
            </a:r>
            <a:endParaRPr b="0" i="0" sz="1600" u="none" cap="none" strike="noStrike">
              <a:solidFill>
                <a:schemeClr val="dk1"/>
              </a:solidFill>
              <a:latin typeface="Source Sans 3"/>
              <a:ea typeface="Source Sans 3"/>
              <a:cs typeface="Source Sans 3"/>
              <a:sym typeface="Source Sans 3"/>
            </a:endParaRPr>
          </a:p>
        </p:txBody>
      </p:sp>
      <p:sp>
        <p:nvSpPr>
          <p:cNvPr id="77" name="Google Shape;77;p2"/>
          <p:cNvSpPr/>
          <p:nvPr/>
        </p:nvSpPr>
        <p:spPr>
          <a:xfrm>
            <a:off x="3568700" y="3841800"/>
            <a:ext cx="2341499" cy="4215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tracts with no shelf within USDA distance</a:t>
            </a:r>
            <a:endParaRPr b="0" i="0" sz="1200" u="none" cap="none" strike="noStrike">
              <a:solidFill>
                <a:schemeClr val="dk1"/>
              </a:solidFill>
              <a:latin typeface="Source Sans 3"/>
              <a:ea typeface="Source Sans 3"/>
              <a:cs typeface="Source Sans 3"/>
              <a:sym typeface="Source Sans 3"/>
            </a:endParaRPr>
          </a:p>
        </p:txBody>
      </p:sp>
      <p:cxnSp>
        <p:nvCxnSpPr>
          <p:cNvPr id="78" name="Google Shape;78;p2"/>
          <p:cNvCxnSpPr/>
          <p:nvPr/>
        </p:nvCxnSpPr>
        <p:spPr>
          <a:xfrm>
            <a:off x="3568700" y="4657130"/>
            <a:ext cx="2273300" cy="0"/>
          </a:xfrm>
          <a:prstGeom prst="straightConnector1">
            <a:avLst/>
          </a:prstGeom>
          <a:noFill/>
          <a:ln cap="flat" cmpd="sng" w="12700">
            <a:solidFill>
              <a:srgbClr val="E3D9C6"/>
            </a:solidFill>
            <a:prstDash val="solid"/>
            <a:round/>
            <a:headEnd len="sm" w="sm" type="none"/>
            <a:tailEnd len="sm" w="sm" type="none"/>
          </a:ln>
        </p:spPr>
      </p:cxnSp>
      <p:sp>
        <p:nvSpPr>
          <p:cNvPr id="79" name="Google Shape;79;p2"/>
          <p:cNvSpPr/>
          <p:nvPr/>
        </p:nvSpPr>
        <p:spPr>
          <a:xfrm>
            <a:off x="3568700" y="4739680"/>
            <a:ext cx="234149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Q8</a:t>
            </a:r>
            <a:endParaRPr b="0" i="0" sz="1200" u="none" cap="none" strike="noStrike">
              <a:solidFill>
                <a:schemeClr val="dk1"/>
              </a:solidFill>
              <a:latin typeface="Source Sans 3"/>
              <a:ea typeface="Source Sans 3"/>
              <a:cs typeface="Source Sans 3"/>
              <a:sym typeface="Source Sans 3"/>
            </a:endParaRPr>
          </a:p>
        </p:txBody>
      </p:sp>
      <p:sp>
        <p:nvSpPr>
          <p:cNvPr id="80" name="Google Shape;80;p2"/>
          <p:cNvSpPr/>
          <p:nvPr/>
        </p:nvSpPr>
        <p:spPr>
          <a:xfrm>
            <a:off x="6178550" y="1555750"/>
            <a:ext cx="2616200" cy="3568700"/>
          </a:xfrm>
          <a:prstGeom prst="roundRect">
            <a:avLst>
              <a:gd fmla="val 4126"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
          <p:cNvSpPr/>
          <p:nvPr/>
        </p:nvSpPr>
        <p:spPr>
          <a:xfrm>
            <a:off x="6350000" y="1727200"/>
            <a:ext cx="381000" cy="38100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1500"/>
              <a:buFont typeface="Source Serif 4"/>
              <a:buNone/>
            </a:pPr>
            <a:r>
              <a:rPr b="1" i="0" lang="en-US" sz="1500" u="none" cap="none" strike="noStrike">
                <a:solidFill>
                  <a:srgbClr val="F2B544"/>
                </a:solidFill>
                <a:latin typeface="Source Serif 4"/>
                <a:ea typeface="Source Serif 4"/>
                <a:cs typeface="Source Serif 4"/>
                <a:sym typeface="Source Serif 4"/>
              </a:rPr>
              <a:t>3</a:t>
            </a:r>
            <a:endParaRPr b="0" i="0" sz="1500" u="none" cap="none" strike="noStrike">
              <a:solidFill>
                <a:schemeClr val="dk1"/>
              </a:solidFill>
              <a:latin typeface="Source Sans 3"/>
              <a:ea typeface="Source Sans 3"/>
              <a:cs typeface="Source Sans 3"/>
              <a:sym typeface="Source Sans 3"/>
            </a:endParaRPr>
          </a:p>
        </p:txBody>
      </p:sp>
      <p:sp>
        <p:nvSpPr>
          <p:cNvPr id="82" name="Google Shape;82;p2"/>
          <p:cNvSpPr/>
          <p:nvPr/>
        </p:nvSpPr>
        <p:spPr>
          <a:xfrm>
            <a:off x="6832600" y="1727200"/>
            <a:ext cx="1175445"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900"/>
              <a:buFont typeface="Source Serif 4"/>
              <a:buNone/>
            </a:pPr>
            <a:r>
              <a:rPr b="1" i="0" lang="en-US" sz="1900" u="none" cap="none" strike="noStrike">
                <a:solidFill>
                  <a:srgbClr val="1F3B2D"/>
                </a:solidFill>
                <a:latin typeface="Source Serif 4"/>
                <a:ea typeface="Source Serif 4"/>
                <a:cs typeface="Source Serif 4"/>
                <a:sym typeface="Source Serif 4"/>
              </a:rPr>
              <a:t>Advocate</a:t>
            </a:r>
            <a:endParaRPr b="0" i="0" sz="1900" u="none" cap="none" strike="noStrike">
              <a:solidFill>
                <a:schemeClr val="dk1"/>
              </a:solidFill>
              <a:latin typeface="Source Sans 3"/>
              <a:ea typeface="Source Sans 3"/>
              <a:cs typeface="Source Sans 3"/>
              <a:sym typeface="Source Sans 3"/>
            </a:endParaRPr>
          </a:p>
        </p:txBody>
      </p:sp>
      <p:sp>
        <p:nvSpPr>
          <p:cNvPr id="83" name="Google Shape;83;p2"/>
          <p:cNvSpPr/>
          <p:nvPr/>
        </p:nvSpPr>
        <p:spPr>
          <a:xfrm>
            <a:off x="6350000" y="2521000"/>
            <a:ext cx="2341499"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rgbClr val="D9622B"/>
                </a:solidFill>
                <a:latin typeface="Source Serif 4"/>
                <a:ea typeface="Source Serif 4"/>
                <a:cs typeface="Source Serif 4"/>
                <a:sym typeface="Source Serif 4"/>
              </a:rPr>
              <a:t>$49M</a:t>
            </a:r>
            <a:endParaRPr b="0" i="0" sz="4800" u="none" cap="none" strike="noStrike">
              <a:solidFill>
                <a:schemeClr val="dk1"/>
              </a:solidFill>
              <a:latin typeface="Source Sans 3"/>
              <a:ea typeface="Source Sans 3"/>
              <a:cs typeface="Source Sans 3"/>
              <a:sym typeface="Source Sans 3"/>
            </a:endParaRPr>
          </a:p>
        </p:txBody>
      </p:sp>
      <p:sp>
        <p:nvSpPr>
          <p:cNvPr id="84" name="Google Shape;84;p2"/>
          <p:cNvSpPr/>
          <p:nvPr/>
        </p:nvSpPr>
        <p:spPr>
          <a:xfrm>
            <a:off x="6350000" y="3232200"/>
            <a:ext cx="2341499"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0" i="0" lang="en-US" sz="1600" u="none" cap="none" strike="noStrike">
                <a:solidFill>
                  <a:srgbClr val="1F3B2D"/>
                </a:solidFill>
                <a:latin typeface="Source Sans 3"/>
                <a:ea typeface="Source Sans 3"/>
                <a:cs typeface="Source Sans 3"/>
                <a:sym typeface="Source Sans 3"/>
              </a:rPr>
              <a:t>Show what a SNAP cut does</a:t>
            </a:r>
            <a:endParaRPr b="0" i="0" sz="1600" u="none" cap="none" strike="noStrike">
              <a:solidFill>
                <a:schemeClr val="dk1"/>
              </a:solidFill>
              <a:latin typeface="Source Sans 3"/>
              <a:ea typeface="Source Sans 3"/>
              <a:cs typeface="Source Sans 3"/>
              <a:sym typeface="Source Sans 3"/>
            </a:endParaRPr>
          </a:p>
        </p:txBody>
      </p:sp>
      <p:sp>
        <p:nvSpPr>
          <p:cNvPr id="85" name="Google Shape;85;p2"/>
          <p:cNvSpPr/>
          <p:nvPr/>
        </p:nvSpPr>
        <p:spPr>
          <a:xfrm>
            <a:off x="6350000" y="3841800"/>
            <a:ext cx="2341499" cy="4215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a month lost in 2023; visits +18–26%</a:t>
            </a:r>
            <a:endParaRPr b="0" i="0" sz="1200" u="none" cap="none" strike="noStrike">
              <a:solidFill>
                <a:schemeClr val="dk1"/>
              </a:solidFill>
              <a:latin typeface="Source Sans 3"/>
              <a:ea typeface="Source Sans 3"/>
              <a:cs typeface="Source Sans 3"/>
              <a:sym typeface="Source Sans 3"/>
            </a:endParaRPr>
          </a:p>
        </p:txBody>
      </p:sp>
      <p:cxnSp>
        <p:nvCxnSpPr>
          <p:cNvPr id="86" name="Google Shape;86;p2"/>
          <p:cNvCxnSpPr/>
          <p:nvPr/>
        </p:nvCxnSpPr>
        <p:spPr>
          <a:xfrm>
            <a:off x="6350000" y="4657130"/>
            <a:ext cx="2273300" cy="0"/>
          </a:xfrm>
          <a:prstGeom prst="straightConnector1">
            <a:avLst/>
          </a:prstGeom>
          <a:noFill/>
          <a:ln cap="flat" cmpd="sng" w="12700">
            <a:solidFill>
              <a:srgbClr val="E3D9C6"/>
            </a:solidFill>
            <a:prstDash val="solid"/>
            <a:round/>
            <a:headEnd len="sm" w="sm" type="none"/>
            <a:tailEnd len="sm" w="sm" type="none"/>
          </a:ln>
        </p:spPr>
      </p:cxnSp>
      <p:sp>
        <p:nvSpPr>
          <p:cNvPr id="87" name="Google Shape;87;p2"/>
          <p:cNvSpPr/>
          <p:nvPr/>
        </p:nvSpPr>
        <p:spPr>
          <a:xfrm>
            <a:off x="6350000" y="4739680"/>
            <a:ext cx="234149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Q5</a:t>
            </a:r>
            <a:endParaRPr b="0" i="0" sz="1200" u="none" cap="none" strike="noStrike">
              <a:solidFill>
                <a:schemeClr val="dk1"/>
              </a:solidFill>
              <a:latin typeface="Source Sans 3"/>
              <a:ea typeface="Source Sans 3"/>
              <a:cs typeface="Source Sans 3"/>
              <a:sym typeface="Source Sans 3"/>
            </a:endParaRPr>
          </a:p>
        </p:txBody>
      </p:sp>
      <p:sp>
        <p:nvSpPr>
          <p:cNvPr id="88" name="Google Shape;88;p2"/>
          <p:cNvSpPr/>
          <p:nvPr/>
        </p:nvSpPr>
        <p:spPr>
          <a:xfrm>
            <a:off x="8959850" y="1555750"/>
            <a:ext cx="2616200" cy="3568700"/>
          </a:xfrm>
          <a:prstGeom prst="roundRect">
            <a:avLst>
              <a:gd fmla="val 4126"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9131300" y="1727200"/>
            <a:ext cx="381000" cy="38100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1500"/>
              <a:buFont typeface="Source Serif 4"/>
              <a:buNone/>
            </a:pPr>
            <a:r>
              <a:rPr b="1" i="0" lang="en-US" sz="1500" u="none" cap="none" strike="noStrike">
                <a:solidFill>
                  <a:srgbClr val="F2B544"/>
                </a:solidFill>
                <a:latin typeface="Source Serif 4"/>
                <a:ea typeface="Source Serif 4"/>
                <a:cs typeface="Source Serif 4"/>
                <a:sym typeface="Source Serif 4"/>
              </a:rPr>
              <a:t>4</a:t>
            </a:r>
            <a:endParaRPr b="0" i="0" sz="1500" u="none" cap="none" strike="noStrike">
              <a:solidFill>
                <a:schemeClr val="dk1"/>
              </a:solidFill>
              <a:latin typeface="Source Sans 3"/>
              <a:ea typeface="Source Sans 3"/>
              <a:cs typeface="Source Sans 3"/>
              <a:sym typeface="Source Sans 3"/>
            </a:endParaRPr>
          </a:p>
        </p:txBody>
      </p:sp>
      <p:sp>
        <p:nvSpPr>
          <p:cNvPr id="90" name="Google Shape;90;p2"/>
          <p:cNvSpPr/>
          <p:nvPr/>
        </p:nvSpPr>
        <p:spPr>
          <a:xfrm>
            <a:off x="9613900" y="1727200"/>
            <a:ext cx="1020187"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900"/>
              <a:buFont typeface="Source Serif 4"/>
              <a:buNone/>
            </a:pPr>
            <a:r>
              <a:rPr b="1" i="0" lang="en-US" sz="1900" u="none" cap="none" strike="noStrike">
                <a:solidFill>
                  <a:srgbClr val="1F3B2D"/>
                </a:solidFill>
                <a:latin typeface="Source Serif 4"/>
                <a:ea typeface="Source Serif 4"/>
                <a:cs typeface="Source Serif 4"/>
                <a:sym typeface="Source Serif 4"/>
              </a:rPr>
              <a:t>Prepare</a:t>
            </a:r>
            <a:endParaRPr b="0" i="0" sz="1900" u="none" cap="none" strike="noStrike">
              <a:solidFill>
                <a:schemeClr val="dk1"/>
              </a:solidFill>
              <a:latin typeface="Source Sans 3"/>
              <a:ea typeface="Source Sans 3"/>
              <a:cs typeface="Source Sans 3"/>
              <a:sym typeface="Source Sans 3"/>
            </a:endParaRPr>
          </a:p>
        </p:txBody>
      </p:sp>
      <p:sp>
        <p:nvSpPr>
          <p:cNvPr id="91" name="Google Shape;91;p2"/>
          <p:cNvSpPr/>
          <p:nvPr/>
        </p:nvSpPr>
        <p:spPr>
          <a:xfrm>
            <a:off x="9131300" y="2521000"/>
            <a:ext cx="2341499"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rgbClr val="D9622B"/>
                </a:solidFill>
                <a:latin typeface="Source Serif 4"/>
                <a:ea typeface="Source Serif 4"/>
                <a:cs typeface="Source Serif 4"/>
                <a:sym typeface="Source Serif 4"/>
              </a:rPr>
              <a:t>Aug</a:t>
            </a:r>
            <a:endParaRPr b="0" i="0" sz="4800" u="none" cap="none" strike="noStrike">
              <a:solidFill>
                <a:schemeClr val="dk1"/>
              </a:solidFill>
              <a:latin typeface="Source Sans 3"/>
              <a:ea typeface="Source Sans 3"/>
              <a:cs typeface="Source Sans 3"/>
              <a:sym typeface="Source Sans 3"/>
            </a:endParaRPr>
          </a:p>
        </p:txBody>
      </p:sp>
      <p:sp>
        <p:nvSpPr>
          <p:cNvPr id="92" name="Google Shape;92;p2"/>
          <p:cNvSpPr/>
          <p:nvPr/>
        </p:nvSpPr>
        <p:spPr>
          <a:xfrm>
            <a:off x="9131300" y="3232200"/>
            <a:ext cx="2341499"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0" i="0" lang="en-US" sz="1600" u="none" cap="none" strike="noStrike">
                <a:solidFill>
                  <a:srgbClr val="1F3B2D"/>
                </a:solidFill>
                <a:latin typeface="Source Sans 3"/>
                <a:ea typeface="Source Sans 3"/>
                <a:cs typeface="Source Sans 3"/>
                <a:sym typeface="Source Sans 3"/>
              </a:rPr>
              <a:t>Stock and staff for the peaks</a:t>
            </a:r>
            <a:endParaRPr b="0" i="0" sz="1600" u="none" cap="none" strike="noStrike">
              <a:solidFill>
                <a:schemeClr val="dk1"/>
              </a:solidFill>
              <a:latin typeface="Source Sans 3"/>
              <a:ea typeface="Source Sans 3"/>
              <a:cs typeface="Source Sans 3"/>
              <a:sym typeface="Source Sans 3"/>
            </a:endParaRPr>
          </a:p>
        </p:txBody>
      </p:sp>
      <p:sp>
        <p:nvSpPr>
          <p:cNvPr id="93" name="Google Shape;93;p2"/>
          <p:cNvSpPr/>
          <p:nvPr/>
        </p:nvSpPr>
        <p:spPr>
          <a:xfrm>
            <a:off x="9131300" y="3841800"/>
            <a:ext cx="2341499"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and Oct–Nov; Aug 2026: 236k visits</a:t>
            </a:r>
            <a:endParaRPr b="0" i="0" sz="1200" u="none" cap="none" strike="noStrike">
              <a:solidFill>
                <a:schemeClr val="dk1"/>
              </a:solidFill>
              <a:latin typeface="Source Sans 3"/>
              <a:ea typeface="Source Sans 3"/>
              <a:cs typeface="Source Sans 3"/>
              <a:sym typeface="Source Sans 3"/>
            </a:endParaRPr>
          </a:p>
        </p:txBody>
      </p:sp>
      <p:cxnSp>
        <p:nvCxnSpPr>
          <p:cNvPr id="94" name="Google Shape;94;p2"/>
          <p:cNvCxnSpPr/>
          <p:nvPr/>
        </p:nvCxnSpPr>
        <p:spPr>
          <a:xfrm>
            <a:off x="9131300" y="4657130"/>
            <a:ext cx="2273300" cy="0"/>
          </a:xfrm>
          <a:prstGeom prst="straightConnector1">
            <a:avLst/>
          </a:prstGeom>
          <a:noFill/>
          <a:ln cap="flat" cmpd="sng" w="12700">
            <a:solidFill>
              <a:srgbClr val="E3D9C6"/>
            </a:solidFill>
            <a:prstDash val="solid"/>
            <a:round/>
            <a:headEnd len="sm" w="sm" type="none"/>
            <a:tailEnd len="sm" w="sm" type="none"/>
          </a:ln>
        </p:spPr>
      </p:cxnSp>
      <p:sp>
        <p:nvSpPr>
          <p:cNvPr id="95" name="Google Shape;95;p2"/>
          <p:cNvSpPr/>
          <p:nvPr/>
        </p:nvSpPr>
        <p:spPr>
          <a:xfrm>
            <a:off x="9131300" y="4739680"/>
            <a:ext cx="234149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Q4 · Q7</a:t>
            </a:r>
            <a:endParaRPr b="0" i="0" sz="1200" u="none" cap="none" strike="noStrike">
              <a:solidFill>
                <a:schemeClr val="dk1"/>
              </a:solidFill>
              <a:latin typeface="Source Sans 3"/>
              <a:ea typeface="Source Sans 3"/>
              <a:cs typeface="Source Sans 3"/>
              <a:sym typeface="Source Sans 3"/>
            </a:endParaRPr>
          </a:p>
        </p:txBody>
      </p:sp>
      <p:sp>
        <p:nvSpPr>
          <p:cNvPr id="96" name="Google Shape;96;p2"/>
          <p:cNvSpPr/>
          <p:nvPr/>
        </p:nvSpPr>
        <p:spPr>
          <a:xfrm>
            <a:off x="609600" y="5308600"/>
            <a:ext cx="10972800" cy="459730"/>
          </a:xfrm>
          <a:prstGeom prst="roundRect">
            <a:avLst>
              <a:gd fmla="val 19337" name="adj"/>
            </a:avLst>
          </a:prstGeom>
          <a:solidFill>
            <a:srgbClr val="1F3B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
          <p:cNvSpPr/>
          <p:nvPr/>
        </p:nvSpPr>
        <p:spPr>
          <a:xfrm>
            <a:off x="787400" y="5308600"/>
            <a:ext cx="703302"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98" name="Google Shape;98;p2"/>
          <p:cNvSpPr/>
          <p:nvPr/>
        </p:nvSpPr>
        <p:spPr>
          <a:xfrm>
            <a:off x="1500485" y="5308600"/>
            <a:ext cx="10201200"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300"/>
              <a:buFont typeface="Source Sans 3"/>
              <a:buNone/>
            </a:pPr>
            <a:r>
              <a:rPr b="0" i="0" lang="en-US" sz="1300" u="none" cap="none" strike="noStrike">
                <a:solidFill>
                  <a:srgbClr val="F7F2E8"/>
                </a:solidFill>
                <a:latin typeface="Source Sans 3"/>
                <a:ea typeface="Source Sans 3"/>
                <a:cs typeface="Source Sans 3"/>
                <a:sym typeface="Source Sans 3"/>
              </a:rPr>
              <a:t>Demand is not need: traffic follows money and access more than need.</a:t>
            </a:r>
            <a:endParaRPr b="0" i="0" sz="1300" u="none" cap="none" strike="noStrike">
              <a:solidFill>
                <a:schemeClr val="dk1"/>
              </a:solidFill>
              <a:latin typeface="Source Sans 3"/>
              <a:ea typeface="Source Sans 3"/>
              <a:cs typeface="Source Sans 3"/>
              <a:sym typeface="Source Sans 3"/>
            </a:endParaRPr>
          </a:p>
        </p:txBody>
      </p:sp>
      <p:sp>
        <p:nvSpPr>
          <p:cNvPr id="99" name="Google Shape;99;p2"/>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a:t>
            </a:r>
            <a:r>
              <a:rPr b="0" i="0" lang="en-US" sz="1200" u="none" cap="none" strike="noStrike">
                <a:solidFill>
                  <a:srgbClr val="4B5A50"/>
                </a:solidFill>
                <a:latin typeface="Source Sans 3"/>
                <a:ea typeface="Source Sans 3"/>
                <a:cs typeface="Source Sans 3"/>
                <a:sym typeface="Source Sans 3"/>
              </a:rPr>
              <a:t> · Each move is backed by the evidence that follows</a:t>
            </a:r>
            <a:endParaRPr b="0" i="0" sz="1200" u="none" cap="none" strike="noStrike">
              <a:solidFill>
                <a:schemeClr val="dk1"/>
              </a:solidFill>
              <a:latin typeface="Source Sans 3"/>
              <a:ea typeface="Source Sans 3"/>
              <a:cs typeface="Source Sans 3"/>
              <a:sym typeface="Source Sans 3"/>
            </a:endParaRPr>
          </a:p>
        </p:txBody>
      </p:sp>
      <p:sp>
        <p:nvSpPr>
          <p:cNvPr id="100" name="Google Shape;100;p2"/>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 name="Google Shape;101;p2"/>
          <p:cNvSpPr/>
          <p:nvPr/>
        </p:nvSpPr>
        <p:spPr>
          <a:xfrm>
            <a:off x="0" y="6803136"/>
            <a:ext cx="24384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106" name="Shape 106"/>
        <p:cNvGrpSpPr/>
        <p:nvPr/>
      </p:nvGrpSpPr>
      <p:grpSpPr>
        <a:xfrm>
          <a:off x="0" y="0"/>
          <a:ext cx="0" cy="0"/>
          <a:chOff x="0" y="0"/>
          <a:chExt cx="0" cy="0"/>
        </a:xfrm>
      </p:grpSpPr>
      <p:sp>
        <p:nvSpPr>
          <p:cNvPr id="107" name="Google Shape;107;p3"/>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Q1 · Need Estimates vs Food Shelf Activity</a:t>
            </a:r>
            <a:endParaRPr b="0" i="0" sz="1300" u="none" cap="none" strike="noStrike">
              <a:solidFill>
                <a:schemeClr val="dk1"/>
              </a:solidFill>
              <a:latin typeface="Source Sans 3"/>
              <a:ea typeface="Source Sans 3"/>
              <a:cs typeface="Source Sans 3"/>
              <a:sym typeface="Source Sans 3"/>
            </a:endParaRPr>
          </a:p>
        </p:txBody>
      </p:sp>
      <p:sp>
        <p:nvSpPr>
          <p:cNvPr id="109" name="Google Shape;109;p3"/>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110" name="Google Shape;110;p3"/>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111" name="Google Shape;111;p3"/>
          <p:cNvSpPr txBox="1"/>
          <p:nvPr>
            <p:ph type="title"/>
          </p:nvPr>
        </p:nvSpPr>
        <p:spPr>
          <a:xfrm>
            <a:off x="609600" y="890290"/>
            <a:ext cx="109728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i="0" lang="en-US" sz="2300">
                <a:solidFill>
                  <a:srgbClr val="1F3B2D"/>
                </a:solidFill>
                <a:latin typeface="Source Serif 4"/>
                <a:ea typeface="Source Serif 4"/>
                <a:cs typeface="Source Serif 4"/>
                <a:sym typeface="Source Serif 4"/>
              </a:rPr>
              <a:t>Need and activity match in totals (</a:t>
            </a:r>
            <a:r>
              <a:rPr b="1" i="0" lang="en-US" sz="2300">
                <a:solidFill>
                  <a:srgbClr val="B5501F"/>
                </a:solidFill>
                <a:latin typeface="Source Serif 4"/>
                <a:ea typeface="Source Serif 4"/>
                <a:cs typeface="Source Serif 4"/>
                <a:sym typeface="Source Serif 4"/>
              </a:rPr>
              <a:t>r = 0.92</a:t>
            </a:r>
            <a:r>
              <a:rPr b="1" i="0" lang="en-US" sz="2300">
                <a:solidFill>
                  <a:srgbClr val="1F3B2D"/>
                </a:solidFill>
                <a:latin typeface="Source Serif 4"/>
                <a:ea typeface="Source Serif 4"/>
                <a:cs typeface="Source Serif 4"/>
                <a:sym typeface="Source Serif 4"/>
              </a:rPr>
              <a:t>), except </a:t>
            </a:r>
            <a:r>
              <a:rPr b="1" i="0" lang="en-US" sz="2300">
                <a:solidFill>
                  <a:srgbClr val="B5501F"/>
                </a:solidFill>
                <a:latin typeface="Source Serif 4"/>
                <a:ea typeface="Source Serif 4"/>
                <a:cs typeface="Source Serif 4"/>
                <a:sym typeface="Source Serif 4"/>
              </a:rPr>
              <a:t>3 regional hub counties</a:t>
            </a:r>
            <a:endParaRPr b="1" sz="2300"/>
          </a:p>
        </p:txBody>
      </p:sp>
      <p:sp>
        <p:nvSpPr>
          <p:cNvPr id="112" name="Google Shape;112;p3"/>
          <p:cNvSpPr/>
          <p:nvPr/>
        </p:nvSpPr>
        <p:spPr>
          <a:xfrm>
            <a:off x="615950" y="1555750"/>
            <a:ext cx="6337300" cy="35687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log scatter of Minnesota counties: food-insecure residents vs people served in 2024; Steele, Rice and Washington far above the line, Scott and Pope below." id="113" name="Google Shape;113;p3"/>
          <p:cNvPicPr preferRelativeResize="0"/>
          <p:nvPr/>
        </p:nvPicPr>
        <p:blipFill rotWithShape="1">
          <a:blip r:embed="rId4">
            <a:alphaModFix/>
          </a:blip>
          <a:srcRect b="0" l="-10250" r="-10250" t="0"/>
          <a:stretch/>
        </p:blipFill>
        <p:spPr>
          <a:xfrm>
            <a:off x="723900" y="1663700"/>
            <a:ext cx="6121400" cy="3352800"/>
          </a:xfrm>
          <a:prstGeom prst="rect">
            <a:avLst/>
          </a:prstGeom>
          <a:noFill/>
          <a:ln>
            <a:noFill/>
          </a:ln>
        </p:spPr>
      </p:pic>
      <p:sp>
        <p:nvSpPr>
          <p:cNvPr id="114" name="Google Shape;114;p3"/>
          <p:cNvSpPr/>
          <p:nvPr/>
        </p:nvSpPr>
        <p:spPr>
          <a:xfrm>
            <a:off x="7169150" y="15557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3"/>
          <p:cNvSpPr/>
          <p:nvPr/>
        </p:nvSpPr>
        <p:spPr>
          <a:xfrm>
            <a:off x="7340600" y="17205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0.92</a:t>
            </a:r>
            <a:endParaRPr b="0" i="0" sz="2400" u="none" cap="none" strike="noStrike">
              <a:solidFill>
                <a:schemeClr val="dk1"/>
              </a:solidFill>
              <a:latin typeface="Source Sans 3"/>
              <a:ea typeface="Source Sans 3"/>
              <a:cs typeface="Source Sans 3"/>
              <a:sym typeface="Source Sans 3"/>
            </a:endParaRPr>
          </a:p>
        </p:txBody>
      </p:sp>
      <p:sp>
        <p:nvSpPr>
          <p:cNvPr id="116" name="Google Shape;116;p3"/>
          <p:cNvSpPr/>
          <p:nvPr/>
        </p:nvSpPr>
        <p:spPr>
          <a:xfrm>
            <a:off x="7340600" y="20659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correlation with need, 86 counties, 2024</a:t>
            </a:r>
            <a:endParaRPr b="0" i="0" sz="1300" u="none" cap="none" strike="noStrike">
              <a:solidFill>
                <a:schemeClr val="dk1"/>
              </a:solidFill>
              <a:latin typeface="Source Sans 3"/>
              <a:ea typeface="Source Sans 3"/>
              <a:cs typeface="Source Sans 3"/>
              <a:sym typeface="Source Sans 3"/>
            </a:endParaRPr>
          </a:p>
        </p:txBody>
      </p:sp>
      <p:sp>
        <p:nvSpPr>
          <p:cNvPr id="117" name="Google Shape;117;p3"/>
          <p:cNvSpPr/>
          <p:nvPr/>
        </p:nvSpPr>
        <p:spPr>
          <a:xfrm>
            <a:off x="7340600" y="22977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pounds 0.93 · people 0.92 · visits 0.92</a:t>
            </a:r>
            <a:endParaRPr b="0" i="0" sz="1200" u="none" cap="none" strike="noStrike">
              <a:solidFill>
                <a:schemeClr val="dk1"/>
              </a:solidFill>
              <a:latin typeface="Source Sans 3"/>
              <a:ea typeface="Source Sans 3"/>
              <a:cs typeface="Source Sans 3"/>
              <a:sym typeface="Source Sans 3"/>
            </a:endParaRPr>
          </a:p>
        </p:txBody>
      </p:sp>
      <p:sp>
        <p:nvSpPr>
          <p:cNvPr id="118" name="Google Shape;118;p3"/>
          <p:cNvSpPr/>
          <p:nvPr/>
        </p:nvSpPr>
        <p:spPr>
          <a:xfrm>
            <a:off x="7169150" y="27876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a:off x="7340600" y="29524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3 hubs</a:t>
            </a:r>
            <a:endParaRPr b="0" i="0" sz="2400" u="none" cap="none" strike="noStrike">
              <a:solidFill>
                <a:schemeClr val="dk1"/>
              </a:solidFill>
              <a:latin typeface="Source Sans 3"/>
              <a:ea typeface="Source Sans 3"/>
              <a:cs typeface="Source Sans 3"/>
              <a:sym typeface="Source Sans 3"/>
            </a:endParaRPr>
          </a:p>
        </p:txBody>
      </p:sp>
      <p:sp>
        <p:nvSpPr>
          <p:cNvPr id="120" name="Google Shape;120;p3"/>
          <p:cNvSpPr/>
          <p:nvPr/>
        </p:nvSpPr>
        <p:spPr>
          <a:xfrm>
            <a:off x="7340600" y="32978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Steele, Rice, Washington: above need</a:t>
            </a:r>
            <a:endParaRPr b="0" i="0" sz="1300" u="none" cap="none" strike="noStrike">
              <a:solidFill>
                <a:schemeClr val="dk1"/>
              </a:solidFill>
              <a:latin typeface="Source Sans 3"/>
              <a:ea typeface="Source Sans 3"/>
              <a:cs typeface="Source Sans 3"/>
              <a:sym typeface="Source Sans 3"/>
            </a:endParaRPr>
          </a:p>
        </p:txBody>
      </p:sp>
      <p:sp>
        <p:nvSpPr>
          <p:cNvPr id="121" name="Google Shape;121;p3"/>
          <p:cNvSpPr/>
          <p:nvPr/>
        </p:nvSpPr>
        <p:spPr>
          <a:xfrm>
            <a:off x="7340600" y="35296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one Steele site is 95% of its activity</a:t>
            </a:r>
            <a:endParaRPr b="0" i="0" sz="1200" u="none" cap="none" strike="noStrike">
              <a:solidFill>
                <a:schemeClr val="dk1"/>
              </a:solidFill>
              <a:latin typeface="Source Sans 3"/>
              <a:ea typeface="Source Sans 3"/>
              <a:cs typeface="Source Sans 3"/>
              <a:sym typeface="Source Sans 3"/>
            </a:endParaRPr>
          </a:p>
        </p:txBody>
      </p:sp>
      <p:sp>
        <p:nvSpPr>
          <p:cNvPr id="122" name="Google Shape;122;p3"/>
          <p:cNvSpPr/>
          <p:nvPr/>
        </p:nvSpPr>
        <p:spPr>
          <a:xfrm>
            <a:off x="7169150" y="40195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
          <p:cNvSpPr/>
          <p:nvPr/>
        </p:nvSpPr>
        <p:spPr>
          <a:xfrm>
            <a:off x="7340600" y="41843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0 records</a:t>
            </a:r>
            <a:endParaRPr b="0" i="0" sz="2400" u="none" cap="none" strike="noStrike">
              <a:solidFill>
                <a:schemeClr val="dk1"/>
              </a:solidFill>
              <a:latin typeface="Source Sans 3"/>
              <a:ea typeface="Source Sans 3"/>
              <a:cs typeface="Source Sans 3"/>
              <a:sym typeface="Source Sans 3"/>
            </a:endParaRPr>
          </a:p>
        </p:txBody>
      </p:sp>
      <p:sp>
        <p:nvSpPr>
          <p:cNvPr id="124" name="Google Shape;124;p3"/>
          <p:cNvSpPr/>
          <p:nvPr/>
        </p:nvSpPr>
        <p:spPr>
          <a:xfrm>
            <a:off x="7340600" y="45297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for Wilkin's 810 food-insecure people</a:t>
            </a:r>
            <a:endParaRPr b="0" i="0" sz="1300" u="none" cap="none" strike="noStrike">
              <a:solidFill>
                <a:schemeClr val="dk1"/>
              </a:solidFill>
              <a:latin typeface="Source Sans 3"/>
              <a:ea typeface="Source Sans 3"/>
              <a:cs typeface="Source Sans 3"/>
              <a:sym typeface="Source Sans 3"/>
            </a:endParaRPr>
          </a:p>
        </p:txBody>
      </p:sp>
      <p:sp>
        <p:nvSpPr>
          <p:cNvPr id="125" name="Google Shape;125;p3"/>
          <p:cNvSpPr/>
          <p:nvPr/>
        </p:nvSpPr>
        <p:spPr>
          <a:xfrm>
            <a:off x="7340600" y="47615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Scott and Pope also fall below need</a:t>
            </a:r>
            <a:endParaRPr b="0" i="0" sz="1200" u="none" cap="none" strike="noStrike">
              <a:solidFill>
                <a:schemeClr val="dk1"/>
              </a:solidFill>
              <a:latin typeface="Source Sans 3"/>
              <a:ea typeface="Source Sans 3"/>
              <a:cs typeface="Source Sans 3"/>
              <a:sym typeface="Source Sans 3"/>
            </a:endParaRPr>
          </a:p>
        </p:txBody>
      </p:sp>
      <p:sp>
        <p:nvSpPr>
          <p:cNvPr id="126" name="Google Shape;126;p3"/>
          <p:cNvSpPr/>
          <p:nvPr/>
        </p:nvSpPr>
        <p:spPr>
          <a:xfrm>
            <a:off x="609600" y="5308600"/>
            <a:ext cx="10972800" cy="459730"/>
          </a:xfrm>
          <a:prstGeom prst="roundRect">
            <a:avLst>
              <a:gd fmla="val 19337" name="adj"/>
            </a:avLst>
          </a:prstGeom>
          <a:solidFill>
            <a:srgbClr val="1F3B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
          <p:cNvSpPr/>
          <p:nvPr/>
        </p:nvSpPr>
        <p:spPr>
          <a:xfrm>
            <a:off x="787400" y="5308600"/>
            <a:ext cx="703302"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128" name="Google Shape;128;p3"/>
          <p:cNvSpPr/>
          <p:nvPr/>
        </p:nvSpPr>
        <p:spPr>
          <a:xfrm>
            <a:off x="1500485" y="5308600"/>
            <a:ext cx="10201200" cy="45973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7F2E8"/>
              </a:buClr>
              <a:buSzPts val="1300"/>
              <a:buFont typeface="Source Sans 3"/>
              <a:buNone/>
            </a:pPr>
            <a:r>
              <a:rPr b="0" i="0" lang="en-US" sz="1300" u="none" cap="none" strike="noStrike">
                <a:solidFill>
                  <a:srgbClr val="F7F2E8"/>
                </a:solidFill>
                <a:latin typeface="Source Sans 3"/>
                <a:ea typeface="Source Sans 3"/>
                <a:cs typeface="Source Sans 3"/>
                <a:sym typeface="Source Sans 3"/>
              </a:rPr>
              <a:t>Per resident the link is weak. Among county traits only distance matters: +2.2 mi to a shelf, 18% fewer served than need predicts.</a:t>
            </a:r>
            <a:endParaRPr b="0" i="0" sz="1300" u="none" cap="none" strike="noStrike">
              <a:solidFill>
                <a:schemeClr val="dk1"/>
              </a:solidFill>
              <a:latin typeface="Source Sans 3"/>
              <a:ea typeface="Source Sans 3"/>
              <a:cs typeface="Source Sans 3"/>
              <a:sym typeface="Source Sans 3"/>
            </a:endParaRPr>
          </a:p>
        </p:txBody>
      </p:sp>
      <p:sp>
        <p:nvSpPr>
          <p:cNvPr id="129" name="Google Shape;129;p3"/>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3</a:t>
            </a:r>
            <a:r>
              <a:rPr b="0" i="0" lang="en-US" sz="1200" u="none" cap="none" strike="noStrike">
                <a:solidFill>
                  <a:srgbClr val="4B5A50"/>
                </a:solidFill>
                <a:latin typeface="Source Sans 3"/>
                <a:ea typeface="Source Sans 3"/>
                <a:cs typeface="Source Sans 3"/>
                <a:sym typeface="Source Sans 3"/>
              </a:rPr>
              <a:t> · Sources: Feeding America, Map the Meal Gap 2026; The Food Group 2024</a:t>
            </a:r>
            <a:endParaRPr b="0" i="0" sz="1200" u="none" cap="none" strike="noStrike">
              <a:solidFill>
                <a:schemeClr val="dk1"/>
              </a:solidFill>
              <a:latin typeface="Source Sans 3"/>
              <a:ea typeface="Source Sans 3"/>
              <a:cs typeface="Source Sans 3"/>
              <a:sym typeface="Source Sans 3"/>
            </a:endParaRPr>
          </a:p>
        </p:txBody>
      </p:sp>
      <p:sp>
        <p:nvSpPr>
          <p:cNvPr id="130" name="Google Shape;130;p3"/>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1" name="Google Shape;131;p3"/>
          <p:cNvSpPr/>
          <p:nvPr/>
        </p:nvSpPr>
        <p:spPr>
          <a:xfrm>
            <a:off x="0" y="6803136"/>
            <a:ext cx="36576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2" name="Google Shape;132;p3"/>
          <p:cNvSpPr/>
          <p:nvPr/>
        </p:nvSpPr>
        <p:spPr>
          <a:xfrm>
            <a:off x="2895600" y="2019300"/>
            <a:ext cx="2032000" cy="914400"/>
          </a:xfrm>
          <a:prstGeom prst="ellipse">
            <a:avLst/>
          </a:prstGeom>
          <a:noFill/>
          <a:ln cap="flat" cmpd="sng" w="31750">
            <a:solidFill>
              <a:srgbClr val="C2410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3" name="Google Shape;133;p3"/>
          <p:cNvSpPr txBox="1"/>
          <p:nvPr/>
        </p:nvSpPr>
        <p:spPr>
          <a:xfrm>
            <a:off x="1879600" y="1765300"/>
            <a:ext cx="1295400" cy="279400"/>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200" u="none" cap="none" strike="noStrike">
                <a:solidFill>
                  <a:srgbClr val="C2410C"/>
                </a:solidFill>
                <a:latin typeface="Source Sans 3"/>
                <a:ea typeface="Source Sans 3"/>
                <a:cs typeface="Source Sans 3"/>
                <a:sym typeface="Source Sans 3"/>
              </a:rPr>
              <a:t>3 hubs: far more</a:t>
            </a:r>
            <a:endParaRPr/>
          </a:p>
          <a:p>
            <a:pPr indent="0" lvl="0" marL="0" marR="0" rtl="0" algn="l">
              <a:lnSpc>
                <a:spcPct val="100000"/>
              </a:lnSpc>
              <a:spcBef>
                <a:spcPts val="0"/>
              </a:spcBef>
              <a:spcAft>
                <a:spcPts val="0"/>
              </a:spcAft>
              <a:buNone/>
            </a:pPr>
            <a:r>
              <a:rPr b="1" i="0" lang="en-US" sz="1200" u="none" cap="none" strike="noStrike">
                <a:solidFill>
                  <a:srgbClr val="C2410C"/>
                </a:solidFill>
                <a:latin typeface="Source Sans 3"/>
                <a:ea typeface="Source Sans 3"/>
                <a:cs typeface="Source Sans 3"/>
                <a:sym typeface="Source Sans 3"/>
              </a:rPr>
              <a:t>served than need</a:t>
            </a:r>
            <a:endParaRPr/>
          </a:p>
        </p:txBody>
      </p:sp>
      <p:cxnSp>
        <p:nvCxnSpPr>
          <p:cNvPr id="134" name="Google Shape;134;p3"/>
          <p:cNvCxnSpPr/>
          <p:nvPr/>
        </p:nvCxnSpPr>
        <p:spPr>
          <a:xfrm>
            <a:off x="2768600" y="2044700"/>
            <a:ext cx="254000" cy="165100"/>
          </a:xfrm>
          <a:prstGeom prst="straightConnector1">
            <a:avLst/>
          </a:prstGeom>
          <a:noFill/>
          <a:ln cap="flat" cmpd="sng" w="25400">
            <a:solidFill>
              <a:srgbClr val="C2410C"/>
            </a:solidFill>
            <a:prstDash val="solid"/>
            <a:round/>
            <a:headEnd len="sm" w="sm" type="none"/>
            <a:tailEnd len="med" w="med" type="triangle"/>
          </a:ln>
        </p:spPr>
      </p:cxnSp>
      <p:sp>
        <p:nvSpPr>
          <p:cNvPr id="135" name="Google Shape;135;p3"/>
          <p:cNvSpPr txBox="1"/>
          <p:nvPr/>
        </p:nvSpPr>
        <p:spPr>
          <a:xfrm>
            <a:off x="4622800" y="3746500"/>
            <a:ext cx="1524000" cy="279400"/>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r">
              <a:lnSpc>
                <a:spcPct val="100000"/>
              </a:lnSpc>
              <a:spcBef>
                <a:spcPts val="0"/>
              </a:spcBef>
              <a:spcAft>
                <a:spcPts val="0"/>
              </a:spcAft>
              <a:buNone/>
            </a:pPr>
            <a:r>
              <a:rPr b="1" i="0" lang="en-US" sz="1200" u="none" cap="none" strike="noStrike">
                <a:solidFill>
                  <a:srgbClr val="C2410C"/>
                </a:solidFill>
                <a:latin typeface="Source Sans 3"/>
                <a:ea typeface="Source Sans 3"/>
                <a:cs typeface="Source Sans 3"/>
                <a:sym typeface="Source Sans 3"/>
              </a:rPr>
              <a:t>Trend line: r = 0.92</a:t>
            </a:r>
            <a:endParaRPr/>
          </a:p>
        </p:txBody>
      </p:sp>
      <p:cxnSp>
        <p:nvCxnSpPr>
          <p:cNvPr id="136" name="Google Shape;136;p3"/>
          <p:cNvCxnSpPr/>
          <p:nvPr/>
        </p:nvCxnSpPr>
        <p:spPr>
          <a:xfrm rot="10800000">
            <a:off x="4978400" y="2590800"/>
            <a:ext cx="228600" cy="1155700"/>
          </a:xfrm>
          <a:prstGeom prst="straightConnector1">
            <a:avLst/>
          </a:prstGeom>
          <a:noFill/>
          <a:ln cap="flat" cmpd="sng" w="25400">
            <a:solidFill>
              <a:srgbClr val="C2410C"/>
            </a:solidFill>
            <a:prstDash val="solid"/>
            <a:round/>
            <a:headEnd len="sm" w="sm"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141" name="Shape 141"/>
        <p:cNvGrpSpPr/>
        <p:nvPr/>
      </p:nvGrpSpPr>
      <p:grpSpPr>
        <a:xfrm>
          <a:off x="0" y="0"/>
          <a:ext cx="0" cy="0"/>
          <a:chOff x="0" y="0"/>
          <a:chExt cx="0" cy="0"/>
        </a:xfrm>
      </p:grpSpPr>
      <p:sp>
        <p:nvSpPr>
          <p:cNvPr id="142" name="Google Shape;142;p4"/>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4"/>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Q6 · A Falsifiable Measure of Need</a:t>
            </a:r>
            <a:endParaRPr b="0" i="0" sz="1300" u="none" cap="none" strike="noStrike">
              <a:solidFill>
                <a:schemeClr val="dk1"/>
              </a:solidFill>
              <a:latin typeface="Source Sans 3"/>
              <a:ea typeface="Source Sans 3"/>
              <a:cs typeface="Source Sans 3"/>
              <a:sym typeface="Source Sans 3"/>
            </a:endParaRPr>
          </a:p>
        </p:txBody>
      </p:sp>
      <p:sp>
        <p:nvSpPr>
          <p:cNvPr id="144" name="Google Shape;144;p4"/>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145" name="Google Shape;145;p4"/>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146" name="Google Shape;146;p4"/>
          <p:cNvSpPr txBox="1"/>
          <p:nvPr>
            <p:ph type="title"/>
          </p:nvPr>
        </p:nvSpPr>
        <p:spPr>
          <a:xfrm>
            <a:off x="609600" y="890290"/>
            <a:ext cx="109728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i="0" lang="en-US" sz="2300">
                <a:solidFill>
                  <a:srgbClr val="B5501F"/>
                </a:solidFill>
                <a:latin typeface="Source Serif 4"/>
                <a:ea typeface="Source Serif 4"/>
                <a:cs typeface="Source Serif 4"/>
                <a:sym typeface="Source Serif 4"/>
              </a:rPr>
              <a:t>7 rural counties</a:t>
            </a:r>
            <a:r>
              <a:rPr b="1" i="0" lang="en-US" sz="2300">
                <a:solidFill>
                  <a:srgbClr val="1F3B2D"/>
                </a:solidFill>
                <a:latin typeface="Source Serif 4"/>
                <a:ea typeface="Source Serif 4"/>
                <a:cs typeface="Source Serif 4"/>
                <a:sym typeface="Source Serif 4"/>
              </a:rPr>
              <a:t> had need above activity all 3 years; </a:t>
            </a:r>
            <a:r>
              <a:rPr b="1" i="0" lang="en-US" sz="2300">
                <a:solidFill>
                  <a:srgbClr val="B5501F"/>
                </a:solidFill>
                <a:latin typeface="Source Serif 4"/>
                <a:ea typeface="Source Serif 4"/>
                <a:cs typeface="Source Serif 4"/>
                <a:sym typeface="Source Serif 4"/>
              </a:rPr>
              <a:t>3 hubs</a:t>
            </a:r>
            <a:r>
              <a:rPr b="1" i="0" lang="en-US" sz="2300">
                <a:solidFill>
                  <a:srgbClr val="1F3B2D"/>
                </a:solidFill>
                <a:latin typeface="Source Serif 4"/>
                <a:ea typeface="Source Serif 4"/>
                <a:cs typeface="Source Serif 4"/>
                <a:sym typeface="Source Serif 4"/>
              </a:rPr>
              <a:t> had the reverse</a:t>
            </a:r>
            <a:endParaRPr sz="2300"/>
          </a:p>
        </p:txBody>
      </p:sp>
      <p:sp>
        <p:nvSpPr>
          <p:cNvPr id="147" name="Google Shape;147;p4"/>
          <p:cNvSpPr/>
          <p:nvPr/>
        </p:nvSpPr>
        <p:spPr>
          <a:xfrm>
            <a:off x="615950" y="1555750"/>
            <a:ext cx="3797300" cy="35687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innesota county map: seven rural counties in orange where need exceeds activity every year; Washington, Rice and Steele in blue where activity exceeds need." id="148" name="Google Shape;148;p4"/>
          <p:cNvPicPr preferRelativeResize="0"/>
          <p:nvPr/>
        </p:nvPicPr>
        <p:blipFill rotWithShape="1">
          <a:blip r:embed="rId4">
            <a:alphaModFix/>
          </a:blip>
          <a:srcRect b="0" l="-2987" r="-2987" t="0"/>
          <a:stretch/>
        </p:blipFill>
        <p:spPr>
          <a:xfrm>
            <a:off x="723900" y="1663700"/>
            <a:ext cx="3581400" cy="3352800"/>
          </a:xfrm>
          <a:prstGeom prst="rect">
            <a:avLst/>
          </a:prstGeom>
          <a:noFill/>
          <a:ln>
            <a:noFill/>
          </a:ln>
        </p:spPr>
      </p:pic>
      <p:sp>
        <p:nvSpPr>
          <p:cNvPr id="149" name="Google Shape;149;p4"/>
          <p:cNvSpPr/>
          <p:nvPr/>
        </p:nvSpPr>
        <p:spPr>
          <a:xfrm>
            <a:off x="4629150" y="15557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4"/>
          <p:cNvSpPr/>
          <p:nvPr/>
        </p:nvSpPr>
        <p:spPr>
          <a:xfrm>
            <a:off x="4800600" y="1720552"/>
            <a:ext cx="68021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7 counties</a:t>
            </a:r>
            <a:endParaRPr b="0" i="0" sz="2400" u="none" cap="none" strike="noStrike">
              <a:solidFill>
                <a:schemeClr val="dk1"/>
              </a:solidFill>
              <a:latin typeface="Source Sans 3"/>
              <a:ea typeface="Source Sans 3"/>
              <a:cs typeface="Source Sans 3"/>
              <a:sym typeface="Source Sans 3"/>
            </a:endParaRPr>
          </a:p>
        </p:txBody>
      </p:sp>
      <p:sp>
        <p:nvSpPr>
          <p:cNvPr id="151" name="Google Shape;151;p4"/>
          <p:cNvSpPr/>
          <p:nvPr/>
        </p:nvSpPr>
        <p:spPr>
          <a:xfrm>
            <a:off x="4800600" y="20659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need above activity in all 3 years</a:t>
            </a:r>
            <a:endParaRPr b="0" i="0" sz="1300" u="none" cap="none" strike="noStrike">
              <a:solidFill>
                <a:schemeClr val="dk1"/>
              </a:solidFill>
              <a:latin typeface="Source Sans 3"/>
              <a:ea typeface="Source Sans 3"/>
              <a:cs typeface="Source Sans 3"/>
              <a:sym typeface="Source Sans 3"/>
            </a:endParaRPr>
          </a:p>
        </p:txBody>
      </p:sp>
      <p:sp>
        <p:nvSpPr>
          <p:cNvPr id="152" name="Google Shape;152;p4"/>
          <p:cNvSpPr/>
          <p:nvPr/>
        </p:nvSpPr>
        <p:spPr>
          <a:xfrm>
            <a:off x="4800600" y="22977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Swift · Grant · Todd · Benton · Aitkin · Norman · Nicollet</a:t>
            </a:r>
            <a:endParaRPr b="0" i="0" sz="1200" u="none" cap="none" strike="noStrike">
              <a:solidFill>
                <a:schemeClr val="dk1"/>
              </a:solidFill>
              <a:latin typeface="Source Sans 3"/>
              <a:ea typeface="Source Sans 3"/>
              <a:cs typeface="Source Sans 3"/>
              <a:sym typeface="Source Sans 3"/>
            </a:endParaRPr>
          </a:p>
        </p:txBody>
      </p:sp>
      <p:sp>
        <p:nvSpPr>
          <p:cNvPr id="153" name="Google Shape;153;p4"/>
          <p:cNvSpPr/>
          <p:nvPr/>
        </p:nvSpPr>
        <p:spPr>
          <a:xfrm>
            <a:off x="4629150" y="27876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4"/>
          <p:cNvSpPr/>
          <p:nvPr/>
        </p:nvSpPr>
        <p:spPr>
          <a:xfrm>
            <a:off x="4800600" y="2952452"/>
            <a:ext cx="68021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3 hubs</a:t>
            </a:r>
            <a:endParaRPr b="0" i="0" sz="2400" u="none" cap="none" strike="noStrike">
              <a:solidFill>
                <a:schemeClr val="dk1"/>
              </a:solidFill>
              <a:latin typeface="Source Sans 3"/>
              <a:ea typeface="Source Sans 3"/>
              <a:cs typeface="Source Sans 3"/>
              <a:sym typeface="Source Sans 3"/>
            </a:endParaRPr>
          </a:p>
        </p:txBody>
      </p:sp>
      <p:sp>
        <p:nvSpPr>
          <p:cNvPr id="155" name="Google Shape;155;p4"/>
          <p:cNvSpPr/>
          <p:nvPr/>
        </p:nvSpPr>
        <p:spPr>
          <a:xfrm>
            <a:off x="4800600" y="32978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activity above need</a:t>
            </a:r>
            <a:endParaRPr b="0" i="0" sz="1300" u="none" cap="none" strike="noStrike">
              <a:solidFill>
                <a:schemeClr val="dk1"/>
              </a:solidFill>
              <a:latin typeface="Source Sans 3"/>
              <a:ea typeface="Source Sans 3"/>
              <a:cs typeface="Source Sans 3"/>
              <a:sym typeface="Source Sans 3"/>
            </a:endParaRPr>
          </a:p>
        </p:txBody>
      </p:sp>
      <p:sp>
        <p:nvSpPr>
          <p:cNvPr id="156" name="Google Shape;156;p4"/>
          <p:cNvSpPr/>
          <p:nvPr/>
        </p:nvSpPr>
        <p:spPr>
          <a:xfrm>
            <a:off x="4800600" y="35296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Rice · Steele · Washington: regional catchments</a:t>
            </a:r>
            <a:endParaRPr b="0" i="0" sz="1200" u="none" cap="none" strike="noStrike">
              <a:solidFill>
                <a:schemeClr val="dk1"/>
              </a:solidFill>
              <a:latin typeface="Source Sans 3"/>
              <a:ea typeface="Source Sans 3"/>
              <a:cs typeface="Source Sans 3"/>
              <a:sym typeface="Source Sans 3"/>
            </a:endParaRPr>
          </a:p>
        </p:txBody>
      </p:sp>
      <p:sp>
        <p:nvSpPr>
          <p:cNvPr id="157" name="Google Shape;157;p4"/>
          <p:cNvSpPr/>
          <p:nvPr/>
        </p:nvSpPr>
        <p:spPr>
          <a:xfrm>
            <a:off x="4629150" y="40195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4"/>
          <p:cNvSpPr/>
          <p:nvPr/>
        </p:nvSpPr>
        <p:spPr>
          <a:xfrm>
            <a:off x="4800600" y="4184352"/>
            <a:ext cx="68021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52%</a:t>
            </a:r>
            <a:endParaRPr b="0" i="0" sz="2400" u="none" cap="none" strike="noStrike">
              <a:solidFill>
                <a:schemeClr val="dk1"/>
              </a:solidFill>
              <a:latin typeface="Source Sans 3"/>
              <a:ea typeface="Source Sans 3"/>
              <a:cs typeface="Source Sans 3"/>
              <a:sym typeface="Source Sans 3"/>
            </a:endParaRPr>
          </a:p>
        </p:txBody>
      </p:sp>
      <p:sp>
        <p:nvSpPr>
          <p:cNvPr id="159" name="Google Shape;159;p4"/>
          <p:cNvSpPr/>
          <p:nvPr/>
        </p:nvSpPr>
        <p:spPr>
          <a:xfrm>
            <a:off x="4800600" y="45297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of the index is the food-insecurity rate</a:t>
            </a:r>
            <a:endParaRPr b="0" i="0" sz="1300" u="none" cap="none" strike="noStrike">
              <a:solidFill>
                <a:schemeClr val="dk1"/>
              </a:solidFill>
              <a:latin typeface="Source Sans 3"/>
              <a:ea typeface="Source Sans 3"/>
              <a:cs typeface="Source Sans 3"/>
              <a:sym typeface="Source Sans 3"/>
            </a:endParaRPr>
          </a:p>
        </p:txBody>
      </p:sp>
      <p:sp>
        <p:nvSpPr>
          <p:cNvPr id="160" name="Google Shape;160;p4"/>
          <p:cNvSpPr/>
          <p:nvPr/>
        </p:nvSpPr>
        <p:spPr>
          <a:xfrm>
            <a:off x="4800600" y="47615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falsifiable: rejected if the rest added nothing; it holds</a:t>
            </a:r>
            <a:endParaRPr b="0" i="0" sz="1200" u="none" cap="none" strike="noStrike">
              <a:solidFill>
                <a:schemeClr val="dk1"/>
              </a:solidFill>
              <a:latin typeface="Source Sans 3"/>
              <a:ea typeface="Source Sans 3"/>
              <a:cs typeface="Source Sans 3"/>
              <a:sym typeface="Source Sans 3"/>
            </a:endParaRPr>
          </a:p>
        </p:txBody>
      </p:sp>
      <p:sp>
        <p:nvSpPr>
          <p:cNvPr id="161" name="Google Shape;161;p4"/>
          <p:cNvSpPr/>
          <p:nvPr/>
        </p:nvSpPr>
        <p:spPr>
          <a:xfrm>
            <a:off x="609600" y="5308600"/>
            <a:ext cx="10972800" cy="657820"/>
          </a:xfrm>
          <a:prstGeom prst="roundRect">
            <a:avLst>
              <a:gd fmla="val 13514" name="adj"/>
            </a:avLst>
          </a:prstGeom>
          <a:solidFill>
            <a:srgbClr val="1F3B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4"/>
          <p:cNvSpPr/>
          <p:nvPr/>
        </p:nvSpPr>
        <p:spPr>
          <a:xfrm>
            <a:off x="787400" y="5308600"/>
            <a:ext cx="703302" cy="6578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163" name="Google Shape;163;p4"/>
          <p:cNvSpPr/>
          <p:nvPr/>
        </p:nvSpPr>
        <p:spPr>
          <a:xfrm>
            <a:off x="1500485" y="5308600"/>
            <a:ext cx="9929515" cy="6578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7F2E8"/>
              </a:buClr>
              <a:buSzPts val="1300"/>
              <a:buFont typeface="Source Sans 3"/>
              <a:buNone/>
            </a:pPr>
            <a:r>
              <a:rPr b="0" i="0" lang="en-US" sz="1300" u="none" cap="none" strike="noStrike">
                <a:solidFill>
                  <a:srgbClr val="F7F2E8"/>
                </a:solidFill>
                <a:latin typeface="Source Sans 3"/>
                <a:ea typeface="Source Sans 3"/>
                <a:cs typeface="Source Sans 3"/>
                <a:sym typeface="Source Sans 3"/>
              </a:rPr>
              <a:t>Need = food-insecurity rate + meal cost + share below the SNAP limit, none from food shelves. Need vs activity per resident: r ≈ 0. Rurality drives the gap.</a:t>
            </a:r>
            <a:endParaRPr b="0" i="0" sz="1300" u="none" cap="none" strike="noStrike">
              <a:solidFill>
                <a:schemeClr val="dk1"/>
              </a:solidFill>
              <a:latin typeface="Source Sans 3"/>
              <a:ea typeface="Source Sans 3"/>
              <a:cs typeface="Source Sans 3"/>
              <a:sym typeface="Source Sans 3"/>
            </a:endParaRPr>
          </a:p>
        </p:txBody>
      </p:sp>
      <p:sp>
        <p:nvSpPr>
          <p:cNvPr id="164" name="Google Shape;164;p4"/>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4</a:t>
            </a:r>
            <a:r>
              <a:rPr b="0" i="0" lang="en-US" sz="1200" u="none" cap="none" strike="noStrike">
                <a:solidFill>
                  <a:srgbClr val="4B5A50"/>
                </a:solidFill>
                <a:latin typeface="Source Sans 3"/>
                <a:ea typeface="Source Sans 3"/>
                <a:cs typeface="Source Sans 3"/>
                <a:sym typeface="Source Sans 3"/>
              </a:rPr>
              <a:t> · Sources: Feeding America, Map the Meal Gap 2022–2024; The Food Group; Census</a:t>
            </a:r>
            <a:endParaRPr b="0" i="0" sz="1200" u="none" cap="none" strike="noStrike">
              <a:solidFill>
                <a:schemeClr val="dk1"/>
              </a:solidFill>
              <a:latin typeface="Source Sans 3"/>
              <a:ea typeface="Source Sans 3"/>
              <a:cs typeface="Source Sans 3"/>
              <a:sym typeface="Source Sans 3"/>
            </a:endParaRPr>
          </a:p>
        </p:txBody>
      </p:sp>
      <p:sp>
        <p:nvSpPr>
          <p:cNvPr id="165" name="Google Shape;165;p4"/>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 name="Google Shape;166;p4"/>
          <p:cNvSpPr/>
          <p:nvPr/>
        </p:nvSpPr>
        <p:spPr>
          <a:xfrm>
            <a:off x="0" y="6803136"/>
            <a:ext cx="48768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7" name="Google Shape;167;p4"/>
          <p:cNvSpPr/>
          <p:nvPr/>
        </p:nvSpPr>
        <p:spPr>
          <a:xfrm>
            <a:off x="1065285" y="3320063"/>
            <a:ext cx="1015188" cy="694604"/>
          </a:xfrm>
          <a:prstGeom prst="ellipse">
            <a:avLst/>
          </a:prstGeom>
          <a:noFill/>
          <a:ln cap="flat" cmpd="sng" w="31750">
            <a:solidFill>
              <a:srgbClr val="1F3B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8" name="Google Shape;168;p4"/>
          <p:cNvSpPr txBox="1"/>
          <p:nvPr/>
        </p:nvSpPr>
        <p:spPr>
          <a:xfrm>
            <a:off x="2588067" y="3159770"/>
            <a:ext cx="1616287" cy="347302"/>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200" u="none" cap="none" strike="noStrike">
                <a:solidFill>
                  <a:srgbClr val="1F3B2D"/>
                </a:solidFill>
                <a:latin typeface="Source Sans 3"/>
                <a:ea typeface="Source Sans 3"/>
                <a:cs typeface="Source Sans 3"/>
                <a:sym typeface="Source Sans 3"/>
              </a:rPr>
              <a:t>Rural west-central</a:t>
            </a:r>
            <a:endParaRPr/>
          </a:p>
          <a:p>
            <a:pPr indent="0" lvl="0" marL="0" marR="0" rtl="0" algn="l">
              <a:lnSpc>
                <a:spcPct val="100000"/>
              </a:lnSpc>
              <a:spcBef>
                <a:spcPts val="0"/>
              </a:spcBef>
              <a:spcAft>
                <a:spcPts val="0"/>
              </a:spcAft>
              <a:buNone/>
            </a:pPr>
            <a:r>
              <a:rPr b="1" i="0" lang="en-US" sz="1200" u="none" cap="none" strike="noStrike">
                <a:solidFill>
                  <a:srgbClr val="1F3B2D"/>
                </a:solidFill>
                <a:latin typeface="Source Sans 3"/>
                <a:ea typeface="Source Sans 3"/>
                <a:cs typeface="Source Sans 3"/>
                <a:sym typeface="Source Sans 3"/>
              </a:rPr>
              <a:t>cluster: hidden need</a:t>
            </a:r>
            <a:endParaRPr/>
          </a:p>
        </p:txBody>
      </p:sp>
      <p:cxnSp>
        <p:nvCxnSpPr>
          <p:cNvPr id="169" name="Google Shape;169;p4"/>
          <p:cNvCxnSpPr/>
          <p:nvPr/>
        </p:nvCxnSpPr>
        <p:spPr>
          <a:xfrm flipH="1">
            <a:off x="2080473" y="3373494"/>
            <a:ext cx="587741" cy="253798"/>
          </a:xfrm>
          <a:prstGeom prst="straightConnector1">
            <a:avLst/>
          </a:prstGeom>
          <a:noFill/>
          <a:ln cap="flat" cmpd="sng" w="25400">
            <a:solidFill>
              <a:srgbClr val="1F3B2D"/>
            </a:solidFill>
            <a:prstDash val="solid"/>
            <a:round/>
            <a:headEnd len="sm" w="sm"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174" name="Shape 174"/>
        <p:cNvGrpSpPr/>
        <p:nvPr/>
      </p:nvGrpSpPr>
      <p:grpSpPr>
        <a:xfrm>
          <a:off x="0" y="0"/>
          <a:ext cx="0" cy="0"/>
          <a:chOff x="0" y="0"/>
          <a:chExt cx="0" cy="0"/>
        </a:xfrm>
      </p:grpSpPr>
      <p:sp>
        <p:nvSpPr>
          <p:cNvPr id="175" name="Google Shape;175;p5"/>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5"/>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Q4</a:t>
            </a:r>
            <a:r>
              <a:rPr b="1" lang="en-US" sz="1300">
                <a:solidFill>
                  <a:schemeClr val="dk1"/>
                </a:solidFill>
                <a:latin typeface="Source Sans 3"/>
                <a:ea typeface="Source Sans 3"/>
                <a:cs typeface="Source Sans 3"/>
                <a:sym typeface="Source Sans 3"/>
              </a:rPr>
              <a:t> · </a:t>
            </a:r>
            <a:r>
              <a:rPr b="1" i="0" lang="en-US" sz="1300" u="none" cap="none" strike="noStrike">
                <a:solidFill>
                  <a:srgbClr val="1F3B2D"/>
                </a:solidFill>
                <a:latin typeface="Source Sans 3"/>
                <a:ea typeface="Source Sans 3"/>
                <a:cs typeface="Source Sans 3"/>
                <a:sym typeface="Source Sans 3"/>
              </a:rPr>
              <a:t>Food Prices</a:t>
            </a:r>
            <a:endParaRPr b="0" i="0" sz="1300" u="none" cap="none" strike="noStrike">
              <a:solidFill>
                <a:schemeClr val="dk1"/>
              </a:solidFill>
              <a:latin typeface="Source Sans 3"/>
              <a:ea typeface="Source Sans 3"/>
              <a:cs typeface="Source Sans 3"/>
              <a:sym typeface="Source Sans 3"/>
            </a:endParaRPr>
          </a:p>
        </p:txBody>
      </p:sp>
      <p:sp>
        <p:nvSpPr>
          <p:cNvPr id="177" name="Google Shape;177;p5"/>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178" name="Google Shape;178;p5"/>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179" name="Google Shape;179;p5"/>
          <p:cNvSpPr txBox="1"/>
          <p:nvPr>
            <p:ph type="title"/>
          </p:nvPr>
        </p:nvSpPr>
        <p:spPr>
          <a:xfrm>
            <a:off x="609600" y="890300"/>
            <a:ext cx="10972800" cy="3453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lang="en-US" sz="2300">
                <a:solidFill>
                  <a:srgbClr val="1F3B2D"/>
                </a:solidFill>
              </a:rPr>
              <a:t>A typical price rise adds </a:t>
            </a:r>
            <a:r>
              <a:rPr b="1" lang="en-US" sz="2300">
                <a:solidFill>
                  <a:srgbClr val="B5501F"/>
                </a:solidFill>
              </a:rPr>
              <a:t>~1 pt</a:t>
            </a:r>
            <a:r>
              <a:rPr b="1" lang="en-US" sz="2300">
                <a:solidFill>
                  <a:srgbClr val="1F3B2D"/>
                </a:solidFill>
              </a:rPr>
              <a:t> to people served; seasons move it </a:t>
            </a:r>
            <a:r>
              <a:rPr b="1" lang="en-US" sz="2300">
                <a:solidFill>
                  <a:srgbClr val="B5501F"/>
                </a:solidFill>
              </a:rPr>
              <a:t>5–8 pts</a:t>
            </a:r>
            <a:endParaRPr sz="2300"/>
          </a:p>
        </p:txBody>
      </p:sp>
      <p:sp>
        <p:nvSpPr>
          <p:cNvPr id="180" name="Google Shape;180;p5"/>
          <p:cNvSpPr/>
          <p:nvPr/>
        </p:nvSpPr>
        <p:spPr>
          <a:xfrm>
            <a:off x="615950" y="1554800"/>
            <a:ext cx="6337200" cy="35688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5"/>
          <p:cNvSpPr/>
          <p:nvPr/>
        </p:nvSpPr>
        <p:spPr>
          <a:xfrm>
            <a:off x="7169150" y="1555750"/>
            <a:ext cx="4407000" cy="8280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5"/>
          <p:cNvSpPr/>
          <p:nvPr/>
        </p:nvSpPr>
        <p:spPr>
          <a:xfrm>
            <a:off x="7279638" y="1895745"/>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i="0" lang="en-US" sz="1100" u="none" cap="none" strike="noStrike">
                <a:solidFill>
                  <a:srgbClr val="1F3B2D"/>
                </a:solidFill>
                <a:latin typeface="Source Sans 3"/>
                <a:ea typeface="Source Sans 3"/>
                <a:cs typeface="Source Sans 3"/>
                <a:sym typeface="Source Sans 3"/>
              </a:rPr>
              <a:t>Yes, modestly. +1 pt food inflation </a:t>
            </a:r>
            <a:r>
              <a:rPr b="1" lang="en-US" sz="1100">
                <a:solidFill>
                  <a:srgbClr val="1F3B2D"/>
                </a:solidFill>
                <a:latin typeface="Source Sans 3"/>
                <a:ea typeface="Source Sans 3"/>
                <a:cs typeface="Source Sans 3"/>
                <a:sym typeface="Source Sans 3"/>
              </a:rPr>
              <a:t>↔</a:t>
            </a:r>
            <a:r>
              <a:rPr b="1" i="0" lang="en-US" sz="1100" u="none" cap="none" strike="noStrike">
                <a:solidFill>
                  <a:srgbClr val="1F3B2D"/>
                </a:solidFill>
                <a:latin typeface="Source Sans 3"/>
                <a:ea typeface="Source Sans 3"/>
                <a:cs typeface="Source Sans 3"/>
                <a:sym typeface="Source Sans 3"/>
              </a:rPr>
              <a:t> +3.4 pts faster yearly growth in people served.</a:t>
            </a:r>
            <a:endParaRPr b="1" i="0" sz="1100" u="none" cap="none" strike="noStrike">
              <a:solidFill>
                <a:schemeClr val="dk1"/>
              </a:solidFill>
              <a:latin typeface="Source Sans 3"/>
              <a:ea typeface="Source Sans 3"/>
              <a:cs typeface="Source Sans 3"/>
              <a:sym typeface="Source Sans 3"/>
            </a:endParaRPr>
          </a:p>
        </p:txBody>
      </p:sp>
      <p:sp>
        <p:nvSpPr>
          <p:cNvPr id="183" name="Google Shape;183;p5"/>
          <p:cNvSpPr/>
          <p:nvPr/>
        </p:nvSpPr>
        <p:spPr>
          <a:xfrm>
            <a:off x="7279650" y="1650232"/>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100" u="none" cap="none" strike="noStrike">
                <a:solidFill>
                  <a:srgbClr val="D9622B"/>
                </a:solidFill>
                <a:latin typeface="Source Sans 3"/>
                <a:ea typeface="Source Sans 3"/>
                <a:cs typeface="Source Sans 3"/>
                <a:sym typeface="Source Sans 3"/>
              </a:rPr>
              <a:t>MORE PEOPLE WHEN PRICES RISE?</a:t>
            </a:r>
            <a:endParaRPr b="1" i="0" sz="1100" u="none" cap="none" strike="noStrike">
              <a:solidFill>
                <a:schemeClr val="dk1"/>
              </a:solidFill>
              <a:latin typeface="Source Sans 3"/>
              <a:ea typeface="Source Sans 3"/>
              <a:cs typeface="Source Sans 3"/>
              <a:sym typeface="Source Sans 3"/>
            </a:endParaRPr>
          </a:p>
        </p:txBody>
      </p:sp>
      <p:sp>
        <p:nvSpPr>
          <p:cNvPr id="184" name="Google Shape;184;p5"/>
          <p:cNvSpPr/>
          <p:nvPr/>
        </p:nvSpPr>
        <p:spPr>
          <a:xfrm>
            <a:off x="609600" y="5308600"/>
            <a:ext cx="10972800" cy="657820"/>
          </a:xfrm>
          <a:prstGeom prst="roundRect">
            <a:avLst>
              <a:gd fmla="val 13514" name="adj"/>
            </a:avLst>
          </a:prstGeom>
          <a:solidFill>
            <a:srgbClr val="1F3B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5"/>
          <p:cNvSpPr/>
          <p:nvPr/>
        </p:nvSpPr>
        <p:spPr>
          <a:xfrm>
            <a:off x="787400" y="5308600"/>
            <a:ext cx="703302" cy="6578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186" name="Google Shape;186;p5"/>
          <p:cNvSpPr/>
          <p:nvPr/>
        </p:nvSpPr>
        <p:spPr>
          <a:xfrm>
            <a:off x="1500485" y="5308600"/>
            <a:ext cx="10201200" cy="6578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7F2E8"/>
              </a:buClr>
              <a:buSzPts val="1300"/>
              <a:buFont typeface="Source Sans 3"/>
              <a:buNone/>
            </a:pPr>
            <a:r>
              <a:rPr b="1" i="0" lang="en-US" sz="1300" u="none" cap="none" strike="noStrike">
                <a:solidFill>
                  <a:srgbClr val="F7F2E8"/>
                </a:solidFill>
                <a:latin typeface="Source Sans 3"/>
                <a:ea typeface="Source Sans 3"/>
                <a:cs typeface="Source Sans 3"/>
                <a:sym typeface="Source Sans 3"/>
              </a:rPr>
              <a:t>Food shelves: </a:t>
            </a:r>
            <a:r>
              <a:rPr b="0" i="0" lang="en-US" sz="1300" u="none" cap="none" strike="noStrike">
                <a:solidFill>
                  <a:srgbClr val="F7F2E8"/>
                </a:solidFill>
                <a:latin typeface="Source Sans 3"/>
                <a:ea typeface="Source Sans 3"/>
                <a:cs typeface="Source Sans 3"/>
                <a:sym typeface="Source Sans 3"/>
              </a:rPr>
              <a:t>plan stock and staff on the calendar </a:t>
            </a:r>
            <a:endParaRPr b="0" i="0" sz="1300" u="none" cap="none" strike="noStrike">
              <a:solidFill>
                <a:srgbClr val="F7F2E8"/>
              </a:solidFill>
              <a:latin typeface="Source Sans 3"/>
              <a:ea typeface="Source Sans 3"/>
              <a:cs typeface="Source Sans 3"/>
              <a:sym typeface="Source Sans 3"/>
            </a:endParaRPr>
          </a:p>
          <a:p>
            <a:pPr indent="0" lvl="0" marL="0" marR="0" rtl="0" algn="l">
              <a:lnSpc>
                <a:spcPct val="115000"/>
              </a:lnSpc>
              <a:spcBef>
                <a:spcPts val="0"/>
              </a:spcBef>
              <a:spcAft>
                <a:spcPts val="0"/>
              </a:spcAft>
              <a:buClr>
                <a:srgbClr val="F7F2E8"/>
              </a:buClr>
              <a:buSzPts val="1300"/>
              <a:buFont typeface="Source Sans 3"/>
              <a:buNone/>
            </a:pPr>
            <a:r>
              <a:rPr b="1" i="0" lang="en-US" sz="1300" u="none" cap="none" strike="noStrike">
                <a:solidFill>
                  <a:srgbClr val="F7F2E8"/>
                </a:solidFill>
                <a:latin typeface="Source Sans 3"/>
                <a:ea typeface="Source Sans 3"/>
                <a:cs typeface="Source Sans 3"/>
                <a:sym typeface="Source Sans 3"/>
              </a:rPr>
              <a:t>Donors: </a:t>
            </a:r>
            <a:r>
              <a:rPr b="0" i="0" lang="en-US" sz="1300" u="none" cap="none" strike="noStrike">
                <a:solidFill>
                  <a:srgbClr val="F7F2E8"/>
                </a:solidFill>
                <a:latin typeface="Source Sans 3"/>
                <a:ea typeface="Source Sans 3"/>
                <a:cs typeface="Source Sans 3"/>
                <a:sym typeface="Source Sans 3"/>
              </a:rPr>
              <a:t>when inflation stays high, expect faster demand growth over the year</a:t>
            </a:r>
            <a:endParaRPr b="0" i="0" sz="1300" u="none" cap="none" strike="noStrike">
              <a:solidFill>
                <a:srgbClr val="F7F2E8"/>
              </a:solidFill>
              <a:latin typeface="Source Sans 3"/>
              <a:ea typeface="Source Sans 3"/>
              <a:cs typeface="Source Sans 3"/>
              <a:sym typeface="Source Sans 3"/>
            </a:endParaRPr>
          </a:p>
        </p:txBody>
      </p:sp>
      <p:sp>
        <p:nvSpPr>
          <p:cNvPr id="187" name="Google Shape;187;p5"/>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5</a:t>
            </a:r>
            <a:r>
              <a:rPr b="0" i="0" lang="en-US" sz="1200" u="none" cap="none" strike="noStrike">
                <a:solidFill>
                  <a:srgbClr val="4B5A50"/>
                </a:solidFill>
                <a:latin typeface="Source Sans 3"/>
                <a:ea typeface="Source Sans 3"/>
                <a:cs typeface="Source Sans 3"/>
                <a:sym typeface="Source Sans 3"/>
              </a:rPr>
              <a:t> · Sources: BLS CPI-U food at home, Midwest (CUUR0200SAF11, monthly) via FRED · TFG food-shelf data</a:t>
            </a:r>
            <a:endParaRPr b="0" i="0" sz="1200" u="none" cap="none" strike="noStrike">
              <a:solidFill>
                <a:schemeClr val="dk1"/>
              </a:solidFill>
              <a:latin typeface="Source Sans 3"/>
              <a:ea typeface="Source Sans 3"/>
              <a:cs typeface="Source Sans 3"/>
              <a:sym typeface="Source Sans 3"/>
            </a:endParaRPr>
          </a:p>
        </p:txBody>
      </p:sp>
      <p:sp>
        <p:nvSpPr>
          <p:cNvPr id="188" name="Google Shape;188;p5"/>
          <p:cNvSpPr/>
          <p:nvPr/>
        </p:nvSpPr>
        <p:spPr>
          <a:xfrm>
            <a:off x="7169150" y="2466350"/>
            <a:ext cx="4407000" cy="8280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5"/>
          <p:cNvSpPr/>
          <p:nvPr/>
        </p:nvSpPr>
        <p:spPr>
          <a:xfrm>
            <a:off x="7279638" y="2806345"/>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i="0" lang="en-US" sz="1100" u="none" cap="none" strike="noStrike">
                <a:solidFill>
                  <a:srgbClr val="1F3B2D"/>
                </a:solidFill>
                <a:latin typeface="Source Sans 3"/>
                <a:ea typeface="Source Sans 3"/>
                <a:cs typeface="Source Sans 3"/>
                <a:sym typeface="Source Sans 3"/>
              </a:rPr>
              <a:t>Not at once. No same-month link; it </a:t>
            </a:r>
            <a:r>
              <a:rPr b="1" lang="en-US" sz="1100">
                <a:solidFill>
                  <a:srgbClr val="1F3B2D"/>
                </a:solidFill>
                <a:latin typeface="Source Sans 3"/>
                <a:ea typeface="Source Sans 3"/>
                <a:cs typeface="Source Sans 3"/>
                <a:sym typeface="Source Sans 3"/>
              </a:rPr>
              <a:t>shows up</a:t>
            </a:r>
            <a:r>
              <a:rPr b="1" i="0" lang="en-US" sz="1100" u="none" cap="none" strike="noStrike">
                <a:solidFill>
                  <a:srgbClr val="1F3B2D"/>
                </a:solidFill>
                <a:latin typeface="Source Sans 3"/>
                <a:ea typeface="Source Sans 3"/>
                <a:cs typeface="Source Sans 3"/>
                <a:sym typeface="Source Sans 3"/>
              </a:rPr>
              <a:t> over several months.</a:t>
            </a:r>
            <a:endParaRPr b="1" i="0" sz="1100" u="none" cap="none" strike="noStrike">
              <a:solidFill>
                <a:schemeClr val="dk1"/>
              </a:solidFill>
              <a:latin typeface="Source Sans 3"/>
              <a:ea typeface="Source Sans 3"/>
              <a:cs typeface="Source Sans 3"/>
              <a:sym typeface="Source Sans 3"/>
            </a:endParaRPr>
          </a:p>
        </p:txBody>
      </p:sp>
      <p:sp>
        <p:nvSpPr>
          <p:cNvPr id="190" name="Google Shape;190;p5"/>
          <p:cNvSpPr/>
          <p:nvPr/>
        </p:nvSpPr>
        <p:spPr>
          <a:xfrm>
            <a:off x="7279650" y="2560832"/>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100" u="none" cap="none" strike="noStrike">
                <a:solidFill>
                  <a:srgbClr val="D9622B"/>
                </a:solidFill>
                <a:latin typeface="Source Sans 3"/>
                <a:ea typeface="Source Sans 3"/>
                <a:cs typeface="Source Sans 3"/>
                <a:sym typeface="Source Sans 3"/>
              </a:rPr>
              <a:t>AT ONCE OR DELAYED?</a:t>
            </a:r>
            <a:endParaRPr b="0" i="0" sz="1100" u="none" cap="none" strike="noStrike">
              <a:solidFill>
                <a:schemeClr val="dk1"/>
              </a:solidFill>
              <a:latin typeface="Source Sans 3"/>
              <a:ea typeface="Source Sans 3"/>
              <a:cs typeface="Source Sans 3"/>
              <a:sym typeface="Source Sans 3"/>
            </a:endParaRPr>
          </a:p>
        </p:txBody>
      </p:sp>
      <p:sp>
        <p:nvSpPr>
          <p:cNvPr id="191" name="Google Shape;191;p5"/>
          <p:cNvSpPr/>
          <p:nvPr/>
        </p:nvSpPr>
        <p:spPr>
          <a:xfrm>
            <a:off x="7169150" y="3376950"/>
            <a:ext cx="4407000" cy="8280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5"/>
          <p:cNvSpPr/>
          <p:nvPr/>
        </p:nvSpPr>
        <p:spPr>
          <a:xfrm>
            <a:off x="7279638" y="3716945"/>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i="0" lang="en-US" sz="1100" u="none" cap="none" strike="noStrike">
                <a:solidFill>
                  <a:srgbClr val="1F3B2D"/>
                </a:solidFill>
                <a:latin typeface="Source Sans 3"/>
                <a:ea typeface="Source Sans 3"/>
                <a:cs typeface="Source Sans 3"/>
                <a:sym typeface="Source Sans 3"/>
              </a:rPr>
              <a:t>Yes, same direction in households, people and pounds; clearest in people served.</a:t>
            </a:r>
            <a:endParaRPr b="1" i="0" sz="1100" u="none" cap="none" strike="noStrike">
              <a:solidFill>
                <a:schemeClr val="dk1"/>
              </a:solidFill>
              <a:latin typeface="Source Sans 3"/>
              <a:ea typeface="Source Sans 3"/>
              <a:cs typeface="Source Sans 3"/>
              <a:sym typeface="Source Sans 3"/>
            </a:endParaRPr>
          </a:p>
        </p:txBody>
      </p:sp>
      <p:sp>
        <p:nvSpPr>
          <p:cNvPr id="193" name="Google Shape;193;p5"/>
          <p:cNvSpPr/>
          <p:nvPr/>
        </p:nvSpPr>
        <p:spPr>
          <a:xfrm>
            <a:off x="7279650" y="3471432"/>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100" u="none" cap="none" strike="noStrike">
                <a:solidFill>
                  <a:srgbClr val="D9622B"/>
                </a:solidFill>
                <a:latin typeface="Source Sans 3"/>
                <a:ea typeface="Source Sans 3"/>
                <a:cs typeface="Source Sans 3"/>
                <a:sym typeface="Source Sans 3"/>
              </a:rPr>
              <a:t>ALL THREE METRICS?</a:t>
            </a:r>
            <a:endParaRPr b="0" i="0" sz="1100" u="none" cap="none" strike="noStrike">
              <a:solidFill>
                <a:schemeClr val="dk1"/>
              </a:solidFill>
              <a:latin typeface="Source Sans 3"/>
              <a:ea typeface="Source Sans 3"/>
              <a:cs typeface="Source Sans 3"/>
              <a:sym typeface="Source Sans 3"/>
            </a:endParaRPr>
          </a:p>
        </p:txBody>
      </p:sp>
      <p:sp>
        <p:nvSpPr>
          <p:cNvPr id="194" name="Google Shape;194;p5"/>
          <p:cNvSpPr/>
          <p:nvPr/>
        </p:nvSpPr>
        <p:spPr>
          <a:xfrm>
            <a:off x="7169150" y="4287550"/>
            <a:ext cx="4407000" cy="8280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5"/>
          <p:cNvSpPr/>
          <p:nvPr/>
        </p:nvSpPr>
        <p:spPr>
          <a:xfrm>
            <a:off x="7279638" y="4627545"/>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i="0" lang="en-US" sz="1100" u="none" cap="none" strike="noStrike">
                <a:solidFill>
                  <a:srgbClr val="1F3B2D"/>
                </a:solidFill>
                <a:latin typeface="Source Sans 3"/>
                <a:ea typeface="Source Sans 3"/>
                <a:cs typeface="Source Sans 3"/>
                <a:sym typeface="Source Sans 3"/>
              </a:rPr>
              <a:t>Yes, and larger: peaks in Aug and Oct–Nov; lows Dec–Feb.</a:t>
            </a:r>
            <a:endParaRPr b="1" i="0" sz="1100" u="none" cap="none" strike="noStrike">
              <a:solidFill>
                <a:schemeClr val="dk1"/>
              </a:solidFill>
              <a:latin typeface="Source Sans 3"/>
              <a:ea typeface="Source Sans 3"/>
              <a:cs typeface="Source Sans 3"/>
              <a:sym typeface="Source Sans 3"/>
            </a:endParaRPr>
          </a:p>
        </p:txBody>
      </p:sp>
      <p:sp>
        <p:nvSpPr>
          <p:cNvPr id="196" name="Google Shape;196;p5"/>
          <p:cNvSpPr/>
          <p:nvPr/>
        </p:nvSpPr>
        <p:spPr>
          <a:xfrm>
            <a:off x="7279650" y="4382032"/>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100" u="none" cap="none" strike="noStrike">
                <a:solidFill>
                  <a:srgbClr val="D9622B"/>
                </a:solidFill>
                <a:latin typeface="Source Sans 3"/>
                <a:ea typeface="Source Sans 3"/>
                <a:cs typeface="Source Sans 3"/>
                <a:sym typeface="Source Sans 3"/>
              </a:rPr>
              <a:t>OTHER CYCLES?</a:t>
            </a:r>
            <a:endParaRPr b="0" i="0" sz="1100" u="none" cap="none" strike="noStrike">
              <a:solidFill>
                <a:schemeClr val="dk1"/>
              </a:solidFill>
              <a:latin typeface="Source Sans 3"/>
              <a:ea typeface="Source Sans 3"/>
              <a:cs typeface="Source Sans 3"/>
              <a:sym typeface="Source Sans 3"/>
            </a:endParaRPr>
          </a:p>
        </p:txBody>
      </p:sp>
      <p:pic>
        <p:nvPicPr>
          <p:cNvPr id="197" name="Google Shape;197;p5"/>
          <p:cNvPicPr preferRelativeResize="0"/>
          <p:nvPr/>
        </p:nvPicPr>
        <p:blipFill rotWithShape="1">
          <a:blip r:embed="rId4">
            <a:alphaModFix/>
          </a:blip>
          <a:srcRect b="0" l="0" r="0" t="0"/>
          <a:stretch/>
        </p:blipFill>
        <p:spPr>
          <a:xfrm>
            <a:off x="669925" y="1711413"/>
            <a:ext cx="6229251" cy="3121370"/>
          </a:xfrm>
          <a:prstGeom prst="rect">
            <a:avLst/>
          </a:prstGeom>
          <a:noFill/>
          <a:ln>
            <a:noFill/>
          </a:ln>
        </p:spPr>
      </p:pic>
      <p:sp>
        <p:nvSpPr>
          <p:cNvPr id="198" name="Google Shape;198;p5"/>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9" name="Google Shape;199;p5"/>
          <p:cNvSpPr/>
          <p:nvPr/>
        </p:nvSpPr>
        <p:spPr>
          <a:xfrm>
            <a:off x="0" y="6803136"/>
            <a:ext cx="60960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p5"/>
          <p:cNvSpPr/>
          <p:nvPr/>
        </p:nvSpPr>
        <p:spPr>
          <a:xfrm>
            <a:off x="4081824" y="1900586"/>
            <a:ext cx="912093" cy="513473"/>
          </a:xfrm>
          <a:prstGeom prst="ellipse">
            <a:avLst/>
          </a:prstGeom>
          <a:noFill/>
          <a:ln cap="flat" cmpd="sng" w="31750">
            <a:solidFill>
              <a:srgbClr val="C2410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1" name="Google Shape;201;p5"/>
          <p:cNvSpPr txBox="1"/>
          <p:nvPr/>
        </p:nvSpPr>
        <p:spPr>
          <a:xfrm>
            <a:off x="5129041" y="1981661"/>
            <a:ext cx="1756622" cy="378348"/>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200" u="none" cap="none" strike="noStrike">
                <a:solidFill>
                  <a:srgbClr val="C2410C"/>
                </a:solidFill>
                <a:latin typeface="Source Sans 3"/>
                <a:ea typeface="Source Sans 3"/>
                <a:cs typeface="Source Sans 3"/>
                <a:sym typeface="Source Sans 3"/>
              </a:rPr>
              <a:t>Prices: only ~1 pt</a:t>
            </a:r>
            <a:endParaRPr/>
          </a:p>
        </p:txBody>
      </p:sp>
      <p:cxnSp>
        <p:nvCxnSpPr>
          <p:cNvPr id="202" name="Google Shape;202;p5"/>
          <p:cNvCxnSpPr/>
          <p:nvPr/>
        </p:nvCxnSpPr>
        <p:spPr>
          <a:xfrm rot="10800000">
            <a:off x="4993917" y="2170835"/>
            <a:ext cx="135124" cy="0"/>
          </a:xfrm>
          <a:prstGeom prst="straightConnector1">
            <a:avLst/>
          </a:prstGeom>
          <a:noFill/>
          <a:ln cap="flat" cmpd="sng" w="25400">
            <a:solidFill>
              <a:srgbClr val="C2410C"/>
            </a:solidFill>
            <a:prstDash val="solid"/>
            <a:round/>
            <a:headEnd len="sm" w="sm" type="none"/>
            <a:tailEnd len="med" w="med" type="triangle"/>
          </a:ln>
        </p:spPr>
      </p:cxnSp>
      <p:sp>
        <p:nvSpPr>
          <p:cNvPr id="203" name="Google Shape;203;p5"/>
          <p:cNvSpPr/>
          <p:nvPr/>
        </p:nvSpPr>
        <p:spPr>
          <a:xfrm>
            <a:off x="2527890" y="2576208"/>
            <a:ext cx="2952476" cy="1094506"/>
          </a:xfrm>
          <a:prstGeom prst="roundRect">
            <a:avLst>
              <a:gd fmla="val 16667" name="adj"/>
            </a:avLst>
          </a:prstGeom>
          <a:noFill/>
          <a:ln cap="flat" cmpd="sng" w="31750">
            <a:solidFill>
              <a:srgbClr val="1F3B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4" name="Google Shape;204;p5"/>
          <p:cNvSpPr txBox="1"/>
          <p:nvPr/>
        </p:nvSpPr>
        <p:spPr>
          <a:xfrm>
            <a:off x="5500634" y="2968068"/>
            <a:ext cx="1385029" cy="310786"/>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200" u="none" cap="none" strike="noStrike">
                <a:solidFill>
                  <a:srgbClr val="1F3B2D"/>
                </a:solidFill>
                <a:latin typeface="Source Sans 3"/>
                <a:ea typeface="Source Sans 3"/>
                <a:cs typeface="Source Sans 3"/>
                <a:sym typeface="Source Sans 3"/>
              </a:rPr>
              <a:t>Seasons: 5–8 pts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209" name="Shape 209"/>
        <p:cNvGrpSpPr/>
        <p:nvPr/>
      </p:nvGrpSpPr>
      <p:grpSpPr>
        <a:xfrm>
          <a:off x="0" y="0"/>
          <a:ext cx="0" cy="0"/>
          <a:chOff x="0" y="0"/>
          <a:chExt cx="0" cy="0"/>
        </a:xfrm>
      </p:grpSpPr>
      <p:sp>
        <p:nvSpPr>
          <p:cNvPr id="210" name="Google Shape;210;h30c2c28455871043_0_0"/>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h30c2c28455871043_0_0"/>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Q5</a:t>
            </a:r>
            <a:r>
              <a:rPr b="1" lang="en-US" sz="1300">
                <a:solidFill>
                  <a:schemeClr val="dk1"/>
                </a:solidFill>
                <a:latin typeface="Source Sans 3"/>
                <a:ea typeface="Source Sans 3"/>
                <a:cs typeface="Source Sans 3"/>
                <a:sym typeface="Source Sans 3"/>
              </a:rPr>
              <a:t> · </a:t>
            </a:r>
            <a:r>
              <a:rPr b="1" i="0" lang="en-US" sz="1300" u="none" cap="none" strike="noStrike">
                <a:solidFill>
                  <a:srgbClr val="1F3B2D"/>
                </a:solidFill>
                <a:latin typeface="Source Sans 3"/>
                <a:ea typeface="Source Sans 3"/>
                <a:cs typeface="Source Sans 3"/>
                <a:sym typeface="Source Sans 3"/>
              </a:rPr>
              <a:t>SNAP Enrollment and Food-Shelf Use</a:t>
            </a:r>
            <a:endParaRPr b="0" i="0" sz="1300" u="none" cap="none" strike="noStrike">
              <a:solidFill>
                <a:schemeClr val="dk1"/>
              </a:solidFill>
              <a:latin typeface="Source Sans 3"/>
              <a:ea typeface="Source Sans 3"/>
              <a:cs typeface="Source Sans 3"/>
              <a:sym typeface="Source Sans 3"/>
            </a:endParaRPr>
          </a:p>
        </p:txBody>
      </p:sp>
      <p:sp>
        <p:nvSpPr>
          <p:cNvPr id="212" name="Google Shape;212;h30c2c28455871043_0_0"/>
          <p:cNvSpPr/>
          <p:nvPr/>
        </p:nvSpPr>
        <p:spPr>
          <a:xfrm>
            <a:off x="7658100" y="228600"/>
            <a:ext cx="3924300" cy="2082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213" name="Google Shape;213;h30c2c28455871043_0_0"/>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214" name="Google Shape;214;h30c2c28455871043_0_0"/>
          <p:cNvSpPr txBox="1"/>
          <p:nvPr>
            <p:ph type="title"/>
          </p:nvPr>
        </p:nvSpPr>
        <p:spPr>
          <a:xfrm>
            <a:off x="609600" y="890290"/>
            <a:ext cx="109728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i="0" lang="en-US" sz="2300">
                <a:solidFill>
                  <a:srgbClr val="1F3B2D"/>
                </a:solidFill>
                <a:latin typeface="Source Serif 4"/>
                <a:ea typeface="Source Serif 4"/>
                <a:cs typeface="Source Serif 4"/>
                <a:sym typeface="Source Serif 4"/>
              </a:rPr>
              <a:t>After the 2023 SNAP cut (</a:t>
            </a:r>
            <a:r>
              <a:rPr b="1" i="0" lang="en-US" sz="2300">
                <a:solidFill>
                  <a:srgbClr val="B5501F"/>
                </a:solidFill>
                <a:latin typeface="Source Serif 4"/>
                <a:ea typeface="Source Serif 4"/>
                <a:cs typeface="Source Serif 4"/>
                <a:sym typeface="Source Serif 4"/>
              </a:rPr>
              <a:t>$49M a month</a:t>
            </a:r>
            <a:r>
              <a:rPr b="1" i="0" lang="en-US" sz="2300">
                <a:solidFill>
                  <a:srgbClr val="1F3B2D"/>
                </a:solidFill>
                <a:latin typeface="Source Serif 4"/>
                <a:ea typeface="Source Serif 4"/>
                <a:cs typeface="Source Serif 4"/>
                <a:sym typeface="Source Serif 4"/>
              </a:rPr>
              <a:t>), visits ran </a:t>
            </a:r>
            <a:r>
              <a:rPr b="1" i="0" lang="en-US" sz="2300">
                <a:solidFill>
                  <a:srgbClr val="B5501F"/>
                </a:solidFill>
                <a:latin typeface="Source Serif 4"/>
                <a:ea typeface="Source Serif 4"/>
                <a:cs typeface="Source Serif 4"/>
                <a:sym typeface="Source Serif 4"/>
              </a:rPr>
              <a:t>18–26%</a:t>
            </a:r>
            <a:r>
              <a:rPr b="1" i="0" lang="en-US" sz="2300">
                <a:solidFill>
                  <a:srgbClr val="1F3B2D"/>
                </a:solidFill>
                <a:latin typeface="Source Serif 4"/>
                <a:ea typeface="Source Serif 4"/>
                <a:cs typeface="Source Serif 4"/>
                <a:sym typeface="Source Serif 4"/>
              </a:rPr>
              <a:t> above prediction</a:t>
            </a:r>
            <a:endParaRPr sz="2300"/>
          </a:p>
        </p:txBody>
      </p:sp>
      <p:sp>
        <p:nvSpPr>
          <p:cNvPr id="215" name="Google Shape;215;h30c2c28455871043_0_0"/>
          <p:cNvSpPr/>
          <p:nvPr/>
        </p:nvSpPr>
        <p:spPr>
          <a:xfrm>
            <a:off x="615950" y="1555750"/>
            <a:ext cx="6337200" cy="35688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h30c2c28455871043_0_0"/>
          <p:cNvSpPr/>
          <p:nvPr/>
        </p:nvSpPr>
        <p:spPr>
          <a:xfrm>
            <a:off x="7169150" y="1555750"/>
            <a:ext cx="44070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h30c2c28455871043_0_0"/>
          <p:cNvSpPr/>
          <p:nvPr/>
        </p:nvSpPr>
        <p:spPr>
          <a:xfrm>
            <a:off x="7279700" y="1839727"/>
            <a:ext cx="4185900" cy="34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F3B2D"/>
              </a:buClr>
              <a:buSzPts val="2400"/>
              <a:buFont typeface="Source Serif 4"/>
              <a:buNone/>
            </a:pPr>
            <a:r>
              <a:rPr b="1" lang="en-US" sz="1800">
                <a:solidFill>
                  <a:srgbClr val="1F3B2D"/>
                </a:solidFill>
                <a:latin typeface="Source Serif 4"/>
                <a:ea typeface="Source Serif 4"/>
                <a:cs typeface="Source Serif 4"/>
                <a:sym typeface="Source Serif 4"/>
              </a:rPr>
              <a:t>Both</a:t>
            </a:r>
            <a:endParaRPr b="0" i="0" sz="1800" u="none" cap="none" strike="noStrike">
              <a:solidFill>
                <a:schemeClr val="dk1"/>
              </a:solidFill>
              <a:latin typeface="Source Sans 3"/>
              <a:ea typeface="Source Sans 3"/>
              <a:cs typeface="Source Sans 3"/>
              <a:sym typeface="Source Sans 3"/>
            </a:endParaRPr>
          </a:p>
        </p:txBody>
      </p:sp>
      <p:sp>
        <p:nvSpPr>
          <p:cNvPr id="218" name="Google Shape;218;h30c2c28455871043_0_0"/>
          <p:cNvSpPr/>
          <p:nvPr/>
        </p:nvSpPr>
        <p:spPr>
          <a:xfrm>
            <a:off x="7279700" y="2151545"/>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lang="en-US" sz="1100">
                <a:solidFill>
                  <a:srgbClr val="1F3B2D"/>
                </a:solidFill>
                <a:latin typeface="Source Sans 3"/>
                <a:ea typeface="Source Sans 3"/>
                <a:cs typeface="Source Sans 3"/>
                <a:sym typeface="Source Sans 3"/>
              </a:rPr>
              <a:t>Across counties:</a:t>
            </a:r>
            <a:r>
              <a:rPr lang="en-US" sz="1100">
                <a:solidFill>
                  <a:srgbClr val="1F3B2D"/>
                </a:solidFill>
                <a:latin typeface="Source Sans 3"/>
                <a:ea typeface="Source Sans 3"/>
                <a:cs typeface="Source Sans 3"/>
                <a:sym typeface="Source Sans 3"/>
              </a:rPr>
              <a:t> +1% SNAP use ↔ +0.3% food-shelf use (same need)</a:t>
            </a:r>
            <a:endParaRPr sz="1100">
              <a:solidFill>
                <a:srgbClr val="1F3B2D"/>
              </a:solidFill>
              <a:latin typeface="Source Sans 3"/>
              <a:ea typeface="Source Sans 3"/>
              <a:cs typeface="Source Sans 3"/>
              <a:sym typeface="Source Sans 3"/>
            </a:endParaRPr>
          </a:p>
          <a:p>
            <a:pPr indent="0" lvl="0" marL="0" marR="0" rtl="0" algn="l">
              <a:lnSpc>
                <a:spcPct val="125000"/>
              </a:lnSpc>
              <a:spcBef>
                <a:spcPts val="0"/>
              </a:spcBef>
              <a:spcAft>
                <a:spcPts val="0"/>
              </a:spcAft>
              <a:buClr>
                <a:srgbClr val="1F3B2D"/>
              </a:buClr>
              <a:buSzPts val="1300"/>
              <a:buFont typeface="Source Sans 3"/>
              <a:buNone/>
            </a:pPr>
            <a:r>
              <a:rPr b="1" lang="en-US" sz="1100">
                <a:solidFill>
                  <a:srgbClr val="1F3B2D"/>
                </a:solidFill>
                <a:latin typeface="Source Sans 3"/>
                <a:ea typeface="Source Sans 3"/>
                <a:cs typeface="Source Sans 3"/>
                <a:sym typeface="Source Sans 3"/>
              </a:rPr>
              <a:t>Over time:</a:t>
            </a:r>
            <a:r>
              <a:rPr lang="en-US" sz="1100">
                <a:solidFill>
                  <a:srgbClr val="1F3B2D"/>
                </a:solidFill>
                <a:latin typeface="Source Sans 3"/>
                <a:ea typeface="Source Sans 3"/>
                <a:cs typeface="Source Sans 3"/>
                <a:sym typeface="Source Sans 3"/>
              </a:rPr>
              <a:t> 10% less SNAP per person → ~5% more visits</a:t>
            </a:r>
            <a:endParaRPr sz="1100">
              <a:solidFill>
                <a:srgbClr val="1F3B2D"/>
              </a:solidFill>
              <a:latin typeface="Source Sans 3"/>
              <a:ea typeface="Source Sans 3"/>
              <a:cs typeface="Source Sans 3"/>
              <a:sym typeface="Source Sans 3"/>
            </a:endParaRPr>
          </a:p>
        </p:txBody>
      </p:sp>
      <p:sp>
        <p:nvSpPr>
          <p:cNvPr id="219" name="Google Shape;219;h30c2c28455871043_0_0"/>
          <p:cNvSpPr/>
          <p:nvPr/>
        </p:nvSpPr>
        <p:spPr>
          <a:xfrm>
            <a:off x="7279700" y="1662188"/>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200">
                <a:solidFill>
                  <a:srgbClr val="D9622B"/>
                </a:solidFill>
                <a:latin typeface="Source Sans 3"/>
                <a:ea typeface="Source Sans 3"/>
                <a:cs typeface="Source Sans 3"/>
                <a:sym typeface="Source Sans 3"/>
              </a:rPr>
              <a:t>TOGETHER OR REPLACE?</a:t>
            </a:r>
            <a:endParaRPr b="0" i="0" sz="1200" u="none" cap="none" strike="noStrike">
              <a:solidFill>
                <a:schemeClr val="dk1"/>
              </a:solidFill>
              <a:latin typeface="Source Sans 3"/>
              <a:ea typeface="Source Sans 3"/>
              <a:cs typeface="Source Sans 3"/>
              <a:sym typeface="Source Sans 3"/>
            </a:endParaRPr>
          </a:p>
        </p:txBody>
      </p:sp>
      <p:sp>
        <p:nvSpPr>
          <p:cNvPr id="220" name="Google Shape;220;h30c2c28455871043_0_0"/>
          <p:cNvSpPr/>
          <p:nvPr/>
        </p:nvSpPr>
        <p:spPr>
          <a:xfrm>
            <a:off x="609600" y="6286500"/>
            <a:ext cx="11301900" cy="216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6</a:t>
            </a:r>
            <a:r>
              <a:rPr b="0" i="0" lang="en-US" sz="1200" u="none" cap="none" strike="noStrike">
                <a:solidFill>
                  <a:srgbClr val="4B5A50"/>
                </a:solidFill>
                <a:latin typeface="Source Sans 3"/>
                <a:ea typeface="Source Sans 3"/>
                <a:cs typeface="Source Sans 3"/>
                <a:sym typeface="Source Sans 3"/>
              </a:rPr>
              <a:t> · Sources: </a:t>
            </a:r>
            <a:r>
              <a:rPr lang="en-US" sz="1200">
                <a:solidFill>
                  <a:srgbClr val="4B5A50"/>
                </a:solidFill>
                <a:latin typeface="Source Sans 3"/>
                <a:ea typeface="Source Sans 3"/>
                <a:cs typeface="Source Sans 3"/>
                <a:sym typeface="Source Sans 3"/>
              </a:rPr>
              <a:t>MN DCYF SNAP dashboard (county × month, ~1-mo lag) · Census pop. · BLS CPI food at home, Midwest · TFG</a:t>
            </a:r>
            <a:endParaRPr b="0" i="0" sz="1200" u="none" cap="none" strike="noStrike">
              <a:solidFill>
                <a:schemeClr val="dk1"/>
              </a:solidFill>
              <a:latin typeface="Source Sans 3"/>
              <a:ea typeface="Source Sans 3"/>
              <a:cs typeface="Source Sans 3"/>
              <a:sym typeface="Source Sans 3"/>
            </a:endParaRPr>
          </a:p>
        </p:txBody>
      </p:sp>
      <p:pic>
        <p:nvPicPr>
          <p:cNvPr id="221" name="Google Shape;221;h30c2c28455871043_0_0"/>
          <p:cNvPicPr preferRelativeResize="0"/>
          <p:nvPr/>
        </p:nvPicPr>
        <p:blipFill rotWithShape="1">
          <a:blip r:embed="rId4">
            <a:alphaModFix/>
          </a:blip>
          <a:srcRect b="0" l="0" r="0" t="0"/>
          <a:stretch/>
        </p:blipFill>
        <p:spPr>
          <a:xfrm>
            <a:off x="834196" y="1634250"/>
            <a:ext cx="5900726" cy="3391509"/>
          </a:xfrm>
          <a:prstGeom prst="rect">
            <a:avLst/>
          </a:prstGeom>
          <a:noFill/>
          <a:ln>
            <a:noFill/>
          </a:ln>
        </p:spPr>
      </p:pic>
      <p:sp>
        <p:nvSpPr>
          <p:cNvPr id="222" name="Google Shape;222;h30c2c28455871043_0_0"/>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 name="Google Shape;223;h30c2c28455871043_0_0"/>
          <p:cNvSpPr/>
          <p:nvPr/>
        </p:nvSpPr>
        <p:spPr>
          <a:xfrm>
            <a:off x="0" y="6803136"/>
            <a:ext cx="73152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 name="Google Shape;224;h30c2c28455871043_0_0"/>
          <p:cNvSpPr txBox="1"/>
          <p:nvPr/>
        </p:nvSpPr>
        <p:spPr>
          <a:xfrm>
            <a:off x="1272213" y="1821971"/>
            <a:ext cx="1314054" cy="337900"/>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ctr">
              <a:lnSpc>
                <a:spcPct val="100000"/>
              </a:lnSpc>
              <a:spcBef>
                <a:spcPts val="0"/>
              </a:spcBef>
              <a:spcAft>
                <a:spcPts val="0"/>
              </a:spcAft>
              <a:buNone/>
            </a:pPr>
            <a:r>
              <a:rPr b="1" lang="en-US" sz="1200">
                <a:solidFill>
                  <a:srgbClr val="C2410C"/>
                </a:solidFill>
                <a:latin typeface="Source Sans 3"/>
                <a:ea typeface="Source Sans 3"/>
                <a:cs typeface="Source Sans 3"/>
                <a:sym typeface="Source Sans 3"/>
              </a:rPr>
              <a:t>Step-up in spring 2023</a:t>
            </a:r>
            <a:endParaRPr/>
          </a:p>
        </p:txBody>
      </p:sp>
      <p:cxnSp>
        <p:nvCxnSpPr>
          <p:cNvPr id="225" name="Google Shape;225;h30c2c28455871043_0_0"/>
          <p:cNvCxnSpPr/>
          <p:nvPr/>
        </p:nvCxnSpPr>
        <p:spPr>
          <a:xfrm>
            <a:off x="2335971" y="2159871"/>
            <a:ext cx="344157" cy="819719"/>
          </a:xfrm>
          <a:prstGeom prst="straightConnector1">
            <a:avLst/>
          </a:prstGeom>
          <a:noFill/>
          <a:ln cap="flat" cmpd="sng" w="25400">
            <a:solidFill>
              <a:srgbClr val="C2410C"/>
            </a:solidFill>
            <a:prstDash val="solid"/>
            <a:round/>
            <a:headEnd len="sm" w="sm" type="none"/>
            <a:tailEnd len="med" w="med" type="triangle"/>
          </a:ln>
        </p:spPr>
      </p:cxnSp>
      <p:sp>
        <p:nvSpPr>
          <p:cNvPr id="226" name="Google Shape;226;h30c2c28455871043_0_0"/>
          <p:cNvSpPr/>
          <p:nvPr/>
        </p:nvSpPr>
        <p:spPr>
          <a:xfrm>
            <a:off x="7169150" y="3963500"/>
            <a:ext cx="44070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h30c2c28455871043_0_0"/>
          <p:cNvSpPr/>
          <p:nvPr/>
        </p:nvSpPr>
        <p:spPr>
          <a:xfrm>
            <a:off x="7279700" y="4247477"/>
            <a:ext cx="4185900" cy="34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F3B2D"/>
              </a:buClr>
              <a:buSzPts val="2400"/>
              <a:buFont typeface="Source Serif 4"/>
              <a:buNone/>
            </a:pPr>
            <a:r>
              <a:rPr b="1" lang="en-US" sz="1800">
                <a:solidFill>
                  <a:srgbClr val="1F3B2D"/>
                </a:solidFill>
                <a:latin typeface="Source Serif 4"/>
                <a:ea typeface="Source Serif 4"/>
                <a:cs typeface="Source Serif 4"/>
                <a:sym typeface="Source Serif 4"/>
              </a:rPr>
              <a:t>Same response statewide</a:t>
            </a:r>
            <a:endParaRPr b="0" i="0" sz="1800" u="none" cap="none" strike="noStrike">
              <a:solidFill>
                <a:schemeClr val="dk1"/>
              </a:solidFill>
              <a:latin typeface="Source Sans 3"/>
              <a:ea typeface="Source Sans 3"/>
              <a:cs typeface="Source Sans 3"/>
              <a:sym typeface="Source Sans 3"/>
            </a:endParaRPr>
          </a:p>
        </p:txBody>
      </p:sp>
      <p:sp>
        <p:nvSpPr>
          <p:cNvPr id="228" name="Google Shape;228;h30c2c28455871043_0_0"/>
          <p:cNvSpPr/>
          <p:nvPr/>
        </p:nvSpPr>
        <p:spPr>
          <a:xfrm>
            <a:off x="7279700" y="4559295"/>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lang="en-US" sz="1100">
                <a:solidFill>
                  <a:srgbClr val="1F3B2D"/>
                </a:solidFill>
                <a:latin typeface="Source Sans 3"/>
                <a:ea typeface="Source Sans 3"/>
                <a:cs typeface="Source Sans 3"/>
                <a:sym typeface="Source Sans 3"/>
              </a:rPr>
              <a:t>Metro vs Greater MN: no significant difference</a:t>
            </a:r>
            <a:endParaRPr sz="1100">
              <a:solidFill>
                <a:srgbClr val="1F3B2D"/>
              </a:solidFill>
              <a:latin typeface="Source Sans 3"/>
              <a:ea typeface="Source Sans 3"/>
              <a:cs typeface="Source Sans 3"/>
              <a:sym typeface="Source Sans 3"/>
            </a:endParaRPr>
          </a:p>
          <a:p>
            <a:pPr indent="0" lvl="0" marL="0" marR="0" rtl="0" algn="l">
              <a:lnSpc>
                <a:spcPct val="125000"/>
              </a:lnSpc>
              <a:spcBef>
                <a:spcPts val="0"/>
              </a:spcBef>
              <a:spcAft>
                <a:spcPts val="0"/>
              </a:spcAft>
              <a:buClr>
                <a:srgbClr val="1F3B2D"/>
              </a:buClr>
              <a:buSzPts val="1300"/>
              <a:buFont typeface="Source Sans 3"/>
              <a:buNone/>
            </a:pPr>
            <a:r>
              <a:rPr b="1" lang="en-US" sz="1100">
                <a:solidFill>
                  <a:srgbClr val="D9622B"/>
                </a:solidFill>
                <a:latin typeface="Source Sans 3"/>
                <a:ea typeface="Source Sans 3"/>
                <a:cs typeface="Source Sans 3"/>
                <a:sym typeface="Source Sans 3"/>
              </a:rPr>
              <a:t>Small counties lose the most SNAP $ per resident ($9.90 vs $6.19)</a:t>
            </a:r>
            <a:endParaRPr b="1" sz="1100">
              <a:solidFill>
                <a:srgbClr val="D9622B"/>
              </a:solidFill>
              <a:latin typeface="Source Sans 3"/>
              <a:ea typeface="Source Sans 3"/>
              <a:cs typeface="Source Sans 3"/>
              <a:sym typeface="Source Sans 3"/>
            </a:endParaRPr>
          </a:p>
        </p:txBody>
      </p:sp>
      <p:sp>
        <p:nvSpPr>
          <p:cNvPr id="229" name="Google Shape;229;h30c2c28455871043_0_0"/>
          <p:cNvSpPr/>
          <p:nvPr/>
        </p:nvSpPr>
        <p:spPr>
          <a:xfrm>
            <a:off x="7279700" y="4069938"/>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200">
                <a:solidFill>
                  <a:srgbClr val="D9622B"/>
                </a:solidFill>
                <a:latin typeface="Source Sans 3"/>
                <a:ea typeface="Source Sans 3"/>
                <a:cs typeface="Source Sans 3"/>
                <a:sym typeface="Source Sans 3"/>
              </a:rPr>
              <a:t>DIFFERENT BY PLACE?</a:t>
            </a:r>
            <a:endParaRPr b="0" i="0" sz="1200" u="none" cap="none" strike="noStrike">
              <a:solidFill>
                <a:schemeClr val="dk1"/>
              </a:solidFill>
              <a:latin typeface="Source Sans 3"/>
              <a:ea typeface="Source Sans 3"/>
              <a:cs typeface="Source Sans 3"/>
              <a:sym typeface="Source Sans 3"/>
            </a:endParaRPr>
          </a:p>
        </p:txBody>
      </p:sp>
      <p:sp>
        <p:nvSpPr>
          <p:cNvPr id="230" name="Google Shape;230;h30c2c28455871043_0_0"/>
          <p:cNvSpPr/>
          <p:nvPr/>
        </p:nvSpPr>
        <p:spPr>
          <a:xfrm>
            <a:off x="7169150" y="2759625"/>
            <a:ext cx="44070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h30c2c28455871043_0_0"/>
          <p:cNvSpPr/>
          <p:nvPr/>
        </p:nvSpPr>
        <p:spPr>
          <a:xfrm>
            <a:off x="7279700" y="3043602"/>
            <a:ext cx="4185900" cy="34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lang="en-US" sz="1800">
                <a:solidFill>
                  <a:srgbClr val="1F3B2D"/>
                </a:solidFill>
                <a:latin typeface="Source Serif 4"/>
                <a:ea typeface="Source Serif 4"/>
                <a:cs typeface="Source Serif 4"/>
                <a:sym typeface="Source Serif 4"/>
              </a:rPr>
              <a:t>+</a:t>
            </a:r>
            <a:r>
              <a:rPr b="1" lang="en-US" sz="1800">
                <a:solidFill>
                  <a:srgbClr val="1F3B2D"/>
                </a:solidFill>
                <a:latin typeface="Source Serif 4"/>
                <a:ea typeface="Source Serif 4"/>
                <a:cs typeface="Source Serif 4"/>
                <a:sym typeface="Source Serif 4"/>
              </a:rPr>
              <a:t>18 to 26% visits</a:t>
            </a:r>
            <a:endParaRPr b="0" i="0" sz="1800" u="none" cap="none" strike="noStrike">
              <a:solidFill>
                <a:schemeClr val="dk1"/>
              </a:solidFill>
              <a:latin typeface="Source Sans 3"/>
              <a:ea typeface="Source Sans 3"/>
              <a:cs typeface="Source Sans 3"/>
              <a:sym typeface="Source Sans 3"/>
            </a:endParaRPr>
          </a:p>
        </p:txBody>
      </p:sp>
      <p:sp>
        <p:nvSpPr>
          <p:cNvPr id="232" name="Google Shape;232;h30c2c28455871043_0_0"/>
          <p:cNvSpPr/>
          <p:nvPr/>
        </p:nvSpPr>
        <p:spPr>
          <a:xfrm>
            <a:off x="7279700" y="3355420"/>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lang="en-US" sz="1100">
                <a:solidFill>
                  <a:srgbClr val="1F3B2D"/>
                </a:solidFill>
                <a:latin typeface="Source Sans 3"/>
                <a:ea typeface="Source Sans 3"/>
                <a:cs typeface="Source Sans 3"/>
                <a:sym typeface="Source Sans 3"/>
              </a:rPr>
              <a:t>$260 </a:t>
            </a:r>
            <a:r>
              <a:rPr lang="en-US" sz="1100">
                <a:solidFill>
                  <a:schemeClr val="dk1"/>
                </a:solidFill>
                <a:latin typeface="Source Sans 3"/>
                <a:ea typeface="Source Sans 3"/>
                <a:cs typeface="Source Sans 3"/>
                <a:sym typeface="Source Sans 3"/>
              </a:rPr>
              <a:t>→ $160 per person (-38%) </a:t>
            </a:r>
            <a:r>
              <a:rPr lang="en-US" sz="1100">
                <a:solidFill>
                  <a:schemeClr val="dk1"/>
                </a:solidFill>
                <a:latin typeface="Source Sans 3"/>
                <a:ea typeface="Source Sans 3"/>
                <a:cs typeface="Source Sans 3"/>
                <a:sym typeface="Source Sans 3"/>
              </a:rPr>
              <a:t>· people +26 - 30%, pounds +14 - 18%</a:t>
            </a:r>
            <a:endParaRPr sz="1100">
              <a:solidFill>
                <a:srgbClr val="1F3B2D"/>
              </a:solidFill>
              <a:latin typeface="Source Sans 3"/>
              <a:ea typeface="Source Sans 3"/>
              <a:cs typeface="Source Sans 3"/>
              <a:sym typeface="Source Sans 3"/>
            </a:endParaRPr>
          </a:p>
          <a:p>
            <a:pPr indent="0" lvl="0" marL="0" marR="0" rtl="0" algn="l">
              <a:lnSpc>
                <a:spcPct val="125000"/>
              </a:lnSpc>
              <a:spcBef>
                <a:spcPts val="0"/>
              </a:spcBef>
              <a:spcAft>
                <a:spcPts val="0"/>
              </a:spcAft>
              <a:buClr>
                <a:srgbClr val="1F3B2D"/>
              </a:buClr>
              <a:buSzPts val="1300"/>
              <a:buFont typeface="Source Sans 3"/>
              <a:buNone/>
            </a:pPr>
            <a:r>
              <a:rPr b="1" lang="en-US" sz="1100">
                <a:solidFill>
                  <a:srgbClr val="D9622B"/>
                </a:solidFill>
                <a:latin typeface="Source Sans 3"/>
                <a:ea typeface="Source Sans 3"/>
                <a:cs typeface="Source Sans 3"/>
                <a:sym typeface="Source Sans 3"/>
              </a:rPr>
              <a:t>placebo test picks spring 2023 </a:t>
            </a:r>
            <a:r>
              <a:rPr b="1" lang="en-US" sz="1100">
                <a:solidFill>
                  <a:srgbClr val="D9622B"/>
                </a:solidFill>
                <a:latin typeface="Source Sans 3"/>
                <a:ea typeface="Source Sans 3"/>
                <a:cs typeface="Source Sans 3"/>
                <a:sym typeface="Source Sans 3"/>
              </a:rPr>
              <a:t> · not explained by food prices</a:t>
            </a:r>
            <a:endParaRPr b="1" sz="1100">
              <a:solidFill>
                <a:srgbClr val="D9622B"/>
              </a:solidFill>
              <a:latin typeface="Source Sans 3"/>
              <a:ea typeface="Source Sans 3"/>
              <a:cs typeface="Source Sans 3"/>
              <a:sym typeface="Source Sans 3"/>
            </a:endParaRPr>
          </a:p>
        </p:txBody>
      </p:sp>
      <p:sp>
        <p:nvSpPr>
          <p:cNvPr id="233" name="Google Shape;233;h30c2c28455871043_0_0"/>
          <p:cNvSpPr/>
          <p:nvPr/>
        </p:nvSpPr>
        <p:spPr>
          <a:xfrm>
            <a:off x="7279700" y="2866063"/>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200">
                <a:solidFill>
                  <a:srgbClr val="D9622B"/>
                </a:solidFill>
                <a:latin typeface="Source Sans 3"/>
                <a:ea typeface="Source Sans 3"/>
                <a:cs typeface="Source Sans 3"/>
                <a:sym typeface="Source Sans 3"/>
              </a:rPr>
              <a:t>WHEN BENEFITS CHANGE?</a:t>
            </a:r>
            <a:endParaRPr b="0" i="0" sz="1200" u="none" cap="none" strike="noStrike">
              <a:solidFill>
                <a:schemeClr val="dk1"/>
              </a:solidFill>
              <a:latin typeface="Source Sans 3"/>
              <a:ea typeface="Source Sans 3"/>
              <a:cs typeface="Source Sans 3"/>
              <a:sym typeface="Source Sans 3"/>
            </a:endParaRPr>
          </a:p>
        </p:txBody>
      </p:sp>
      <p:sp>
        <p:nvSpPr>
          <p:cNvPr id="234" name="Google Shape;234;h30c2c28455871043_0_0"/>
          <p:cNvSpPr/>
          <p:nvPr/>
        </p:nvSpPr>
        <p:spPr>
          <a:xfrm>
            <a:off x="609600" y="5308600"/>
            <a:ext cx="10972800" cy="657900"/>
          </a:xfrm>
          <a:prstGeom prst="roundRect">
            <a:avLst>
              <a:gd fmla="val 13514" name="adj"/>
            </a:avLst>
          </a:prstGeom>
          <a:solidFill>
            <a:srgbClr val="1F3B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h30c2c28455871043_0_0"/>
          <p:cNvSpPr/>
          <p:nvPr/>
        </p:nvSpPr>
        <p:spPr>
          <a:xfrm>
            <a:off x="787400" y="5308600"/>
            <a:ext cx="703200" cy="65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236" name="Google Shape;236;h30c2c28455871043_0_0"/>
          <p:cNvSpPr/>
          <p:nvPr/>
        </p:nvSpPr>
        <p:spPr>
          <a:xfrm>
            <a:off x="1500485" y="5308600"/>
            <a:ext cx="10201200" cy="657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7F2E8"/>
              </a:buClr>
              <a:buSzPts val="1300"/>
              <a:buFont typeface="Source Sans 3"/>
              <a:buNone/>
            </a:pPr>
            <a:r>
              <a:rPr b="1" lang="en-US" sz="1300">
                <a:solidFill>
                  <a:srgbClr val="F7F2E8"/>
                </a:solidFill>
                <a:latin typeface="Source Sans 3"/>
                <a:ea typeface="Source Sans 3"/>
                <a:cs typeface="Source Sans 3"/>
                <a:sym typeface="Source Sans 3"/>
              </a:rPr>
              <a:t>Lawmakers</a:t>
            </a:r>
            <a:r>
              <a:rPr b="1" i="0" lang="en-US" sz="1300" u="none" cap="none" strike="noStrike">
                <a:solidFill>
                  <a:srgbClr val="F7F2E8"/>
                </a:solidFill>
                <a:latin typeface="Source Sans 3"/>
                <a:ea typeface="Source Sans 3"/>
                <a:cs typeface="Source Sans 3"/>
                <a:sym typeface="Source Sans 3"/>
              </a:rPr>
              <a:t>: </a:t>
            </a:r>
            <a:r>
              <a:rPr lang="en-US" sz="1300">
                <a:solidFill>
                  <a:srgbClr val="F7F2E8"/>
                </a:solidFill>
                <a:latin typeface="Source Sans 3"/>
                <a:ea typeface="Source Sans 3"/>
                <a:cs typeface="Source Sans 3"/>
                <a:sym typeface="Source Sans 3"/>
              </a:rPr>
              <a:t>SNAP cuts push need onto food shelves, which cannot fill the gap: each visit now carries ~¼ less food than in early 2022</a:t>
            </a:r>
            <a:endParaRPr b="0" i="0" sz="1300" u="none" cap="none" strike="noStrike">
              <a:solidFill>
                <a:srgbClr val="F7F2E8"/>
              </a:solidFill>
              <a:latin typeface="Source Sans 3"/>
              <a:ea typeface="Source Sans 3"/>
              <a:cs typeface="Source Sans 3"/>
              <a:sym typeface="Source Sans 3"/>
            </a:endParaRPr>
          </a:p>
          <a:p>
            <a:pPr indent="0" lvl="0" marL="0" marR="0" rtl="0" algn="l">
              <a:lnSpc>
                <a:spcPct val="115000"/>
              </a:lnSpc>
              <a:spcBef>
                <a:spcPts val="0"/>
              </a:spcBef>
              <a:spcAft>
                <a:spcPts val="0"/>
              </a:spcAft>
              <a:buClr>
                <a:srgbClr val="F7F2E8"/>
              </a:buClr>
              <a:buSzPts val="1300"/>
              <a:buFont typeface="Source Sans 3"/>
              <a:buNone/>
            </a:pPr>
            <a:r>
              <a:rPr b="1" lang="en-US" sz="1300">
                <a:solidFill>
                  <a:srgbClr val="F7F2E8"/>
                </a:solidFill>
                <a:latin typeface="Source Sans 3"/>
                <a:ea typeface="Source Sans 3"/>
                <a:cs typeface="Source Sans 3"/>
                <a:sym typeface="Source Sans 3"/>
              </a:rPr>
              <a:t>TFG</a:t>
            </a:r>
            <a:r>
              <a:rPr b="1" i="0" lang="en-US" sz="1300" u="none" cap="none" strike="noStrike">
                <a:solidFill>
                  <a:srgbClr val="F7F2E8"/>
                </a:solidFill>
                <a:latin typeface="Source Sans 3"/>
                <a:ea typeface="Source Sans 3"/>
                <a:cs typeface="Source Sans 3"/>
                <a:sym typeface="Source Sans 3"/>
              </a:rPr>
              <a:t>: </a:t>
            </a:r>
            <a:r>
              <a:rPr lang="en-US" sz="1300">
                <a:solidFill>
                  <a:srgbClr val="F7F2E8"/>
                </a:solidFill>
                <a:latin typeface="Source Sans 3"/>
                <a:ea typeface="Source Sans 3"/>
                <a:cs typeface="Source Sans 3"/>
                <a:sym typeface="Source Sans 3"/>
              </a:rPr>
              <a:t>watch</a:t>
            </a:r>
            <a:r>
              <a:rPr lang="en-US" sz="1300">
                <a:solidFill>
                  <a:srgbClr val="F7F2E8"/>
                </a:solidFill>
                <a:latin typeface="Source Sans 3"/>
                <a:ea typeface="Source Sans 3"/>
                <a:cs typeface="Source Sans 3"/>
                <a:sym typeface="Source Sans 3"/>
              </a:rPr>
              <a:t> the DCYF SNAP dashboard monthly (~ 1-month lag) as an early warning of demand shifts</a:t>
            </a:r>
            <a:endParaRPr b="0" i="0" sz="1300" u="none" cap="none" strike="noStrike">
              <a:solidFill>
                <a:srgbClr val="F7F2E8"/>
              </a:solidFill>
              <a:latin typeface="Source Sans 3"/>
              <a:ea typeface="Source Sans 3"/>
              <a:cs typeface="Source Sans 3"/>
              <a:sym typeface="Source Sans 3"/>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241" name="Shape 241"/>
        <p:cNvGrpSpPr/>
        <p:nvPr/>
      </p:nvGrpSpPr>
      <p:grpSpPr>
        <a:xfrm>
          <a:off x="0" y="0"/>
          <a:ext cx="0" cy="0"/>
          <a:chOff x="0" y="0"/>
          <a:chExt cx="0" cy="0"/>
        </a:xfrm>
      </p:grpSpPr>
      <p:sp>
        <p:nvSpPr>
          <p:cNvPr id="242" name="Google Shape;242;p6"/>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6"/>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Q7 · August 2026 forecast</a:t>
            </a:r>
            <a:endParaRPr b="0" i="0" sz="1300" u="none" cap="none" strike="noStrike">
              <a:solidFill>
                <a:schemeClr val="dk1"/>
              </a:solidFill>
              <a:latin typeface="Source Sans 3"/>
              <a:ea typeface="Source Sans 3"/>
              <a:cs typeface="Source Sans 3"/>
              <a:sym typeface="Source Sans 3"/>
            </a:endParaRPr>
          </a:p>
        </p:txBody>
      </p:sp>
      <p:sp>
        <p:nvSpPr>
          <p:cNvPr id="244" name="Google Shape;244;p6"/>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245" name="Google Shape;245;p6"/>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246" name="Google Shape;246;p6"/>
          <p:cNvSpPr txBox="1"/>
          <p:nvPr>
            <p:ph type="title"/>
          </p:nvPr>
        </p:nvSpPr>
        <p:spPr>
          <a:xfrm>
            <a:off x="609600" y="890290"/>
            <a:ext cx="109728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i="0" lang="en-US" sz="2300">
                <a:solidFill>
                  <a:srgbClr val="1F3B2D"/>
                </a:solidFill>
                <a:latin typeface="Source Serif 4"/>
                <a:ea typeface="Source Serif 4"/>
                <a:cs typeface="Source Serif 4"/>
                <a:sym typeface="Source Serif 4"/>
              </a:rPr>
              <a:t>A May–July average forecasts </a:t>
            </a:r>
            <a:r>
              <a:rPr b="1" i="0" lang="en-US" sz="2300">
                <a:solidFill>
                  <a:srgbClr val="B5501F"/>
                </a:solidFill>
                <a:latin typeface="Source Serif 4"/>
                <a:ea typeface="Source Serif 4"/>
                <a:cs typeface="Source Serif 4"/>
                <a:sym typeface="Source Serif 4"/>
              </a:rPr>
              <a:t>236k</a:t>
            </a:r>
            <a:r>
              <a:rPr b="1" i="0" lang="en-US" sz="2300">
                <a:solidFill>
                  <a:srgbClr val="1F3B2D"/>
                </a:solidFill>
                <a:latin typeface="Source Serif 4"/>
                <a:ea typeface="Source Serif 4"/>
                <a:cs typeface="Source Serif 4"/>
                <a:sym typeface="Source Serif 4"/>
              </a:rPr>
              <a:t> August visits; </a:t>
            </a:r>
            <a:r>
              <a:rPr b="1" i="0" lang="en-US" sz="2300">
                <a:solidFill>
                  <a:srgbClr val="B5501F"/>
                </a:solidFill>
                <a:latin typeface="Source Serif 4"/>
                <a:ea typeface="Source Serif 4"/>
                <a:cs typeface="Source Serif 4"/>
                <a:sym typeface="Source Serif 4"/>
              </a:rPr>
              <a:t>5.6%</a:t>
            </a:r>
            <a:r>
              <a:rPr b="1" i="0" lang="en-US" sz="2300">
                <a:solidFill>
                  <a:srgbClr val="1F3B2D"/>
                </a:solidFill>
                <a:latin typeface="Source Serif 4"/>
                <a:ea typeface="Source Serif 4"/>
                <a:cs typeface="Source Serif 4"/>
                <a:sym typeface="Source Serif 4"/>
              </a:rPr>
              <a:t> off on the 2025 holdout</a:t>
            </a:r>
            <a:endParaRPr sz="2300"/>
          </a:p>
        </p:txBody>
      </p:sp>
      <p:sp>
        <p:nvSpPr>
          <p:cNvPr id="247" name="Google Shape;247;p6"/>
          <p:cNvSpPr/>
          <p:nvPr/>
        </p:nvSpPr>
        <p:spPr>
          <a:xfrm>
            <a:off x="615950" y="1555750"/>
            <a:ext cx="6337300" cy="35687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Bar chart of county visit forecast error: the 3-month average scores 1,073, 732 and 500 in August 2023–2025; adding unemployment scores 732 and 619, then 824 on the 2025 holdout." id="248" name="Google Shape;248;p6"/>
          <p:cNvPicPr preferRelativeResize="0"/>
          <p:nvPr/>
        </p:nvPicPr>
        <p:blipFill rotWithShape="1">
          <a:blip r:embed="rId4">
            <a:alphaModFix/>
          </a:blip>
          <a:srcRect b="0" l="-4773" r="-4773" t="0"/>
          <a:stretch/>
        </p:blipFill>
        <p:spPr>
          <a:xfrm>
            <a:off x="723900" y="1663700"/>
            <a:ext cx="6121400" cy="3352800"/>
          </a:xfrm>
          <a:prstGeom prst="rect">
            <a:avLst/>
          </a:prstGeom>
          <a:noFill/>
          <a:ln>
            <a:noFill/>
          </a:ln>
        </p:spPr>
      </p:pic>
      <p:sp>
        <p:nvSpPr>
          <p:cNvPr id="249" name="Google Shape;249;p6"/>
          <p:cNvSpPr/>
          <p:nvPr/>
        </p:nvSpPr>
        <p:spPr>
          <a:xfrm>
            <a:off x="7169150" y="15557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6"/>
          <p:cNvSpPr/>
          <p:nvPr/>
        </p:nvSpPr>
        <p:spPr>
          <a:xfrm>
            <a:off x="7340600" y="17205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236,148</a:t>
            </a:r>
            <a:endParaRPr b="0" i="0" sz="2400" u="none" cap="none" strike="noStrike">
              <a:solidFill>
                <a:schemeClr val="dk1"/>
              </a:solidFill>
              <a:latin typeface="Source Sans 3"/>
              <a:ea typeface="Source Sans 3"/>
              <a:cs typeface="Source Sans 3"/>
              <a:sym typeface="Source Sans 3"/>
            </a:endParaRPr>
          </a:p>
        </p:txBody>
      </p:sp>
      <p:sp>
        <p:nvSpPr>
          <p:cNvPr id="251" name="Google Shape;251;p6"/>
          <p:cNvSpPr/>
          <p:nvPr/>
        </p:nvSpPr>
        <p:spPr>
          <a:xfrm>
            <a:off x="7340600" y="20659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visits forecast for August 2026</a:t>
            </a:r>
            <a:endParaRPr b="0" i="0" sz="1300" u="none" cap="none" strike="noStrike">
              <a:solidFill>
                <a:schemeClr val="dk1"/>
              </a:solidFill>
              <a:latin typeface="Source Sans 3"/>
              <a:ea typeface="Source Sans 3"/>
              <a:cs typeface="Source Sans 3"/>
              <a:sym typeface="Source Sans 3"/>
            </a:endParaRPr>
          </a:p>
        </p:txBody>
      </p:sp>
      <p:sp>
        <p:nvSpPr>
          <p:cNvPr id="252" name="Google Shape;252;p6"/>
          <p:cNvSpPr/>
          <p:nvPr/>
        </p:nvSpPr>
        <p:spPr>
          <a:xfrm>
            <a:off x="7340600" y="22977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past Augusts’ range 229k–263k</a:t>
            </a:r>
            <a:endParaRPr b="0" i="0" sz="1200" u="none" cap="none" strike="noStrike">
              <a:solidFill>
                <a:schemeClr val="dk1"/>
              </a:solidFill>
              <a:latin typeface="Source Sans 3"/>
              <a:ea typeface="Source Sans 3"/>
              <a:cs typeface="Source Sans 3"/>
              <a:sym typeface="Source Sans 3"/>
            </a:endParaRPr>
          </a:p>
        </p:txBody>
      </p:sp>
      <p:sp>
        <p:nvSpPr>
          <p:cNvPr id="253" name="Google Shape;253;p6"/>
          <p:cNvSpPr/>
          <p:nvPr/>
        </p:nvSpPr>
        <p:spPr>
          <a:xfrm>
            <a:off x="7169150" y="27876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6"/>
          <p:cNvSpPr/>
          <p:nvPr/>
        </p:nvSpPr>
        <p:spPr>
          <a:xfrm>
            <a:off x="7340600" y="29524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5.6%</a:t>
            </a:r>
            <a:endParaRPr b="0" i="0" sz="2400" u="none" cap="none" strike="noStrike">
              <a:solidFill>
                <a:schemeClr val="dk1"/>
              </a:solidFill>
              <a:latin typeface="Source Sans 3"/>
              <a:ea typeface="Source Sans 3"/>
              <a:cs typeface="Source Sans 3"/>
              <a:sym typeface="Source Sans 3"/>
            </a:endParaRPr>
          </a:p>
        </p:txBody>
      </p:sp>
      <p:sp>
        <p:nvSpPr>
          <p:cNvPr id="255" name="Google Shape;255;p6"/>
          <p:cNvSpPr/>
          <p:nvPr/>
        </p:nvSpPr>
        <p:spPr>
          <a:xfrm>
            <a:off x="7340600" y="32978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of statewide visits, held-back Aug 2025 (WAPE)</a:t>
            </a:r>
            <a:endParaRPr b="0" i="0" sz="1300" u="none" cap="none" strike="noStrike">
              <a:solidFill>
                <a:schemeClr val="dk1"/>
              </a:solidFill>
              <a:latin typeface="Source Sans 3"/>
              <a:ea typeface="Source Sans 3"/>
              <a:cs typeface="Source Sans 3"/>
              <a:sym typeface="Source Sans 3"/>
            </a:endParaRPr>
          </a:p>
        </p:txBody>
      </p:sp>
      <p:sp>
        <p:nvSpPr>
          <p:cNvPr id="256" name="Google Shape;256;p6"/>
          <p:cNvSpPr/>
          <p:nvPr/>
        </p:nvSpPr>
        <p:spPr>
          <a:xfrm>
            <a:off x="7340600" y="35296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RMSE about 500 visits per county</a:t>
            </a:r>
            <a:endParaRPr b="0" i="0" sz="1200" u="none" cap="none" strike="noStrike">
              <a:solidFill>
                <a:schemeClr val="dk1"/>
              </a:solidFill>
              <a:latin typeface="Source Sans 3"/>
              <a:ea typeface="Source Sans 3"/>
              <a:cs typeface="Source Sans 3"/>
              <a:sym typeface="Source Sans 3"/>
            </a:endParaRPr>
          </a:p>
        </p:txBody>
      </p:sp>
      <p:sp>
        <p:nvSpPr>
          <p:cNvPr id="257" name="Google Shape;257;p6"/>
          <p:cNvSpPr/>
          <p:nvPr/>
        </p:nvSpPr>
        <p:spPr>
          <a:xfrm>
            <a:off x="7169150" y="40195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6"/>
          <p:cNvSpPr/>
          <p:nvPr/>
        </p:nvSpPr>
        <p:spPr>
          <a:xfrm>
            <a:off x="7340600" y="41843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12.3M lb</a:t>
            </a:r>
            <a:endParaRPr b="0" i="0" sz="2400" u="none" cap="none" strike="noStrike">
              <a:solidFill>
                <a:schemeClr val="dk1"/>
              </a:solidFill>
              <a:latin typeface="Source Sans 3"/>
              <a:ea typeface="Source Sans 3"/>
              <a:cs typeface="Source Sans 3"/>
              <a:sym typeface="Source Sans 3"/>
            </a:endParaRPr>
          </a:p>
        </p:txBody>
      </p:sp>
      <p:sp>
        <p:nvSpPr>
          <p:cNvPr id="259" name="Google Shape;259;p6"/>
          <p:cNvSpPr/>
          <p:nvPr/>
        </p:nvSpPr>
        <p:spPr>
          <a:xfrm>
            <a:off x="7340600" y="45297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pounds; 730k people served</a:t>
            </a:r>
            <a:endParaRPr b="0" i="0" sz="1300" u="none" cap="none" strike="noStrike">
              <a:solidFill>
                <a:schemeClr val="dk1"/>
              </a:solidFill>
              <a:latin typeface="Source Sans 3"/>
              <a:ea typeface="Source Sans 3"/>
              <a:cs typeface="Source Sans 3"/>
              <a:sym typeface="Source Sans 3"/>
            </a:endParaRPr>
          </a:p>
        </p:txBody>
      </p:sp>
      <p:sp>
        <p:nvSpPr>
          <p:cNvPr id="260" name="Google Shape;260;p6"/>
          <p:cNvSpPr/>
          <p:nvPr/>
        </p:nvSpPr>
        <p:spPr>
          <a:xfrm>
            <a:off x="7340600" y="47615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children 258k · adults 387k · seniors 85k</a:t>
            </a:r>
            <a:endParaRPr b="0" i="0" sz="1200" u="none" cap="none" strike="noStrike">
              <a:solidFill>
                <a:schemeClr val="dk1"/>
              </a:solidFill>
              <a:latin typeface="Source Sans 3"/>
              <a:ea typeface="Source Sans 3"/>
              <a:cs typeface="Source Sans 3"/>
              <a:sym typeface="Source Sans 3"/>
            </a:endParaRPr>
          </a:p>
        </p:txBody>
      </p:sp>
      <p:sp>
        <p:nvSpPr>
          <p:cNvPr id="261" name="Google Shape;261;p6"/>
          <p:cNvSpPr/>
          <p:nvPr/>
        </p:nvSpPr>
        <p:spPr>
          <a:xfrm>
            <a:off x="609600" y="5308600"/>
            <a:ext cx="10972800" cy="459730"/>
          </a:xfrm>
          <a:prstGeom prst="roundRect">
            <a:avLst>
              <a:gd fmla="val 19337" name="adj"/>
            </a:avLst>
          </a:prstGeom>
          <a:solidFill>
            <a:srgbClr val="1F3B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6"/>
          <p:cNvSpPr/>
          <p:nvPr/>
        </p:nvSpPr>
        <p:spPr>
          <a:xfrm>
            <a:off x="787400" y="5308600"/>
            <a:ext cx="703302"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263" name="Google Shape;263;p6"/>
          <p:cNvSpPr/>
          <p:nvPr/>
        </p:nvSpPr>
        <p:spPr>
          <a:xfrm>
            <a:off x="1500485" y="5308600"/>
            <a:ext cx="10201200" cy="45973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7F2E8"/>
              </a:buClr>
              <a:buSzPts val="1300"/>
              <a:buFont typeface="Source Sans 3"/>
              <a:buNone/>
            </a:pPr>
            <a:r>
              <a:rPr b="0" i="0" lang="en-US" sz="1300" u="none" cap="none" strike="noStrike">
                <a:solidFill>
                  <a:srgbClr val="F7F2E8"/>
                </a:solidFill>
                <a:latin typeface="Source Sans 3"/>
                <a:ea typeface="Source Sans 3"/>
                <a:cs typeface="Source Sans 3"/>
                <a:sym typeface="Source Sans 3"/>
              </a:rPr>
              <a:t>Each county's August ≈ its May–July average; adding unemployment failed the holdout. 3 counties decide the result when scored on county RMSE.</a:t>
            </a:r>
            <a:endParaRPr b="0" i="0" sz="1300" u="none" cap="none" strike="noStrike">
              <a:solidFill>
                <a:schemeClr val="dk1"/>
              </a:solidFill>
              <a:latin typeface="Source Sans 3"/>
              <a:ea typeface="Source Sans 3"/>
              <a:cs typeface="Source Sans 3"/>
              <a:sym typeface="Source Sans 3"/>
            </a:endParaRPr>
          </a:p>
        </p:txBody>
      </p:sp>
      <p:sp>
        <p:nvSpPr>
          <p:cNvPr id="264" name="Google Shape;264;p6"/>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7</a:t>
            </a:r>
            <a:r>
              <a:rPr b="0" i="0" lang="en-US" sz="1200" u="none" cap="none" strike="noStrike">
                <a:solidFill>
                  <a:srgbClr val="4B5A50"/>
                </a:solidFill>
                <a:latin typeface="Source Sans 3"/>
                <a:ea typeface="Source Sans 3"/>
                <a:cs typeface="Source Sans 3"/>
                <a:sym typeface="Source Sans 3"/>
              </a:rPr>
              <a:t> · Model picked on Aug 2023–24, scored once on Aug 2025; the range uses all four Augusts; inputs end July 2026</a:t>
            </a:r>
            <a:endParaRPr b="0" i="0" sz="1200" u="none" cap="none" strike="noStrike">
              <a:solidFill>
                <a:schemeClr val="dk1"/>
              </a:solidFill>
              <a:latin typeface="Source Sans 3"/>
              <a:ea typeface="Source Sans 3"/>
              <a:cs typeface="Source Sans 3"/>
              <a:sym typeface="Source Sans 3"/>
            </a:endParaRPr>
          </a:p>
        </p:txBody>
      </p:sp>
      <p:sp>
        <p:nvSpPr>
          <p:cNvPr id="265" name="Google Shape;265;p6"/>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6"/>
          <p:cNvSpPr/>
          <p:nvPr/>
        </p:nvSpPr>
        <p:spPr>
          <a:xfrm>
            <a:off x="0" y="6803136"/>
            <a:ext cx="85344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7" name="Google Shape;267;p6"/>
          <p:cNvSpPr/>
          <p:nvPr/>
        </p:nvSpPr>
        <p:spPr>
          <a:xfrm>
            <a:off x="4832344" y="2641600"/>
            <a:ext cx="1257294" cy="1103630"/>
          </a:xfrm>
          <a:prstGeom prst="ellipse">
            <a:avLst/>
          </a:prstGeom>
          <a:noFill/>
          <a:ln cap="flat" cmpd="sng" w="31750">
            <a:solidFill>
              <a:srgbClr val="C2410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8" name="Google Shape;268;p6"/>
          <p:cNvSpPr txBox="1"/>
          <p:nvPr/>
        </p:nvSpPr>
        <p:spPr>
          <a:xfrm>
            <a:off x="2555246" y="2473960"/>
            <a:ext cx="2011670" cy="335280"/>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r">
              <a:lnSpc>
                <a:spcPct val="100000"/>
              </a:lnSpc>
              <a:spcBef>
                <a:spcPts val="0"/>
              </a:spcBef>
              <a:spcAft>
                <a:spcPts val="0"/>
              </a:spcAft>
              <a:buNone/>
            </a:pPr>
            <a:r>
              <a:rPr b="1" i="0" lang="en-US" sz="1200" u="none" cap="none" strike="noStrike">
                <a:solidFill>
                  <a:srgbClr val="C2410C"/>
                </a:solidFill>
                <a:latin typeface="Source Sans 3"/>
                <a:ea typeface="Source Sans 3"/>
                <a:cs typeface="Source Sans 3"/>
                <a:sym typeface="Source Sans 3"/>
              </a:rPr>
              <a:t>Holdout: simple model wins,</a:t>
            </a:r>
            <a:endParaRPr/>
          </a:p>
          <a:p>
            <a:pPr indent="0" lvl="0" marL="0" marR="0" rtl="0" algn="r">
              <a:lnSpc>
                <a:spcPct val="100000"/>
              </a:lnSpc>
              <a:spcBef>
                <a:spcPts val="0"/>
              </a:spcBef>
              <a:spcAft>
                <a:spcPts val="0"/>
              </a:spcAft>
              <a:buNone/>
            </a:pPr>
            <a:r>
              <a:rPr b="1" i="0" lang="en-US" sz="1200" u="none" cap="none" strike="noStrike">
                <a:solidFill>
                  <a:srgbClr val="C2410C"/>
                </a:solidFill>
                <a:latin typeface="Source Sans 3"/>
                <a:ea typeface="Source Sans 3"/>
                <a:cs typeface="Source Sans 3"/>
                <a:sym typeface="Source Sans 3"/>
              </a:rPr>
              <a:t>500 vs 824</a:t>
            </a:r>
            <a:endParaRPr/>
          </a:p>
        </p:txBody>
      </p:sp>
      <p:cxnSp>
        <p:nvCxnSpPr>
          <p:cNvPr id="269" name="Google Shape;269;p6"/>
          <p:cNvCxnSpPr/>
          <p:nvPr/>
        </p:nvCxnSpPr>
        <p:spPr>
          <a:xfrm>
            <a:off x="4566916" y="2641600"/>
            <a:ext cx="335278" cy="363220"/>
          </a:xfrm>
          <a:prstGeom prst="straightConnector1">
            <a:avLst/>
          </a:prstGeom>
          <a:noFill/>
          <a:ln cap="flat" cmpd="sng" w="25400">
            <a:solidFill>
              <a:srgbClr val="C2410C"/>
            </a:solidFill>
            <a:prstDash val="solid"/>
            <a:round/>
            <a:headEnd len="sm" w="sm"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274" name="Shape 274"/>
        <p:cNvGrpSpPr/>
        <p:nvPr/>
      </p:nvGrpSpPr>
      <p:grpSpPr>
        <a:xfrm>
          <a:off x="0" y="0"/>
          <a:ext cx="0" cy="0"/>
          <a:chOff x="0" y="0"/>
          <a:chExt cx="0" cy="0"/>
        </a:xfrm>
      </p:grpSpPr>
      <p:sp>
        <p:nvSpPr>
          <p:cNvPr id="275" name="Google Shape;275;p7"/>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7"/>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Q8 · Low-Income, Low-Access Areas</a:t>
            </a:r>
            <a:endParaRPr b="0" i="0" sz="1300" u="none" cap="none" strike="noStrike">
              <a:solidFill>
                <a:schemeClr val="dk1"/>
              </a:solidFill>
              <a:latin typeface="Source Sans 3"/>
              <a:ea typeface="Source Sans 3"/>
              <a:cs typeface="Source Sans 3"/>
              <a:sym typeface="Source Sans 3"/>
            </a:endParaRPr>
          </a:p>
        </p:txBody>
      </p:sp>
      <p:sp>
        <p:nvSpPr>
          <p:cNvPr id="277" name="Google Shape;277;p7"/>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278" name="Google Shape;278;p7"/>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279" name="Google Shape;279;p7"/>
          <p:cNvSpPr txBox="1"/>
          <p:nvPr>
            <p:ph type="title"/>
          </p:nvPr>
        </p:nvSpPr>
        <p:spPr>
          <a:xfrm>
            <a:off x="609600" y="890290"/>
            <a:ext cx="109728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i="0" lang="en-US" sz="2300">
                <a:solidFill>
                  <a:srgbClr val="B5501F"/>
                </a:solidFill>
                <a:latin typeface="Source Serif 4"/>
                <a:ea typeface="Source Serif 4"/>
                <a:cs typeface="Source Serif 4"/>
                <a:sym typeface="Source Serif 4"/>
              </a:rPr>
              <a:t>117 food-desert tracts</a:t>
            </a:r>
            <a:r>
              <a:rPr b="1" i="0" lang="en-US" sz="2300">
                <a:solidFill>
                  <a:srgbClr val="1F3B2D"/>
                </a:solidFill>
                <a:latin typeface="Source Serif 4"/>
                <a:ea typeface="Source Serif 4"/>
                <a:cs typeface="Source Serif 4"/>
                <a:sym typeface="Source Serif 4"/>
              </a:rPr>
              <a:t> have no shelf nearby; reach is </a:t>
            </a:r>
            <a:r>
              <a:rPr b="1" i="0" lang="en-US" sz="2300">
                <a:solidFill>
                  <a:srgbClr val="B5501F"/>
                </a:solidFill>
                <a:latin typeface="Source Serif 4"/>
                <a:ea typeface="Source Serif 4"/>
                <a:cs typeface="Source Serif 4"/>
                <a:sym typeface="Source Serif 4"/>
              </a:rPr>
              <a:t>65% vs 72%</a:t>
            </a:r>
            <a:r>
              <a:rPr b="1" i="0" lang="en-US" sz="2300">
                <a:solidFill>
                  <a:srgbClr val="1F3B2D"/>
                </a:solidFill>
                <a:latin typeface="Source Serif 4"/>
                <a:ea typeface="Source Serif 4"/>
                <a:cs typeface="Source Serif 4"/>
                <a:sym typeface="Source Serif 4"/>
              </a:rPr>
              <a:t> elsewhere</a:t>
            </a:r>
            <a:endParaRPr sz="2300"/>
          </a:p>
        </p:txBody>
      </p:sp>
      <p:sp>
        <p:nvSpPr>
          <p:cNvPr id="280" name="Google Shape;280;p7"/>
          <p:cNvSpPr/>
          <p:nvPr/>
        </p:nvSpPr>
        <p:spPr>
          <a:xfrm>
            <a:off x="615950" y="1555750"/>
            <a:ext cx="3797300" cy="35687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innesota census tracts: orange are low-income, low-access with no food shelf within USDA distance, blue have one, grey low income only; dots are food shelves." id="281" name="Google Shape;281;p7"/>
          <p:cNvPicPr preferRelativeResize="0"/>
          <p:nvPr/>
        </p:nvPicPr>
        <p:blipFill rotWithShape="1">
          <a:blip r:embed="rId4">
            <a:alphaModFix/>
          </a:blip>
          <a:srcRect b="0" l="-16577" r="-16577" t="0"/>
          <a:stretch/>
        </p:blipFill>
        <p:spPr>
          <a:xfrm>
            <a:off x="723900" y="1663700"/>
            <a:ext cx="3581400" cy="3352800"/>
          </a:xfrm>
          <a:prstGeom prst="rect">
            <a:avLst/>
          </a:prstGeom>
          <a:noFill/>
          <a:ln>
            <a:noFill/>
          </a:ln>
        </p:spPr>
      </p:pic>
      <p:sp>
        <p:nvSpPr>
          <p:cNvPr id="282" name="Google Shape;282;p7"/>
          <p:cNvSpPr/>
          <p:nvPr/>
        </p:nvSpPr>
        <p:spPr>
          <a:xfrm>
            <a:off x="4629150" y="15557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7"/>
          <p:cNvSpPr/>
          <p:nvPr/>
        </p:nvSpPr>
        <p:spPr>
          <a:xfrm>
            <a:off x="4800600" y="1720552"/>
            <a:ext cx="68021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65% vs 72%</a:t>
            </a:r>
            <a:endParaRPr b="0" i="0" sz="2400" u="none" cap="none" strike="noStrike">
              <a:solidFill>
                <a:schemeClr val="dk1"/>
              </a:solidFill>
              <a:latin typeface="Source Sans 3"/>
              <a:ea typeface="Source Sans 3"/>
              <a:cs typeface="Source Sans 3"/>
              <a:sym typeface="Source Sans 3"/>
            </a:endParaRPr>
          </a:p>
        </p:txBody>
      </p:sp>
      <p:sp>
        <p:nvSpPr>
          <p:cNvPr id="284" name="Google Shape;284;p7"/>
          <p:cNvSpPr/>
          <p:nvPr/>
        </p:nvSpPr>
        <p:spPr>
          <a:xfrm>
            <a:off x="4800600" y="20659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near a shelf: food deserts vs other low-income</a:t>
            </a:r>
            <a:endParaRPr b="0" i="0" sz="1300" u="none" cap="none" strike="noStrike">
              <a:solidFill>
                <a:schemeClr val="dk1"/>
              </a:solidFill>
              <a:latin typeface="Source Sans 3"/>
              <a:ea typeface="Source Sans 3"/>
              <a:cs typeface="Source Sans 3"/>
              <a:sym typeface="Source Sans 3"/>
            </a:endParaRPr>
          </a:p>
        </p:txBody>
      </p:sp>
      <p:sp>
        <p:nvSpPr>
          <p:cNvPr id="285" name="Google Shape;285;p7"/>
          <p:cNvSpPr/>
          <p:nvPr/>
        </p:nvSpPr>
        <p:spPr>
          <a:xfrm>
            <a:off x="4800600" y="22977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241 vs 290 lb of food reachable per person a year</a:t>
            </a:r>
            <a:endParaRPr b="0" i="0" sz="1200" u="none" cap="none" strike="noStrike">
              <a:solidFill>
                <a:schemeClr val="dk1"/>
              </a:solidFill>
              <a:latin typeface="Source Sans 3"/>
              <a:ea typeface="Source Sans 3"/>
              <a:cs typeface="Source Sans 3"/>
              <a:sym typeface="Source Sans 3"/>
            </a:endParaRPr>
          </a:p>
        </p:txBody>
      </p:sp>
      <p:sp>
        <p:nvSpPr>
          <p:cNvPr id="286" name="Google Shape;286;p7"/>
          <p:cNvSpPr/>
          <p:nvPr/>
        </p:nvSpPr>
        <p:spPr>
          <a:xfrm>
            <a:off x="4629150" y="27876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7"/>
          <p:cNvSpPr/>
          <p:nvPr/>
        </p:nvSpPr>
        <p:spPr>
          <a:xfrm>
            <a:off x="4800600" y="2952452"/>
            <a:ext cx="68021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94 lb</a:t>
            </a:r>
            <a:endParaRPr b="0" i="0" sz="2400" u="none" cap="none" strike="noStrike">
              <a:solidFill>
                <a:schemeClr val="dk1"/>
              </a:solidFill>
              <a:latin typeface="Source Sans 3"/>
              <a:ea typeface="Source Sans 3"/>
              <a:cs typeface="Source Sans 3"/>
              <a:sym typeface="Source Sans 3"/>
            </a:endParaRPr>
          </a:p>
        </p:txBody>
      </p:sp>
      <p:sp>
        <p:nvSpPr>
          <p:cNvPr id="288" name="Google Shape;288;p7"/>
          <p:cNvSpPr/>
          <p:nvPr/>
        </p:nvSpPr>
        <p:spPr>
          <a:xfrm>
            <a:off x="4800600" y="32978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per person a year in rural food deserts</a:t>
            </a:r>
            <a:endParaRPr b="0" i="0" sz="1300" u="none" cap="none" strike="noStrike">
              <a:solidFill>
                <a:schemeClr val="dk1"/>
              </a:solidFill>
              <a:latin typeface="Source Sans 3"/>
              <a:ea typeface="Source Sans 3"/>
              <a:cs typeface="Source Sans 3"/>
              <a:sym typeface="Source Sans 3"/>
            </a:endParaRPr>
          </a:p>
        </p:txBody>
      </p:sp>
      <p:sp>
        <p:nvSpPr>
          <p:cNvPr id="289" name="Google Shape;289;p7"/>
          <p:cNvSpPr/>
          <p:nvPr/>
        </p:nvSpPr>
        <p:spPr>
          <a:xfrm>
            <a:off x="4800600" y="35296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vs 172 nearby; tribal areas 118 vs 280</a:t>
            </a:r>
            <a:endParaRPr b="0" i="0" sz="1200" u="none" cap="none" strike="noStrike">
              <a:solidFill>
                <a:schemeClr val="dk1"/>
              </a:solidFill>
              <a:latin typeface="Source Sans 3"/>
              <a:ea typeface="Source Sans 3"/>
              <a:cs typeface="Source Sans 3"/>
              <a:sym typeface="Source Sans 3"/>
            </a:endParaRPr>
          </a:p>
        </p:txBody>
      </p:sp>
      <p:sp>
        <p:nvSpPr>
          <p:cNvPr id="290" name="Google Shape;290;p7"/>
          <p:cNvSpPr/>
          <p:nvPr/>
        </p:nvSpPr>
        <p:spPr>
          <a:xfrm>
            <a:off x="4629150" y="40195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7"/>
          <p:cNvSpPr/>
          <p:nvPr/>
        </p:nvSpPr>
        <p:spPr>
          <a:xfrm>
            <a:off x="4800600" y="4184352"/>
            <a:ext cx="68021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117 tracts</a:t>
            </a:r>
            <a:endParaRPr b="0" i="0" sz="2400" u="none" cap="none" strike="noStrike">
              <a:solidFill>
                <a:schemeClr val="dk1"/>
              </a:solidFill>
              <a:latin typeface="Source Sans 3"/>
              <a:ea typeface="Source Sans 3"/>
              <a:cs typeface="Source Sans 3"/>
              <a:sym typeface="Source Sans 3"/>
            </a:endParaRPr>
          </a:p>
        </p:txBody>
      </p:sp>
      <p:sp>
        <p:nvSpPr>
          <p:cNvPr id="292" name="Google Shape;292;p7"/>
          <p:cNvSpPr/>
          <p:nvPr/>
        </p:nvSpPr>
        <p:spPr>
          <a:xfrm>
            <a:off x="4800600" y="45297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with no shelf within USDA distance, 57k in poverty</a:t>
            </a:r>
            <a:endParaRPr b="0" i="0" sz="1300" u="none" cap="none" strike="noStrike">
              <a:solidFill>
                <a:schemeClr val="dk1"/>
              </a:solidFill>
              <a:latin typeface="Source Sans 3"/>
              <a:ea typeface="Source Sans 3"/>
              <a:cs typeface="Source Sans 3"/>
              <a:sym typeface="Source Sans 3"/>
            </a:endParaRPr>
          </a:p>
        </p:txBody>
      </p:sp>
      <p:sp>
        <p:nvSpPr>
          <p:cNvPr id="293" name="Google Shape;293;p7"/>
          <p:cNvSpPr/>
          <p:nvPr/>
        </p:nvSpPr>
        <p:spPr>
          <a:xfrm>
            <a:off x="4800600" y="47615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28 rural (12.6 mi) · 89 urban (1.5 mi, few cars)</a:t>
            </a:r>
            <a:endParaRPr b="0" i="0" sz="1200" u="none" cap="none" strike="noStrike">
              <a:solidFill>
                <a:schemeClr val="dk1"/>
              </a:solidFill>
              <a:latin typeface="Source Sans 3"/>
              <a:ea typeface="Source Sans 3"/>
              <a:cs typeface="Source Sans 3"/>
              <a:sym typeface="Source Sans 3"/>
            </a:endParaRPr>
          </a:p>
        </p:txBody>
      </p:sp>
      <p:sp>
        <p:nvSpPr>
          <p:cNvPr id="294" name="Google Shape;294;p7"/>
          <p:cNvSpPr/>
          <p:nvPr/>
        </p:nvSpPr>
        <p:spPr>
          <a:xfrm>
            <a:off x="609600" y="5308600"/>
            <a:ext cx="10972800" cy="459730"/>
          </a:xfrm>
          <a:prstGeom prst="roundRect">
            <a:avLst>
              <a:gd fmla="val 19337" name="adj"/>
            </a:avLst>
          </a:prstGeom>
          <a:solidFill>
            <a:srgbClr val="1F3B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7"/>
          <p:cNvSpPr/>
          <p:nvPr/>
        </p:nvSpPr>
        <p:spPr>
          <a:xfrm>
            <a:off x="787400" y="5308600"/>
            <a:ext cx="703302"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296" name="Google Shape;296;p7"/>
          <p:cNvSpPr/>
          <p:nvPr/>
        </p:nvSpPr>
        <p:spPr>
          <a:xfrm>
            <a:off x="1500485" y="5308600"/>
            <a:ext cx="10201200"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300"/>
              <a:buFont typeface="Source Sans 3"/>
              <a:buNone/>
            </a:pPr>
            <a:r>
              <a:rPr b="0" i="0" lang="en-US" sz="1300" u="none" cap="none" strike="noStrike">
                <a:solidFill>
                  <a:srgbClr val="F7F2E8"/>
                </a:solidFill>
                <a:latin typeface="Source Sans 3"/>
                <a:ea typeface="Source Sans 3"/>
                <a:cs typeface="Source Sans 3"/>
                <a:sym typeface="Source Sans 3"/>
              </a:rPr>
              <a:t>Rural: grocery 2× farther → shelf 76% farther. Cities: no link. Holds in 10 of 10 tests.</a:t>
            </a:r>
            <a:endParaRPr b="0" i="0" sz="1300" u="none" cap="none" strike="noStrike">
              <a:solidFill>
                <a:schemeClr val="dk1"/>
              </a:solidFill>
              <a:latin typeface="Source Sans 3"/>
              <a:ea typeface="Source Sans 3"/>
              <a:cs typeface="Source Sans 3"/>
              <a:sym typeface="Source Sans 3"/>
            </a:endParaRPr>
          </a:p>
        </p:txBody>
      </p:sp>
      <p:sp>
        <p:nvSpPr>
          <p:cNvPr id="297" name="Google Shape;297;p7"/>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8</a:t>
            </a:r>
            <a:r>
              <a:rPr b="0" i="0" lang="en-US" sz="1200" u="none" cap="none" strike="noStrike">
                <a:solidFill>
                  <a:srgbClr val="4B5A50"/>
                </a:solidFill>
                <a:latin typeface="Source Sans 3"/>
                <a:ea typeface="Source Sans 3"/>
                <a:cs typeface="Source Sans 3"/>
                <a:sym typeface="Source Sans 3"/>
              </a:rPr>
              <a:t> · Sources: USDA ERS Retailer Access Map 2025, Food Access Atlas 2019; USDA FNS; Census</a:t>
            </a:r>
            <a:endParaRPr b="0" i="0" sz="1200" u="none" cap="none" strike="noStrike">
              <a:solidFill>
                <a:schemeClr val="dk1"/>
              </a:solidFill>
              <a:latin typeface="Source Sans 3"/>
              <a:ea typeface="Source Sans 3"/>
              <a:cs typeface="Source Sans 3"/>
              <a:sym typeface="Source Sans 3"/>
            </a:endParaRPr>
          </a:p>
        </p:txBody>
      </p:sp>
      <p:sp>
        <p:nvSpPr>
          <p:cNvPr id="298" name="Google Shape;298;p7"/>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7"/>
          <p:cNvSpPr/>
          <p:nvPr/>
        </p:nvSpPr>
        <p:spPr>
          <a:xfrm>
            <a:off x="0" y="6803136"/>
            <a:ext cx="97536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0" name="Google Shape;300;p7"/>
          <p:cNvSpPr/>
          <p:nvPr/>
        </p:nvSpPr>
        <p:spPr>
          <a:xfrm>
            <a:off x="2804370" y="2369552"/>
            <a:ext cx="965903" cy="371502"/>
          </a:xfrm>
          <a:prstGeom prst="ellipse">
            <a:avLst/>
          </a:prstGeom>
          <a:noFill/>
          <a:ln cap="flat" cmpd="sng" w="31750">
            <a:solidFill>
              <a:srgbClr val="1F3B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1" name="Google Shape;301;p7"/>
          <p:cNvSpPr txBox="1"/>
          <p:nvPr/>
        </p:nvSpPr>
        <p:spPr>
          <a:xfrm>
            <a:off x="3138721" y="2963954"/>
            <a:ext cx="1170229" cy="482952"/>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200" u="none" cap="none" strike="noStrike">
                <a:solidFill>
                  <a:srgbClr val="1F3B2D"/>
                </a:solidFill>
                <a:latin typeface="Source Sans 3"/>
                <a:ea typeface="Source Sans 3"/>
                <a:cs typeface="Source Sans 3"/>
                <a:sym typeface="Source Sans 3"/>
              </a:rPr>
              <a:t>Rural gaps (hatched):</a:t>
            </a:r>
            <a:endParaRPr/>
          </a:p>
          <a:p>
            <a:pPr indent="0" lvl="0" marL="0" marR="0" rtl="0" algn="l">
              <a:lnSpc>
                <a:spcPct val="100000"/>
              </a:lnSpc>
              <a:spcBef>
                <a:spcPts val="0"/>
              </a:spcBef>
              <a:spcAft>
                <a:spcPts val="0"/>
              </a:spcAft>
              <a:buNone/>
            </a:pPr>
            <a:r>
              <a:rPr b="1" i="0" lang="en-US" sz="1200" u="none" cap="none" strike="noStrike">
                <a:solidFill>
                  <a:srgbClr val="1F3B2D"/>
                </a:solidFill>
                <a:latin typeface="Source Sans 3"/>
                <a:ea typeface="Source Sans 3"/>
                <a:cs typeface="Source Sans 3"/>
                <a:sym typeface="Source Sans 3"/>
              </a:rPr>
              <a:t>12.6 mi median</a:t>
            </a:r>
            <a:endParaRPr/>
          </a:p>
        </p:txBody>
      </p:sp>
      <p:cxnSp>
        <p:nvCxnSpPr>
          <p:cNvPr id="302" name="Google Shape;302;p7"/>
          <p:cNvCxnSpPr/>
          <p:nvPr/>
        </p:nvCxnSpPr>
        <p:spPr>
          <a:xfrm rot="10800000">
            <a:off x="3268747" y="2744769"/>
            <a:ext cx="18575" cy="219185"/>
          </a:xfrm>
          <a:prstGeom prst="straightConnector1">
            <a:avLst/>
          </a:prstGeom>
          <a:noFill/>
          <a:ln cap="flat" cmpd="sng" w="25400">
            <a:solidFill>
              <a:srgbClr val="1F3B2D"/>
            </a:solidFill>
            <a:prstDash val="solid"/>
            <a:round/>
            <a:headEnd len="sm" w="sm" type="none"/>
            <a:tailEnd len="med" w="med" type="triangle"/>
          </a:ln>
        </p:spPr>
      </p:cxnSp>
      <p:sp>
        <p:nvSpPr>
          <p:cNvPr id="303" name="Google Shape;303;p7"/>
          <p:cNvSpPr/>
          <p:nvPr/>
        </p:nvSpPr>
        <p:spPr>
          <a:xfrm>
            <a:off x="2544320" y="3632657"/>
            <a:ext cx="334351" cy="315776"/>
          </a:xfrm>
          <a:prstGeom prst="ellipse">
            <a:avLst/>
          </a:prstGeom>
          <a:noFill/>
          <a:ln cap="flat" cmpd="sng" w="31750">
            <a:solidFill>
              <a:srgbClr val="1F3B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4" name="Google Shape;304;p7"/>
          <p:cNvSpPr txBox="1"/>
          <p:nvPr/>
        </p:nvSpPr>
        <p:spPr>
          <a:xfrm>
            <a:off x="742539" y="3521206"/>
            <a:ext cx="1040203" cy="371502"/>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200" u="none" cap="none" strike="noStrike">
                <a:solidFill>
                  <a:srgbClr val="1F3B2D"/>
                </a:solidFill>
                <a:latin typeface="Source Sans 3"/>
                <a:ea typeface="Source Sans 3"/>
                <a:cs typeface="Source Sans 3"/>
                <a:sym typeface="Source Sans 3"/>
              </a:rPr>
              <a:t>89 urban gaps</a:t>
            </a:r>
            <a:endParaRPr/>
          </a:p>
          <a:p>
            <a:pPr indent="0" lvl="0" marL="0" marR="0" rtl="0" algn="l">
              <a:lnSpc>
                <a:spcPct val="100000"/>
              </a:lnSpc>
              <a:spcBef>
                <a:spcPts val="0"/>
              </a:spcBef>
              <a:spcAft>
                <a:spcPts val="0"/>
              </a:spcAft>
              <a:buNone/>
            </a:pPr>
            <a:r>
              <a:rPr b="1" i="0" lang="en-US" sz="1200" u="none" cap="none" strike="noStrike">
                <a:solidFill>
                  <a:srgbClr val="1F3B2D"/>
                </a:solidFill>
                <a:latin typeface="Source Sans 3"/>
                <a:ea typeface="Source Sans 3"/>
                <a:cs typeface="Source Sans 3"/>
                <a:sym typeface="Source Sans 3"/>
              </a:rPr>
              <a:t>(tiny metro tracts)</a:t>
            </a:r>
            <a:endParaRPr/>
          </a:p>
        </p:txBody>
      </p:sp>
      <p:cxnSp>
        <p:nvCxnSpPr>
          <p:cNvPr id="305" name="Google Shape;305;p7"/>
          <p:cNvCxnSpPr/>
          <p:nvPr/>
        </p:nvCxnSpPr>
        <p:spPr>
          <a:xfrm>
            <a:off x="1782742" y="3725532"/>
            <a:ext cx="761578" cy="55725"/>
          </a:xfrm>
          <a:prstGeom prst="straightConnector1">
            <a:avLst/>
          </a:prstGeom>
          <a:noFill/>
          <a:ln cap="flat" cmpd="sng" w="25400">
            <a:solidFill>
              <a:srgbClr val="1F3B2D"/>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310" name="Shape 310"/>
        <p:cNvGrpSpPr/>
        <p:nvPr/>
      </p:nvGrpSpPr>
      <p:grpSpPr>
        <a:xfrm>
          <a:off x="0" y="0"/>
          <a:ext cx="0" cy="0"/>
          <a:chOff x="0" y="0"/>
          <a:chExt cx="0" cy="0"/>
        </a:xfrm>
      </p:grpSpPr>
      <p:sp>
        <p:nvSpPr>
          <p:cNvPr id="311" name="Google Shape;311;p8"/>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8"/>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Recommendations, Revisited</a:t>
            </a:r>
            <a:endParaRPr b="0" i="0" sz="1300" u="none" cap="none" strike="noStrike">
              <a:solidFill>
                <a:schemeClr val="dk1"/>
              </a:solidFill>
              <a:latin typeface="Source Sans 3"/>
              <a:ea typeface="Source Sans 3"/>
              <a:cs typeface="Source Sans 3"/>
              <a:sym typeface="Source Sans 3"/>
            </a:endParaRPr>
          </a:p>
        </p:txBody>
      </p:sp>
      <p:sp>
        <p:nvSpPr>
          <p:cNvPr id="313" name="Google Shape;313;p8"/>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314" name="Google Shape;314;p8"/>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315" name="Google Shape;315;p8"/>
          <p:cNvSpPr txBox="1"/>
          <p:nvPr>
            <p:ph type="title"/>
          </p:nvPr>
        </p:nvSpPr>
        <p:spPr>
          <a:xfrm>
            <a:off x="609600" y="887040"/>
            <a:ext cx="109728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i="0" lang="en-US" sz="2300">
                <a:solidFill>
                  <a:srgbClr val="1F3B2D"/>
                </a:solidFill>
                <a:latin typeface="Source Serif 4"/>
                <a:ea typeface="Source Serif 4"/>
                <a:cs typeface="Source Serif 4"/>
                <a:sym typeface="Source Serif 4"/>
              </a:rPr>
              <a:t>Each move rests on one number: </a:t>
            </a:r>
            <a:r>
              <a:rPr b="1" i="0" lang="en-US" sz="2300">
                <a:solidFill>
                  <a:srgbClr val="B5501F"/>
                </a:solidFill>
                <a:latin typeface="Source Serif 4"/>
                <a:ea typeface="Source Serif 4"/>
                <a:cs typeface="Source Serif 4"/>
                <a:sym typeface="Source Serif 4"/>
              </a:rPr>
              <a:t>94 lb</a:t>
            </a:r>
            <a:r>
              <a:rPr b="1" i="0" lang="en-US" sz="2300">
                <a:solidFill>
                  <a:srgbClr val="1F3B2D"/>
                </a:solidFill>
                <a:latin typeface="Source Serif 4"/>
                <a:ea typeface="Source Serif 4"/>
                <a:cs typeface="Source Serif 4"/>
                <a:sym typeface="Source Serif 4"/>
              </a:rPr>
              <a:t>, </a:t>
            </a:r>
            <a:r>
              <a:rPr b="1" i="0" lang="en-US" sz="2300">
                <a:solidFill>
                  <a:srgbClr val="B5501F"/>
                </a:solidFill>
                <a:latin typeface="Source Serif 4"/>
                <a:ea typeface="Source Serif 4"/>
                <a:cs typeface="Source Serif 4"/>
                <a:sym typeface="Source Serif 4"/>
              </a:rPr>
              <a:t>117 tracts</a:t>
            </a:r>
            <a:r>
              <a:rPr b="1" i="0" lang="en-US" sz="2300">
                <a:solidFill>
                  <a:srgbClr val="1F3B2D"/>
                </a:solidFill>
                <a:latin typeface="Source Serif 4"/>
                <a:ea typeface="Source Serif 4"/>
                <a:cs typeface="Source Serif 4"/>
                <a:sym typeface="Source Serif 4"/>
              </a:rPr>
              <a:t>, </a:t>
            </a:r>
            <a:r>
              <a:rPr b="1" i="0" lang="en-US" sz="2300">
                <a:solidFill>
                  <a:srgbClr val="B5501F"/>
                </a:solidFill>
                <a:latin typeface="Source Serif 4"/>
                <a:ea typeface="Source Serif 4"/>
                <a:cs typeface="Source Serif 4"/>
                <a:sym typeface="Source Serif 4"/>
              </a:rPr>
              <a:t>+18–26%</a:t>
            </a:r>
            <a:r>
              <a:rPr b="1" i="0" lang="en-US" sz="2300">
                <a:solidFill>
                  <a:srgbClr val="1F3B2D"/>
                </a:solidFill>
                <a:latin typeface="Source Serif 4"/>
                <a:ea typeface="Source Serif 4"/>
                <a:cs typeface="Source Serif 4"/>
                <a:sym typeface="Source Serif 4"/>
              </a:rPr>
              <a:t> visits, </a:t>
            </a:r>
            <a:r>
              <a:rPr b="1" i="0" lang="en-US" sz="2300">
                <a:solidFill>
                  <a:srgbClr val="B5501F"/>
                </a:solidFill>
                <a:latin typeface="Source Serif 4"/>
                <a:ea typeface="Source Serif 4"/>
                <a:cs typeface="Source Serif 4"/>
                <a:sym typeface="Source Serif 4"/>
              </a:rPr>
              <a:t>236k</a:t>
            </a:r>
            <a:r>
              <a:rPr b="1" i="0" lang="en-US" sz="2300">
                <a:solidFill>
                  <a:srgbClr val="1F3B2D"/>
                </a:solidFill>
                <a:latin typeface="Source Serif 4"/>
                <a:ea typeface="Source Serif 4"/>
                <a:cs typeface="Source Serif 4"/>
                <a:sym typeface="Source Serif 4"/>
              </a:rPr>
              <a:t> forecast</a:t>
            </a:r>
            <a:endParaRPr sz="2300"/>
          </a:p>
        </p:txBody>
      </p:sp>
      <p:sp>
        <p:nvSpPr>
          <p:cNvPr id="316" name="Google Shape;316;p8"/>
          <p:cNvSpPr/>
          <p:nvPr/>
        </p:nvSpPr>
        <p:spPr>
          <a:xfrm>
            <a:off x="609600" y="1549400"/>
            <a:ext cx="2628900" cy="3581400"/>
          </a:xfrm>
          <a:prstGeom prst="roundRect">
            <a:avLst>
              <a:gd fmla="val 4348"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8"/>
          <p:cNvSpPr/>
          <p:nvPr/>
        </p:nvSpPr>
        <p:spPr>
          <a:xfrm>
            <a:off x="774700" y="1714500"/>
            <a:ext cx="381000" cy="381000"/>
          </a:xfrm>
          <a:prstGeom prst="roundRect">
            <a:avLst>
              <a:gd fmla="val 50000" name="adj"/>
            </a:avLst>
          </a:prstGeom>
          <a:solidFill>
            <a:srgbClr val="D962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DF8"/>
              </a:buClr>
              <a:buSzPts val="1500"/>
              <a:buFont typeface="Source Serif 4"/>
              <a:buNone/>
            </a:pPr>
            <a:r>
              <a:rPr b="1" i="0" lang="en-US" sz="1500" u="none" cap="none" strike="noStrike">
                <a:solidFill>
                  <a:srgbClr val="FFFDF8"/>
                </a:solidFill>
                <a:latin typeface="Source Serif 4"/>
                <a:ea typeface="Source Serif 4"/>
                <a:cs typeface="Source Serif 4"/>
                <a:sym typeface="Source Serif 4"/>
              </a:rPr>
              <a:t>1</a:t>
            </a:r>
            <a:endParaRPr b="0" i="0" sz="1500" u="none" cap="none" strike="noStrike">
              <a:solidFill>
                <a:schemeClr val="dk1"/>
              </a:solidFill>
              <a:latin typeface="Source Sans 3"/>
              <a:ea typeface="Source Sans 3"/>
              <a:cs typeface="Source Sans 3"/>
              <a:sym typeface="Source Sans 3"/>
            </a:endParaRPr>
          </a:p>
        </p:txBody>
      </p:sp>
      <p:sp>
        <p:nvSpPr>
          <p:cNvPr id="318" name="Google Shape;318;p8"/>
          <p:cNvSpPr/>
          <p:nvPr/>
        </p:nvSpPr>
        <p:spPr>
          <a:xfrm>
            <a:off x="1257300" y="1714500"/>
            <a:ext cx="1057692"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900"/>
              <a:buFont typeface="Source Serif 4"/>
              <a:buNone/>
            </a:pPr>
            <a:r>
              <a:rPr b="1" i="0" lang="en-US" sz="1900" u="none" cap="none" strike="noStrike">
                <a:solidFill>
                  <a:srgbClr val="F7F2E8"/>
                </a:solidFill>
                <a:latin typeface="Source Serif 4"/>
                <a:ea typeface="Source Serif 4"/>
                <a:cs typeface="Source Serif 4"/>
                <a:sym typeface="Source Serif 4"/>
              </a:rPr>
              <a:t>Allocate</a:t>
            </a:r>
            <a:endParaRPr b="0" i="0" sz="1900" u="none" cap="none" strike="noStrike">
              <a:solidFill>
                <a:schemeClr val="dk1"/>
              </a:solidFill>
              <a:latin typeface="Source Sans 3"/>
              <a:ea typeface="Source Sans 3"/>
              <a:cs typeface="Source Sans 3"/>
              <a:sym typeface="Source Sans 3"/>
            </a:endParaRPr>
          </a:p>
        </p:txBody>
      </p:sp>
      <p:sp>
        <p:nvSpPr>
          <p:cNvPr id="319" name="Google Shape;319;p8"/>
          <p:cNvSpPr/>
          <p:nvPr/>
        </p:nvSpPr>
        <p:spPr>
          <a:xfrm>
            <a:off x="774700" y="2853680"/>
            <a:ext cx="2367661" cy="48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94 lb</a:t>
            </a:r>
            <a:endParaRPr b="0" i="0" sz="3600" u="none" cap="none" strike="noStrike">
              <a:solidFill>
                <a:schemeClr val="dk1"/>
              </a:solidFill>
              <a:latin typeface="Source Sans 3"/>
              <a:ea typeface="Source Sans 3"/>
              <a:cs typeface="Source Sans 3"/>
              <a:sym typeface="Source Sans 3"/>
            </a:endParaRPr>
          </a:p>
        </p:txBody>
      </p:sp>
      <p:sp>
        <p:nvSpPr>
          <p:cNvPr id="320" name="Google Shape;320;p8"/>
          <p:cNvSpPr/>
          <p:nvPr/>
        </p:nvSpPr>
        <p:spPr>
          <a:xfrm>
            <a:off x="774700" y="3412480"/>
            <a:ext cx="2367661"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7F2E8"/>
              </a:buClr>
              <a:buSzPts val="1600"/>
              <a:buFont typeface="Source Sans 3"/>
              <a:buNone/>
            </a:pPr>
            <a:r>
              <a:rPr b="0" i="0" lang="en-US" sz="1600" u="none" cap="none" strike="noStrike">
                <a:solidFill>
                  <a:srgbClr val="F7F2E8"/>
                </a:solidFill>
                <a:latin typeface="Source Sans 3"/>
                <a:ea typeface="Source Sans 3"/>
                <a:cs typeface="Source Sans 3"/>
                <a:sym typeface="Source Sans 3"/>
              </a:rPr>
              <a:t>per person a year in rural food deserts, vs 172 nearby</a:t>
            </a:r>
            <a:endParaRPr b="0" i="0" sz="1600" u="none" cap="none" strike="noStrike">
              <a:solidFill>
                <a:schemeClr val="dk1"/>
              </a:solidFill>
              <a:latin typeface="Source Sans 3"/>
              <a:ea typeface="Source Sans 3"/>
              <a:cs typeface="Source Sans 3"/>
              <a:sym typeface="Source Sans 3"/>
            </a:endParaRPr>
          </a:p>
        </p:txBody>
      </p:sp>
      <p:cxnSp>
        <p:nvCxnSpPr>
          <p:cNvPr id="321" name="Google Shape;321;p8"/>
          <p:cNvCxnSpPr/>
          <p:nvPr/>
        </p:nvCxnSpPr>
        <p:spPr>
          <a:xfrm>
            <a:off x="774700" y="4685060"/>
            <a:ext cx="2298700" cy="0"/>
          </a:xfrm>
          <a:prstGeom prst="straightConnector1">
            <a:avLst/>
          </a:prstGeom>
          <a:noFill/>
          <a:ln cap="flat" cmpd="sng" w="12700">
            <a:solidFill>
              <a:srgbClr val="FFFFFF">
                <a:alpha val="20000"/>
              </a:srgbClr>
            </a:solidFill>
            <a:prstDash val="solid"/>
            <a:round/>
            <a:headEnd len="sm" w="sm" type="none"/>
            <a:tailEnd len="sm" w="sm" type="none"/>
          </a:ln>
        </p:spPr>
      </p:cxnSp>
      <p:sp>
        <p:nvSpPr>
          <p:cNvPr id="322" name="Google Shape;322;p8"/>
          <p:cNvSpPr/>
          <p:nvPr/>
        </p:nvSpPr>
        <p:spPr>
          <a:xfrm>
            <a:off x="774700" y="4767610"/>
            <a:ext cx="2367661"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Takes: current allocation formula</a:t>
            </a:r>
            <a:endParaRPr b="0" i="0" sz="1200" u="none" cap="none" strike="noStrike">
              <a:solidFill>
                <a:schemeClr val="dk1"/>
              </a:solidFill>
              <a:latin typeface="Source Sans 3"/>
              <a:ea typeface="Source Sans 3"/>
              <a:cs typeface="Source Sans 3"/>
              <a:sym typeface="Source Sans 3"/>
            </a:endParaRPr>
          </a:p>
        </p:txBody>
      </p:sp>
      <p:sp>
        <p:nvSpPr>
          <p:cNvPr id="323" name="Google Shape;323;p8"/>
          <p:cNvSpPr/>
          <p:nvPr/>
        </p:nvSpPr>
        <p:spPr>
          <a:xfrm>
            <a:off x="3390900" y="1549400"/>
            <a:ext cx="2628900" cy="3581400"/>
          </a:xfrm>
          <a:prstGeom prst="roundRect">
            <a:avLst>
              <a:gd fmla="val 4348"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8"/>
          <p:cNvSpPr/>
          <p:nvPr/>
        </p:nvSpPr>
        <p:spPr>
          <a:xfrm>
            <a:off x="3556000" y="1714500"/>
            <a:ext cx="381000" cy="381000"/>
          </a:xfrm>
          <a:prstGeom prst="roundRect">
            <a:avLst>
              <a:gd fmla="val 50000" name="adj"/>
            </a:avLst>
          </a:prstGeom>
          <a:solidFill>
            <a:srgbClr val="D962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DF8"/>
              </a:buClr>
              <a:buSzPts val="1500"/>
              <a:buFont typeface="Source Serif 4"/>
              <a:buNone/>
            </a:pPr>
            <a:r>
              <a:rPr b="1" i="0" lang="en-US" sz="1500" u="none" cap="none" strike="noStrike">
                <a:solidFill>
                  <a:srgbClr val="FFFDF8"/>
                </a:solidFill>
                <a:latin typeface="Source Serif 4"/>
                <a:ea typeface="Source Serif 4"/>
                <a:cs typeface="Source Serif 4"/>
                <a:sym typeface="Source Serif 4"/>
              </a:rPr>
              <a:t>2</a:t>
            </a:r>
            <a:endParaRPr b="0" i="0" sz="1500" u="none" cap="none" strike="noStrike">
              <a:solidFill>
                <a:schemeClr val="dk1"/>
              </a:solidFill>
              <a:latin typeface="Source Sans 3"/>
              <a:ea typeface="Source Sans 3"/>
              <a:cs typeface="Source Sans 3"/>
              <a:sym typeface="Source Sans 3"/>
            </a:endParaRPr>
          </a:p>
        </p:txBody>
      </p:sp>
      <p:sp>
        <p:nvSpPr>
          <p:cNvPr id="325" name="Google Shape;325;p8"/>
          <p:cNvSpPr/>
          <p:nvPr/>
        </p:nvSpPr>
        <p:spPr>
          <a:xfrm>
            <a:off x="4038600" y="1714500"/>
            <a:ext cx="786051"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900"/>
              <a:buFont typeface="Source Serif 4"/>
              <a:buNone/>
            </a:pPr>
            <a:r>
              <a:rPr b="1" i="0" lang="en-US" sz="1900" u="none" cap="none" strike="noStrike">
                <a:solidFill>
                  <a:srgbClr val="F7F2E8"/>
                </a:solidFill>
                <a:latin typeface="Source Serif 4"/>
                <a:ea typeface="Source Serif 4"/>
                <a:cs typeface="Source Serif 4"/>
                <a:sym typeface="Source Serif 4"/>
              </a:rPr>
              <a:t>Reach</a:t>
            </a:r>
            <a:endParaRPr b="0" i="0" sz="1900" u="none" cap="none" strike="noStrike">
              <a:solidFill>
                <a:schemeClr val="dk1"/>
              </a:solidFill>
              <a:latin typeface="Source Sans 3"/>
              <a:ea typeface="Source Sans 3"/>
              <a:cs typeface="Source Sans 3"/>
              <a:sym typeface="Source Sans 3"/>
            </a:endParaRPr>
          </a:p>
        </p:txBody>
      </p:sp>
      <p:sp>
        <p:nvSpPr>
          <p:cNvPr id="326" name="Google Shape;326;p8"/>
          <p:cNvSpPr/>
          <p:nvPr/>
        </p:nvSpPr>
        <p:spPr>
          <a:xfrm>
            <a:off x="3556000" y="2853680"/>
            <a:ext cx="2367661" cy="48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117</a:t>
            </a:r>
            <a:endParaRPr b="0" i="0" sz="3600" u="none" cap="none" strike="noStrike">
              <a:solidFill>
                <a:schemeClr val="dk1"/>
              </a:solidFill>
              <a:latin typeface="Source Sans 3"/>
              <a:ea typeface="Source Sans 3"/>
              <a:cs typeface="Source Sans 3"/>
              <a:sym typeface="Source Sans 3"/>
            </a:endParaRPr>
          </a:p>
        </p:txBody>
      </p:sp>
      <p:sp>
        <p:nvSpPr>
          <p:cNvPr id="327" name="Google Shape;327;p8"/>
          <p:cNvSpPr/>
          <p:nvPr/>
        </p:nvSpPr>
        <p:spPr>
          <a:xfrm>
            <a:off x="3556000" y="3412480"/>
            <a:ext cx="2367661"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7F2E8"/>
              </a:buClr>
              <a:buSzPts val="1600"/>
              <a:buFont typeface="Source Sans 3"/>
              <a:buNone/>
            </a:pPr>
            <a:r>
              <a:rPr b="0" i="0" lang="en-US" sz="1600" u="none" cap="none" strike="noStrike">
                <a:solidFill>
                  <a:srgbClr val="F7F2E8"/>
                </a:solidFill>
                <a:latin typeface="Source Sans 3"/>
                <a:ea typeface="Source Sans 3"/>
                <a:cs typeface="Source Sans 3"/>
                <a:sym typeface="Source Sans 3"/>
              </a:rPr>
              <a:t>food-desert tracts with no shelf within USDA distance</a:t>
            </a:r>
            <a:endParaRPr b="0" i="0" sz="1600" u="none" cap="none" strike="noStrike">
              <a:solidFill>
                <a:schemeClr val="dk1"/>
              </a:solidFill>
              <a:latin typeface="Source Sans 3"/>
              <a:ea typeface="Source Sans 3"/>
              <a:cs typeface="Source Sans 3"/>
              <a:sym typeface="Source Sans 3"/>
            </a:endParaRPr>
          </a:p>
        </p:txBody>
      </p:sp>
      <p:cxnSp>
        <p:nvCxnSpPr>
          <p:cNvPr id="328" name="Google Shape;328;p8"/>
          <p:cNvCxnSpPr/>
          <p:nvPr/>
        </p:nvCxnSpPr>
        <p:spPr>
          <a:xfrm>
            <a:off x="3556000" y="4685060"/>
            <a:ext cx="2298700" cy="0"/>
          </a:xfrm>
          <a:prstGeom prst="straightConnector1">
            <a:avLst/>
          </a:prstGeom>
          <a:noFill/>
          <a:ln cap="flat" cmpd="sng" w="12700">
            <a:solidFill>
              <a:srgbClr val="FFFFFF">
                <a:alpha val="20000"/>
              </a:srgbClr>
            </a:solidFill>
            <a:prstDash val="solid"/>
            <a:round/>
            <a:headEnd len="sm" w="sm" type="none"/>
            <a:tailEnd len="sm" w="sm" type="none"/>
          </a:ln>
        </p:spPr>
      </p:cxnSp>
      <p:sp>
        <p:nvSpPr>
          <p:cNvPr id="329" name="Google Shape;329;p8"/>
          <p:cNvSpPr/>
          <p:nvPr/>
        </p:nvSpPr>
        <p:spPr>
          <a:xfrm>
            <a:off x="3556000" y="4767610"/>
            <a:ext cx="2367661"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Takes: existing routes; gap list ready</a:t>
            </a:r>
            <a:endParaRPr b="0" i="0" sz="1200" u="none" cap="none" strike="noStrike">
              <a:solidFill>
                <a:schemeClr val="dk1"/>
              </a:solidFill>
              <a:latin typeface="Source Sans 3"/>
              <a:ea typeface="Source Sans 3"/>
              <a:cs typeface="Source Sans 3"/>
              <a:sym typeface="Source Sans 3"/>
            </a:endParaRPr>
          </a:p>
        </p:txBody>
      </p:sp>
      <p:sp>
        <p:nvSpPr>
          <p:cNvPr id="330" name="Google Shape;330;p8"/>
          <p:cNvSpPr/>
          <p:nvPr/>
        </p:nvSpPr>
        <p:spPr>
          <a:xfrm>
            <a:off x="6172200" y="1549400"/>
            <a:ext cx="2628900" cy="3581400"/>
          </a:xfrm>
          <a:prstGeom prst="roundRect">
            <a:avLst>
              <a:gd fmla="val 4348"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8"/>
          <p:cNvSpPr/>
          <p:nvPr/>
        </p:nvSpPr>
        <p:spPr>
          <a:xfrm>
            <a:off x="6337300" y="1714500"/>
            <a:ext cx="381000" cy="381000"/>
          </a:xfrm>
          <a:prstGeom prst="roundRect">
            <a:avLst>
              <a:gd fmla="val 50000" name="adj"/>
            </a:avLst>
          </a:prstGeom>
          <a:solidFill>
            <a:srgbClr val="D962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DF8"/>
              </a:buClr>
              <a:buSzPts val="1500"/>
              <a:buFont typeface="Source Serif 4"/>
              <a:buNone/>
            </a:pPr>
            <a:r>
              <a:rPr b="1" i="0" lang="en-US" sz="1500" u="none" cap="none" strike="noStrike">
                <a:solidFill>
                  <a:srgbClr val="FFFDF8"/>
                </a:solidFill>
                <a:latin typeface="Source Serif 4"/>
                <a:ea typeface="Source Serif 4"/>
                <a:cs typeface="Source Serif 4"/>
                <a:sym typeface="Source Serif 4"/>
              </a:rPr>
              <a:t>3</a:t>
            </a:r>
            <a:endParaRPr b="0" i="0" sz="1500" u="none" cap="none" strike="noStrike">
              <a:solidFill>
                <a:schemeClr val="dk1"/>
              </a:solidFill>
              <a:latin typeface="Source Sans 3"/>
              <a:ea typeface="Source Sans 3"/>
              <a:cs typeface="Source Sans 3"/>
              <a:sym typeface="Source Sans 3"/>
            </a:endParaRPr>
          </a:p>
        </p:txBody>
      </p:sp>
      <p:sp>
        <p:nvSpPr>
          <p:cNvPr id="332" name="Google Shape;332;p8"/>
          <p:cNvSpPr/>
          <p:nvPr/>
        </p:nvSpPr>
        <p:spPr>
          <a:xfrm>
            <a:off x="6819900" y="1714500"/>
            <a:ext cx="1175445"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900"/>
              <a:buFont typeface="Source Serif 4"/>
              <a:buNone/>
            </a:pPr>
            <a:r>
              <a:rPr b="1" i="0" lang="en-US" sz="1900" u="none" cap="none" strike="noStrike">
                <a:solidFill>
                  <a:srgbClr val="F7F2E8"/>
                </a:solidFill>
                <a:latin typeface="Source Serif 4"/>
                <a:ea typeface="Source Serif 4"/>
                <a:cs typeface="Source Serif 4"/>
                <a:sym typeface="Source Serif 4"/>
              </a:rPr>
              <a:t>Advocate</a:t>
            </a:r>
            <a:endParaRPr b="0" i="0" sz="1900" u="none" cap="none" strike="noStrike">
              <a:solidFill>
                <a:schemeClr val="dk1"/>
              </a:solidFill>
              <a:latin typeface="Source Sans 3"/>
              <a:ea typeface="Source Sans 3"/>
              <a:cs typeface="Source Sans 3"/>
              <a:sym typeface="Source Sans 3"/>
            </a:endParaRPr>
          </a:p>
        </p:txBody>
      </p:sp>
      <p:sp>
        <p:nvSpPr>
          <p:cNvPr id="333" name="Google Shape;333;p8"/>
          <p:cNvSpPr/>
          <p:nvPr/>
        </p:nvSpPr>
        <p:spPr>
          <a:xfrm>
            <a:off x="6337300" y="2853680"/>
            <a:ext cx="2367661" cy="48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+18–26%</a:t>
            </a:r>
            <a:endParaRPr b="0" i="0" sz="3600" u="none" cap="none" strike="noStrike">
              <a:solidFill>
                <a:schemeClr val="dk1"/>
              </a:solidFill>
              <a:latin typeface="Source Sans 3"/>
              <a:ea typeface="Source Sans 3"/>
              <a:cs typeface="Source Sans 3"/>
              <a:sym typeface="Source Sans 3"/>
            </a:endParaRPr>
          </a:p>
        </p:txBody>
      </p:sp>
      <p:sp>
        <p:nvSpPr>
          <p:cNvPr id="334" name="Google Shape;334;p8"/>
          <p:cNvSpPr/>
          <p:nvPr/>
        </p:nvSpPr>
        <p:spPr>
          <a:xfrm>
            <a:off x="6337300" y="3412480"/>
            <a:ext cx="2367661"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7F2E8"/>
              </a:buClr>
              <a:buSzPts val="1600"/>
              <a:buFont typeface="Source Sans 3"/>
              <a:buNone/>
            </a:pPr>
            <a:r>
              <a:rPr b="0" i="0" lang="en-US" sz="1600" u="none" cap="none" strike="noStrike">
                <a:solidFill>
                  <a:srgbClr val="F7F2E8"/>
                </a:solidFill>
                <a:latin typeface="Source Sans 3"/>
                <a:ea typeface="Source Sans 3"/>
                <a:cs typeface="Source Sans 3"/>
                <a:sym typeface="Source Sans 3"/>
              </a:rPr>
              <a:t>visits after the 2023 SNAP cut</a:t>
            </a:r>
            <a:endParaRPr b="0" i="0" sz="1600" u="none" cap="none" strike="noStrike">
              <a:solidFill>
                <a:schemeClr val="dk1"/>
              </a:solidFill>
              <a:latin typeface="Source Sans 3"/>
              <a:ea typeface="Source Sans 3"/>
              <a:cs typeface="Source Sans 3"/>
              <a:sym typeface="Source Sans 3"/>
            </a:endParaRPr>
          </a:p>
        </p:txBody>
      </p:sp>
      <p:cxnSp>
        <p:nvCxnSpPr>
          <p:cNvPr id="335" name="Google Shape;335;p8"/>
          <p:cNvCxnSpPr/>
          <p:nvPr/>
        </p:nvCxnSpPr>
        <p:spPr>
          <a:xfrm>
            <a:off x="6337300" y="4685060"/>
            <a:ext cx="2298700" cy="0"/>
          </a:xfrm>
          <a:prstGeom prst="straightConnector1">
            <a:avLst/>
          </a:prstGeom>
          <a:noFill/>
          <a:ln cap="flat" cmpd="sng" w="12700">
            <a:solidFill>
              <a:srgbClr val="FFFFFF">
                <a:alpha val="20000"/>
              </a:srgbClr>
            </a:solidFill>
            <a:prstDash val="solid"/>
            <a:round/>
            <a:headEnd len="sm" w="sm" type="none"/>
            <a:tailEnd len="sm" w="sm" type="none"/>
          </a:ln>
        </p:spPr>
      </p:cxnSp>
      <p:sp>
        <p:nvSpPr>
          <p:cNvPr id="336" name="Google Shape;336;p8"/>
          <p:cNvSpPr/>
          <p:nvPr/>
        </p:nvSpPr>
        <p:spPr>
          <a:xfrm>
            <a:off x="6337300" y="4767610"/>
            <a:ext cx="2367661"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Takes: staff time; free DCYF data</a:t>
            </a:r>
            <a:endParaRPr b="0" i="0" sz="1200" u="none" cap="none" strike="noStrike">
              <a:solidFill>
                <a:schemeClr val="dk1"/>
              </a:solidFill>
              <a:latin typeface="Source Sans 3"/>
              <a:ea typeface="Source Sans 3"/>
              <a:cs typeface="Source Sans 3"/>
              <a:sym typeface="Source Sans 3"/>
            </a:endParaRPr>
          </a:p>
        </p:txBody>
      </p:sp>
      <p:sp>
        <p:nvSpPr>
          <p:cNvPr id="337" name="Google Shape;337;p8"/>
          <p:cNvSpPr/>
          <p:nvPr/>
        </p:nvSpPr>
        <p:spPr>
          <a:xfrm>
            <a:off x="8953500" y="1549400"/>
            <a:ext cx="2628900" cy="3581400"/>
          </a:xfrm>
          <a:prstGeom prst="roundRect">
            <a:avLst>
              <a:gd fmla="val 4348"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8"/>
          <p:cNvSpPr/>
          <p:nvPr/>
        </p:nvSpPr>
        <p:spPr>
          <a:xfrm>
            <a:off x="9118600" y="1714500"/>
            <a:ext cx="381000" cy="381000"/>
          </a:xfrm>
          <a:prstGeom prst="roundRect">
            <a:avLst>
              <a:gd fmla="val 50000" name="adj"/>
            </a:avLst>
          </a:prstGeom>
          <a:solidFill>
            <a:srgbClr val="D962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DF8"/>
              </a:buClr>
              <a:buSzPts val="1500"/>
              <a:buFont typeface="Source Serif 4"/>
              <a:buNone/>
            </a:pPr>
            <a:r>
              <a:rPr b="1" i="0" lang="en-US" sz="1500" u="none" cap="none" strike="noStrike">
                <a:solidFill>
                  <a:srgbClr val="FFFDF8"/>
                </a:solidFill>
                <a:latin typeface="Source Serif 4"/>
                <a:ea typeface="Source Serif 4"/>
                <a:cs typeface="Source Serif 4"/>
                <a:sym typeface="Source Serif 4"/>
              </a:rPr>
              <a:t>4</a:t>
            </a:r>
            <a:endParaRPr b="0" i="0" sz="1500" u="none" cap="none" strike="noStrike">
              <a:solidFill>
                <a:schemeClr val="dk1"/>
              </a:solidFill>
              <a:latin typeface="Source Sans 3"/>
              <a:ea typeface="Source Sans 3"/>
              <a:cs typeface="Source Sans 3"/>
              <a:sym typeface="Source Sans 3"/>
            </a:endParaRPr>
          </a:p>
        </p:txBody>
      </p:sp>
      <p:sp>
        <p:nvSpPr>
          <p:cNvPr id="339" name="Google Shape;339;p8"/>
          <p:cNvSpPr/>
          <p:nvPr/>
        </p:nvSpPr>
        <p:spPr>
          <a:xfrm>
            <a:off x="9601200" y="1714500"/>
            <a:ext cx="1020187"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900"/>
              <a:buFont typeface="Source Serif 4"/>
              <a:buNone/>
            </a:pPr>
            <a:r>
              <a:rPr b="1" i="0" lang="en-US" sz="1900" u="none" cap="none" strike="noStrike">
                <a:solidFill>
                  <a:srgbClr val="F7F2E8"/>
                </a:solidFill>
                <a:latin typeface="Source Serif 4"/>
                <a:ea typeface="Source Serif 4"/>
                <a:cs typeface="Source Serif 4"/>
                <a:sym typeface="Source Serif 4"/>
              </a:rPr>
              <a:t>Prepare</a:t>
            </a:r>
            <a:endParaRPr b="0" i="0" sz="1900" u="none" cap="none" strike="noStrike">
              <a:solidFill>
                <a:schemeClr val="dk1"/>
              </a:solidFill>
              <a:latin typeface="Source Sans 3"/>
              <a:ea typeface="Source Sans 3"/>
              <a:cs typeface="Source Sans 3"/>
              <a:sym typeface="Source Sans 3"/>
            </a:endParaRPr>
          </a:p>
        </p:txBody>
      </p:sp>
      <p:sp>
        <p:nvSpPr>
          <p:cNvPr id="340" name="Google Shape;340;p8"/>
          <p:cNvSpPr/>
          <p:nvPr/>
        </p:nvSpPr>
        <p:spPr>
          <a:xfrm>
            <a:off x="9118600" y="2853680"/>
            <a:ext cx="2367661" cy="48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236k</a:t>
            </a:r>
            <a:endParaRPr b="0" i="0" sz="3600" u="none" cap="none" strike="noStrike">
              <a:solidFill>
                <a:schemeClr val="dk1"/>
              </a:solidFill>
              <a:latin typeface="Source Sans 3"/>
              <a:ea typeface="Source Sans 3"/>
              <a:cs typeface="Source Sans 3"/>
              <a:sym typeface="Source Sans 3"/>
            </a:endParaRPr>
          </a:p>
        </p:txBody>
      </p:sp>
      <p:sp>
        <p:nvSpPr>
          <p:cNvPr id="341" name="Google Shape;341;p8"/>
          <p:cNvSpPr/>
          <p:nvPr/>
        </p:nvSpPr>
        <p:spPr>
          <a:xfrm>
            <a:off x="9118600" y="3412480"/>
            <a:ext cx="2367661"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7F2E8"/>
              </a:buClr>
              <a:buSzPts val="1600"/>
              <a:buFont typeface="Source Sans 3"/>
              <a:buNone/>
            </a:pPr>
            <a:r>
              <a:rPr b="0" i="0" lang="en-US" sz="1600" u="none" cap="none" strike="noStrike">
                <a:solidFill>
                  <a:srgbClr val="F7F2E8"/>
                </a:solidFill>
                <a:latin typeface="Source Sans 3"/>
                <a:ea typeface="Source Sans 3"/>
                <a:cs typeface="Source Sans 3"/>
                <a:sym typeface="Source Sans 3"/>
              </a:rPr>
              <a:t>visits forecast for August 2026</a:t>
            </a:r>
            <a:endParaRPr b="0" i="0" sz="1600" u="none" cap="none" strike="noStrike">
              <a:solidFill>
                <a:schemeClr val="dk1"/>
              </a:solidFill>
              <a:latin typeface="Source Sans 3"/>
              <a:ea typeface="Source Sans 3"/>
              <a:cs typeface="Source Sans 3"/>
              <a:sym typeface="Source Sans 3"/>
            </a:endParaRPr>
          </a:p>
        </p:txBody>
      </p:sp>
      <p:cxnSp>
        <p:nvCxnSpPr>
          <p:cNvPr id="342" name="Google Shape;342;p8"/>
          <p:cNvCxnSpPr/>
          <p:nvPr/>
        </p:nvCxnSpPr>
        <p:spPr>
          <a:xfrm>
            <a:off x="9118600" y="4685060"/>
            <a:ext cx="2298700" cy="0"/>
          </a:xfrm>
          <a:prstGeom prst="straightConnector1">
            <a:avLst/>
          </a:prstGeom>
          <a:noFill/>
          <a:ln cap="flat" cmpd="sng" w="12700">
            <a:solidFill>
              <a:srgbClr val="FFFFFF">
                <a:alpha val="20000"/>
              </a:srgbClr>
            </a:solidFill>
            <a:prstDash val="solid"/>
            <a:round/>
            <a:headEnd len="sm" w="sm" type="none"/>
            <a:tailEnd len="sm" w="sm" type="none"/>
          </a:ln>
        </p:spPr>
      </p:cxnSp>
      <p:sp>
        <p:nvSpPr>
          <p:cNvPr id="343" name="Google Shape;343;p8"/>
          <p:cNvSpPr/>
          <p:nvPr/>
        </p:nvSpPr>
        <p:spPr>
          <a:xfrm>
            <a:off x="9118600" y="4767610"/>
            <a:ext cx="2367661"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Takes: monthly forecast re-run</a:t>
            </a:r>
            <a:endParaRPr b="0" i="0" sz="1200" u="none" cap="none" strike="noStrike">
              <a:solidFill>
                <a:schemeClr val="dk1"/>
              </a:solidFill>
              <a:latin typeface="Source Sans 3"/>
              <a:ea typeface="Source Sans 3"/>
              <a:cs typeface="Source Sans 3"/>
              <a:sym typeface="Source Sans 3"/>
            </a:endParaRPr>
          </a:p>
        </p:txBody>
      </p:sp>
      <p:sp>
        <p:nvSpPr>
          <p:cNvPr id="344" name="Google Shape;344;p8"/>
          <p:cNvSpPr/>
          <p:nvPr/>
        </p:nvSpPr>
        <p:spPr>
          <a:xfrm>
            <a:off x="609600" y="5308600"/>
            <a:ext cx="10972800" cy="459730"/>
          </a:xfrm>
          <a:prstGeom prst="roundRect">
            <a:avLst>
              <a:gd fmla="val 19337" name="adj"/>
            </a:avLst>
          </a:prstGeom>
          <a:solidFill>
            <a:srgbClr val="1F3B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8"/>
          <p:cNvSpPr/>
          <p:nvPr/>
        </p:nvSpPr>
        <p:spPr>
          <a:xfrm>
            <a:off x="787400" y="5308600"/>
            <a:ext cx="703302"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346" name="Google Shape;346;p8"/>
          <p:cNvSpPr/>
          <p:nvPr/>
        </p:nvSpPr>
        <p:spPr>
          <a:xfrm>
            <a:off x="1500485" y="5308600"/>
            <a:ext cx="10201200"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300"/>
              <a:buFont typeface="Source Sans 3"/>
              <a:buNone/>
            </a:pPr>
            <a:r>
              <a:rPr b="0" i="0" lang="en-US" sz="1300" u="none" cap="none" strike="noStrike">
                <a:solidFill>
                  <a:srgbClr val="F7F2E8"/>
                </a:solidFill>
                <a:latin typeface="Source Sans 3"/>
                <a:ea typeface="Source Sans 3"/>
                <a:cs typeface="Source Sans 3"/>
                <a:sym typeface="Source Sans 3"/>
              </a:rPr>
              <a:t>Each move uses staff, partners and data The Food Group already has.</a:t>
            </a:r>
            <a:endParaRPr b="0" i="0" sz="1300" u="none" cap="none" strike="noStrike">
              <a:solidFill>
                <a:schemeClr val="dk1"/>
              </a:solidFill>
              <a:latin typeface="Source Sans 3"/>
              <a:ea typeface="Source Sans 3"/>
              <a:cs typeface="Source Sans 3"/>
              <a:sym typeface="Source Sans 3"/>
            </a:endParaRPr>
          </a:p>
        </p:txBody>
      </p:sp>
      <p:sp>
        <p:nvSpPr>
          <p:cNvPr id="347" name="Google Shape;347;p8"/>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9</a:t>
            </a:r>
            <a:r>
              <a:rPr b="0" i="0" lang="en-US" sz="1200" u="none" cap="none" strike="noStrike">
                <a:solidFill>
                  <a:srgbClr val="4B5A50"/>
                </a:solidFill>
                <a:latin typeface="Source Sans 3"/>
                <a:ea typeface="Source Sans 3"/>
                <a:cs typeface="Source Sans 3"/>
                <a:sym typeface="Source Sans 3"/>
              </a:rPr>
              <a:t> · Limits and robustness checks: Appendix A22</a:t>
            </a:r>
            <a:endParaRPr b="0" i="0" sz="1200" u="none" cap="none" strike="noStrike">
              <a:solidFill>
                <a:schemeClr val="dk1"/>
              </a:solidFill>
              <a:latin typeface="Source Sans 3"/>
              <a:ea typeface="Source Sans 3"/>
              <a:cs typeface="Source Sans 3"/>
              <a:sym typeface="Source Sans 3"/>
            </a:endParaRPr>
          </a:p>
        </p:txBody>
      </p:sp>
      <p:sp>
        <p:nvSpPr>
          <p:cNvPr id="348" name="Google Shape;348;p8"/>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8"/>
          <p:cNvSpPr/>
          <p:nvPr/>
        </p:nvSpPr>
        <p:spPr>
          <a:xfrm>
            <a:off x="0" y="6803136"/>
            <a:ext cx="109728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B2D"/>
        </a:solidFill>
      </p:bgPr>
    </p:bg>
    <p:spTree>
      <p:nvGrpSpPr>
        <p:cNvPr id="354" name="Shape 354"/>
        <p:cNvGrpSpPr/>
        <p:nvPr/>
      </p:nvGrpSpPr>
      <p:grpSpPr>
        <a:xfrm>
          <a:off x="0" y="0"/>
          <a:ext cx="0" cy="0"/>
          <a:chOff x="0" y="0"/>
          <a:chExt cx="0" cy="0"/>
        </a:xfrm>
      </p:grpSpPr>
      <p:sp>
        <p:nvSpPr>
          <p:cNvPr id="355" name="Google Shape;355;p9"/>
          <p:cNvSpPr/>
          <p:nvPr/>
        </p:nvSpPr>
        <p:spPr>
          <a:xfrm>
            <a:off x="0" y="0"/>
            <a:ext cx="12192000" cy="6858000"/>
          </a:xfrm>
          <a:prstGeom prst="rect">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9"/>
          <p:cNvSpPr/>
          <p:nvPr/>
        </p:nvSpPr>
        <p:spPr>
          <a:xfrm>
            <a:off x="812800" y="762000"/>
            <a:ext cx="98107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MINNEMUDAC 2026 · GRADUATE DIVISION</a:t>
            </a:r>
            <a:endParaRPr b="0" i="0" sz="1200" u="none" cap="none" strike="noStrike">
              <a:solidFill>
                <a:schemeClr val="dk1"/>
              </a:solidFill>
              <a:latin typeface="Source Sans 3"/>
              <a:ea typeface="Source Sans 3"/>
              <a:cs typeface="Source Sans 3"/>
              <a:sym typeface="Source Sans 3"/>
            </a:endParaRPr>
          </a:p>
        </p:txBody>
      </p:sp>
      <p:sp>
        <p:nvSpPr>
          <p:cNvPr id="357" name="Google Shape;357;p9"/>
          <p:cNvSpPr txBox="1"/>
          <p:nvPr>
            <p:ph type="title"/>
          </p:nvPr>
        </p:nvSpPr>
        <p:spPr>
          <a:xfrm>
            <a:off x="812800" y="1153120"/>
            <a:ext cx="9810750" cy="977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FFFFFF"/>
              </a:buClr>
              <a:buSzPts val="7500"/>
              <a:buFont typeface="Source Serif 4"/>
              <a:buNone/>
            </a:pPr>
            <a:r>
              <a:rPr b="1" i="0" lang="en-US" sz="7500">
                <a:solidFill>
                  <a:srgbClr val="FFFFFF"/>
                </a:solidFill>
                <a:latin typeface="Source Serif 4"/>
                <a:ea typeface="Source Serif 4"/>
                <a:cs typeface="Source Serif 4"/>
                <a:sym typeface="Source Serif 4"/>
              </a:rPr>
              <a:t>Thank you</a:t>
            </a:r>
            <a:endParaRPr sz="7500"/>
          </a:p>
        </p:txBody>
      </p:sp>
      <p:sp>
        <p:nvSpPr>
          <p:cNvPr id="358" name="Google Shape;358;p9"/>
          <p:cNvSpPr/>
          <p:nvPr/>
        </p:nvSpPr>
        <p:spPr>
          <a:xfrm>
            <a:off x="812800" y="2283420"/>
            <a:ext cx="9810750" cy="4520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2400"/>
              <a:buFont typeface="Source Serif 4"/>
              <a:buNone/>
            </a:pPr>
            <a:r>
              <a:rPr b="1" i="0" lang="en-US" sz="2400" u="none" cap="none" strike="noStrike">
                <a:solidFill>
                  <a:srgbClr val="F2B544"/>
                </a:solidFill>
                <a:latin typeface="Source Serif 4"/>
                <a:ea typeface="Source Serif 4"/>
                <a:cs typeface="Source Serif 4"/>
                <a:sym typeface="Source Serif 4"/>
              </a:rPr>
              <a:t>Demand is not need. Questions?</a:t>
            </a:r>
            <a:endParaRPr b="0" i="0" sz="2400" u="none" cap="none" strike="noStrike">
              <a:solidFill>
                <a:schemeClr val="dk1"/>
              </a:solidFill>
              <a:latin typeface="Source Sans 3"/>
              <a:ea typeface="Source Sans 3"/>
              <a:cs typeface="Source Sans 3"/>
              <a:sym typeface="Source Sans 3"/>
            </a:endParaRPr>
          </a:p>
        </p:txBody>
      </p:sp>
      <p:sp>
        <p:nvSpPr>
          <p:cNvPr id="359" name="Google Shape;359;p9"/>
          <p:cNvSpPr/>
          <p:nvPr/>
        </p:nvSpPr>
        <p:spPr>
          <a:xfrm>
            <a:off x="812800" y="2887911"/>
            <a:ext cx="9810750"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500"/>
              <a:buFont typeface="Source Sans 3"/>
              <a:buNone/>
            </a:pPr>
            <a:r>
              <a:rPr b="0" i="0" lang="en-US" sz="1500" u="none" cap="none" strike="noStrike">
                <a:solidFill>
                  <a:srgbClr val="FFFFFF"/>
                </a:solidFill>
                <a:latin typeface="Source Sans 3"/>
                <a:ea typeface="Source Sans 3"/>
                <a:cs typeface="Source Sans 3"/>
                <a:sym typeface="Source Sans 3"/>
              </a:rPr>
              <a:t>Brian · Suji · Akbar · Vishesh · Alex</a:t>
            </a:r>
            <a:endParaRPr b="0" i="0" sz="1500" u="none" cap="none" strike="noStrike">
              <a:solidFill>
                <a:schemeClr val="dk1"/>
              </a:solidFill>
              <a:latin typeface="Source Sans 3"/>
              <a:ea typeface="Source Sans 3"/>
              <a:cs typeface="Source Sans 3"/>
              <a:sym typeface="Source Sans 3"/>
            </a:endParaRPr>
          </a:p>
        </p:txBody>
      </p:sp>
      <p:sp>
        <p:nvSpPr>
          <p:cNvPr id="360" name="Google Shape;360;p9"/>
          <p:cNvSpPr/>
          <p:nvPr/>
        </p:nvSpPr>
        <p:spPr>
          <a:xfrm>
            <a:off x="812800" y="4572000"/>
            <a:ext cx="10566400" cy="1681361"/>
          </a:xfrm>
          <a:prstGeom prst="roundRect">
            <a:avLst>
              <a:gd fmla="val 6798" name="adj"/>
            </a:avLst>
          </a:prstGeom>
          <a:solidFill>
            <a:srgbClr val="FFFFFF">
              <a:alpha val="1215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9"/>
          <p:cNvSpPr/>
          <p:nvPr/>
        </p:nvSpPr>
        <p:spPr>
          <a:xfrm>
            <a:off x="990600" y="4711700"/>
            <a:ext cx="1051712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DATA CREDITS</a:t>
            </a:r>
            <a:endParaRPr b="0" i="0" sz="1200" u="none" cap="none" strike="noStrike">
              <a:solidFill>
                <a:schemeClr val="dk1"/>
              </a:solidFill>
              <a:latin typeface="Source Sans 3"/>
              <a:ea typeface="Source Sans 3"/>
              <a:cs typeface="Source Sans 3"/>
              <a:sym typeface="Source Sans 3"/>
            </a:endParaRPr>
          </a:p>
        </p:txBody>
      </p:sp>
      <p:sp>
        <p:nvSpPr>
          <p:cNvPr id="362" name="Google Shape;362;p9"/>
          <p:cNvSpPr/>
          <p:nvPr/>
        </p:nvSpPr>
        <p:spPr>
          <a:xfrm>
            <a:off x="990600" y="4975820"/>
            <a:ext cx="10517124"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FFFFF"/>
              </a:buClr>
              <a:buSzPts val="1200"/>
              <a:buFont typeface="Source Sans 3"/>
              <a:buNone/>
            </a:pPr>
            <a:r>
              <a:rPr b="0" i="0" lang="en-US" sz="1200" u="none" cap="none" strike="noStrike">
                <a:solidFill>
                  <a:srgbClr val="FFFFFF"/>
                </a:solidFill>
                <a:latin typeface="Source Sans 3"/>
                <a:ea typeface="Source Sans 3"/>
                <a:cs typeface="Source Sans 3"/>
                <a:sym typeface="Source Sans 3"/>
              </a:rPr>
              <a:t>The Food Group · Feeding America (Map the Meal Gap) · USDA Economic Research Service · USDA Food and Nutrition Service · U.S. Bureau of Labor Statistics · U.S. Census Bureau · MN Dept. of Children, Youth, and Families</a:t>
            </a:r>
            <a:endParaRPr b="0" i="0" sz="1200" u="none" cap="none" strike="noStrike">
              <a:solidFill>
                <a:schemeClr val="dk1"/>
              </a:solidFill>
              <a:latin typeface="Source Sans 3"/>
              <a:ea typeface="Source Sans 3"/>
              <a:cs typeface="Source Sans 3"/>
              <a:sym typeface="Source Sans 3"/>
            </a:endParaRPr>
          </a:p>
        </p:txBody>
      </p:sp>
      <p:sp>
        <p:nvSpPr>
          <p:cNvPr id="363" name="Google Shape;363;p9"/>
          <p:cNvSpPr/>
          <p:nvPr/>
        </p:nvSpPr>
        <p:spPr>
          <a:xfrm>
            <a:off x="990600" y="5438080"/>
            <a:ext cx="1051712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TEMPLATE SOURCES</a:t>
            </a:r>
            <a:endParaRPr b="0" i="0" sz="1200" u="none" cap="none" strike="noStrike">
              <a:solidFill>
                <a:schemeClr val="dk1"/>
              </a:solidFill>
              <a:latin typeface="Source Sans 3"/>
              <a:ea typeface="Source Sans 3"/>
              <a:cs typeface="Source Sans 3"/>
              <a:sym typeface="Source Sans 3"/>
            </a:endParaRPr>
          </a:p>
        </p:txBody>
      </p:sp>
      <p:sp>
        <p:nvSpPr>
          <p:cNvPr id="364" name="Google Shape;364;p9"/>
          <p:cNvSpPr/>
          <p:nvPr/>
        </p:nvSpPr>
        <p:spPr>
          <a:xfrm>
            <a:off x="990600" y="5702201"/>
            <a:ext cx="10517124"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FFFFF"/>
              </a:buClr>
              <a:buSzPts val="1200"/>
              <a:buFont typeface="Source Sans 3"/>
              <a:buNone/>
            </a:pPr>
            <a:r>
              <a:rPr b="0" i="0" lang="en-US" sz="1200" u="none" cap="none" strike="noStrike">
                <a:solidFill>
                  <a:srgbClr val="FFFFFF"/>
                </a:solidFill>
                <a:latin typeface="Source Sans 3"/>
                <a:ea typeface="Source Sans 3"/>
                <a:cs typeface="Source Sans 3"/>
                <a:sym typeface="Source Sans 3"/>
              </a:rPr>
              <a:t>Layout after "Business Proposal Ppt Template", Business Layout Lab (Pinterest, pin 1130685050261813191) · built with Claude's Slides artifact type (Anthropic) · fonts Source Serif 4 and Source Sans 3 (Adobe, via Google Fonts, SIL Open Font License 1.1)</a:t>
            </a:r>
            <a:endParaRPr b="0" i="0" sz="1200" u="none" cap="none" strike="noStrike">
              <a:solidFill>
                <a:schemeClr val="dk1"/>
              </a:solidFill>
              <a:latin typeface="Source Sans 3"/>
              <a:ea typeface="Source Sans 3"/>
              <a:cs typeface="Source Sans 3"/>
              <a:sym typeface="Source Sans 3"/>
            </a:endParaRPr>
          </a:p>
        </p:txBody>
      </p:sp>
      <p:sp>
        <p:nvSpPr>
          <p:cNvPr id="365" name="Google Shape;365;p9"/>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9"/>
          <p:cNvSpPr/>
          <p:nvPr/>
        </p:nvSpPr>
        <p:spPr>
          <a:xfrm>
            <a:off x="0" y="6803136"/>
            <a:ext cx="121920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371" name="Shape 371"/>
        <p:cNvGrpSpPr/>
        <p:nvPr/>
      </p:nvGrpSpPr>
      <p:grpSpPr>
        <a:xfrm>
          <a:off x="0" y="0"/>
          <a:ext cx="0" cy="0"/>
          <a:chOff x="0" y="0"/>
          <a:chExt cx="0" cy="0"/>
        </a:xfrm>
      </p:grpSpPr>
      <p:sp>
        <p:nvSpPr>
          <p:cNvPr id="372" name="Google Shape;372;p10"/>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0"/>
          <p:cNvSpPr/>
          <p:nvPr/>
        </p:nvSpPr>
        <p:spPr>
          <a:xfrm>
            <a:off x="812800" y="228600"/>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a:t>
            </a:r>
            <a:endParaRPr b="0" i="0" sz="1300" u="none" cap="none" strike="noStrike">
              <a:solidFill>
                <a:schemeClr val="dk1"/>
              </a:solidFill>
              <a:latin typeface="Source Sans 3"/>
              <a:ea typeface="Source Sans 3"/>
              <a:cs typeface="Source Sans 3"/>
              <a:sym typeface="Source Sans 3"/>
            </a:endParaRPr>
          </a:p>
        </p:txBody>
      </p:sp>
      <p:sp>
        <p:nvSpPr>
          <p:cNvPr id="374" name="Google Shape;374;p10"/>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375" name="Google Shape;375;p10"/>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376" name="Google Shape;376;p10"/>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a:t>
            </a:r>
            <a:endParaRPr b="0" i="0" sz="1700" u="none" cap="none" strike="noStrike">
              <a:solidFill>
                <a:schemeClr val="dk1"/>
              </a:solidFill>
              <a:latin typeface="Source Sans 3"/>
              <a:ea typeface="Source Sans 3"/>
              <a:cs typeface="Source Sans 3"/>
              <a:sym typeface="Source Sans 3"/>
            </a:endParaRPr>
          </a:p>
        </p:txBody>
      </p:sp>
      <p:sp>
        <p:nvSpPr>
          <p:cNvPr id="377" name="Google Shape;377;p10"/>
          <p:cNvSpPr txBox="1"/>
          <p:nvPr>
            <p:ph type="title"/>
          </p:nvPr>
        </p:nvSpPr>
        <p:spPr>
          <a:xfrm>
            <a:off x="1320800" y="931565"/>
            <a:ext cx="10569448" cy="34667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300"/>
              <a:buFont typeface="Source Serif 4"/>
              <a:buNone/>
            </a:pPr>
            <a:r>
              <a:rPr b="1" i="0" lang="en-US" sz="2300">
                <a:solidFill>
                  <a:srgbClr val="1F3B2D"/>
                </a:solidFill>
                <a:latin typeface="Source Serif 4"/>
                <a:ea typeface="Source Serif 4"/>
                <a:cs typeface="Source Serif 4"/>
                <a:sym typeface="Source Serif 4"/>
              </a:rPr>
              <a:t>Appendix contents</a:t>
            </a:r>
            <a:endParaRPr sz="2300"/>
          </a:p>
        </p:txBody>
      </p:sp>
      <p:sp>
        <p:nvSpPr>
          <p:cNvPr id="378" name="Google Shape;378;p10"/>
          <p:cNvSpPr/>
          <p:nvPr/>
        </p:nvSpPr>
        <p:spPr>
          <a:xfrm>
            <a:off x="615950" y="155575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0"/>
          <p:cNvSpPr/>
          <p:nvPr/>
        </p:nvSpPr>
        <p:spPr>
          <a:xfrm>
            <a:off x="711200" y="161290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a:t>
            </a:r>
            <a:endParaRPr b="0" i="0" sz="1200" u="none" cap="none" strike="noStrike">
              <a:solidFill>
                <a:schemeClr val="dk1"/>
              </a:solidFill>
              <a:latin typeface="Source Sans 3"/>
              <a:ea typeface="Source Sans 3"/>
              <a:cs typeface="Source Sans 3"/>
              <a:sym typeface="Source Sans 3"/>
            </a:endParaRPr>
          </a:p>
        </p:txBody>
      </p:sp>
      <p:sp>
        <p:nvSpPr>
          <p:cNvPr id="380" name="Google Shape;380;p10"/>
          <p:cNvSpPr/>
          <p:nvPr/>
        </p:nvSpPr>
        <p:spPr>
          <a:xfrm>
            <a:off x="1193800" y="155575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competition data</a:t>
            </a:r>
            <a:endParaRPr b="0" i="0" sz="1200" u="none" cap="none" strike="noStrike">
              <a:solidFill>
                <a:schemeClr val="dk1"/>
              </a:solidFill>
              <a:latin typeface="Source Sans 3"/>
              <a:ea typeface="Source Sans 3"/>
              <a:cs typeface="Source Sans 3"/>
              <a:sym typeface="Source Sans 3"/>
            </a:endParaRPr>
          </a:p>
        </p:txBody>
      </p:sp>
      <p:sp>
        <p:nvSpPr>
          <p:cNvPr id="381" name="Google Shape;381;p10"/>
          <p:cNvSpPr/>
          <p:nvPr/>
        </p:nvSpPr>
        <p:spPr>
          <a:xfrm>
            <a:off x="3912493" y="1555750"/>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12</a:t>
            </a:r>
            <a:endParaRPr b="0" i="0" sz="1200" u="none" cap="none" strike="noStrike">
              <a:solidFill>
                <a:schemeClr val="dk1"/>
              </a:solidFill>
              <a:latin typeface="Source Sans 3"/>
              <a:ea typeface="Source Sans 3"/>
              <a:cs typeface="Source Sans 3"/>
              <a:sym typeface="Source Sans 3"/>
            </a:endParaRPr>
          </a:p>
        </p:txBody>
      </p:sp>
      <p:sp>
        <p:nvSpPr>
          <p:cNvPr id="382" name="Google Shape;382;p10"/>
          <p:cNvSpPr/>
          <p:nvPr/>
        </p:nvSpPr>
        <p:spPr>
          <a:xfrm>
            <a:off x="615950" y="201037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10"/>
          <p:cNvSpPr/>
          <p:nvPr/>
        </p:nvSpPr>
        <p:spPr>
          <a:xfrm>
            <a:off x="711200" y="206752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A2</a:t>
            </a:r>
            <a:endParaRPr b="0" i="0" sz="1200" u="none" cap="none" strike="noStrike">
              <a:solidFill>
                <a:schemeClr val="dk1"/>
              </a:solidFill>
              <a:latin typeface="Source Sans 3"/>
              <a:ea typeface="Source Sans 3"/>
              <a:cs typeface="Source Sans 3"/>
              <a:sym typeface="Source Sans 3"/>
            </a:endParaRPr>
          </a:p>
        </p:txBody>
      </p:sp>
      <p:sp>
        <p:nvSpPr>
          <p:cNvPr id="384" name="Google Shape;384;p10"/>
          <p:cNvSpPr/>
          <p:nvPr/>
        </p:nvSpPr>
        <p:spPr>
          <a:xfrm>
            <a:off x="1193800" y="201037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prices and SNAP</a:t>
            </a:r>
            <a:endParaRPr b="0" i="0" sz="1200" u="none" cap="none" strike="noStrike">
              <a:solidFill>
                <a:schemeClr val="dk1"/>
              </a:solidFill>
              <a:latin typeface="Source Sans 3"/>
              <a:ea typeface="Source Sans 3"/>
              <a:cs typeface="Source Sans 3"/>
              <a:sym typeface="Source Sans 3"/>
            </a:endParaRPr>
          </a:p>
        </p:txBody>
      </p:sp>
      <p:sp>
        <p:nvSpPr>
          <p:cNvPr id="385" name="Google Shape;385;p10"/>
          <p:cNvSpPr/>
          <p:nvPr/>
        </p:nvSpPr>
        <p:spPr>
          <a:xfrm>
            <a:off x="3912493" y="2010370"/>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13</a:t>
            </a:r>
            <a:endParaRPr b="0" i="0" sz="1200" u="none" cap="none" strike="noStrike">
              <a:solidFill>
                <a:schemeClr val="dk1"/>
              </a:solidFill>
              <a:latin typeface="Source Sans 3"/>
              <a:ea typeface="Source Sans 3"/>
              <a:cs typeface="Source Sans 3"/>
              <a:sym typeface="Source Sans 3"/>
            </a:endParaRPr>
          </a:p>
        </p:txBody>
      </p:sp>
      <p:sp>
        <p:nvSpPr>
          <p:cNvPr id="386" name="Google Shape;386;p10"/>
          <p:cNvSpPr/>
          <p:nvPr/>
        </p:nvSpPr>
        <p:spPr>
          <a:xfrm>
            <a:off x="615950" y="246499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0"/>
          <p:cNvSpPr/>
          <p:nvPr/>
        </p:nvSpPr>
        <p:spPr>
          <a:xfrm>
            <a:off x="711200" y="252214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A3</a:t>
            </a:r>
            <a:endParaRPr b="0" i="0" sz="1200" u="none" cap="none" strike="noStrike">
              <a:solidFill>
                <a:schemeClr val="dk1"/>
              </a:solidFill>
              <a:latin typeface="Source Sans 3"/>
              <a:ea typeface="Source Sans 3"/>
              <a:cs typeface="Source Sans 3"/>
              <a:sym typeface="Source Sans 3"/>
            </a:endParaRPr>
          </a:p>
        </p:txBody>
      </p:sp>
      <p:sp>
        <p:nvSpPr>
          <p:cNvPr id="388" name="Google Shape;388;p10"/>
          <p:cNvSpPr/>
          <p:nvPr/>
        </p:nvSpPr>
        <p:spPr>
          <a:xfrm>
            <a:off x="1193800" y="246499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population, jobs</a:t>
            </a:r>
            <a:endParaRPr b="0" i="0" sz="1200" u="none" cap="none" strike="noStrike">
              <a:solidFill>
                <a:schemeClr val="dk1"/>
              </a:solidFill>
              <a:latin typeface="Source Sans 3"/>
              <a:ea typeface="Source Sans 3"/>
              <a:cs typeface="Source Sans 3"/>
              <a:sym typeface="Source Sans 3"/>
            </a:endParaRPr>
          </a:p>
        </p:txBody>
      </p:sp>
      <p:sp>
        <p:nvSpPr>
          <p:cNvPr id="389" name="Google Shape;389;p10"/>
          <p:cNvSpPr/>
          <p:nvPr/>
        </p:nvSpPr>
        <p:spPr>
          <a:xfrm>
            <a:off x="3912493" y="246499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14</a:t>
            </a:r>
            <a:endParaRPr b="0" i="0" sz="1200" u="none" cap="none" strike="noStrike">
              <a:solidFill>
                <a:schemeClr val="dk1"/>
              </a:solidFill>
              <a:latin typeface="Source Sans 3"/>
              <a:ea typeface="Source Sans 3"/>
              <a:cs typeface="Source Sans 3"/>
              <a:sym typeface="Source Sans 3"/>
            </a:endParaRPr>
          </a:p>
        </p:txBody>
      </p:sp>
      <p:sp>
        <p:nvSpPr>
          <p:cNvPr id="390" name="Google Shape;390;p10"/>
          <p:cNvSpPr/>
          <p:nvPr/>
        </p:nvSpPr>
        <p:spPr>
          <a:xfrm>
            <a:off x="615950" y="291961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10"/>
          <p:cNvSpPr/>
          <p:nvPr/>
        </p:nvSpPr>
        <p:spPr>
          <a:xfrm>
            <a:off x="711200" y="297676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A4</a:t>
            </a:r>
            <a:endParaRPr b="0" i="0" sz="1200" u="none" cap="none" strike="noStrike">
              <a:solidFill>
                <a:schemeClr val="dk1"/>
              </a:solidFill>
              <a:latin typeface="Source Sans 3"/>
              <a:ea typeface="Source Sans 3"/>
              <a:cs typeface="Source Sans 3"/>
              <a:sym typeface="Source Sans 3"/>
            </a:endParaRPr>
          </a:p>
        </p:txBody>
      </p:sp>
      <p:sp>
        <p:nvSpPr>
          <p:cNvPr id="392" name="Google Shape;392;p10"/>
          <p:cNvSpPr/>
          <p:nvPr/>
        </p:nvSpPr>
        <p:spPr>
          <a:xfrm>
            <a:off x="1193800" y="291961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food access</a:t>
            </a:r>
            <a:endParaRPr b="0" i="0" sz="1200" u="none" cap="none" strike="noStrike">
              <a:solidFill>
                <a:schemeClr val="dk1"/>
              </a:solidFill>
              <a:latin typeface="Source Sans 3"/>
              <a:ea typeface="Source Sans 3"/>
              <a:cs typeface="Source Sans 3"/>
              <a:sym typeface="Source Sans 3"/>
            </a:endParaRPr>
          </a:p>
        </p:txBody>
      </p:sp>
      <p:sp>
        <p:nvSpPr>
          <p:cNvPr id="393" name="Google Shape;393;p10"/>
          <p:cNvSpPr/>
          <p:nvPr/>
        </p:nvSpPr>
        <p:spPr>
          <a:xfrm>
            <a:off x="3912493" y="291961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15</a:t>
            </a:r>
            <a:endParaRPr b="0" i="0" sz="1200" u="none" cap="none" strike="noStrike">
              <a:solidFill>
                <a:schemeClr val="dk1"/>
              </a:solidFill>
              <a:latin typeface="Source Sans 3"/>
              <a:ea typeface="Source Sans 3"/>
              <a:cs typeface="Source Sans 3"/>
              <a:sym typeface="Source Sans 3"/>
            </a:endParaRPr>
          </a:p>
        </p:txBody>
      </p:sp>
      <p:sp>
        <p:nvSpPr>
          <p:cNvPr id="394" name="Google Shape;394;p10"/>
          <p:cNvSpPr/>
          <p:nvPr/>
        </p:nvSpPr>
        <p:spPr>
          <a:xfrm>
            <a:off x="615950" y="337423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0"/>
          <p:cNvSpPr/>
          <p:nvPr/>
        </p:nvSpPr>
        <p:spPr>
          <a:xfrm>
            <a:off x="711200" y="343138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A5</a:t>
            </a:r>
            <a:endParaRPr b="0" i="0" sz="1200" u="none" cap="none" strike="noStrike">
              <a:solidFill>
                <a:schemeClr val="dk1"/>
              </a:solidFill>
              <a:latin typeface="Source Sans 3"/>
              <a:ea typeface="Source Sans 3"/>
              <a:cs typeface="Source Sans 3"/>
              <a:sym typeface="Source Sans 3"/>
            </a:endParaRPr>
          </a:p>
        </p:txBody>
      </p:sp>
      <p:sp>
        <p:nvSpPr>
          <p:cNvPr id="396" name="Google Shape;396;p10"/>
          <p:cNvSpPr/>
          <p:nvPr/>
        </p:nvSpPr>
        <p:spPr>
          <a:xfrm>
            <a:off x="1193800" y="337423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geography</a:t>
            </a:r>
            <a:endParaRPr b="0" i="0" sz="1200" u="none" cap="none" strike="noStrike">
              <a:solidFill>
                <a:schemeClr val="dk1"/>
              </a:solidFill>
              <a:latin typeface="Source Sans 3"/>
              <a:ea typeface="Source Sans 3"/>
              <a:cs typeface="Source Sans 3"/>
              <a:sym typeface="Source Sans 3"/>
            </a:endParaRPr>
          </a:p>
        </p:txBody>
      </p:sp>
      <p:sp>
        <p:nvSpPr>
          <p:cNvPr id="397" name="Google Shape;397;p10"/>
          <p:cNvSpPr/>
          <p:nvPr/>
        </p:nvSpPr>
        <p:spPr>
          <a:xfrm>
            <a:off x="3912493" y="337423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16</a:t>
            </a:r>
            <a:endParaRPr b="0" i="0" sz="1200" u="none" cap="none" strike="noStrike">
              <a:solidFill>
                <a:schemeClr val="dk1"/>
              </a:solidFill>
              <a:latin typeface="Source Sans 3"/>
              <a:ea typeface="Source Sans 3"/>
              <a:cs typeface="Source Sans 3"/>
              <a:sym typeface="Source Sans 3"/>
            </a:endParaRPr>
          </a:p>
        </p:txBody>
      </p:sp>
      <p:sp>
        <p:nvSpPr>
          <p:cNvPr id="398" name="Google Shape;398;p10"/>
          <p:cNvSpPr/>
          <p:nvPr/>
        </p:nvSpPr>
        <p:spPr>
          <a:xfrm>
            <a:off x="615950" y="382885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0"/>
          <p:cNvSpPr/>
          <p:nvPr/>
        </p:nvSpPr>
        <p:spPr>
          <a:xfrm>
            <a:off x="711200" y="388600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A6</a:t>
            </a:r>
            <a:endParaRPr b="0" i="0" sz="1200" u="none" cap="none" strike="noStrike">
              <a:solidFill>
                <a:schemeClr val="dk1"/>
              </a:solidFill>
              <a:latin typeface="Source Sans 3"/>
              <a:ea typeface="Source Sans 3"/>
              <a:cs typeface="Source Sans 3"/>
              <a:sym typeface="Source Sans 3"/>
            </a:endParaRPr>
          </a:p>
        </p:txBody>
      </p:sp>
      <p:sp>
        <p:nvSpPr>
          <p:cNvPr id="400" name="Google Shape;400;p10"/>
          <p:cNvSpPr/>
          <p:nvPr/>
        </p:nvSpPr>
        <p:spPr>
          <a:xfrm>
            <a:off x="1193800" y="382885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Data cleaning decisions</a:t>
            </a:r>
            <a:endParaRPr b="0" i="0" sz="1200" u="none" cap="none" strike="noStrike">
              <a:solidFill>
                <a:schemeClr val="dk1"/>
              </a:solidFill>
              <a:latin typeface="Source Sans 3"/>
              <a:ea typeface="Source Sans 3"/>
              <a:cs typeface="Source Sans 3"/>
              <a:sym typeface="Source Sans 3"/>
            </a:endParaRPr>
          </a:p>
        </p:txBody>
      </p:sp>
      <p:sp>
        <p:nvSpPr>
          <p:cNvPr id="401" name="Google Shape;401;p10"/>
          <p:cNvSpPr/>
          <p:nvPr/>
        </p:nvSpPr>
        <p:spPr>
          <a:xfrm>
            <a:off x="3912493" y="3828852"/>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17</a:t>
            </a:r>
            <a:endParaRPr b="0" i="0" sz="1200" u="none" cap="none" strike="noStrike">
              <a:solidFill>
                <a:schemeClr val="dk1"/>
              </a:solidFill>
              <a:latin typeface="Source Sans 3"/>
              <a:ea typeface="Source Sans 3"/>
              <a:cs typeface="Source Sans 3"/>
              <a:sym typeface="Source Sans 3"/>
            </a:endParaRPr>
          </a:p>
        </p:txBody>
      </p:sp>
      <p:sp>
        <p:nvSpPr>
          <p:cNvPr id="402" name="Google Shape;402;p10"/>
          <p:cNvSpPr/>
          <p:nvPr/>
        </p:nvSpPr>
        <p:spPr>
          <a:xfrm>
            <a:off x="615950" y="428347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10"/>
          <p:cNvSpPr/>
          <p:nvPr/>
        </p:nvSpPr>
        <p:spPr>
          <a:xfrm>
            <a:off x="711200" y="434062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A7</a:t>
            </a:r>
            <a:endParaRPr b="0" i="0" sz="1200" u="none" cap="none" strike="noStrike">
              <a:solidFill>
                <a:schemeClr val="dk1"/>
              </a:solidFill>
              <a:latin typeface="Source Sans 3"/>
              <a:ea typeface="Source Sans 3"/>
              <a:cs typeface="Source Sans 3"/>
              <a:sym typeface="Source Sans 3"/>
            </a:endParaRPr>
          </a:p>
        </p:txBody>
      </p:sp>
      <p:sp>
        <p:nvSpPr>
          <p:cNvPr id="404" name="Google Shape;404;p10"/>
          <p:cNvSpPr/>
          <p:nvPr/>
        </p:nvSpPr>
        <p:spPr>
          <a:xfrm>
            <a:off x="1193800" y="428347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Q1 correlations, outliers</a:t>
            </a:r>
            <a:endParaRPr b="0" i="0" sz="1200" u="none" cap="none" strike="noStrike">
              <a:solidFill>
                <a:schemeClr val="dk1"/>
              </a:solidFill>
              <a:latin typeface="Source Sans 3"/>
              <a:ea typeface="Source Sans 3"/>
              <a:cs typeface="Source Sans 3"/>
              <a:sym typeface="Source Sans 3"/>
            </a:endParaRPr>
          </a:p>
        </p:txBody>
      </p:sp>
      <p:sp>
        <p:nvSpPr>
          <p:cNvPr id="405" name="Google Shape;405;p10"/>
          <p:cNvSpPr/>
          <p:nvPr/>
        </p:nvSpPr>
        <p:spPr>
          <a:xfrm>
            <a:off x="3912493" y="4283472"/>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18</a:t>
            </a:r>
            <a:endParaRPr b="0" i="0" sz="1200" u="none" cap="none" strike="noStrike">
              <a:solidFill>
                <a:schemeClr val="dk1"/>
              </a:solidFill>
              <a:latin typeface="Source Sans 3"/>
              <a:ea typeface="Source Sans 3"/>
              <a:cs typeface="Source Sans 3"/>
              <a:sym typeface="Source Sans 3"/>
            </a:endParaRPr>
          </a:p>
        </p:txBody>
      </p:sp>
      <p:sp>
        <p:nvSpPr>
          <p:cNvPr id="406" name="Google Shape;406;p10"/>
          <p:cNvSpPr/>
          <p:nvPr/>
        </p:nvSpPr>
        <p:spPr>
          <a:xfrm>
            <a:off x="615950" y="473809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10"/>
          <p:cNvSpPr/>
          <p:nvPr/>
        </p:nvSpPr>
        <p:spPr>
          <a:xfrm>
            <a:off x="711200" y="479524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A8</a:t>
            </a:r>
            <a:endParaRPr b="0" i="0" sz="1200" u="none" cap="none" strike="noStrike">
              <a:solidFill>
                <a:schemeClr val="dk1"/>
              </a:solidFill>
              <a:latin typeface="Source Sans 3"/>
              <a:ea typeface="Source Sans 3"/>
              <a:cs typeface="Source Sans 3"/>
              <a:sym typeface="Source Sans 3"/>
            </a:endParaRPr>
          </a:p>
        </p:txBody>
      </p:sp>
      <p:sp>
        <p:nvSpPr>
          <p:cNvPr id="408" name="Google Shape;408;p10"/>
          <p:cNvSpPr/>
          <p:nvPr/>
        </p:nvSpPr>
        <p:spPr>
          <a:xfrm>
            <a:off x="1193800" y="473809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Q1 county characteristics</a:t>
            </a:r>
            <a:endParaRPr b="0" i="0" sz="1200" u="none" cap="none" strike="noStrike">
              <a:solidFill>
                <a:schemeClr val="dk1"/>
              </a:solidFill>
              <a:latin typeface="Source Sans 3"/>
              <a:ea typeface="Source Sans 3"/>
              <a:cs typeface="Source Sans 3"/>
              <a:sym typeface="Source Sans 3"/>
            </a:endParaRPr>
          </a:p>
        </p:txBody>
      </p:sp>
      <p:sp>
        <p:nvSpPr>
          <p:cNvPr id="409" name="Google Shape;409;p10"/>
          <p:cNvSpPr/>
          <p:nvPr/>
        </p:nvSpPr>
        <p:spPr>
          <a:xfrm>
            <a:off x="3912493" y="4738092"/>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19</a:t>
            </a:r>
            <a:endParaRPr b="0" i="0" sz="1200" u="none" cap="none" strike="noStrike">
              <a:solidFill>
                <a:schemeClr val="dk1"/>
              </a:solidFill>
              <a:latin typeface="Source Sans 3"/>
              <a:ea typeface="Source Sans 3"/>
              <a:cs typeface="Source Sans 3"/>
              <a:sym typeface="Source Sans 3"/>
            </a:endParaRPr>
          </a:p>
        </p:txBody>
      </p:sp>
      <p:sp>
        <p:nvSpPr>
          <p:cNvPr id="410" name="Google Shape;410;p10"/>
          <p:cNvSpPr/>
          <p:nvPr/>
        </p:nvSpPr>
        <p:spPr>
          <a:xfrm>
            <a:off x="4324350" y="155575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0"/>
          <p:cNvSpPr/>
          <p:nvPr/>
        </p:nvSpPr>
        <p:spPr>
          <a:xfrm>
            <a:off x="4419600" y="161290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A9</a:t>
            </a:r>
            <a:endParaRPr b="0" i="0" sz="1200" u="none" cap="none" strike="noStrike">
              <a:solidFill>
                <a:schemeClr val="dk1"/>
              </a:solidFill>
              <a:latin typeface="Source Sans 3"/>
              <a:ea typeface="Source Sans 3"/>
              <a:cs typeface="Source Sans 3"/>
              <a:sym typeface="Source Sans 3"/>
            </a:endParaRPr>
          </a:p>
        </p:txBody>
      </p:sp>
      <p:sp>
        <p:nvSpPr>
          <p:cNvPr id="412" name="Google Shape;412;p10"/>
          <p:cNvSpPr/>
          <p:nvPr/>
        </p:nvSpPr>
        <p:spPr>
          <a:xfrm>
            <a:off x="4902200" y="155575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Q6 need index, counties</a:t>
            </a:r>
            <a:endParaRPr b="0" i="0" sz="1200" u="none" cap="none" strike="noStrike">
              <a:solidFill>
                <a:schemeClr val="dk1"/>
              </a:solidFill>
              <a:latin typeface="Source Sans 3"/>
              <a:ea typeface="Source Sans 3"/>
              <a:cs typeface="Source Sans 3"/>
              <a:sym typeface="Source Sans 3"/>
            </a:endParaRPr>
          </a:p>
        </p:txBody>
      </p:sp>
      <p:sp>
        <p:nvSpPr>
          <p:cNvPr id="413" name="Google Shape;413;p10"/>
          <p:cNvSpPr/>
          <p:nvPr/>
        </p:nvSpPr>
        <p:spPr>
          <a:xfrm>
            <a:off x="7620893" y="1555750"/>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20</a:t>
            </a:r>
            <a:endParaRPr b="0" i="0" sz="1200" u="none" cap="none" strike="noStrike">
              <a:solidFill>
                <a:schemeClr val="dk1"/>
              </a:solidFill>
              <a:latin typeface="Source Sans 3"/>
              <a:ea typeface="Source Sans 3"/>
              <a:cs typeface="Source Sans 3"/>
              <a:sym typeface="Source Sans 3"/>
            </a:endParaRPr>
          </a:p>
        </p:txBody>
      </p:sp>
      <p:sp>
        <p:nvSpPr>
          <p:cNvPr id="414" name="Google Shape;414;p10"/>
          <p:cNvSpPr/>
          <p:nvPr/>
        </p:nvSpPr>
        <p:spPr>
          <a:xfrm>
            <a:off x="4324350" y="201037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0"/>
          <p:cNvSpPr/>
          <p:nvPr/>
        </p:nvSpPr>
        <p:spPr>
          <a:xfrm>
            <a:off x="4419600" y="206752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A10</a:t>
            </a:r>
            <a:endParaRPr b="0" i="0" sz="1200" u="none" cap="none" strike="noStrike">
              <a:solidFill>
                <a:schemeClr val="dk1"/>
              </a:solidFill>
              <a:latin typeface="Source Sans 3"/>
              <a:ea typeface="Source Sans 3"/>
              <a:cs typeface="Source Sans 3"/>
              <a:sym typeface="Source Sans 3"/>
            </a:endParaRPr>
          </a:p>
        </p:txBody>
      </p:sp>
      <p:sp>
        <p:nvSpPr>
          <p:cNvPr id="416" name="Google Shape;416;p10"/>
          <p:cNvSpPr/>
          <p:nvPr/>
        </p:nvSpPr>
        <p:spPr>
          <a:xfrm>
            <a:off x="4902200" y="201037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Q6 falsifiable definition</a:t>
            </a:r>
            <a:endParaRPr b="0" i="0" sz="1200" u="none" cap="none" strike="noStrike">
              <a:solidFill>
                <a:schemeClr val="dk1"/>
              </a:solidFill>
              <a:latin typeface="Source Sans 3"/>
              <a:ea typeface="Source Sans 3"/>
              <a:cs typeface="Source Sans 3"/>
              <a:sym typeface="Source Sans 3"/>
            </a:endParaRPr>
          </a:p>
        </p:txBody>
      </p:sp>
      <p:sp>
        <p:nvSpPr>
          <p:cNvPr id="417" name="Google Shape;417;p10"/>
          <p:cNvSpPr/>
          <p:nvPr/>
        </p:nvSpPr>
        <p:spPr>
          <a:xfrm>
            <a:off x="7620893" y="2010370"/>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21</a:t>
            </a:r>
            <a:endParaRPr b="0" i="0" sz="1200" u="none" cap="none" strike="noStrike">
              <a:solidFill>
                <a:schemeClr val="dk1"/>
              </a:solidFill>
              <a:latin typeface="Source Sans 3"/>
              <a:ea typeface="Source Sans 3"/>
              <a:cs typeface="Source Sans 3"/>
              <a:sym typeface="Source Sans 3"/>
            </a:endParaRPr>
          </a:p>
        </p:txBody>
      </p:sp>
      <p:sp>
        <p:nvSpPr>
          <p:cNvPr id="418" name="Google Shape;418;p10"/>
          <p:cNvSpPr/>
          <p:nvPr/>
        </p:nvSpPr>
        <p:spPr>
          <a:xfrm>
            <a:off x="4324350" y="246499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10"/>
          <p:cNvSpPr/>
          <p:nvPr/>
        </p:nvSpPr>
        <p:spPr>
          <a:xfrm>
            <a:off x="4419600" y="252214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A11</a:t>
            </a:r>
            <a:endParaRPr b="0" i="0" sz="1200" u="none" cap="none" strike="noStrike">
              <a:solidFill>
                <a:schemeClr val="dk1"/>
              </a:solidFill>
              <a:latin typeface="Source Sans 3"/>
              <a:ea typeface="Source Sans 3"/>
              <a:cs typeface="Source Sans 3"/>
              <a:sym typeface="Source Sans 3"/>
            </a:endParaRPr>
          </a:p>
        </p:txBody>
      </p:sp>
      <p:sp>
        <p:nvSpPr>
          <p:cNvPr id="420" name="Google Shape;420;p10"/>
          <p:cNvSpPr/>
          <p:nvPr/>
        </p:nvSpPr>
        <p:spPr>
          <a:xfrm>
            <a:off x="4902200" y="246499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Q6 drivers, robustness</a:t>
            </a:r>
            <a:endParaRPr b="0" i="0" sz="1200" u="none" cap="none" strike="noStrike">
              <a:solidFill>
                <a:schemeClr val="dk1"/>
              </a:solidFill>
              <a:latin typeface="Source Sans 3"/>
              <a:ea typeface="Source Sans 3"/>
              <a:cs typeface="Source Sans 3"/>
              <a:sym typeface="Source Sans 3"/>
            </a:endParaRPr>
          </a:p>
        </p:txBody>
      </p:sp>
      <p:sp>
        <p:nvSpPr>
          <p:cNvPr id="421" name="Google Shape;421;p10"/>
          <p:cNvSpPr/>
          <p:nvPr/>
        </p:nvSpPr>
        <p:spPr>
          <a:xfrm>
            <a:off x="7620893" y="246499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22</a:t>
            </a:r>
            <a:endParaRPr b="0" i="0" sz="1200" u="none" cap="none" strike="noStrike">
              <a:solidFill>
                <a:schemeClr val="dk1"/>
              </a:solidFill>
              <a:latin typeface="Source Sans 3"/>
              <a:ea typeface="Source Sans 3"/>
              <a:cs typeface="Source Sans 3"/>
              <a:sym typeface="Source Sans 3"/>
            </a:endParaRPr>
          </a:p>
        </p:txBody>
      </p:sp>
      <p:sp>
        <p:nvSpPr>
          <p:cNvPr id="422" name="Google Shape;422;p10"/>
          <p:cNvSpPr/>
          <p:nvPr/>
        </p:nvSpPr>
        <p:spPr>
          <a:xfrm>
            <a:off x="4324350" y="291961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10"/>
          <p:cNvSpPr/>
          <p:nvPr/>
        </p:nvSpPr>
        <p:spPr>
          <a:xfrm>
            <a:off x="4419600" y="297676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A12</a:t>
            </a:r>
            <a:endParaRPr b="0" i="0" sz="1200" u="none" cap="none" strike="noStrike">
              <a:solidFill>
                <a:schemeClr val="dk1"/>
              </a:solidFill>
              <a:latin typeface="Source Sans 3"/>
              <a:ea typeface="Source Sans 3"/>
              <a:cs typeface="Source Sans 3"/>
              <a:sym typeface="Source Sans 3"/>
            </a:endParaRPr>
          </a:p>
        </p:txBody>
      </p:sp>
      <p:sp>
        <p:nvSpPr>
          <p:cNvPr id="424" name="Google Shape;424;p10"/>
          <p:cNvSpPr/>
          <p:nvPr/>
        </p:nvSpPr>
        <p:spPr>
          <a:xfrm>
            <a:off x="4902200" y="291961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Q4 results</a:t>
            </a:r>
            <a:endParaRPr b="0" i="0" sz="1200" u="none" cap="none" strike="noStrike">
              <a:solidFill>
                <a:schemeClr val="dk1"/>
              </a:solidFill>
              <a:latin typeface="Source Sans 3"/>
              <a:ea typeface="Source Sans 3"/>
              <a:cs typeface="Source Sans 3"/>
              <a:sym typeface="Source Sans 3"/>
            </a:endParaRPr>
          </a:p>
        </p:txBody>
      </p:sp>
      <p:sp>
        <p:nvSpPr>
          <p:cNvPr id="425" name="Google Shape;425;p10"/>
          <p:cNvSpPr/>
          <p:nvPr/>
        </p:nvSpPr>
        <p:spPr>
          <a:xfrm>
            <a:off x="7620893" y="291961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23</a:t>
            </a:r>
            <a:endParaRPr b="0" i="0" sz="1200" u="none" cap="none" strike="noStrike">
              <a:solidFill>
                <a:schemeClr val="dk1"/>
              </a:solidFill>
              <a:latin typeface="Source Sans 3"/>
              <a:ea typeface="Source Sans 3"/>
              <a:cs typeface="Source Sans 3"/>
              <a:sym typeface="Source Sans 3"/>
            </a:endParaRPr>
          </a:p>
        </p:txBody>
      </p:sp>
      <p:sp>
        <p:nvSpPr>
          <p:cNvPr id="426" name="Google Shape;426;p10"/>
          <p:cNvSpPr/>
          <p:nvPr/>
        </p:nvSpPr>
        <p:spPr>
          <a:xfrm>
            <a:off x="4324350" y="337423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0"/>
          <p:cNvSpPr/>
          <p:nvPr/>
        </p:nvSpPr>
        <p:spPr>
          <a:xfrm>
            <a:off x="4419600" y="343138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A13</a:t>
            </a:r>
            <a:endParaRPr b="0" i="0" sz="1200" u="none" cap="none" strike="noStrike">
              <a:solidFill>
                <a:schemeClr val="dk1"/>
              </a:solidFill>
              <a:latin typeface="Source Sans 3"/>
              <a:ea typeface="Source Sans 3"/>
              <a:cs typeface="Source Sans 3"/>
              <a:sym typeface="Source Sans 3"/>
            </a:endParaRPr>
          </a:p>
        </p:txBody>
      </p:sp>
      <p:sp>
        <p:nvSpPr>
          <p:cNvPr id="428" name="Google Shape;428;p10"/>
          <p:cNvSpPr/>
          <p:nvPr/>
        </p:nvSpPr>
        <p:spPr>
          <a:xfrm>
            <a:off x="4902200" y="337423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Q4 method and checks</a:t>
            </a:r>
            <a:endParaRPr b="0" i="0" sz="1200" u="none" cap="none" strike="noStrike">
              <a:solidFill>
                <a:schemeClr val="dk1"/>
              </a:solidFill>
              <a:latin typeface="Source Sans 3"/>
              <a:ea typeface="Source Sans 3"/>
              <a:cs typeface="Source Sans 3"/>
              <a:sym typeface="Source Sans 3"/>
            </a:endParaRPr>
          </a:p>
        </p:txBody>
      </p:sp>
      <p:sp>
        <p:nvSpPr>
          <p:cNvPr id="429" name="Google Shape;429;p10"/>
          <p:cNvSpPr/>
          <p:nvPr/>
        </p:nvSpPr>
        <p:spPr>
          <a:xfrm>
            <a:off x="7620893" y="337423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24</a:t>
            </a:r>
            <a:endParaRPr b="0" i="0" sz="1200" u="none" cap="none" strike="noStrike">
              <a:solidFill>
                <a:schemeClr val="dk1"/>
              </a:solidFill>
              <a:latin typeface="Source Sans 3"/>
              <a:ea typeface="Source Sans 3"/>
              <a:cs typeface="Source Sans 3"/>
              <a:sym typeface="Source Sans 3"/>
            </a:endParaRPr>
          </a:p>
        </p:txBody>
      </p:sp>
      <p:sp>
        <p:nvSpPr>
          <p:cNvPr id="430" name="Google Shape;430;p10"/>
          <p:cNvSpPr/>
          <p:nvPr/>
        </p:nvSpPr>
        <p:spPr>
          <a:xfrm>
            <a:off x="4324350" y="382885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10"/>
          <p:cNvSpPr/>
          <p:nvPr/>
        </p:nvSpPr>
        <p:spPr>
          <a:xfrm>
            <a:off x="4419600" y="388600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A14</a:t>
            </a:r>
            <a:endParaRPr b="0" i="0" sz="1200" u="none" cap="none" strike="noStrike">
              <a:solidFill>
                <a:schemeClr val="dk1"/>
              </a:solidFill>
              <a:latin typeface="Source Sans 3"/>
              <a:ea typeface="Source Sans 3"/>
              <a:cs typeface="Source Sans 3"/>
              <a:sym typeface="Source Sans 3"/>
            </a:endParaRPr>
          </a:p>
        </p:txBody>
      </p:sp>
      <p:sp>
        <p:nvSpPr>
          <p:cNvPr id="432" name="Google Shape;432;p10"/>
          <p:cNvSpPr/>
          <p:nvPr/>
        </p:nvSpPr>
        <p:spPr>
          <a:xfrm>
            <a:off x="4902200" y="382885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Q5 results</a:t>
            </a:r>
            <a:endParaRPr b="0" i="0" sz="1200" u="none" cap="none" strike="noStrike">
              <a:solidFill>
                <a:schemeClr val="dk1"/>
              </a:solidFill>
              <a:latin typeface="Source Sans 3"/>
              <a:ea typeface="Source Sans 3"/>
              <a:cs typeface="Source Sans 3"/>
              <a:sym typeface="Source Sans 3"/>
            </a:endParaRPr>
          </a:p>
        </p:txBody>
      </p:sp>
      <p:sp>
        <p:nvSpPr>
          <p:cNvPr id="433" name="Google Shape;433;p10"/>
          <p:cNvSpPr/>
          <p:nvPr/>
        </p:nvSpPr>
        <p:spPr>
          <a:xfrm>
            <a:off x="7620893" y="3828852"/>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25</a:t>
            </a:r>
            <a:endParaRPr b="0" i="0" sz="1200" u="none" cap="none" strike="noStrike">
              <a:solidFill>
                <a:schemeClr val="dk1"/>
              </a:solidFill>
              <a:latin typeface="Source Sans 3"/>
              <a:ea typeface="Source Sans 3"/>
              <a:cs typeface="Source Sans 3"/>
              <a:sym typeface="Source Sans 3"/>
            </a:endParaRPr>
          </a:p>
        </p:txBody>
      </p:sp>
      <p:sp>
        <p:nvSpPr>
          <p:cNvPr id="434" name="Google Shape;434;p10"/>
          <p:cNvSpPr/>
          <p:nvPr/>
        </p:nvSpPr>
        <p:spPr>
          <a:xfrm>
            <a:off x="4324350" y="428347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10"/>
          <p:cNvSpPr/>
          <p:nvPr/>
        </p:nvSpPr>
        <p:spPr>
          <a:xfrm>
            <a:off x="4419600" y="434062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A15</a:t>
            </a:r>
            <a:endParaRPr b="0" i="0" sz="1200" u="none" cap="none" strike="noStrike">
              <a:solidFill>
                <a:schemeClr val="dk1"/>
              </a:solidFill>
              <a:latin typeface="Source Sans 3"/>
              <a:ea typeface="Source Sans 3"/>
              <a:cs typeface="Source Sans 3"/>
              <a:sym typeface="Source Sans 3"/>
            </a:endParaRPr>
          </a:p>
        </p:txBody>
      </p:sp>
      <p:sp>
        <p:nvSpPr>
          <p:cNvPr id="436" name="Google Shape;436;p10"/>
          <p:cNvSpPr/>
          <p:nvPr/>
        </p:nvSpPr>
        <p:spPr>
          <a:xfrm>
            <a:off x="4902200" y="428347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Q5 tests: together or replace</a:t>
            </a:r>
            <a:endParaRPr b="0" i="0" sz="1200" u="none" cap="none" strike="noStrike">
              <a:solidFill>
                <a:schemeClr val="dk1"/>
              </a:solidFill>
              <a:latin typeface="Source Sans 3"/>
              <a:ea typeface="Source Sans 3"/>
              <a:cs typeface="Source Sans 3"/>
              <a:sym typeface="Source Sans 3"/>
            </a:endParaRPr>
          </a:p>
        </p:txBody>
      </p:sp>
      <p:sp>
        <p:nvSpPr>
          <p:cNvPr id="437" name="Google Shape;437;p10"/>
          <p:cNvSpPr/>
          <p:nvPr/>
        </p:nvSpPr>
        <p:spPr>
          <a:xfrm>
            <a:off x="7620893" y="4283472"/>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26</a:t>
            </a:r>
            <a:endParaRPr b="0" i="0" sz="1200" u="none" cap="none" strike="noStrike">
              <a:solidFill>
                <a:schemeClr val="dk1"/>
              </a:solidFill>
              <a:latin typeface="Source Sans 3"/>
              <a:ea typeface="Source Sans 3"/>
              <a:cs typeface="Source Sans 3"/>
              <a:sym typeface="Source Sans 3"/>
            </a:endParaRPr>
          </a:p>
        </p:txBody>
      </p:sp>
      <p:sp>
        <p:nvSpPr>
          <p:cNvPr id="438" name="Google Shape;438;p10"/>
          <p:cNvSpPr/>
          <p:nvPr/>
        </p:nvSpPr>
        <p:spPr>
          <a:xfrm>
            <a:off x="4324350" y="473809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10"/>
          <p:cNvSpPr/>
          <p:nvPr/>
        </p:nvSpPr>
        <p:spPr>
          <a:xfrm>
            <a:off x="4419600" y="479524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A16</a:t>
            </a:r>
            <a:endParaRPr b="0" i="0" sz="1200" u="none" cap="none" strike="noStrike">
              <a:solidFill>
                <a:schemeClr val="dk1"/>
              </a:solidFill>
              <a:latin typeface="Source Sans 3"/>
              <a:ea typeface="Source Sans 3"/>
              <a:cs typeface="Source Sans 3"/>
              <a:sym typeface="Source Sans 3"/>
            </a:endParaRPr>
          </a:p>
        </p:txBody>
      </p:sp>
      <p:sp>
        <p:nvSpPr>
          <p:cNvPr id="440" name="Google Shape;440;p10"/>
          <p:cNvSpPr/>
          <p:nvPr/>
        </p:nvSpPr>
        <p:spPr>
          <a:xfrm>
            <a:off x="4902200" y="473809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Q5 tests: shock, locations</a:t>
            </a:r>
            <a:endParaRPr b="0" i="0" sz="1200" u="none" cap="none" strike="noStrike">
              <a:solidFill>
                <a:schemeClr val="dk1"/>
              </a:solidFill>
              <a:latin typeface="Source Sans 3"/>
              <a:ea typeface="Source Sans 3"/>
              <a:cs typeface="Source Sans 3"/>
              <a:sym typeface="Source Sans 3"/>
            </a:endParaRPr>
          </a:p>
        </p:txBody>
      </p:sp>
      <p:sp>
        <p:nvSpPr>
          <p:cNvPr id="441" name="Google Shape;441;p10"/>
          <p:cNvSpPr/>
          <p:nvPr/>
        </p:nvSpPr>
        <p:spPr>
          <a:xfrm>
            <a:off x="7620893" y="4738092"/>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27</a:t>
            </a:r>
            <a:endParaRPr b="0" i="0" sz="1200" u="none" cap="none" strike="noStrike">
              <a:solidFill>
                <a:schemeClr val="dk1"/>
              </a:solidFill>
              <a:latin typeface="Source Sans 3"/>
              <a:ea typeface="Source Sans 3"/>
              <a:cs typeface="Source Sans 3"/>
              <a:sym typeface="Source Sans 3"/>
            </a:endParaRPr>
          </a:p>
        </p:txBody>
      </p:sp>
      <p:sp>
        <p:nvSpPr>
          <p:cNvPr id="442" name="Google Shape;442;p10"/>
          <p:cNvSpPr/>
          <p:nvPr/>
        </p:nvSpPr>
        <p:spPr>
          <a:xfrm>
            <a:off x="8032750" y="155575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10"/>
          <p:cNvSpPr/>
          <p:nvPr/>
        </p:nvSpPr>
        <p:spPr>
          <a:xfrm>
            <a:off x="8128000" y="161290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A17</a:t>
            </a:r>
            <a:endParaRPr b="0" i="0" sz="1200" u="none" cap="none" strike="noStrike">
              <a:solidFill>
                <a:schemeClr val="dk1"/>
              </a:solidFill>
              <a:latin typeface="Source Sans 3"/>
              <a:ea typeface="Source Sans 3"/>
              <a:cs typeface="Source Sans 3"/>
              <a:sym typeface="Source Sans 3"/>
            </a:endParaRPr>
          </a:p>
        </p:txBody>
      </p:sp>
      <p:sp>
        <p:nvSpPr>
          <p:cNvPr id="444" name="Google Shape;444;p10"/>
          <p:cNvSpPr/>
          <p:nvPr/>
        </p:nvSpPr>
        <p:spPr>
          <a:xfrm>
            <a:off x="8610600" y="155575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Q7 model and holdout</a:t>
            </a:r>
            <a:endParaRPr b="0" i="0" sz="1200" u="none" cap="none" strike="noStrike">
              <a:solidFill>
                <a:schemeClr val="dk1"/>
              </a:solidFill>
              <a:latin typeface="Source Sans 3"/>
              <a:ea typeface="Source Sans 3"/>
              <a:cs typeface="Source Sans 3"/>
              <a:sym typeface="Source Sans 3"/>
            </a:endParaRPr>
          </a:p>
        </p:txBody>
      </p:sp>
      <p:sp>
        <p:nvSpPr>
          <p:cNvPr id="445" name="Google Shape;445;p10"/>
          <p:cNvSpPr/>
          <p:nvPr/>
        </p:nvSpPr>
        <p:spPr>
          <a:xfrm>
            <a:off x="11329293" y="1555750"/>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28</a:t>
            </a:r>
            <a:endParaRPr b="0" i="0" sz="1200" u="none" cap="none" strike="noStrike">
              <a:solidFill>
                <a:schemeClr val="dk1"/>
              </a:solidFill>
              <a:latin typeface="Source Sans 3"/>
              <a:ea typeface="Source Sans 3"/>
              <a:cs typeface="Source Sans 3"/>
              <a:sym typeface="Source Sans 3"/>
            </a:endParaRPr>
          </a:p>
        </p:txBody>
      </p:sp>
      <p:sp>
        <p:nvSpPr>
          <p:cNvPr id="446" name="Google Shape;446;p10"/>
          <p:cNvSpPr/>
          <p:nvPr/>
        </p:nvSpPr>
        <p:spPr>
          <a:xfrm>
            <a:off x="8032750" y="201037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10"/>
          <p:cNvSpPr/>
          <p:nvPr/>
        </p:nvSpPr>
        <p:spPr>
          <a:xfrm>
            <a:off x="8128000" y="206752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A18</a:t>
            </a:r>
            <a:endParaRPr b="0" i="0" sz="1200" u="none" cap="none" strike="noStrike">
              <a:solidFill>
                <a:schemeClr val="dk1"/>
              </a:solidFill>
              <a:latin typeface="Source Sans 3"/>
              <a:ea typeface="Source Sans 3"/>
              <a:cs typeface="Source Sans 3"/>
              <a:sym typeface="Source Sans 3"/>
            </a:endParaRPr>
          </a:p>
        </p:txBody>
      </p:sp>
      <p:sp>
        <p:nvSpPr>
          <p:cNvPr id="448" name="Google Shape;448;p10"/>
          <p:cNvSpPr/>
          <p:nvPr/>
        </p:nvSpPr>
        <p:spPr>
          <a:xfrm>
            <a:off x="8610600" y="201037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Q8 definition and method</a:t>
            </a:r>
            <a:endParaRPr b="0" i="0" sz="1200" u="none" cap="none" strike="noStrike">
              <a:solidFill>
                <a:schemeClr val="dk1"/>
              </a:solidFill>
              <a:latin typeface="Source Sans 3"/>
              <a:ea typeface="Source Sans 3"/>
              <a:cs typeface="Source Sans 3"/>
              <a:sym typeface="Source Sans 3"/>
            </a:endParaRPr>
          </a:p>
        </p:txBody>
      </p:sp>
      <p:sp>
        <p:nvSpPr>
          <p:cNvPr id="449" name="Google Shape;449;p10"/>
          <p:cNvSpPr/>
          <p:nvPr/>
        </p:nvSpPr>
        <p:spPr>
          <a:xfrm>
            <a:off x="11329293" y="2010370"/>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29</a:t>
            </a:r>
            <a:endParaRPr b="0" i="0" sz="1200" u="none" cap="none" strike="noStrike">
              <a:solidFill>
                <a:schemeClr val="dk1"/>
              </a:solidFill>
              <a:latin typeface="Source Sans 3"/>
              <a:ea typeface="Source Sans 3"/>
              <a:cs typeface="Source Sans 3"/>
              <a:sym typeface="Source Sans 3"/>
            </a:endParaRPr>
          </a:p>
        </p:txBody>
      </p:sp>
      <p:sp>
        <p:nvSpPr>
          <p:cNvPr id="450" name="Google Shape;450;p10"/>
          <p:cNvSpPr/>
          <p:nvPr/>
        </p:nvSpPr>
        <p:spPr>
          <a:xfrm>
            <a:off x="8032750" y="246499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10"/>
          <p:cNvSpPr/>
          <p:nvPr/>
        </p:nvSpPr>
        <p:spPr>
          <a:xfrm>
            <a:off x="8128000" y="252214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A19</a:t>
            </a:r>
            <a:endParaRPr b="0" i="0" sz="1200" u="none" cap="none" strike="noStrike">
              <a:solidFill>
                <a:schemeClr val="dk1"/>
              </a:solidFill>
              <a:latin typeface="Source Sans 3"/>
              <a:ea typeface="Source Sans 3"/>
              <a:cs typeface="Source Sans 3"/>
              <a:sym typeface="Source Sans 3"/>
            </a:endParaRPr>
          </a:p>
        </p:txBody>
      </p:sp>
      <p:sp>
        <p:nvSpPr>
          <p:cNvPr id="452" name="Google Shape;452;p10"/>
          <p:cNvSpPr/>
          <p:nvPr/>
        </p:nvSpPr>
        <p:spPr>
          <a:xfrm>
            <a:off x="8610600" y="246499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Q8 reach, fill or repeat</a:t>
            </a:r>
            <a:endParaRPr b="0" i="0" sz="1200" u="none" cap="none" strike="noStrike">
              <a:solidFill>
                <a:schemeClr val="dk1"/>
              </a:solidFill>
              <a:latin typeface="Source Sans 3"/>
              <a:ea typeface="Source Sans 3"/>
              <a:cs typeface="Source Sans 3"/>
              <a:sym typeface="Source Sans 3"/>
            </a:endParaRPr>
          </a:p>
        </p:txBody>
      </p:sp>
      <p:sp>
        <p:nvSpPr>
          <p:cNvPr id="453" name="Google Shape;453;p10"/>
          <p:cNvSpPr/>
          <p:nvPr/>
        </p:nvSpPr>
        <p:spPr>
          <a:xfrm>
            <a:off x="11329293" y="246499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30</a:t>
            </a:r>
            <a:endParaRPr b="0" i="0" sz="1200" u="none" cap="none" strike="noStrike">
              <a:solidFill>
                <a:schemeClr val="dk1"/>
              </a:solidFill>
              <a:latin typeface="Source Sans 3"/>
              <a:ea typeface="Source Sans 3"/>
              <a:cs typeface="Source Sans 3"/>
              <a:sym typeface="Source Sans 3"/>
            </a:endParaRPr>
          </a:p>
        </p:txBody>
      </p:sp>
      <p:sp>
        <p:nvSpPr>
          <p:cNvPr id="454" name="Google Shape;454;p10"/>
          <p:cNvSpPr/>
          <p:nvPr/>
        </p:nvSpPr>
        <p:spPr>
          <a:xfrm>
            <a:off x="8032750" y="291961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10"/>
          <p:cNvSpPr/>
          <p:nvPr/>
        </p:nvSpPr>
        <p:spPr>
          <a:xfrm>
            <a:off x="8128000" y="297676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A20</a:t>
            </a:r>
            <a:endParaRPr b="0" i="0" sz="1200" u="none" cap="none" strike="noStrike">
              <a:solidFill>
                <a:schemeClr val="dk1"/>
              </a:solidFill>
              <a:latin typeface="Source Sans 3"/>
              <a:ea typeface="Source Sans 3"/>
              <a:cs typeface="Source Sans 3"/>
              <a:sym typeface="Source Sans 3"/>
            </a:endParaRPr>
          </a:p>
        </p:txBody>
      </p:sp>
      <p:sp>
        <p:nvSpPr>
          <p:cNvPr id="456" name="Google Shape;456;p10"/>
          <p:cNvSpPr/>
          <p:nvPr/>
        </p:nvSpPr>
        <p:spPr>
          <a:xfrm>
            <a:off x="8610600" y="291961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Q8 gap tracts</a:t>
            </a:r>
            <a:endParaRPr b="0" i="0" sz="1200" u="none" cap="none" strike="noStrike">
              <a:solidFill>
                <a:schemeClr val="dk1"/>
              </a:solidFill>
              <a:latin typeface="Source Sans 3"/>
              <a:ea typeface="Source Sans 3"/>
              <a:cs typeface="Source Sans 3"/>
              <a:sym typeface="Source Sans 3"/>
            </a:endParaRPr>
          </a:p>
        </p:txBody>
      </p:sp>
      <p:sp>
        <p:nvSpPr>
          <p:cNvPr id="457" name="Google Shape;457;p10"/>
          <p:cNvSpPr/>
          <p:nvPr/>
        </p:nvSpPr>
        <p:spPr>
          <a:xfrm>
            <a:off x="11329293" y="291961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31</a:t>
            </a:r>
            <a:endParaRPr b="0" i="0" sz="1200" u="none" cap="none" strike="noStrike">
              <a:solidFill>
                <a:schemeClr val="dk1"/>
              </a:solidFill>
              <a:latin typeface="Source Sans 3"/>
              <a:ea typeface="Source Sans 3"/>
              <a:cs typeface="Source Sans 3"/>
              <a:sym typeface="Source Sans 3"/>
            </a:endParaRPr>
          </a:p>
        </p:txBody>
      </p:sp>
      <p:sp>
        <p:nvSpPr>
          <p:cNvPr id="458" name="Google Shape;458;p10"/>
          <p:cNvSpPr/>
          <p:nvPr/>
        </p:nvSpPr>
        <p:spPr>
          <a:xfrm>
            <a:off x="8032750" y="337423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10"/>
          <p:cNvSpPr/>
          <p:nvPr/>
        </p:nvSpPr>
        <p:spPr>
          <a:xfrm>
            <a:off x="8128000" y="343138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A21</a:t>
            </a:r>
            <a:endParaRPr b="0" i="0" sz="1200" u="none" cap="none" strike="noStrike">
              <a:solidFill>
                <a:schemeClr val="dk1"/>
              </a:solidFill>
              <a:latin typeface="Source Sans 3"/>
              <a:ea typeface="Source Sans 3"/>
              <a:cs typeface="Source Sans 3"/>
              <a:sym typeface="Source Sans 3"/>
            </a:endParaRPr>
          </a:p>
        </p:txBody>
      </p:sp>
      <p:sp>
        <p:nvSpPr>
          <p:cNvPr id="460" name="Google Shape;460;p10"/>
          <p:cNvSpPr/>
          <p:nvPr/>
        </p:nvSpPr>
        <p:spPr>
          <a:xfrm>
            <a:off x="8610600" y="337423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Q8 robustness</a:t>
            </a:r>
            <a:endParaRPr b="0" i="0" sz="1200" u="none" cap="none" strike="noStrike">
              <a:solidFill>
                <a:schemeClr val="dk1"/>
              </a:solidFill>
              <a:latin typeface="Source Sans 3"/>
              <a:ea typeface="Source Sans 3"/>
              <a:cs typeface="Source Sans 3"/>
              <a:sym typeface="Source Sans 3"/>
            </a:endParaRPr>
          </a:p>
        </p:txBody>
      </p:sp>
      <p:sp>
        <p:nvSpPr>
          <p:cNvPr id="461" name="Google Shape;461;p10"/>
          <p:cNvSpPr/>
          <p:nvPr/>
        </p:nvSpPr>
        <p:spPr>
          <a:xfrm>
            <a:off x="11329293" y="3374231"/>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32</a:t>
            </a:r>
            <a:endParaRPr b="0" i="0" sz="1200" u="none" cap="none" strike="noStrike">
              <a:solidFill>
                <a:schemeClr val="dk1"/>
              </a:solidFill>
              <a:latin typeface="Source Sans 3"/>
              <a:ea typeface="Source Sans 3"/>
              <a:cs typeface="Source Sans 3"/>
              <a:sym typeface="Source Sans 3"/>
            </a:endParaRPr>
          </a:p>
        </p:txBody>
      </p:sp>
      <p:sp>
        <p:nvSpPr>
          <p:cNvPr id="462" name="Google Shape;462;p10"/>
          <p:cNvSpPr/>
          <p:nvPr/>
        </p:nvSpPr>
        <p:spPr>
          <a:xfrm>
            <a:off x="8032750" y="382885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10"/>
          <p:cNvSpPr/>
          <p:nvPr/>
        </p:nvSpPr>
        <p:spPr>
          <a:xfrm>
            <a:off x="8128000" y="388600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A22</a:t>
            </a:r>
            <a:endParaRPr b="0" i="0" sz="1200" u="none" cap="none" strike="noStrike">
              <a:solidFill>
                <a:schemeClr val="dk1"/>
              </a:solidFill>
              <a:latin typeface="Source Sans 3"/>
              <a:ea typeface="Source Sans 3"/>
              <a:cs typeface="Source Sans 3"/>
              <a:sym typeface="Source Sans 3"/>
            </a:endParaRPr>
          </a:p>
        </p:txBody>
      </p:sp>
      <p:sp>
        <p:nvSpPr>
          <p:cNvPr id="464" name="Google Shape;464;p10"/>
          <p:cNvSpPr/>
          <p:nvPr/>
        </p:nvSpPr>
        <p:spPr>
          <a:xfrm>
            <a:off x="8610600" y="382885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Limits and checks</a:t>
            </a:r>
            <a:endParaRPr b="0" i="0" sz="1200" u="none" cap="none" strike="noStrike">
              <a:solidFill>
                <a:schemeClr val="dk1"/>
              </a:solidFill>
              <a:latin typeface="Source Sans 3"/>
              <a:ea typeface="Source Sans 3"/>
              <a:cs typeface="Source Sans 3"/>
              <a:sym typeface="Source Sans 3"/>
            </a:endParaRPr>
          </a:p>
        </p:txBody>
      </p:sp>
      <p:sp>
        <p:nvSpPr>
          <p:cNvPr id="465" name="Google Shape;465;p10"/>
          <p:cNvSpPr/>
          <p:nvPr/>
        </p:nvSpPr>
        <p:spPr>
          <a:xfrm>
            <a:off x="11329293" y="3828852"/>
            <a:ext cx="20230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33</a:t>
            </a:r>
            <a:endParaRPr b="0" i="0" sz="1200" u="none" cap="none" strike="noStrike">
              <a:solidFill>
                <a:schemeClr val="dk1"/>
              </a:solidFill>
              <a:latin typeface="Source Sans 3"/>
              <a:ea typeface="Source Sans 3"/>
              <a:cs typeface="Source Sans 3"/>
              <a:sym typeface="Source Sans 3"/>
            </a:endParaRPr>
          </a:p>
        </p:txBody>
      </p:sp>
      <p:sp>
        <p:nvSpPr>
          <p:cNvPr id="466" name="Google Shape;466;p10"/>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11</a:t>
            </a:r>
            <a:r>
              <a:rPr b="0" i="0" lang="en-US" sz="1200" u="none" cap="none" strike="noStrike">
                <a:solidFill>
                  <a:srgbClr val="4B5A50"/>
                </a:solidFill>
                <a:latin typeface="Source Sans 3"/>
                <a:ea typeface="Source Sans 3"/>
                <a:cs typeface="Source Sans 3"/>
                <a:sym typeface="Source Sans 3"/>
              </a:rPr>
              <a:t> · Sources A1–A5 · cleaning A6 · Q1 A7–A8 · Q6 A9–A11 · Q4 A12–A13 · Q5 A14–A16 · Q7 A17 · Q8 A18–A21</a:t>
            </a:r>
            <a:endParaRPr b="0" i="0" sz="1200" u="none" cap="none" strike="noStrike">
              <a:solidFill>
                <a:schemeClr val="dk1"/>
              </a:solidFill>
              <a:latin typeface="Source Sans 3"/>
              <a:ea typeface="Source Sans 3"/>
              <a:cs typeface="Source Sans 3"/>
              <a:sym typeface="Source Sans 3"/>
            </a:endParaRPr>
          </a:p>
        </p:txBody>
      </p:sp>
      <p:sp>
        <p:nvSpPr>
          <p:cNvPr id="467" name="Google Shape;467;p10"/>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10"/>
          <p:cNvSpPr/>
          <p:nvPr/>
        </p:nvSpPr>
        <p:spPr>
          <a:xfrm>
            <a:off x="0" y="6803136"/>
            <a:ext cx="530087"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473" name="Shape 473"/>
        <p:cNvGrpSpPr/>
        <p:nvPr/>
      </p:nvGrpSpPr>
      <p:grpSpPr>
        <a:xfrm>
          <a:off x="0" y="0"/>
          <a:ext cx="0" cy="0"/>
          <a:chOff x="0" y="0"/>
          <a:chExt cx="0" cy="0"/>
        </a:xfrm>
      </p:grpSpPr>
      <p:sp>
        <p:nvSpPr>
          <p:cNvPr id="474" name="Google Shape;474;p11"/>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11"/>
          <p:cNvSpPr/>
          <p:nvPr/>
        </p:nvSpPr>
        <p:spPr>
          <a:xfrm>
            <a:off x="812800" y="228600"/>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 · Sources: competition data</a:t>
            </a:r>
            <a:endParaRPr b="0" i="0" sz="1300" u="none" cap="none" strike="noStrike">
              <a:solidFill>
                <a:schemeClr val="dk1"/>
              </a:solidFill>
              <a:latin typeface="Source Sans 3"/>
              <a:ea typeface="Source Sans 3"/>
              <a:cs typeface="Source Sans 3"/>
              <a:sym typeface="Source Sans 3"/>
            </a:endParaRPr>
          </a:p>
        </p:txBody>
      </p:sp>
      <p:sp>
        <p:nvSpPr>
          <p:cNvPr id="476" name="Google Shape;476;p11"/>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477" name="Google Shape;477;p11"/>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478" name="Google Shape;478;p11"/>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A1</a:t>
            </a:r>
            <a:endParaRPr b="0" i="0" sz="1700" u="none" cap="none" strike="noStrike">
              <a:solidFill>
                <a:schemeClr val="dk1"/>
              </a:solidFill>
              <a:latin typeface="Source Sans 3"/>
              <a:ea typeface="Source Sans 3"/>
              <a:cs typeface="Source Sans 3"/>
              <a:sym typeface="Source Sans 3"/>
            </a:endParaRPr>
          </a:p>
        </p:txBody>
      </p:sp>
      <p:sp>
        <p:nvSpPr>
          <p:cNvPr id="479" name="Google Shape;479;p11"/>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Three competition files: site activity, partner list, Map the Meal Gap</a:t>
            </a:r>
            <a:endParaRPr sz="2100"/>
          </a:p>
        </p:txBody>
      </p:sp>
      <p:graphicFrame>
        <p:nvGraphicFramePr>
          <p:cNvPr id="480" name="Google Shape;480;p11"/>
          <p:cNvGraphicFramePr/>
          <p:nvPr/>
        </p:nvGraphicFramePr>
        <p:xfrm>
          <a:off x="622300" y="1555750"/>
          <a:ext cx="3000000" cy="3000000"/>
        </p:xfrm>
        <a:graphic>
          <a:graphicData uri="http://schemas.openxmlformats.org/drawingml/2006/table">
            <a:tbl>
              <a:tblPr>
                <a:noFill/>
                <a:tableStyleId>{B14A676D-5FE0-4728-95B7-5A5512F2545D}</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The Food Group · org_FSStats: HouseholdsReg (visits), IndividualsReg, PoundsReg, Children/Adults/SeniorsReg</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Food shelf site → county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Jan 2022 – Jul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Required data; the Reg fields the brief names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The Food Group · Organization: partner type, status, county, 2020 census block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Site, census block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Snapshot, Sep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Only source of site type and location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Q5 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Feeding America · Map the Meal Gap 2026 and 2025: food-insecure persons, rate, meal cost, % below SNAP limit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(87)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Annual, 2022–2024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Required; compared within a year, per its FAQ</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481" name="Google Shape;481;p11"/>
          <p:cNvSpPr/>
          <p:nvPr/>
        </p:nvSpPr>
        <p:spPr>
          <a:xfrm>
            <a:off x="609600" y="4555642"/>
            <a:ext cx="10972800" cy="711150"/>
          </a:xfrm>
          <a:prstGeom prst="roundRect">
            <a:avLst>
              <a:gd fmla="val 16073"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11"/>
          <p:cNvSpPr/>
          <p:nvPr/>
        </p:nvSpPr>
        <p:spPr>
          <a:xfrm>
            <a:off x="774700" y="4682642"/>
            <a:ext cx="107061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CREDIT</a:t>
            </a:r>
            <a:endParaRPr b="0" i="0" sz="1200" u="none" cap="none" strike="noStrike">
              <a:solidFill>
                <a:schemeClr val="dk1"/>
              </a:solidFill>
              <a:latin typeface="Source Sans 3"/>
              <a:ea typeface="Source Sans 3"/>
              <a:cs typeface="Source Sans 3"/>
              <a:sym typeface="Source Sans 3"/>
            </a:endParaRPr>
          </a:p>
        </p:txBody>
      </p:sp>
      <p:sp>
        <p:nvSpPr>
          <p:cNvPr id="483" name="Google Shape;483;p11"/>
          <p:cNvSpPr/>
          <p:nvPr/>
        </p:nvSpPr>
        <p:spPr>
          <a:xfrm>
            <a:off x="774700" y="4934062"/>
            <a:ext cx="1070610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Feeding America (2026). Map the Meal Gap 2026: county food insecurity and food cost in the United States in 2024.</a:t>
            </a:r>
            <a:endParaRPr b="0" i="0" sz="1200" u="none" cap="none" strike="noStrike">
              <a:solidFill>
                <a:schemeClr val="dk1"/>
              </a:solidFill>
              <a:latin typeface="Source Sans 3"/>
              <a:ea typeface="Source Sans 3"/>
              <a:cs typeface="Source Sans 3"/>
              <a:sym typeface="Source Sans 3"/>
            </a:endParaRPr>
          </a:p>
        </p:txBody>
      </p:sp>
      <p:sp>
        <p:nvSpPr>
          <p:cNvPr id="484" name="Google Shape;484;p11"/>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12</a:t>
            </a:r>
            <a:r>
              <a:rPr b="0" i="0" lang="en-US" sz="1200" u="none" cap="none" strike="noStrike">
                <a:solidFill>
                  <a:srgbClr val="4B5A50"/>
                </a:solidFill>
                <a:latin typeface="Source Sans 3"/>
                <a:ea typeface="Source Sans 3"/>
                <a:cs typeface="Source Sans 3"/>
                <a:sym typeface="Source Sans 3"/>
              </a:rPr>
              <a:t> · Households served is the brief's visit field (~28% of published visit totals)</a:t>
            </a:r>
            <a:endParaRPr b="0" i="0" sz="1200" u="none" cap="none" strike="noStrike">
              <a:solidFill>
                <a:schemeClr val="dk1"/>
              </a:solidFill>
              <a:latin typeface="Source Sans 3"/>
              <a:ea typeface="Source Sans 3"/>
              <a:cs typeface="Source Sans 3"/>
              <a:sym typeface="Source Sans 3"/>
            </a:endParaRPr>
          </a:p>
        </p:txBody>
      </p:sp>
      <p:sp>
        <p:nvSpPr>
          <p:cNvPr id="485" name="Google Shape;485;p11"/>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11"/>
          <p:cNvSpPr/>
          <p:nvPr/>
        </p:nvSpPr>
        <p:spPr>
          <a:xfrm>
            <a:off x="0" y="6803136"/>
            <a:ext cx="1060174"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491" name="Shape 491"/>
        <p:cNvGrpSpPr/>
        <p:nvPr/>
      </p:nvGrpSpPr>
      <p:grpSpPr>
        <a:xfrm>
          <a:off x="0" y="0"/>
          <a:ext cx="0" cy="0"/>
          <a:chOff x="0" y="0"/>
          <a:chExt cx="0" cy="0"/>
        </a:xfrm>
      </p:grpSpPr>
      <p:sp>
        <p:nvSpPr>
          <p:cNvPr id="492" name="Google Shape;492;p12"/>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12"/>
          <p:cNvSpPr/>
          <p:nvPr/>
        </p:nvSpPr>
        <p:spPr>
          <a:xfrm>
            <a:off x="812800" y="228600"/>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A2 · Sources: prices and SNAP</a:t>
            </a:r>
            <a:endParaRPr b="0" i="0" sz="1300" u="none" cap="none" strike="noStrike">
              <a:solidFill>
                <a:schemeClr val="dk1"/>
              </a:solidFill>
              <a:latin typeface="Source Sans 3"/>
              <a:ea typeface="Source Sans 3"/>
              <a:cs typeface="Source Sans 3"/>
              <a:sym typeface="Source Sans 3"/>
            </a:endParaRPr>
          </a:p>
        </p:txBody>
      </p:sp>
      <p:sp>
        <p:nvSpPr>
          <p:cNvPr id="494" name="Google Shape;494;p12"/>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495" name="Google Shape;495;p12"/>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496" name="Google Shape;496;p12"/>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A2</a:t>
            </a:r>
            <a:endParaRPr b="0" i="0" sz="1700" u="none" cap="none" strike="noStrike">
              <a:solidFill>
                <a:schemeClr val="dk1"/>
              </a:solidFill>
              <a:latin typeface="Source Sans 3"/>
              <a:ea typeface="Source Sans 3"/>
              <a:cs typeface="Source Sans 3"/>
              <a:sym typeface="Source Sans 3"/>
            </a:endParaRPr>
          </a:p>
        </p:txBody>
      </p:sp>
      <p:sp>
        <p:nvSpPr>
          <p:cNvPr id="497" name="Google Shape;497;p12"/>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Monthly Midwest food CPI and county SNAP data, trimmed to July 2026</a:t>
            </a:r>
            <a:endParaRPr sz="2100"/>
          </a:p>
        </p:txBody>
      </p:sp>
      <p:graphicFrame>
        <p:nvGraphicFramePr>
          <p:cNvPr id="498" name="Google Shape;498;p12"/>
          <p:cNvGraphicFramePr/>
          <p:nvPr/>
        </p:nvGraphicFramePr>
        <p:xfrm>
          <a:off x="622300" y="1555750"/>
          <a:ext cx="3000000" cy="3000000"/>
        </p:xfrm>
        <a:graphic>
          <a:graphicData uri="http://schemas.openxmlformats.org/drawingml/2006/table">
            <a:tbl>
              <a:tblPr>
                <a:noFill/>
                <a:tableStyleId>{B14A676D-5FE0-4728-95B7-5A5512F2545D}</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Bureau of Labor Statistics via FRED · CPI-U Food at Home, Midwest Urban (CUUR0200SAF11), not seas. adj.</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Census Midwest region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to Jul 2026; ~2-week lag</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Minneapolis CPI is only bimonthly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Q4 Q5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MN Dept. of Children, Youth, and Families · SNAP Food Assistance Dashboard: cases, persons, net benefits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or Tribal Nation (88)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2016 – Jul 2026; ~1-month lag</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and county-level; DHS reports are annual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MN DCYF · same dashboard, statewide totals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Statewide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2016 – Jul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Checks county sums; statewide time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499" name="Google Shape;499;p12"/>
          <p:cNvSpPr/>
          <p:nvPr/>
        </p:nvSpPr>
        <p:spPr>
          <a:xfrm>
            <a:off x="609600" y="4555642"/>
            <a:ext cx="10972800" cy="711150"/>
          </a:xfrm>
          <a:prstGeom prst="roundRect">
            <a:avLst>
              <a:gd fmla="val 16073"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12"/>
          <p:cNvSpPr/>
          <p:nvPr/>
        </p:nvSpPr>
        <p:spPr>
          <a:xfrm>
            <a:off x="774700" y="4682642"/>
            <a:ext cx="107061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NO AUGUST DATA</a:t>
            </a:r>
            <a:endParaRPr b="0" i="0" sz="1200" u="none" cap="none" strike="noStrike">
              <a:solidFill>
                <a:schemeClr val="dk1"/>
              </a:solidFill>
              <a:latin typeface="Source Sans 3"/>
              <a:ea typeface="Source Sans 3"/>
              <a:cs typeface="Source Sans 3"/>
              <a:sym typeface="Source Sans 3"/>
            </a:endParaRPr>
          </a:p>
        </p:txBody>
      </p:sp>
      <p:sp>
        <p:nvSpPr>
          <p:cNvPr id="501" name="Google Shape;501;p12"/>
          <p:cNvSpPr/>
          <p:nvPr/>
        </p:nvSpPr>
        <p:spPr>
          <a:xfrm>
            <a:off x="774700" y="4934062"/>
            <a:ext cx="1070610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Both downloads ran into August 2026 and were trimmed to July before loading (accessed 2026-09-28).</a:t>
            </a:r>
            <a:endParaRPr b="0" i="0" sz="1200" u="none" cap="none" strike="noStrike">
              <a:solidFill>
                <a:schemeClr val="dk1"/>
              </a:solidFill>
              <a:latin typeface="Source Sans 3"/>
              <a:ea typeface="Source Sans 3"/>
              <a:cs typeface="Source Sans 3"/>
              <a:sym typeface="Source Sans 3"/>
            </a:endParaRPr>
          </a:p>
        </p:txBody>
      </p:sp>
      <p:sp>
        <p:nvSpPr>
          <p:cNvPr id="502" name="Google Shape;502;p12"/>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13</a:t>
            </a:r>
            <a:r>
              <a:rPr b="0" i="0" lang="en-US" sz="1200" u="none" cap="none" strike="noStrike">
                <a:solidFill>
                  <a:srgbClr val="4B5A50"/>
                </a:solidFill>
                <a:latin typeface="Source Sans 3"/>
                <a:ea typeface="Source Sans 3"/>
                <a:cs typeface="Source Sans 3"/>
                <a:sym typeface="Source Sans 3"/>
              </a:rPr>
              <a:t> · fred.stlouisfed.org/series/CUUR0200SAF11 · dcyf.mn.gov/snap-food-assistance-minnesota</a:t>
            </a:r>
            <a:endParaRPr b="0" i="0" sz="1200" u="none" cap="none" strike="noStrike">
              <a:solidFill>
                <a:schemeClr val="dk1"/>
              </a:solidFill>
              <a:latin typeface="Source Sans 3"/>
              <a:ea typeface="Source Sans 3"/>
              <a:cs typeface="Source Sans 3"/>
              <a:sym typeface="Source Sans 3"/>
            </a:endParaRPr>
          </a:p>
        </p:txBody>
      </p:sp>
      <p:sp>
        <p:nvSpPr>
          <p:cNvPr id="503" name="Google Shape;503;p12"/>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12"/>
          <p:cNvSpPr/>
          <p:nvPr/>
        </p:nvSpPr>
        <p:spPr>
          <a:xfrm>
            <a:off x="0" y="6803136"/>
            <a:ext cx="1590261"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09" name="Shape 509"/>
        <p:cNvGrpSpPr/>
        <p:nvPr/>
      </p:nvGrpSpPr>
      <p:grpSpPr>
        <a:xfrm>
          <a:off x="0" y="0"/>
          <a:ext cx="0" cy="0"/>
          <a:chOff x="0" y="0"/>
          <a:chExt cx="0" cy="0"/>
        </a:xfrm>
      </p:grpSpPr>
      <p:sp>
        <p:nvSpPr>
          <p:cNvPr id="510" name="Google Shape;510;p13"/>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13"/>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A3 · Sources: population, jobs</a:t>
            </a:r>
            <a:endParaRPr b="0" i="0" sz="1300" u="none" cap="none" strike="noStrike">
              <a:solidFill>
                <a:schemeClr val="dk1"/>
              </a:solidFill>
              <a:latin typeface="Source Sans 3"/>
              <a:ea typeface="Source Sans 3"/>
              <a:cs typeface="Source Sans 3"/>
              <a:sym typeface="Source Sans 3"/>
            </a:endParaRPr>
          </a:p>
        </p:txBody>
      </p:sp>
      <p:sp>
        <p:nvSpPr>
          <p:cNvPr id="512" name="Google Shape;512;p13"/>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13" name="Google Shape;513;p13"/>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14" name="Google Shape;514;p13"/>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A3</a:t>
            </a:r>
            <a:endParaRPr b="0" i="0" sz="1700" u="none" cap="none" strike="noStrike">
              <a:solidFill>
                <a:schemeClr val="dk1"/>
              </a:solidFill>
              <a:latin typeface="Source Sans 3"/>
              <a:ea typeface="Source Sans 3"/>
              <a:cs typeface="Source Sans 3"/>
              <a:sym typeface="Source Sans 3"/>
            </a:endParaRPr>
          </a:p>
        </p:txBody>
      </p:sp>
      <p:sp>
        <p:nvSpPr>
          <p:cNvPr id="515" name="Google Shape;515;p13"/>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Census population sets per-resident rates; BLS unemployment was rejected</a:t>
            </a:r>
            <a:endParaRPr sz="2100"/>
          </a:p>
        </p:txBody>
      </p:sp>
      <p:graphicFrame>
        <p:nvGraphicFramePr>
          <p:cNvPr id="516" name="Google Shape;516;p13"/>
          <p:cNvGraphicFramePr/>
          <p:nvPr/>
        </p:nvGraphicFramePr>
        <p:xfrm>
          <a:off x="622300" y="1555750"/>
          <a:ext cx="3000000" cy="3000000"/>
        </p:xfrm>
        <a:graphic>
          <a:graphicData uri="http://schemas.openxmlformats.org/drawingml/2006/table">
            <a:tbl>
              <a:tblPr>
                <a:noFill/>
                <a:tableStyleId>{B14A676D-5FE0-4728-95B7-5A5512F2545D}</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Census Bureau, Population Estimates Program · County Population Totals, Vintage 2025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(87)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Annual (July 1); released Mar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Latest official count each year; ACS 5-year lags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Q5 Q6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Bureau of Labor Statistics · Local Area Unemployment Statistics, county rate (LAUCN27…03)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(87)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2022 – Jul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Only monthly county labor series; tested, rejected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517" name="Google Shape;517;p13"/>
          <p:cNvSpPr/>
          <p:nvPr/>
        </p:nvSpPr>
        <p:spPr>
          <a:xfrm>
            <a:off x="609600" y="3645018"/>
            <a:ext cx="10972800" cy="711150"/>
          </a:xfrm>
          <a:prstGeom prst="roundRect">
            <a:avLst>
              <a:gd fmla="val 16073"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13"/>
          <p:cNvSpPr/>
          <p:nvPr/>
        </p:nvSpPr>
        <p:spPr>
          <a:xfrm>
            <a:off x="774700" y="3772018"/>
            <a:ext cx="107061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LINKS</a:t>
            </a:r>
            <a:endParaRPr b="0" i="0" sz="1200" u="none" cap="none" strike="noStrike">
              <a:solidFill>
                <a:schemeClr val="dk1"/>
              </a:solidFill>
              <a:latin typeface="Source Sans 3"/>
              <a:ea typeface="Source Sans 3"/>
              <a:cs typeface="Source Sans 3"/>
              <a:sym typeface="Source Sans 3"/>
            </a:endParaRPr>
          </a:p>
        </p:txBody>
      </p:sp>
      <p:sp>
        <p:nvSpPr>
          <p:cNvPr id="519" name="Google Shape;519;p13"/>
          <p:cNvSpPr/>
          <p:nvPr/>
        </p:nvSpPr>
        <p:spPr>
          <a:xfrm>
            <a:off x="774700" y="4023439"/>
            <a:ext cx="1070610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census.gov/data/tables/time-series/demo/popest/2020s-counties-total.html (accessed 2026-10-09) · api.bls.gov, LAUS (accessed 2026-10-11)</a:t>
            </a:r>
            <a:endParaRPr b="0" i="0" sz="1200" u="none" cap="none" strike="noStrike">
              <a:solidFill>
                <a:schemeClr val="dk1"/>
              </a:solidFill>
              <a:latin typeface="Source Sans 3"/>
              <a:ea typeface="Source Sans 3"/>
              <a:cs typeface="Source Sans 3"/>
              <a:sym typeface="Source Sans 3"/>
            </a:endParaRPr>
          </a:p>
        </p:txBody>
      </p:sp>
      <p:sp>
        <p:nvSpPr>
          <p:cNvPr id="520" name="Google Shape;520;p13"/>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14</a:t>
            </a:r>
            <a:r>
              <a:rPr b="0" i="0" lang="en-US" sz="1200" u="none" cap="none" strike="noStrike">
                <a:solidFill>
                  <a:srgbClr val="4B5A50"/>
                </a:solidFill>
                <a:latin typeface="Source Sans 3"/>
                <a:ea typeface="Source Sans 3"/>
                <a:cs typeface="Source Sans 3"/>
                <a:sym typeface="Source Sans 3"/>
              </a:rPr>
              <a:t> · Unemployment rows after July 2026 dropped before use</a:t>
            </a:r>
            <a:endParaRPr b="0" i="0" sz="1200" u="none" cap="none" strike="noStrike">
              <a:solidFill>
                <a:schemeClr val="dk1"/>
              </a:solidFill>
              <a:latin typeface="Source Sans 3"/>
              <a:ea typeface="Source Sans 3"/>
              <a:cs typeface="Source Sans 3"/>
              <a:sym typeface="Source Sans 3"/>
            </a:endParaRPr>
          </a:p>
        </p:txBody>
      </p:sp>
      <p:sp>
        <p:nvSpPr>
          <p:cNvPr id="521" name="Google Shape;521;p13"/>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13"/>
          <p:cNvSpPr/>
          <p:nvPr/>
        </p:nvSpPr>
        <p:spPr>
          <a:xfrm>
            <a:off x="0" y="6803136"/>
            <a:ext cx="2120348"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27" name="Shape 527"/>
        <p:cNvGrpSpPr/>
        <p:nvPr/>
      </p:nvGrpSpPr>
      <p:grpSpPr>
        <a:xfrm>
          <a:off x="0" y="0"/>
          <a:ext cx="0" cy="0"/>
          <a:chOff x="0" y="0"/>
          <a:chExt cx="0" cy="0"/>
        </a:xfrm>
      </p:grpSpPr>
      <p:sp>
        <p:nvSpPr>
          <p:cNvPr id="528" name="Google Shape;528;p14"/>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14"/>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A4 · Sources: food access</a:t>
            </a:r>
            <a:endParaRPr b="0" i="0" sz="1300" u="none" cap="none" strike="noStrike">
              <a:solidFill>
                <a:schemeClr val="dk1"/>
              </a:solidFill>
              <a:latin typeface="Source Sans 3"/>
              <a:ea typeface="Source Sans 3"/>
              <a:cs typeface="Source Sans 3"/>
              <a:sym typeface="Source Sans 3"/>
            </a:endParaRPr>
          </a:p>
        </p:txBody>
      </p:sp>
      <p:sp>
        <p:nvSpPr>
          <p:cNvPr id="530" name="Google Shape;530;p14"/>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31" name="Google Shape;531;p14"/>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32" name="Google Shape;532;p14"/>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A4</a:t>
            </a:r>
            <a:endParaRPr b="0" i="0" sz="1700" u="none" cap="none" strike="noStrike">
              <a:solidFill>
                <a:schemeClr val="dk1"/>
              </a:solidFill>
              <a:latin typeface="Source Sans 3"/>
              <a:ea typeface="Source Sans 3"/>
              <a:cs typeface="Source Sans 3"/>
              <a:sym typeface="Source Sans 3"/>
            </a:endParaRPr>
          </a:p>
        </p:txBody>
      </p:sp>
      <p:sp>
        <p:nvSpPr>
          <p:cNvPr id="533" name="Google Shape;533;p14"/>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USDA's 2025 access map defines food deserts; the 2019 Atlas checks it</a:t>
            </a:r>
            <a:endParaRPr sz="2100"/>
          </a:p>
        </p:txBody>
      </p:sp>
      <p:graphicFrame>
        <p:nvGraphicFramePr>
          <p:cNvPr id="534" name="Google Shape;534;p14"/>
          <p:cNvGraphicFramePr/>
          <p:nvPr/>
        </p:nvGraphicFramePr>
        <p:xfrm>
          <a:off x="622300" y="1555750"/>
          <a:ext cx="3000000" cy="3000000"/>
        </p:xfrm>
        <a:graphic>
          <a:graphicData uri="http://schemas.openxmlformats.org/drawingml/2006/table">
            <a:tbl>
              <a:tblPr>
                <a:noFill/>
                <a:tableStyleId>{B14A676D-5FE0-4728-95B7-5A5512F2545D}</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USDA Economic Research Service · Food Access Research Atlas 2019: LILA flags (1 &amp; 10, ½ &amp; 10, 1 &amp; 20, vehicle)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2010 tract → 2020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2010 Census, ACS 2014–18, 2019 stores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The brief's named source; kept as a check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USDA ERS · SNAP-authorized Retailer Access Map 2025: driving and straight-line LILA flags, tract traits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2020 tract (1,502)</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2020 Census, ACS 2020–24, 2025 stores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Current, 2020 tracts, driving distance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 Q1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USDA Food and Nutrition Service · Historical SNAP Retailer Locator 2005–2025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Store point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Snapshot, 1 Jul 2024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Dated list matching 2024 activity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535" name="Google Shape;535;p14"/>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15</a:t>
            </a:r>
            <a:r>
              <a:rPr b="0" i="0" lang="en-US" sz="1200" u="none" cap="none" strike="noStrike">
                <a:solidFill>
                  <a:srgbClr val="4B5A50"/>
                </a:solidFill>
                <a:latin typeface="Source Sans 3"/>
                <a:ea typeface="Source Sans 3"/>
                <a:cs typeface="Source Sans 3"/>
                <a:sym typeface="Source Sans 3"/>
              </a:rPr>
              <a:t> · Definition and pipeline in Appendix A18</a:t>
            </a:r>
            <a:endParaRPr b="0" i="0" sz="1200" u="none" cap="none" strike="noStrike">
              <a:solidFill>
                <a:schemeClr val="dk1"/>
              </a:solidFill>
              <a:latin typeface="Source Sans 3"/>
              <a:ea typeface="Source Sans 3"/>
              <a:cs typeface="Source Sans 3"/>
              <a:sym typeface="Source Sans 3"/>
            </a:endParaRPr>
          </a:p>
        </p:txBody>
      </p:sp>
      <p:sp>
        <p:nvSpPr>
          <p:cNvPr id="536" name="Google Shape;536;p14"/>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14"/>
          <p:cNvSpPr/>
          <p:nvPr/>
        </p:nvSpPr>
        <p:spPr>
          <a:xfrm>
            <a:off x="0" y="6803136"/>
            <a:ext cx="2650435"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42" name="Shape 542"/>
        <p:cNvGrpSpPr/>
        <p:nvPr/>
      </p:nvGrpSpPr>
      <p:grpSpPr>
        <a:xfrm>
          <a:off x="0" y="0"/>
          <a:ext cx="0" cy="0"/>
          <a:chOff x="0" y="0"/>
          <a:chExt cx="0" cy="0"/>
        </a:xfrm>
      </p:grpSpPr>
      <p:sp>
        <p:nvSpPr>
          <p:cNvPr id="543" name="Google Shape;543;p15"/>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15"/>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A5 · Sources: geography</a:t>
            </a:r>
            <a:endParaRPr b="0" i="0" sz="1300" u="none" cap="none" strike="noStrike">
              <a:solidFill>
                <a:schemeClr val="dk1"/>
              </a:solidFill>
              <a:latin typeface="Source Sans 3"/>
              <a:ea typeface="Source Sans 3"/>
              <a:cs typeface="Source Sans 3"/>
              <a:sym typeface="Source Sans 3"/>
            </a:endParaRPr>
          </a:p>
        </p:txBody>
      </p:sp>
      <p:sp>
        <p:nvSpPr>
          <p:cNvPr id="545" name="Google Shape;545;p15"/>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46" name="Google Shape;546;p15"/>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47" name="Google Shape;547;p15"/>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A5</a:t>
            </a:r>
            <a:endParaRPr b="0" i="0" sz="1700" u="none" cap="none" strike="noStrike">
              <a:solidFill>
                <a:schemeClr val="dk1"/>
              </a:solidFill>
              <a:latin typeface="Source Sans 3"/>
              <a:ea typeface="Source Sans 3"/>
              <a:cs typeface="Source Sans 3"/>
              <a:sym typeface="Source Sans 3"/>
            </a:endParaRPr>
          </a:p>
        </p:txBody>
      </p:sp>
      <p:sp>
        <p:nvSpPr>
          <p:cNvPr id="548" name="Google Shape;548;p15"/>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Census population centers and block crosswalks place every tract and shelf</a:t>
            </a:r>
            <a:endParaRPr sz="2100"/>
          </a:p>
        </p:txBody>
      </p:sp>
      <p:graphicFrame>
        <p:nvGraphicFramePr>
          <p:cNvPr id="549" name="Google Shape;549;p15"/>
          <p:cNvGraphicFramePr/>
          <p:nvPr/>
        </p:nvGraphicFramePr>
        <p:xfrm>
          <a:off x="622300" y="1555750"/>
          <a:ext cx="3000000" cy="3000000"/>
        </p:xfrm>
        <a:graphic>
          <a:graphicData uri="http://schemas.openxmlformats.org/drawingml/2006/table">
            <a:tbl>
              <a:tblPr>
                <a:noFill/>
                <a:tableStyleId>{B14A676D-5FE0-4728-95B7-5A5512F2545D}</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Census Bureau · 2020 Centers of Population by tract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Tract point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2020 Census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Where people live, not a tract's middle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Census Bureau · 2010–2020 Tabulation Block Relationship File, Minnesota</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Census block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2010 to 2020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Moves the 2019 Atlas to 2020 tracts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Census Bureau · TIGER/Line 2024: tracts and 2020 tabulation blocks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Tract, block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2024 release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Locates shelves; draws the maps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 Q6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550" name="Google Shape;550;p15"/>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16</a:t>
            </a:r>
            <a:r>
              <a:rPr b="0" i="0" lang="en-US" sz="1200" u="none" cap="none" strike="noStrike">
                <a:solidFill>
                  <a:srgbClr val="4B5A50"/>
                </a:solidFill>
                <a:latin typeface="Source Sans 3"/>
                <a:ea typeface="Source Sans 3"/>
                <a:cs typeface="Source Sans 3"/>
                <a:sym typeface="Source Sans 3"/>
              </a:rPr>
              <a:t> · Crosswalk weighted by shared land area</a:t>
            </a:r>
            <a:endParaRPr b="0" i="0" sz="1200" u="none" cap="none" strike="noStrike">
              <a:solidFill>
                <a:schemeClr val="dk1"/>
              </a:solidFill>
              <a:latin typeface="Source Sans 3"/>
              <a:ea typeface="Source Sans 3"/>
              <a:cs typeface="Source Sans 3"/>
              <a:sym typeface="Source Sans 3"/>
            </a:endParaRPr>
          </a:p>
        </p:txBody>
      </p:sp>
      <p:sp>
        <p:nvSpPr>
          <p:cNvPr id="551" name="Google Shape;551;p15"/>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2" name="Google Shape;552;p15"/>
          <p:cNvSpPr/>
          <p:nvPr/>
        </p:nvSpPr>
        <p:spPr>
          <a:xfrm>
            <a:off x="0" y="6803136"/>
            <a:ext cx="3180522"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57" name="Shape 557"/>
        <p:cNvGrpSpPr/>
        <p:nvPr/>
      </p:nvGrpSpPr>
      <p:grpSpPr>
        <a:xfrm>
          <a:off x="0" y="0"/>
          <a:ext cx="0" cy="0"/>
          <a:chOff x="0" y="0"/>
          <a:chExt cx="0" cy="0"/>
        </a:xfrm>
      </p:grpSpPr>
      <p:sp>
        <p:nvSpPr>
          <p:cNvPr id="558" name="Google Shape;558;p16"/>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16"/>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A6 · Data cleaning decisions</a:t>
            </a:r>
            <a:endParaRPr b="0" i="0" sz="1300" u="none" cap="none" strike="noStrike">
              <a:solidFill>
                <a:schemeClr val="dk1"/>
              </a:solidFill>
              <a:latin typeface="Source Sans 3"/>
              <a:ea typeface="Source Sans 3"/>
              <a:cs typeface="Source Sans 3"/>
              <a:sym typeface="Source Sans 3"/>
            </a:endParaRPr>
          </a:p>
        </p:txBody>
      </p:sp>
      <p:sp>
        <p:nvSpPr>
          <p:cNvPr id="560" name="Google Shape;560;p16"/>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61" name="Google Shape;561;p16"/>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62" name="Google Shape;562;p16"/>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A6</a:t>
            </a:r>
            <a:endParaRPr b="0" i="0" sz="1700" u="none" cap="none" strike="noStrike">
              <a:solidFill>
                <a:schemeClr val="dk1"/>
              </a:solidFill>
              <a:latin typeface="Source Sans 3"/>
              <a:ea typeface="Source Sans 3"/>
              <a:cs typeface="Source Sans 3"/>
              <a:sym typeface="Source Sans 3"/>
            </a:endParaRPr>
          </a:p>
        </p:txBody>
      </p:sp>
      <p:sp>
        <p:nvSpPr>
          <p:cNvPr id="563" name="Google Shape;563;p16"/>
          <p:cNvSpPr txBox="1"/>
          <p:nvPr>
            <p:ph type="title"/>
          </p:nvPr>
        </p:nvSpPr>
        <p:spPr>
          <a:xfrm>
            <a:off x="1320800" y="945505"/>
            <a:ext cx="10261600" cy="31874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lang="en-US" sz="2100">
                <a:solidFill>
                  <a:srgbClr val="B5501F"/>
                </a:solidFill>
              </a:rPr>
              <a:t>8 cleaning rules</a:t>
            </a:r>
            <a:r>
              <a:rPr b="1" lang="en-US" sz="2100">
                <a:solidFill>
                  <a:srgbClr val="1F3B2D"/>
                </a:solidFill>
              </a:rPr>
              <a:t>; one Waseca entry alone would have faked a statewide spike</a:t>
            </a:r>
            <a:endParaRPr sz="2100"/>
          </a:p>
        </p:txBody>
      </p:sp>
      <p:graphicFrame>
        <p:nvGraphicFramePr>
          <p:cNvPr id="564" name="Google Shape;564;p16"/>
          <p:cNvGraphicFramePr/>
          <p:nvPr/>
        </p:nvGraphicFramePr>
        <p:xfrm>
          <a:off x="622300" y="1555750"/>
          <a:ext cx="3000000" cy="3000000"/>
        </p:xfrm>
        <a:graphic>
          <a:graphicData uri="http://schemas.openxmlformats.org/drawingml/2006/table">
            <a:tbl>
              <a:tblPr>
                <a:noFill/>
                <a:tableStyleId>{B14A676D-5FE0-4728-95B7-5A5512F2545D}</a:tableStyleId>
              </a:tblPr>
              <a:tblGrid>
                <a:gridCol w="2740025"/>
                <a:gridCol w="6904875"/>
                <a:gridCol w="13152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Issue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Decision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Affects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Date of record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DateForSearch used; _Year/_Month disagree on 26 rows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63 duplicate site-months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Keep the larger row, never sum (matches each site's normal month)</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Waseca, Jul 2023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273,385 households for 646 people → 311, midpoint of Jun and Aug</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98 impossible rows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Households above individuals rebuilt from the site's ratio</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Split county labels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Hennepin and Ramsey sub-labels mapped to their county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Unlocatable sites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39 sites flagged, not dropped; ~1% of activity has no county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Q6 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Coverage gaps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Becker, Beltrami under 35% coverage; Wilkin has no rows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USDA 2025 low-income count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Fails a consistency check (r = −0.80 with poverty); not 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565" name="Google Shape;565;p16"/>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17</a:t>
            </a:r>
            <a:r>
              <a:rPr b="0" i="0" lang="en-US" sz="1200" u="none" cap="none" strike="noStrike">
                <a:solidFill>
                  <a:srgbClr val="4B5A50"/>
                </a:solidFill>
                <a:latin typeface="Source Sans 3"/>
                <a:ea typeface="Source Sans 3"/>
                <a:cs typeface="Source Sans 3"/>
                <a:sym typeface="Source Sans 3"/>
              </a:rPr>
              <a:t> · Waseca entry, duplicates and the Wilkin gap to be flagged to The Food Group</a:t>
            </a:r>
            <a:endParaRPr b="0" i="0" sz="1200" u="none" cap="none" strike="noStrike">
              <a:solidFill>
                <a:schemeClr val="dk1"/>
              </a:solidFill>
              <a:latin typeface="Source Sans 3"/>
              <a:ea typeface="Source Sans 3"/>
              <a:cs typeface="Source Sans 3"/>
              <a:sym typeface="Source Sans 3"/>
            </a:endParaRPr>
          </a:p>
        </p:txBody>
      </p:sp>
      <p:sp>
        <p:nvSpPr>
          <p:cNvPr id="566" name="Google Shape;566;p16"/>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7" name="Google Shape;567;p16"/>
          <p:cNvSpPr/>
          <p:nvPr/>
        </p:nvSpPr>
        <p:spPr>
          <a:xfrm>
            <a:off x="0" y="6803136"/>
            <a:ext cx="3710609"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72" name="Shape 572"/>
        <p:cNvGrpSpPr/>
        <p:nvPr/>
      </p:nvGrpSpPr>
      <p:grpSpPr>
        <a:xfrm>
          <a:off x="0" y="0"/>
          <a:ext cx="0" cy="0"/>
          <a:chOff x="0" y="0"/>
          <a:chExt cx="0" cy="0"/>
        </a:xfrm>
      </p:grpSpPr>
      <p:sp>
        <p:nvSpPr>
          <p:cNvPr id="573" name="Google Shape;573;p17"/>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17"/>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A7 · Q1 correlations, outliers</a:t>
            </a:r>
            <a:endParaRPr b="0" i="0" sz="1300" u="none" cap="none" strike="noStrike">
              <a:solidFill>
                <a:schemeClr val="dk1"/>
              </a:solidFill>
              <a:latin typeface="Source Sans 3"/>
              <a:ea typeface="Source Sans 3"/>
              <a:cs typeface="Source Sans 3"/>
              <a:sym typeface="Source Sans 3"/>
            </a:endParaRPr>
          </a:p>
        </p:txBody>
      </p:sp>
      <p:sp>
        <p:nvSpPr>
          <p:cNvPr id="575" name="Google Shape;575;p17"/>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76" name="Google Shape;576;p17"/>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77" name="Google Shape;577;p17"/>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A7</a:t>
            </a:r>
            <a:endParaRPr b="0" i="0" sz="1700" u="none" cap="none" strike="noStrike">
              <a:solidFill>
                <a:schemeClr val="dk1"/>
              </a:solidFill>
              <a:latin typeface="Source Sans 3"/>
              <a:ea typeface="Source Sans 3"/>
              <a:cs typeface="Source Sans 3"/>
              <a:sym typeface="Source Sans 3"/>
            </a:endParaRPr>
          </a:p>
        </p:txBody>
      </p:sp>
      <p:sp>
        <p:nvSpPr>
          <p:cNvPr id="578" name="Google Shape;578;p17"/>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All 3 metrics correlate </a:t>
            </a:r>
            <a:r>
              <a:rPr b="1" i="0" lang="en-US" sz="2100">
                <a:solidFill>
                  <a:srgbClr val="B5501F"/>
                </a:solidFill>
                <a:latin typeface="Source Serif 4"/>
                <a:ea typeface="Source Serif 4"/>
                <a:cs typeface="Source Serif 4"/>
                <a:sym typeface="Source Serif 4"/>
              </a:rPr>
              <a:t>0.92–0.93</a:t>
            </a:r>
            <a:r>
              <a:rPr b="1" i="0" lang="en-US" sz="2100">
                <a:solidFill>
                  <a:srgbClr val="1F3B2D"/>
                </a:solidFill>
                <a:latin typeface="Source Serif 4"/>
                <a:ea typeface="Source Serif 4"/>
                <a:cs typeface="Source Serif 4"/>
                <a:sym typeface="Source Serif 4"/>
              </a:rPr>
              <a:t> with need in totals, but not per resident</a:t>
            </a:r>
            <a:endParaRPr sz="2100"/>
          </a:p>
        </p:txBody>
      </p:sp>
      <p:graphicFrame>
        <p:nvGraphicFramePr>
          <p:cNvPr id="579" name="Google Shape;579;p17"/>
          <p:cNvGraphicFramePr/>
          <p:nvPr/>
        </p:nvGraphicFramePr>
        <p:xfrm>
          <a:off x="622300" y="1568450"/>
          <a:ext cx="3000000" cy="3000000"/>
        </p:xfrm>
        <a:graphic>
          <a:graphicData uri="http://schemas.openxmlformats.org/drawingml/2006/table">
            <a:tbl>
              <a:tblPr>
                <a:noFill/>
                <a:tableStyleId>{B14A676D-5FE0-4728-95B7-5A5512F2545D}</a:tableStyleId>
              </a:tblPr>
              <a:tblGrid>
                <a:gridCol w="3547100"/>
                <a:gridCol w="15202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Metric, 86 counties, 2024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r (log scale)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Pounds distributed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0.93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Individuals served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0.92</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Household visits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0.92</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580" name="Google Shape;580;p17"/>
          <p:cNvSpPr/>
          <p:nvPr/>
        </p:nvSpPr>
        <p:spPr>
          <a:xfrm>
            <a:off x="609600" y="3243914"/>
            <a:ext cx="5080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17"/>
          <p:cNvSpPr/>
          <p:nvPr/>
        </p:nvSpPr>
        <p:spPr>
          <a:xfrm>
            <a:off x="774700" y="3370914"/>
            <a:ext cx="4813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READ IT CAREFULLY</a:t>
            </a:r>
            <a:endParaRPr b="0" i="0" sz="1200" u="none" cap="none" strike="noStrike">
              <a:solidFill>
                <a:schemeClr val="dk1"/>
              </a:solidFill>
              <a:latin typeface="Source Sans 3"/>
              <a:ea typeface="Source Sans 3"/>
              <a:cs typeface="Source Sans 3"/>
              <a:sym typeface="Source Sans 3"/>
            </a:endParaRPr>
          </a:p>
        </p:txBody>
      </p:sp>
      <p:sp>
        <p:nvSpPr>
          <p:cNvPr id="582" name="Google Shape;582;p17"/>
          <p:cNvSpPr/>
          <p:nvPr/>
        </p:nvSpPr>
        <p:spPr>
          <a:xfrm>
            <a:off x="774700" y="3622334"/>
            <a:ext cx="4813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Strong in all three years, but mostly county size: big counties have more of everything.</a:t>
            </a:r>
            <a:endParaRPr b="0" i="0" sz="1200" u="none" cap="none" strike="noStrike">
              <a:solidFill>
                <a:schemeClr val="dk1"/>
              </a:solidFill>
              <a:latin typeface="Source Sans 3"/>
              <a:ea typeface="Source Sans 3"/>
              <a:cs typeface="Source Sans 3"/>
              <a:sym typeface="Source Sans 3"/>
            </a:endParaRPr>
          </a:p>
        </p:txBody>
      </p:sp>
      <p:sp>
        <p:nvSpPr>
          <p:cNvPr id="583" name="Google Shape;583;p17"/>
          <p:cNvSpPr/>
          <p:nvPr/>
        </p:nvSpPr>
        <p:spPr>
          <a:xfrm>
            <a:off x="5943600" y="1555750"/>
            <a:ext cx="5638800" cy="1059111"/>
          </a:xfrm>
          <a:prstGeom prst="roundRect">
            <a:avLst>
              <a:gd fmla="val 10792"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17"/>
          <p:cNvSpPr/>
          <p:nvPr/>
        </p:nvSpPr>
        <p:spPr>
          <a:xfrm>
            <a:off x="6121400" y="1708150"/>
            <a:ext cx="53594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PER 1,000 RESIDENTS</a:t>
            </a:r>
            <a:endParaRPr b="0" i="0" sz="1200" u="none" cap="none" strike="noStrike">
              <a:solidFill>
                <a:schemeClr val="dk1"/>
              </a:solidFill>
              <a:latin typeface="Source Sans 3"/>
              <a:ea typeface="Source Sans 3"/>
              <a:cs typeface="Source Sans 3"/>
              <a:sym typeface="Source Sans 3"/>
            </a:endParaRPr>
          </a:p>
        </p:txBody>
      </p:sp>
      <p:sp>
        <p:nvSpPr>
          <p:cNvPr id="585" name="Google Shape;585;p17"/>
          <p:cNvSpPr/>
          <p:nvPr/>
        </p:nvSpPr>
        <p:spPr>
          <a:xfrm>
            <a:off x="6121400" y="1959570"/>
            <a:ext cx="5359400" cy="2921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2000"/>
              <a:buFont typeface="Source Serif 4"/>
              <a:buNone/>
            </a:pPr>
            <a:r>
              <a:rPr b="1" i="0" lang="en-US" sz="2000" u="none" cap="none" strike="noStrike">
                <a:solidFill>
                  <a:srgbClr val="F7F2E8"/>
                </a:solidFill>
                <a:latin typeface="Source Serif 4"/>
                <a:ea typeface="Source Serif 4"/>
                <a:cs typeface="Source Serif 4"/>
                <a:sym typeface="Source Serif 4"/>
              </a:rPr>
              <a:t>The link disappears</a:t>
            </a:r>
            <a:endParaRPr b="0" i="0" sz="2000" u="none" cap="none" strike="noStrike">
              <a:solidFill>
                <a:schemeClr val="dk1"/>
              </a:solidFill>
              <a:latin typeface="Source Sans 3"/>
              <a:ea typeface="Source Sans 3"/>
              <a:cs typeface="Source Sans 3"/>
              <a:sym typeface="Source Sans 3"/>
            </a:endParaRPr>
          </a:p>
        </p:txBody>
      </p:sp>
      <p:sp>
        <p:nvSpPr>
          <p:cNvPr id="586" name="Google Shape;586;p17"/>
          <p:cNvSpPr/>
          <p:nvPr/>
        </p:nvSpPr>
        <p:spPr>
          <a:xfrm>
            <a:off x="6121400" y="2264370"/>
            <a:ext cx="53594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higher food-insecurity rates do not bring higher visit rates</a:t>
            </a:r>
            <a:endParaRPr b="0" i="0" sz="1200" u="none" cap="none" strike="noStrike">
              <a:solidFill>
                <a:schemeClr val="dk1"/>
              </a:solidFill>
              <a:latin typeface="Source Sans 3"/>
              <a:ea typeface="Source Sans 3"/>
              <a:cs typeface="Source Sans 3"/>
              <a:sym typeface="Source Sans 3"/>
            </a:endParaRPr>
          </a:p>
        </p:txBody>
      </p:sp>
      <p:sp>
        <p:nvSpPr>
          <p:cNvPr id="587" name="Google Shape;587;p17"/>
          <p:cNvSpPr/>
          <p:nvPr/>
        </p:nvSpPr>
        <p:spPr>
          <a:xfrm>
            <a:off x="5949950" y="2767261"/>
            <a:ext cx="56261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17"/>
          <p:cNvSpPr/>
          <p:nvPr/>
        </p:nvSpPr>
        <p:spPr>
          <a:xfrm>
            <a:off x="6121400" y="2900611"/>
            <a:ext cx="53530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Steele</a:t>
            </a:r>
            <a:endParaRPr b="0" i="0" sz="1300" u="none" cap="none" strike="noStrike">
              <a:solidFill>
                <a:schemeClr val="dk1"/>
              </a:solidFill>
              <a:latin typeface="Source Sans 3"/>
              <a:ea typeface="Source Sans 3"/>
              <a:cs typeface="Source Sans 3"/>
              <a:sym typeface="Source Sans 3"/>
            </a:endParaRPr>
          </a:p>
        </p:txBody>
      </p:sp>
      <p:sp>
        <p:nvSpPr>
          <p:cNvPr id="589" name="Google Shape;589;p17"/>
          <p:cNvSpPr/>
          <p:nvPr/>
        </p:nvSpPr>
        <p:spPr>
          <a:xfrm>
            <a:off x="6121400" y="3182541"/>
            <a:ext cx="535305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1,588 vs 358 visits per 1,000, actual vs predicted (t = 6.1); one hub is 95% of it</a:t>
            </a:r>
            <a:endParaRPr b="0" i="0" sz="1200" u="none" cap="none" strike="noStrike">
              <a:solidFill>
                <a:schemeClr val="dk1"/>
              </a:solidFill>
              <a:latin typeface="Source Sans 3"/>
              <a:ea typeface="Source Sans 3"/>
              <a:cs typeface="Source Sans 3"/>
              <a:sym typeface="Source Sans 3"/>
            </a:endParaRPr>
          </a:p>
        </p:txBody>
      </p:sp>
      <p:sp>
        <p:nvSpPr>
          <p:cNvPr id="590" name="Google Shape;590;p17"/>
          <p:cNvSpPr/>
          <p:nvPr/>
        </p:nvSpPr>
        <p:spPr>
          <a:xfrm>
            <a:off x="5949950" y="3879751"/>
            <a:ext cx="5626100" cy="754360"/>
          </a:xfrm>
          <a:prstGeom prst="roundRect">
            <a:avLst>
              <a:gd fmla="val 14310"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17"/>
          <p:cNvSpPr/>
          <p:nvPr/>
        </p:nvSpPr>
        <p:spPr>
          <a:xfrm>
            <a:off x="6121400" y="4013101"/>
            <a:ext cx="53530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Wilkin</a:t>
            </a:r>
            <a:endParaRPr b="0" i="0" sz="1300" u="none" cap="none" strike="noStrike">
              <a:solidFill>
                <a:schemeClr val="dk1"/>
              </a:solidFill>
              <a:latin typeface="Source Sans 3"/>
              <a:ea typeface="Source Sans 3"/>
              <a:cs typeface="Source Sans 3"/>
              <a:sym typeface="Source Sans 3"/>
            </a:endParaRPr>
          </a:p>
        </p:txBody>
      </p:sp>
      <p:sp>
        <p:nvSpPr>
          <p:cNvPr id="592" name="Google Shape;592;p17"/>
          <p:cNvSpPr/>
          <p:nvPr/>
        </p:nvSpPr>
        <p:spPr>
          <a:xfrm>
            <a:off x="6121400" y="4295031"/>
            <a:ext cx="535305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810 food-insecure residents, no food shelf records at all</a:t>
            </a:r>
            <a:endParaRPr b="0" i="0" sz="1200" u="none" cap="none" strike="noStrike">
              <a:solidFill>
                <a:schemeClr val="dk1"/>
              </a:solidFill>
              <a:latin typeface="Source Sans 3"/>
              <a:ea typeface="Source Sans 3"/>
              <a:cs typeface="Source Sans 3"/>
              <a:sym typeface="Source Sans 3"/>
            </a:endParaRPr>
          </a:p>
        </p:txBody>
      </p:sp>
      <p:sp>
        <p:nvSpPr>
          <p:cNvPr id="593" name="Google Shape;593;p17"/>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18</a:t>
            </a:r>
            <a:r>
              <a:rPr b="0" i="0" lang="en-US" sz="1200" u="none" cap="none" strike="noStrike">
                <a:solidFill>
                  <a:srgbClr val="4B5A50"/>
                </a:solidFill>
                <a:latin typeface="Source Sans 3"/>
                <a:ea typeface="Source Sans 3"/>
                <a:cs typeface="Source Sans 3"/>
                <a:sym typeface="Source Sans 3"/>
              </a:rPr>
              <a:t> · Feeding America, Map the Meal Gap 2025–2026; The Food Group 2022–2024 · team notebook Q1_clean_and_analysis</a:t>
            </a:r>
            <a:endParaRPr b="0" i="0" sz="1200" u="none" cap="none" strike="noStrike">
              <a:solidFill>
                <a:schemeClr val="dk1"/>
              </a:solidFill>
              <a:latin typeface="Source Sans 3"/>
              <a:ea typeface="Source Sans 3"/>
              <a:cs typeface="Source Sans 3"/>
              <a:sym typeface="Source Sans 3"/>
            </a:endParaRPr>
          </a:p>
        </p:txBody>
      </p:sp>
      <p:sp>
        <p:nvSpPr>
          <p:cNvPr id="594" name="Google Shape;594;p17"/>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5" name="Google Shape;595;p17"/>
          <p:cNvSpPr/>
          <p:nvPr/>
        </p:nvSpPr>
        <p:spPr>
          <a:xfrm>
            <a:off x="0" y="6803136"/>
            <a:ext cx="4240696"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600" name="Shape 600"/>
        <p:cNvGrpSpPr/>
        <p:nvPr/>
      </p:nvGrpSpPr>
      <p:grpSpPr>
        <a:xfrm>
          <a:off x="0" y="0"/>
          <a:ext cx="0" cy="0"/>
          <a:chOff x="0" y="0"/>
          <a:chExt cx="0" cy="0"/>
        </a:xfrm>
      </p:grpSpPr>
      <p:sp>
        <p:nvSpPr>
          <p:cNvPr id="601" name="Google Shape;601;p18"/>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18"/>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A8 · Q1 county characteristics</a:t>
            </a:r>
            <a:endParaRPr b="0" i="0" sz="1300" u="none" cap="none" strike="noStrike">
              <a:solidFill>
                <a:schemeClr val="dk1"/>
              </a:solidFill>
              <a:latin typeface="Source Sans 3"/>
              <a:ea typeface="Source Sans 3"/>
              <a:cs typeface="Source Sans 3"/>
              <a:sym typeface="Source Sans 3"/>
            </a:endParaRPr>
          </a:p>
        </p:txBody>
      </p:sp>
      <p:sp>
        <p:nvSpPr>
          <p:cNvPr id="603" name="Google Shape;603;p18"/>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04" name="Google Shape;604;p18"/>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05" name="Google Shape;605;p18"/>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A8</a:t>
            </a:r>
            <a:endParaRPr b="0" i="0" sz="1700" u="none" cap="none" strike="noStrike">
              <a:solidFill>
                <a:schemeClr val="dk1"/>
              </a:solidFill>
              <a:latin typeface="Source Sans 3"/>
              <a:ea typeface="Source Sans 3"/>
              <a:cs typeface="Source Sans 3"/>
              <a:sym typeface="Source Sans 3"/>
            </a:endParaRPr>
          </a:p>
        </p:txBody>
      </p:sp>
      <p:sp>
        <p:nvSpPr>
          <p:cNvPr id="606" name="Google Shape;606;p18"/>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Only distance matters: </a:t>
            </a:r>
            <a:r>
              <a:rPr b="1" i="0" lang="en-US" sz="2100">
                <a:solidFill>
                  <a:srgbClr val="B5501F"/>
                </a:solidFill>
                <a:latin typeface="Source Serif 4"/>
                <a:ea typeface="Source Serif 4"/>
                <a:cs typeface="Source Serif 4"/>
                <a:sym typeface="Source Serif 4"/>
              </a:rPr>
              <a:t>2.2 more miles</a:t>
            </a:r>
            <a:r>
              <a:rPr b="1" i="0" lang="en-US" sz="2100">
                <a:solidFill>
                  <a:srgbClr val="1F3B2D"/>
                </a:solidFill>
                <a:latin typeface="Source Serif 4"/>
                <a:ea typeface="Source Serif 4"/>
                <a:cs typeface="Source Serif 4"/>
                <a:sym typeface="Source Serif 4"/>
              </a:rPr>
              <a:t> to a shelf, </a:t>
            </a:r>
            <a:r>
              <a:rPr b="1" i="0" lang="en-US" sz="2100">
                <a:solidFill>
                  <a:srgbClr val="B5501F"/>
                </a:solidFill>
                <a:latin typeface="Source Serif 4"/>
                <a:ea typeface="Source Serif 4"/>
                <a:cs typeface="Source Serif 4"/>
                <a:sym typeface="Source Serif 4"/>
              </a:rPr>
              <a:t>18% fewer</a:t>
            </a:r>
            <a:r>
              <a:rPr b="1" i="0" lang="en-US" sz="2100">
                <a:solidFill>
                  <a:srgbClr val="1F3B2D"/>
                </a:solidFill>
                <a:latin typeface="Source Serif 4"/>
                <a:ea typeface="Source Serif 4"/>
                <a:cs typeface="Source Serif 4"/>
                <a:sym typeface="Source Serif 4"/>
              </a:rPr>
              <a:t> served than need</a:t>
            </a:r>
            <a:endParaRPr sz="2100"/>
          </a:p>
        </p:txBody>
      </p:sp>
      <p:sp>
        <p:nvSpPr>
          <p:cNvPr id="607" name="Google Shape;607;p18"/>
          <p:cNvSpPr/>
          <p:nvPr/>
        </p:nvSpPr>
        <p:spPr>
          <a:xfrm>
            <a:off x="615950" y="1562100"/>
            <a:ext cx="6286500" cy="3549650"/>
          </a:xfrm>
          <a:prstGeom prst="roundRect">
            <a:avLst>
              <a:gd fmla="val 304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Coefficient plot: of six county traits, only miles to the nearest food shelf significantly lowers people served relative to need (p = 0.02)." id="608" name="Google Shape;608;p18"/>
          <p:cNvPicPr preferRelativeResize="0"/>
          <p:nvPr/>
        </p:nvPicPr>
        <p:blipFill rotWithShape="1">
          <a:blip r:embed="rId4">
            <a:alphaModFix/>
          </a:blip>
          <a:srcRect b="0" l="-813" r="-813" t="0"/>
          <a:stretch/>
        </p:blipFill>
        <p:spPr>
          <a:xfrm>
            <a:off x="711200" y="1657350"/>
            <a:ext cx="6096000" cy="3359150"/>
          </a:xfrm>
          <a:prstGeom prst="rect">
            <a:avLst/>
          </a:prstGeom>
          <a:noFill/>
          <a:ln>
            <a:noFill/>
          </a:ln>
        </p:spPr>
      </p:pic>
      <p:sp>
        <p:nvSpPr>
          <p:cNvPr id="609" name="Google Shape;609;p18"/>
          <p:cNvSpPr/>
          <p:nvPr/>
        </p:nvSpPr>
        <p:spPr>
          <a:xfrm>
            <a:off x="7162800" y="1555750"/>
            <a:ext cx="4419600" cy="1192461"/>
          </a:xfrm>
          <a:prstGeom prst="roundRect">
            <a:avLst>
              <a:gd fmla="val 9585"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18"/>
          <p:cNvSpPr/>
          <p:nvPr/>
        </p:nvSpPr>
        <p:spPr>
          <a:xfrm>
            <a:off x="7340600" y="1708150"/>
            <a:ext cx="41402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PER +2.2 MILES (1 SD)</a:t>
            </a:r>
            <a:endParaRPr b="0" i="0" sz="1200" u="none" cap="none" strike="noStrike">
              <a:solidFill>
                <a:schemeClr val="dk1"/>
              </a:solidFill>
              <a:latin typeface="Source Sans 3"/>
              <a:ea typeface="Source Sans 3"/>
              <a:cs typeface="Source Sans 3"/>
              <a:sym typeface="Source Sans 3"/>
            </a:endParaRPr>
          </a:p>
        </p:txBody>
      </p:sp>
      <p:sp>
        <p:nvSpPr>
          <p:cNvPr id="611" name="Google Shape;611;p18"/>
          <p:cNvSpPr/>
          <p:nvPr/>
        </p:nvSpPr>
        <p:spPr>
          <a:xfrm>
            <a:off x="7340600" y="1959570"/>
            <a:ext cx="4140200" cy="42545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3000"/>
              <a:buFont typeface="Source Serif 4"/>
              <a:buNone/>
            </a:pPr>
            <a:r>
              <a:rPr b="1" i="0" lang="en-US" sz="3000" u="none" cap="none" strike="noStrike">
                <a:solidFill>
                  <a:srgbClr val="F7F2E8"/>
                </a:solidFill>
                <a:latin typeface="Source Serif 4"/>
                <a:ea typeface="Source Serif 4"/>
                <a:cs typeface="Source Serif 4"/>
                <a:sym typeface="Source Serif 4"/>
              </a:rPr>
              <a:t>−18%</a:t>
            </a:r>
            <a:endParaRPr b="0" i="0" sz="3000" u="none" cap="none" strike="noStrike">
              <a:solidFill>
                <a:schemeClr val="dk1"/>
              </a:solidFill>
              <a:latin typeface="Source Sans 3"/>
              <a:ea typeface="Source Sans 3"/>
              <a:cs typeface="Source Sans 3"/>
              <a:sym typeface="Source Sans 3"/>
            </a:endParaRPr>
          </a:p>
        </p:txBody>
      </p:sp>
      <p:sp>
        <p:nvSpPr>
          <p:cNvPr id="612" name="Google Shape;612;p18"/>
          <p:cNvSpPr/>
          <p:nvPr/>
        </p:nvSpPr>
        <p:spPr>
          <a:xfrm>
            <a:off x="7340600" y="2397720"/>
            <a:ext cx="41402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people served vs need, p = 0.02</a:t>
            </a:r>
            <a:endParaRPr b="0" i="0" sz="1200" u="none" cap="none" strike="noStrike">
              <a:solidFill>
                <a:schemeClr val="dk1"/>
              </a:solidFill>
              <a:latin typeface="Source Sans 3"/>
              <a:ea typeface="Source Sans 3"/>
              <a:cs typeface="Source Sans 3"/>
              <a:sym typeface="Source Sans 3"/>
            </a:endParaRPr>
          </a:p>
        </p:txBody>
      </p:sp>
      <p:sp>
        <p:nvSpPr>
          <p:cNvPr id="613" name="Google Shape;613;p18"/>
          <p:cNvSpPr/>
          <p:nvPr/>
        </p:nvSpPr>
        <p:spPr>
          <a:xfrm>
            <a:off x="7162800" y="2900611"/>
            <a:ext cx="44196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18"/>
          <p:cNvSpPr/>
          <p:nvPr/>
        </p:nvSpPr>
        <p:spPr>
          <a:xfrm>
            <a:off x="7327900" y="3027611"/>
            <a:ext cx="41529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METHOD</a:t>
            </a:r>
            <a:endParaRPr b="0" i="0" sz="1200" u="none" cap="none" strike="noStrike">
              <a:solidFill>
                <a:schemeClr val="dk1"/>
              </a:solidFill>
              <a:latin typeface="Source Sans 3"/>
              <a:ea typeface="Source Sans 3"/>
              <a:cs typeface="Source Sans 3"/>
              <a:sym typeface="Source Sans 3"/>
            </a:endParaRPr>
          </a:p>
        </p:txBody>
      </p:sp>
      <p:sp>
        <p:nvSpPr>
          <p:cNvPr id="615" name="Google Shape;615;p18"/>
          <p:cNvSpPr/>
          <p:nvPr/>
        </p:nvSpPr>
        <p:spPr>
          <a:xfrm>
            <a:off x="7327900" y="3279031"/>
            <a:ext cx="41529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Residual of log people served on log food-insecure persons, on six z-scored traits; robust SE; 86 counties, 2024</a:t>
            </a:r>
            <a:endParaRPr b="0" i="0" sz="1200" u="none" cap="none" strike="noStrike">
              <a:solidFill>
                <a:schemeClr val="dk1"/>
              </a:solidFill>
              <a:latin typeface="Source Sans 3"/>
              <a:ea typeface="Source Sans 3"/>
              <a:cs typeface="Source Sans 3"/>
              <a:sym typeface="Source Sans 3"/>
            </a:endParaRPr>
          </a:p>
        </p:txBody>
      </p:sp>
      <p:sp>
        <p:nvSpPr>
          <p:cNvPr id="616" name="Google Shape;616;p18"/>
          <p:cNvSpPr/>
          <p:nvPr/>
        </p:nvSpPr>
        <p:spPr>
          <a:xfrm>
            <a:off x="7162800" y="3969891"/>
            <a:ext cx="44196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18"/>
          <p:cNvSpPr/>
          <p:nvPr/>
        </p:nvSpPr>
        <p:spPr>
          <a:xfrm>
            <a:off x="7327900" y="4096891"/>
            <a:ext cx="41529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READING</a:t>
            </a:r>
            <a:endParaRPr b="0" i="0" sz="1200" u="none" cap="none" strike="noStrike">
              <a:solidFill>
                <a:schemeClr val="dk1"/>
              </a:solidFill>
              <a:latin typeface="Source Sans 3"/>
              <a:ea typeface="Source Sans 3"/>
              <a:cs typeface="Source Sans 3"/>
              <a:sym typeface="Source Sans 3"/>
            </a:endParaRPr>
          </a:p>
        </p:txBody>
      </p:sp>
      <p:sp>
        <p:nvSpPr>
          <p:cNvPr id="618" name="Google Shape;618;p18"/>
          <p:cNvSpPr/>
          <p:nvPr/>
        </p:nvSpPr>
        <p:spPr>
          <a:xfrm>
            <a:off x="7327900" y="4348311"/>
            <a:ext cx="41529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R² = 0.09: county traits explain little; most mismatch is site-level (hubs, coverage)</a:t>
            </a:r>
            <a:endParaRPr b="0" i="0" sz="1200" u="none" cap="none" strike="noStrike">
              <a:solidFill>
                <a:schemeClr val="dk1"/>
              </a:solidFill>
              <a:latin typeface="Source Sans 3"/>
              <a:ea typeface="Source Sans 3"/>
              <a:cs typeface="Source Sans 3"/>
              <a:sym typeface="Source Sans 3"/>
            </a:endParaRPr>
          </a:p>
        </p:txBody>
      </p:sp>
      <p:sp>
        <p:nvSpPr>
          <p:cNvPr id="619" name="Google Shape;619;p18"/>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19</a:t>
            </a:r>
            <a:r>
              <a:rPr b="0" i="0" lang="en-US" sz="1200" u="none" cap="none" strike="noStrike">
                <a:solidFill>
                  <a:srgbClr val="4B5A50"/>
                </a:solidFill>
                <a:latin typeface="Source Sans 3"/>
                <a:ea typeface="Source Sans 3"/>
                <a:cs typeface="Source Sans 3"/>
                <a:sym typeface="Source Sans 3"/>
              </a:rPr>
              <a:t> · USDA ERS Retailer Access Map 2025 tract traits (population-weighted); Q8 distances; Map the Meal Gap 2026</a:t>
            </a:r>
            <a:endParaRPr b="0" i="0" sz="1200" u="none" cap="none" strike="noStrike">
              <a:solidFill>
                <a:schemeClr val="dk1"/>
              </a:solidFill>
              <a:latin typeface="Source Sans 3"/>
              <a:ea typeface="Source Sans 3"/>
              <a:cs typeface="Source Sans 3"/>
              <a:sym typeface="Source Sans 3"/>
            </a:endParaRPr>
          </a:p>
        </p:txBody>
      </p:sp>
      <p:sp>
        <p:nvSpPr>
          <p:cNvPr id="620" name="Google Shape;620;p18"/>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1" name="Google Shape;621;p18"/>
          <p:cNvSpPr/>
          <p:nvPr/>
        </p:nvSpPr>
        <p:spPr>
          <a:xfrm>
            <a:off x="0" y="6803136"/>
            <a:ext cx="4770783"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2" name="Google Shape;622;p18"/>
          <p:cNvSpPr/>
          <p:nvPr/>
        </p:nvSpPr>
        <p:spPr>
          <a:xfrm>
            <a:off x="819952" y="4236697"/>
            <a:ext cx="5863499" cy="269932"/>
          </a:xfrm>
          <a:prstGeom prst="roundRect">
            <a:avLst>
              <a:gd fmla="val 16667" name="adj"/>
            </a:avLst>
          </a:prstGeom>
          <a:noFill/>
          <a:ln cap="flat" cmpd="sng" w="31750">
            <a:solidFill>
              <a:srgbClr val="C2410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3" name="Google Shape;623;p18"/>
          <p:cNvSpPr txBox="1"/>
          <p:nvPr/>
        </p:nvSpPr>
        <p:spPr>
          <a:xfrm>
            <a:off x="4299061" y="4002756"/>
            <a:ext cx="2384390" cy="203948"/>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r">
              <a:lnSpc>
                <a:spcPct val="100000"/>
              </a:lnSpc>
              <a:spcBef>
                <a:spcPts val="0"/>
              </a:spcBef>
              <a:spcAft>
                <a:spcPts val="0"/>
              </a:spcAft>
              <a:buNone/>
            </a:pPr>
            <a:r>
              <a:rPr b="1" i="0" lang="en-US" sz="1200" u="none" cap="none" strike="noStrike">
                <a:solidFill>
                  <a:srgbClr val="C2410C"/>
                </a:solidFill>
                <a:latin typeface="Source Sans 3"/>
                <a:ea typeface="Source Sans 3"/>
                <a:cs typeface="Source Sans 3"/>
                <a:sym typeface="Source Sans 3"/>
              </a:rPr>
              <a:t>Only significant trait (p = 0.02)</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628" name="Shape 628"/>
        <p:cNvGrpSpPr/>
        <p:nvPr/>
      </p:nvGrpSpPr>
      <p:grpSpPr>
        <a:xfrm>
          <a:off x="0" y="0"/>
          <a:ext cx="0" cy="0"/>
          <a:chOff x="0" y="0"/>
          <a:chExt cx="0" cy="0"/>
        </a:xfrm>
      </p:grpSpPr>
      <p:sp>
        <p:nvSpPr>
          <p:cNvPr id="629" name="Google Shape;629;p19"/>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19"/>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A9 · Q6 need index, counties</a:t>
            </a:r>
            <a:endParaRPr b="0" i="0" sz="1300" u="none" cap="none" strike="noStrike">
              <a:solidFill>
                <a:schemeClr val="dk1"/>
              </a:solidFill>
              <a:latin typeface="Source Sans 3"/>
              <a:ea typeface="Source Sans 3"/>
              <a:cs typeface="Source Sans 3"/>
              <a:sym typeface="Source Sans 3"/>
            </a:endParaRPr>
          </a:p>
        </p:txBody>
      </p:sp>
      <p:sp>
        <p:nvSpPr>
          <p:cNvPr id="631" name="Google Shape;631;p19"/>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32" name="Google Shape;632;p19"/>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33" name="Google Shape;633;p19"/>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A9</a:t>
            </a:r>
            <a:endParaRPr b="0" i="0" sz="1700" u="none" cap="none" strike="noStrike">
              <a:solidFill>
                <a:schemeClr val="dk1"/>
              </a:solidFill>
              <a:latin typeface="Source Sans 3"/>
              <a:ea typeface="Source Sans 3"/>
              <a:cs typeface="Source Sans 3"/>
              <a:sym typeface="Source Sans 3"/>
            </a:endParaRPr>
          </a:p>
        </p:txBody>
      </p:sp>
      <p:sp>
        <p:nvSpPr>
          <p:cNvPr id="634" name="Google Shape;634;p19"/>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Need index flags </a:t>
            </a:r>
            <a:r>
              <a:rPr b="1" i="0" lang="en-US" sz="2100">
                <a:solidFill>
                  <a:srgbClr val="B5501F"/>
                </a:solidFill>
                <a:latin typeface="Source Serif 4"/>
                <a:ea typeface="Source Serif 4"/>
                <a:cs typeface="Source Serif 4"/>
                <a:sym typeface="Source Serif 4"/>
              </a:rPr>
              <a:t>7 rural counties</a:t>
            </a:r>
            <a:r>
              <a:rPr b="1" i="0" lang="en-US" sz="2100">
                <a:solidFill>
                  <a:srgbClr val="1F3B2D"/>
                </a:solidFill>
                <a:latin typeface="Source Serif 4"/>
                <a:ea typeface="Source Serif 4"/>
                <a:cs typeface="Source Serif 4"/>
                <a:sym typeface="Source Serif 4"/>
              </a:rPr>
              <a:t> under-served and </a:t>
            </a:r>
            <a:r>
              <a:rPr b="1" i="0" lang="en-US" sz="2100">
                <a:solidFill>
                  <a:srgbClr val="B5501F"/>
                </a:solidFill>
                <a:latin typeface="Source Serif 4"/>
                <a:ea typeface="Source Serif 4"/>
                <a:cs typeface="Source Serif 4"/>
                <a:sym typeface="Source Serif 4"/>
              </a:rPr>
              <a:t>3 hubs</a:t>
            </a:r>
            <a:r>
              <a:rPr b="1" i="0" lang="en-US" sz="2100">
                <a:solidFill>
                  <a:srgbClr val="1F3B2D"/>
                </a:solidFill>
                <a:latin typeface="Source Serif 4"/>
                <a:ea typeface="Source Serif 4"/>
                <a:cs typeface="Source Serif 4"/>
                <a:sym typeface="Source Serif 4"/>
              </a:rPr>
              <a:t> over-served</a:t>
            </a:r>
            <a:endParaRPr sz="2100"/>
          </a:p>
        </p:txBody>
      </p:sp>
      <p:sp>
        <p:nvSpPr>
          <p:cNvPr id="635" name="Google Shape;635;p19"/>
          <p:cNvSpPr/>
          <p:nvPr/>
        </p:nvSpPr>
        <p:spPr>
          <a:xfrm>
            <a:off x="615950" y="1555750"/>
            <a:ext cx="53975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19"/>
          <p:cNvSpPr/>
          <p:nvPr/>
        </p:nvSpPr>
        <p:spPr>
          <a:xfrm>
            <a:off x="787400" y="1689100"/>
            <a:ext cx="51244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Need index</a:t>
            </a:r>
            <a:endParaRPr b="0" i="0" sz="1300" u="none" cap="none" strike="noStrike">
              <a:solidFill>
                <a:schemeClr val="dk1"/>
              </a:solidFill>
              <a:latin typeface="Source Sans 3"/>
              <a:ea typeface="Source Sans 3"/>
              <a:cs typeface="Source Sans 3"/>
              <a:sym typeface="Source Sans 3"/>
            </a:endParaRPr>
          </a:p>
        </p:txBody>
      </p:sp>
      <p:sp>
        <p:nvSpPr>
          <p:cNvPr id="637" name="Google Shape;637;p19"/>
          <p:cNvSpPr/>
          <p:nvPr/>
        </p:nvSpPr>
        <p:spPr>
          <a:xfrm>
            <a:off x="787400" y="1971030"/>
            <a:ext cx="512445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Average of three within-year z-scores from Map the Meal Gap: food-insecurity rate, cost per meal, share of food-insecure people below the SNAP limit</a:t>
            </a:r>
            <a:endParaRPr b="0" i="0" sz="1200" u="none" cap="none" strike="noStrike">
              <a:solidFill>
                <a:schemeClr val="dk1"/>
              </a:solidFill>
              <a:latin typeface="Source Sans 3"/>
              <a:ea typeface="Source Sans 3"/>
              <a:cs typeface="Source Sans 3"/>
              <a:sym typeface="Source Sans 3"/>
            </a:endParaRPr>
          </a:p>
        </p:txBody>
      </p:sp>
      <p:sp>
        <p:nvSpPr>
          <p:cNvPr id="638" name="Google Shape;638;p19"/>
          <p:cNvSpPr/>
          <p:nvPr/>
        </p:nvSpPr>
        <p:spPr>
          <a:xfrm>
            <a:off x="6178550" y="1555750"/>
            <a:ext cx="53975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19"/>
          <p:cNvSpPr/>
          <p:nvPr/>
        </p:nvSpPr>
        <p:spPr>
          <a:xfrm>
            <a:off x="6350000" y="1689100"/>
            <a:ext cx="51244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Divergence</a:t>
            </a:r>
            <a:endParaRPr b="0" i="0" sz="1300" u="none" cap="none" strike="noStrike">
              <a:solidFill>
                <a:schemeClr val="dk1"/>
              </a:solidFill>
              <a:latin typeface="Source Sans 3"/>
              <a:ea typeface="Source Sans 3"/>
              <a:cs typeface="Source Sans 3"/>
              <a:sym typeface="Source Sans 3"/>
            </a:endParaRPr>
          </a:p>
        </p:txBody>
      </p:sp>
      <p:sp>
        <p:nvSpPr>
          <p:cNvPr id="640" name="Google Shape;640;p19"/>
          <p:cNvSpPr/>
          <p:nvPr/>
        </p:nvSpPr>
        <p:spPr>
          <a:xfrm>
            <a:off x="6350000" y="1971030"/>
            <a:ext cx="512445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Demand index (visits, people, pounds per 1,000) minus need index, for every county in 2022, 2023 and 2024</a:t>
            </a:r>
            <a:endParaRPr b="0" i="0" sz="1200" u="none" cap="none" strike="noStrike">
              <a:solidFill>
                <a:schemeClr val="dk1"/>
              </a:solidFill>
              <a:latin typeface="Source Sans 3"/>
              <a:ea typeface="Source Sans 3"/>
              <a:cs typeface="Source Sans 3"/>
              <a:sym typeface="Source Sans 3"/>
            </a:endParaRPr>
          </a:p>
        </p:txBody>
      </p:sp>
      <p:sp>
        <p:nvSpPr>
          <p:cNvPr id="641" name="Google Shape;641;p19"/>
          <p:cNvSpPr/>
          <p:nvPr/>
        </p:nvSpPr>
        <p:spPr>
          <a:xfrm>
            <a:off x="609600" y="2699990"/>
            <a:ext cx="6750000" cy="1032421"/>
          </a:xfrm>
          <a:prstGeom prst="roundRect">
            <a:avLst>
              <a:gd fmla="val 11071"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19"/>
          <p:cNvSpPr/>
          <p:nvPr/>
        </p:nvSpPr>
        <p:spPr>
          <a:xfrm>
            <a:off x="787400" y="2852390"/>
            <a:ext cx="63944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NEED ABOVE ACTIVITY, ALL 3 YEARS</a:t>
            </a:r>
            <a:endParaRPr b="0" i="0" sz="1200" u="none" cap="none" strike="noStrike">
              <a:solidFill>
                <a:schemeClr val="dk1"/>
              </a:solidFill>
              <a:latin typeface="Source Sans 3"/>
              <a:ea typeface="Source Sans 3"/>
              <a:cs typeface="Source Sans 3"/>
              <a:sym typeface="Source Sans 3"/>
            </a:endParaRPr>
          </a:p>
        </p:txBody>
      </p:sp>
      <p:sp>
        <p:nvSpPr>
          <p:cNvPr id="643" name="Google Shape;643;p19"/>
          <p:cNvSpPr/>
          <p:nvPr/>
        </p:nvSpPr>
        <p:spPr>
          <a:xfrm>
            <a:off x="787400" y="3103810"/>
            <a:ext cx="6394400" cy="26541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1800"/>
              <a:buFont typeface="Source Serif 4"/>
              <a:buNone/>
            </a:pPr>
            <a:r>
              <a:rPr b="1" i="0" lang="en-US" sz="1600" u="none" cap="none" strike="noStrike">
                <a:solidFill>
                  <a:srgbClr val="F7F2E8"/>
                </a:solidFill>
                <a:latin typeface="Source Serif 4"/>
                <a:ea typeface="Source Serif 4"/>
                <a:cs typeface="Source Serif 4"/>
                <a:sym typeface="Source Serif 4"/>
              </a:rPr>
              <a:t>Swift · Grant · Todd · Benton · Aitkin · Norman · Nicollet</a:t>
            </a:r>
            <a:endParaRPr b="0" i="0" sz="1800" u="none" cap="none" strike="noStrike">
              <a:solidFill>
                <a:schemeClr val="dk1"/>
              </a:solidFill>
              <a:latin typeface="Source Sans 3"/>
              <a:ea typeface="Source Sans 3"/>
              <a:cs typeface="Source Sans 3"/>
              <a:sym typeface="Source Sans 3"/>
            </a:endParaRPr>
          </a:p>
        </p:txBody>
      </p:sp>
      <p:sp>
        <p:nvSpPr>
          <p:cNvPr id="644" name="Google Shape;644;p19"/>
          <p:cNvSpPr/>
          <p:nvPr/>
        </p:nvSpPr>
        <p:spPr>
          <a:xfrm>
            <a:off x="787400" y="3381920"/>
            <a:ext cx="63944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Swift: one food shelf, the most rural code in the state</a:t>
            </a:r>
            <a:endParaRPr b="0" i="0" sz="1200" u="none" cap="none" strike="noStrike">
              <a:solidFill>
                <a:schemeClr val="dk1"/>
              </a:solidFill>
              <a:latin typeface="Source Sans 3"/>
              <a:ea typeface="Source Sans 3"/>
              <a:cs typeface="Source Sans 3"/>
              <a:sym typeface="Source Sans 3"/>
            </a:endParaRPr>
          </a:p>
        </p:txBody>
      </p:sp>
      <p:sp>
        <p:nvSpPr>
          <p:cNvPr id="645" name="Google Shape;645;p19"/>
          <p:cNvSpPr/>
          <p:nvPr/>
        </p:nvSpPr>
        <p:spPr>
          <a:xfrm>
            <a:off x="7512000" y="2699990"/>
            <a:ext cx="4070400" cy="1032421"/>
          </a:xfrm>
          <a:prstGeom prst="roundRect">
            <a:avLst>
              <a:gd fmla="val 11071" name="adj"/>
            </a:avLst>
          </a:prstGeom>
          <a:gradFill>
            <a:gsLst>
              <a:gs pos="0">
                <a:srgbClr val="D9622B"/>
              </a:gs>
              <a:gs pos="100000">
                <a:srgbClr val="E5814A"/>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19"/>
          <p:cNvSpPr/>
          <p:nvPr/>
        </p:nvSpPr>
        <p:spPr>
          <a:xfrm>
            <a:off x="7689800" y="2852390"/>
            <a:ext cx="371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1A14"/>
              </a:buClr>
              <a:buSzPts val="1200"/>
              <a:buFont typeface="Source Sans 3"/>
              <a:buNone/>
            </a:pPr>
            <a:r>
              <a:rPr b="1" i="0" lang="en-US" sz="1200" u="none" cap="none" strike="noStrike">
                <a:solidFill>
                  <a:srgbClr val="1F1A14"/>
                </a:solidFill>
                <a:latin typeface="Source Sans 3"/>
                <a:ea typeface="Source Sans 3"/>
                <a:cs typeface="Source Sans 3"/>
                <a:sym typeface="Source Sans 3"/>
              </a:rPr>
              <a:t>ACTIVITY ABOVE NEED</a:t>
            </a:r>
            <a:endParaRPr b="0" i="0" sz="1200" u="none" cap="none" strike="noStrike">
              <a:solidFill>
                <a:schemeClr val="dk1"/>
              </a:solidFill>
              <a:latin typeface="Source Sans 3"/>
              <a:ea typeface="Source Sans 3"/>
              <a:cs typeface="Source Sans 3"/>
              <a:sym typeface="Source Sans 3"/>
            </a:endParaRPr>
          </a:p>
        </p:txBody>
      </p:sp>
      <p:sp>
        <p:nvSpPr>
          <p:cNvPr id="647" name="Google Shape;647;p19"/>
          <p:cNvSpPr/>
          <p:nvPr/>
        </p:nvSpPr>
        <p:spPr>
          <a:xfrm>
            <a:off x="7689800" y="3103810"/>
            <a:ext cx="3714800" cy="26541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1A14"/>
              </a:buClr>
              <a:buSzPts val="1800"/>
              <a:buFont typeface="Source Serif 4"/>
              <a:buNone/>
            </a:pPr>
            <a:r>
              <a:rPr b="1" i="0" lang="en-US" sz="1600" u="none" cap="none" strike="noStrike">
                <a:solidFill>
                  <a:srgbClr val="1F1A14"/>
                </a:solidFill>
                <a:latin typeface="Source Serif 4"/>
                <a:ea typeface="Source Serif 4"/>
                <a:cs typeface="Source Serif 4"/>
                <a:sym typeface="Source Serif 4"/>
              </a:rPr>
              <a:t>Rice · Steele · Washington</a:t>
            </a:r>
            <a:endParaRPr b="0" i="0" sz="1800" u="none" cap="none" strike="noStrike">
              <a:solidFill>
                <a:schemeClr val="dk1"/>
              </a:solidFill>
              <a:latin typeface="Source Sans 3"/>
              <a:ea typeface="Source Sans 3"/>
              <a:cs typeface="Source Sans 3"/>
              <a:sym typeface="Source Sans 3"/>
            </a:endParaRPr>
          </a:p>
        </p:txBody>
      </p:sp>
      <p:sp>
        <p:nvSpPr>
          <p:cNvPr id="648" name="Google Shape;648;p19"/>
          <p:cNvSpPr/>
          <p:nvPr/>
        </p:nvSpPr>
        <p:spPr>
          <a:xfrm>
            <a:off x="7689800" y="3381920"/>
            <a:ext cx="37148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F1A14"/>
              </a:buClr>
              <a:buSzPts val="1200"/>
              <a:buFont typeface="Source Sans 3"/>
              <a:buNone/>
            </a:pPr>
            <a:r>
              <a:rPr b="0" i="0" lang="en-US" sz="1200" u="none" cap="none" strike="noStrike">
                <a:solidFill>
                  <a:srgbClr val="1F1A14"/>
                </a:solidFill>
                <a:latin typeface="Source Sans 3"/>
                <a:ea typeface="Source Sans 3"/>
                <a:cs typeface="Source Sans 3"/>
                <a:sym typeface="Source Sans 3"/>
              </a:rPr>
              <a:t>regional hubs serving beyond county lines</a:t>
            </a:r>
            <a:endParaRPr b="0" i="0" sz="1200" u="none" cap="none" strike="noStrike">
              <a:solidFill>
                <a:schemeClr val="dk1"/>
              </a:solidFill>
              <a:latin typeface="Source Sans 3"/>
              <a:ea typeface="Source Sans 3"/>
              <a:cs typeface="Source Sans 3"/>
              <a:sym typeface="Source Sans 3"/>
            </a:endParaRPr>
          </a:p>
        </p:txBody>
      </p:sp>
      <p:sp>
        <p:nvSpPr>
          <p:cNvPr id="649" name="Google Shape;649;p19"/>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20</a:t>
            </a:r>
            <a:r>
              <a:rPr b="0" i="0" lang="en-US" sz="1200" u="none" cap="none" strike="noStrike">
                <a:solidFill>
                  <a:srgbClr val="4B5A50"/>
                </a:solidFill>
                <a:latin typeface="Source Sans 3"/>
                <a:ea typeface="Source Sans 3"/>
                <a:cs typeface="Source Sans 3"/>
                <a:sym typeface="Source Sans 3"/>
              </a:rPr>
              <a:t> · Feeding America, Map the Meal Gap 2022–2024; Census population · team notebook Q6_need_divergence</a:t>
            </a:r>
            <a:endParaRPr b="0" i="0" sz="1200" u="none" cap="none" strike="noStrike">
              <a:solidFill>
                <a:schemeClr val="dk1"/>
              </a:solidFill>
              <a:latin typeface="Source Sans 3"/>
              <a:ea typeface="Source Sans 3"/>
              <a:cs typeface="Source Sans 3"/>
              <a:sym typeface="Source Sans 3"/>
            </a:endParaRPr>
          </a:p>
        </p:txBody>
      </p:sp>
      <p:sp>
        <p:nvSpPr>
          <p:cNvPr id="650" name="Google Shape;650;p19"/>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1" name="Google Shape;651;p19"/>
          <p:cNvSpPr/>
          <p:nvPr/>
        </p:nvSpPr>
        <p:spPr>
          <a:xfrm>
            <a:off x="0" y="6803136"/>
            <a:ext cx="5300870"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656" name="Shape 656"/>
        <p:cNvGrpSpPr/>
        <p:nvPr/>
      </p:nvGrpSpPr>
      <p:grpSpPr>
        <a:xfrm>
          <a:off x="0" y="0"/>
          <a:ext cx="0" cy="0"/>
          <a:chOff x="0" y="0"/>
          <a:chExt cx="0" cy="0"/>
        </a:xfrm>
      </p:grpSpPr>
      <p:sp>
        <p:nvSpPr>
          <p:cNvPr id="657" name="Google Shape;657;p20"/>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20"/>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A10 · Q6 falsifiable definition</a:t>
            </a:r>
            <a:endParaRPr b="0" i="0" sz="1300" u="none" cap="none" strike="noStrike">
              <a:solidFill>
                <a:schemeClr val="dk1"/>
              </a:solidFill>
              <a:latin typeface="Source Sans 3"/>
              <a:ea typeface="Source Sans 3"/>
              <a:cs typeface="Source Sans 3"/>
              <a:sym typeface="Source Sans 3"/>
            </a:endParaRPr>
          </a:p>
        </p:txBody>
      </p:sp>
      <p:sp>
        <p:nvSpPr>
          <p:cNvPr id="659" name="Google Shape;659;p20"/>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60" name="Google Shape;660;p20"/>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61" name="Google Shape;661;p20"/>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A10</a:t>
            </a:r>
            <a:endParaRPr b="0" i="0" sz="1400" u="none" cap="none" strike="noStrike">
              <a:solidFill>
                <a:schemeClr val="dk1"/>
              </a:solidFill>
              <a:latin typeface="Source Sans 3"/>
              <a:ea typeface="Source Sans 3"/>
              <a:cs typeface="Source Sans 3"/>
              <a:sym typeface="Source Sans 3"/>
            </a:endParaRPr>
          </a:p>
        </p:txBody>
      </p:sp>
      <p:sp>
        <p:nvSpPr>
          <p:cNvPr id="662" name="Google Shape;662;p20"/>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Need index passes its own test: the food-insecurity rate explains only </a:t>
            </a:r>
            <a:r>
              <a:rPr b="1" i="0" lang="en-US" sz="2100">
                <a:solidFill>
                  <a:srgbClr val="B5501F"/>
                </a:solidFill>
                <a:latin typeface="Source Serif 4"/>
                <a:ea typeface="Source Serif 4"/>
                <a:cs typeface="Source Serif 4"/>
                <a:sym typeface="Source Serif 4"/>
              </a:rPr>
              <a:t>52%</a:t>
            </a:r>
            <a:endParaRPr sz="2100"/>
          </a:p>
        </p:txBody>
      </p:sp>
      <p:graphicFrame>
        <p:nvGraphicFramePr>
          <p:cNvPr id="663" name="Google Shape;663;p20"/>
          <p:cNvGraphicFramePr/>
          <p:nvPr/>
        </p:nvGraphicFramePr>
        <p:xfrm>
          <a:off x="622300" y="1555750"/>
          <a:ext cx="3000000" cy="3000000"/>
        </p:xfrm>
        <a:graphic>
          <a:graphicData uri="http://schemas.openxmlformats.org/drawingml/2006/table">
            <a:tbl>
              <a:tblPr>
                <a:noFill/>
                <a:tableStyleId>{B14A676D-5FE0-4728-95B7-5A5512F2545D}</a:tableStyleId>
              </a:tblPr>
              <a:tblGrid>
                <a:gridCol w="2411225"/>
                <a:gridCol w="8548875"/>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Addendum item</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Our answer</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 · Definition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Need = average of within-year z-scores of three Map the Meal Gap county measures: food-insecurity rate, cost per meal, and share of food-insecure people below the SNAP income limit.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 · Need, not demand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No input comes from food shelf activity; Map the Meal Gap models need from Census survey data and county economics. Demand enters only at the comparison.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3 · Reject it if</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It adds nothing beyond the food-insecurity rate. Tested, not rejected: the rate explains 52% (r = 0.72); meal cost and poverty depth add the rest.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 · Revise it if</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The Food Group defines need to include access, or an outside source moves counties a lot. Rurality and shelf density act as explanations, so they stay outside.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664" name="Google Shape;664;p20"/>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21</a:t>
            </a:r>
            <a:r>
              <a:rPr b="0" i="0" lang="en-US" sz="1200" u="none" cap="none" strike="noStrike">
                <a:solidFill>
                  <a:srgbClr val="4B5A50"/>
                </a:solidFill>
                <a:latin typeface="Source Sans 3"/>
                <a:ea typeface="Source Sans 3"/>
                <a:cs typeface="Source Sans 3"/>
                <a:sym typeface="Source Sans 3"/>
              </a:rPr>
              <a:t> · Team notebook Q6_need_divergence, section 6</a:t>
            </a:r>
            <a:endParaRPr b="0" i="0" sz="1200" u="none" cap="none" strike="noStrike">
              <a:solidFill>
                <a:schemeClr val="dk1"/>
              </a:solidFill>
              <a:latin typeface="Source Sans 3"/>
              <a:ea typeface="Source Sans 3"/>
              <a:cs typeface="Source Sans 3"/>
              <a:sym typeface="Source Sans 3"/>
            </a:endParaRPr>
          </a:p>
        </p:txBody>
      </p:sp>
      <p:sp>
        <p:nvSpPr>
          <p:cNvPr id="665" name="Google Shape;665;p20"/>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6" name="Google Shape;666;p20"/>
          <p:cNvSpPr/>
          <p:nvPr/>
        </p:nvSpPr>
        <p:spPr>
          <a:xfrm>
            <a:off x="0" y="6803136"/>
            <a:ext cx="5830957"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671" name="Shape 671"/>
        <p:cNvGrpSpPr/>
        <p:nvPr/>
      </p:nvGrpSpPr>
      <p:grpSpPr>
        <a:xfrm>
          <a:off x="0" y="0"/>
          <a:ext cx="0" cy="0"/>
          <a:chOff x="0" y="0"/>
          <a:chExt cx="0" cy="0"/>
        </a:xfrm>
      </p:grpSpPr>
      <p:sp>
        <p:nvSpPr>
          <p:cNvPr id="672" name="Google Shape;672;p21"/>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21"/>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A11 · Q6 drivers, robustness</a:t>
            </a:r>
            <a:endParaRPr b="0" i="0" sz="1300" u="none" cap="none" strike="noStrike">
              <a:solidFill>
                <a:schemeClr val="dk1"/>
              </a:solidFill>
              <a:latin typeface="Source Sans 3"/>
              <a:ea typeface="Source Sans 3"/>
              <a:cs typeface="Source Sans 3"/>
              <a:sym typeface="Source Sans 3"/>
            </a:endParaRPr>
          </a:p>
        </p:txBody>
      </p:sp>
      <p:sp>
        <p:nvSpPr>
          <p:cNvPr id="674" name="Google Shape;674;p21"/>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75" name="Google Shape;675;p21"/>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76" name="Google Shape;676;p21"/>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A11</a:t>
            </a:r>
            <a:endParaRPr b="0" i="0" sz="1400" u="none" cap="none" strike="noStrike">
              <a:solidFill>
                <a:schemeClr val="dk1"/>
              </a:solidFill>
              <a:latin typeface="Source Sans 3"/>
              <a:ea typeface="Source Sans 3"/>
              <a:cs typeface="Source Sans 3"/>
              <a:sym typeface="Source Sans 3"/>
            </a:endParaRPr>
          </a:p>
        </p:txBody>
      </p:sp>
      <p:sp>
        <p:nvSpPr>
          <p:cNvPr id="677" name="Google Shape;677;p21"/>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Rurality drives hidden need; ranks hold (</a:t>
            </a:r>
            <a:r>
              <a:rPr b="1" i="0" lang="en-US" sz="2100">
                <a:solidFill>
                  <a:srgbClr val="B5501F"/>
                </a:solidFill>
                <a:latin typeface="Source Serif 4"/>
                <a:ea typeface="Source Serif 4"/>
                <a:cs typeface="Source Serif 4"/>
                <a:sym typeface="Source Serif 4"/>
              </a:rPr>
              <a:t>r ≥ 0.81</a:t>
            </a:r>
            <a:r>
              <a:rPr b="1" i="0" lang="en-US" sz="2100">
                <a:solidFill>
                  <a:srgbClr val="1F3B2D"/>
                </a:solidFill>
                <a:latin typeface="Source Serif 4"/>
                <a:ea typeface="Source Serif 4"/>
                <a:cs typeface="Source Serif 4"/>
                <a:sym typeface="Source Serif 4"/>
              </a:rPr>
              <a:t>) across 5 weightings</a:t>
            </a:r>
            <a:endParaRPr sz="2100"/>
          </a:p>
        </p:txBody>
      </p:sp>
      <p:sp>
        <p:nvSpPr>
          <p:cNvPr id="678" name="Google Shape;678;p21"/>
          <p:cNvSpPr/>
          <p:nvPr/>
        </p:nvSpPr>
        <p:spPr>
          <a:xfrm>
            <a:off x="609600" y="1555750"/>
            <a:ext cx="5410200" cy="1283841"/>
          </a:xfrm>
          <a:prstGeom prst="roundRect">
            <a:avLst>
              <a:gd fmla="val 8903"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21"/>
          <p:cNvSpPr/>
          <p:nvPr/>
        </p:nvSpPr>
        <p:spPr>
          <a:xfrm>
            <a:off x="787400" y="1708150"/>
            <a:ext cx="5130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DRIVERS · 258 COUNTY-YEARS</a:t>
            </a:r>
            <a:endParaRPr b="0" i="0" sz="1200" u="none" cap="none" strike="noStrike">
              <a:solidFill>
                <a:schemeClr val="dk1"/>
              </a:solidFill>
              <a:latin typeface="Source Sans 3"/>
              <a:ea typeface="Source Sans 3"/>
              <a:cs typeface="Source Sans 3"/>
              <a:sym typeface="Source Sans 3"/>
            </a:endParaRPr>
          </a:p>
        </p:txBody>
      </p:sp>
      <p:sp>
        <p:nvSpPr>
          <p:cNvPr id="680" name="Google Shape;680;p21"/>
          <p:cNvSpPr/>
          <p:nvPr/>
        </p:nvSpPr>
        <p:spPr>
          <a:xfrm>
            <a:off x="787400" y="1959571"/>
            <a:ext cx="5130800" cy="31874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2200"/>
              <a:buFont typeface="Source Serif 4"/>
              <a:buNone/>
            </a:pPr>
            <a:r>
              <a:rPr b="1" i="0" lang="en-US" sz="2200" u="none" cap="none" strike="noStrike">
                <a:solidFill>
                  <a:srgbClr val="F7F2E8"/>
                </a:solidFill>
                <a:latin typeface="Source Serif 4"/>
                <a:ea typeface="Source Serif 4"/>
                <a:cs typeface="Source Serif 4"/>
                <a:sym typeface="Source Serif 4"/>
              </a:rPr>
              <a:t>Rurality</a:t>
            </a:r>
            <a:endParaRPr b="0" i="0" sz="2200" u="none" cap="none" strike="noStrike">
              <a:solidFill>
                <a:schemeClr val="dk1"/>
              </a:solidFill>
              <a:latin typeface="Source Sans 3"/>
              <a:ea typeface="Source Sans 3"/>
              <a:cs typeface="Source Sans 3"/>
              <a:sym typeface="Source Sans 3"/>
            </a:endParaRPr>
          </a:p>
        </p:txBody>
      </p:sp>
      <p:sp>
        <p:nvSpPr>
          <p:cNvPr id="681" name="Google Shape;681;p21"/>
          <p:cNvSpPr/>
          <p:nvPr/>
        </p:nvSpPr>
        <p:spPr>
          <a:xfrm>
            <a:off x="787400" y="2291011"/>
            <a:ext cx="5130800" cy="4215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−0.141 per step on the 1–9 scale (p &lt; .001); shelves per 10k food-insecure +0.015 (p = .04); R² = 0.12</a:t>
            </a:r>
            <a:endParaRPr b="0" i="0" sz="1200" u="none" cap="none" strike="noStrike">
              <a:solidFill>
                <a:schemeClr val="dk1"/>
              </a:solidFill>
              <a:latin typeface="Source Sans 3"/>
              <a:ea typeface="Source Sans 3"/>
              <a:cs typeface="Source Sans 3"/>
              <a:sym typeface="Source Sans 3"/>
            </a:endParaRPr>
          </a:p>
        </p:txBody>
      </p:sp>
      <p:sp>
        <p:nvSpPr>
          <p:cNvPr id="682" name="Google Shape;682;p21"/>
          <p:cNvSpPr/>
          <p:nvPr/>
        </p:nvSpPr>
        <p:spPr>
          <a:xfrm>
            <a:off x="6172200" y="1555750"/>
            <a:ext cx="5410200" cy="1283841"/>
          </a:xfrm>
          <a:prstGeom prst="roundRect">
            <a:avLst>
              <a:gd fmla="val 8903" name="adj"/>
            </a:avLst>
          </a:prstGeom>
          <a:gradFill>
            <a:gsLst>
              <a:gs pos="0">
                <a:srgbClr val="D9622B"/>
              </a:gs>
              <a:gs pos="100000">
                <a:srgbClr val="E5814A"/>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21"/>
          <p:cNvSpPr/>
          <p:nvPr/>
        </p:nvSpPr>
        <p:spPr>
          <a:xfrm>
            <a:off x="6350000" y="1708150"/>
            <a:ext cx="5130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1A14"/>
              </a:buClr>
              <a:buSzPts val="1200"/>
              <a:buFont typeface="Source Sans 3"/>
              <a:buNone/>
            </a:pPr>
            <a:r>
              <a:rPr b="1" i="0" lang="en-US" sz="1200" u="none" cap="none" strike="noStrike">
                <a:solidFill>
                  <a:srgbClr val="1F1A14"/>
                </a:solidFill>
                <a:latin typeface="Source Sans 3"/>
                <a:ea typeface="Source Sans 3"/>
                <a:cs typeface="Source Sans 3"/>
                <a:sym typeface="Source Sans 3"/>
              </a:rPr>
              <a:t>WEIGHTING CHECK · 5 VERSIONS</a:t>
            </a:r>
            <a:endParaRPr b="0" i="0" sz="1200" u="none" cap="none" strike="noStrike">
              <a:solidFill>
                <a:schemeClr val="dk1"/>
              </a:solidFill>
              <a:latin typeface="Source Sans 3"/>
              <a:ea typeface="Source Sans 3"/>
              <a:cs typeface="Source Sans 3"/>
              <a:sym typeface="Source Sans 3"/>
            </a:endParaRPr>
          </a:p>
        </p:txBody>
      </p:sp>
      <p:sp>
        <p:nvSpPr>
          <p:cNvPr id="684" name="Google Shape;684;p21"/>
          <p:cNvSpPr/>
          <p:nvPr/>
        </p:nvSpPr>
        <p:spPr>
          <a:xfrm>
            <a:off x="6350000" y="1959571"/>
            <a:ext cx="5130800" cy="31874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1A14"/>
              </a:buClr>
              <a:buSzPts val="2200"/>
              <a:buFont typeface="Source Serif 4"/>
              <a:buNone/>
            </a:pPr>
            <a:r>
              <a:rPr b="1" i="0" lang="en-US" sz="2200" u="none" cap="none" strike="noStrike">
                <a:solidFill>
                  <a:srgbClr val="1F1A14"/>
                </a:solidFill>
                <a:latin typeface="Source Serif 4"/>
                <a:ea typeface="Source Serif 4"/>
                <a:cs typeface="Source Serif 4"/>
                <a:sym typeface="Source Serif 4"/>
              </a:rPr>
              <a:t>Stable</a:t>
            </a:r>
            <a:endParaRPr b="0" i="0" sz="2200" u="none" cap="none" strike="noStrike">
              <a:solidFill>
                <a:schemeClr val="dk1"/>
              </a:solidFill>
              <a:latin typeface="Source Sans 3"/>
              <a:ea typeface="Source Sans 3"/>
              <a:cs typeface="Source Sans 3"/>
              <a:sym typeface="Source Sans 3"/>
            </a:endParaRPr>
          </a:p>
        </p:txBody>
      </p:sp>
      <p:sp>
        <p:nvSpPr>
          <p:cNvPr id="685" name="Google Shape;685;p21"/>
          <p:cNvSpPr/>
          <p:nvPr/>
        </p:nvSpPr>
        <p:spPr>
          <a:xfrm>
            <a:off x="6350000" y="2291011"/>
            <a:ext cx="5130800" cy="4215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F1A14"/>
              </a:buClr>
              <a:buSzPts val="1200"/>
              <a:buFont typeface="Source Sans 3"/>
              <a:buNone/>
            </a:pPr>
            <a:r>
              <a:rPr b="0" i="0" lang="en-US" sz="1200" u="none" cap="none" strike="noStrike">
                <a:solidFill>
                  <a:srgbClr val="1F1A14"/>
                </a:solidFill>
                <a:latin typeface="Source Sans 3"/>
                <a:ea typeface="Source Sans 3"/>
                <a:cs typeface="Source Sans 3"/>
                <a:sym typeface="Source Sans 3"/>
              </a:rPr>
              <a:t>rank r 0.81–0.98; rural cluster keeps 6–9 of 9 counties when a part is dropped, 4 of 9 on the rate alone</a:t>
            </a:r>
            <a:endParaRPr b="0" i="0" sz="1200" u="none" cap="none" strike="noStrike">
              <a:solidFill>
                <a:schemeClr val="dk1"/>
              </a:solidFill>
              <a:latin typeface="Source Sans 3"/>
              <a:ea typeface="Source Sans 3"/>
              <a:cs typeface="Source Sans 3"/>
              <a:sym typeface="Source Sans 3"/>
            </a:endParaRPr>
          </a:p>
        </p:txBody>
      </p:sp>
      <p:sp>
        <p:nvSpPr>
          <p:cNvPr id="686" name="Google Shape;686;p21"/>
          <p:cNvSpPr/>
          <p:nvPr/>
        </p:nvSpPr>
        <p:spPr>
          <a:xfrm>
            <a:off x="609600" y="3017391"/>
            <a:ext cx="10972800" cy="711150"/>
          </a:xfrm>
          <a:prstGeom prst="roundRect">
            <a:avLst>
              <a:gd fmla="val 16073"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21"/>
          <p:cNvSpPr/>
          <p:nvPr/>
        </p:nvSpPr>
        <p:spPr>
          <a:xfrm>
            <a:off x="774700" y="3144391"/>
            <a:ext cx="107061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NEED VS EACH ACTIVITY METRIC, PER 1,000 RESIDENTS</a:t>
            </a:r>
            <a:endParaRPr b="0" i="0" sz="1200" u="none" cap="none" strike="noStrike">
              <a:solidFill>
                <a:schemeClr val="dk1"/>
              </a:solidFill>
              <a:latin typeface="Source Sans 3"/>
              <a:ea typeface="Source Sans 3"/>
              <a:cs typeface="Source Sans 3"/>
              <a:sym typeface="Source Sans 3"/>
            </a:endParaRPr>
          </a:p>
        </p:txBody>
      </p:sp>
      <p:sp>
        <p:nvSpPr>
          <p:cNvPr id="688" name="Google Shape;688;p21"/>
          <p:cNvSpPr/>
          <p:nvPr/>
        </p:nvSpPr>
        <p:spPr>
          <a:xfrm>
            <a:off x="774700" y="3395812"/>
            <a:ext cx="1070610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r from −0.15 to 0.29 across 2022–24, while the three activity metrics agree with each other (r 0.85–0.96). Activity is consistent; it just does not follow need.</a:t>
            </a:r>
            <a:endParaRPr b="0" i="0" sz="1200" u="none" cap="none" strike="noStrike">
              <a:solidFill>
                <a:schemeClr val="dk1"/>
              </a:solidFill>
              <a:latin typeface="Source Sans 3"/>
              <a:ea typeface="Source Sans 3"/>
              <a:cs typeface="Source Sans 3"/>
              <a:sym typeface="Source Sans 3"/>
            </a:endParaRPr>
          </a:p>
        </p:txBody>
      </p:sp>
      <p:sp>
        <p:nvSpPr>
          <p:cNvPr id="689" name="Google Shape;689;p21"/>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22</a:t>
            </a:r>
            <a:r>
              <a:rPr b="0" i="0" lang="en-US" sz="1200" u="none" cap="none" strike="noStrike">
                <a:solidFill>
                  <a:srgbClr val="4B5A50"/>
                </a:solidFill>
                <a:latin typeface="Source Sans 3"/>
                <a:ea typeface="Source Sans 3"/>
                <a:cs typeface="Source Sans 3"/>
                <a:sym typeface="Source Sans 3"/>
              </a:rPr>
              <a:t> · Standard errors clustered by county · team notebook Q6_need_divergence, sections 2b, 4b, 4c</a:t>
            </a:r>
            <a:endParaRPr b="0" i="0" sz="1200" u="none" cap="none" strike="noStrike">
              <a:solidFill>
                <a:schemeClr val="dk1"/>
              </a:solidFill>
              <a:latin typeface="Source Sans 3"/>
              <a:ea typeface="Source Sans 3"/>
              <a:cs typeface="Source Sans 3"/>
              <a:sym typeface="Source Sans 3"/>
            </a:endParaRPr>
          </a:p>
        </p:txBody>
      </p:sp>
      <p:sp>
        <p:nvSpPr>
          <p:cNvPr id="690" name="Google Shape;690;p21"/>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1" name="Google Shape;691;p21"/>
          <p:cNvSpPr/>
          <p:nvPr/>
        </p:nvSpPr>
        <p:spPr>
          <a:xfrm>
            <a:off x="0" y="6803136"/>
            <a:ext cx="6361043"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696" name="Shape 696"/>
        <p:cNvGrpSpPr/>
        <p:nvPr/>
      </p:nvGrpSpPr>
      <p:grpSpPr>
        <a:xfrm>
          <a:off x="0" y="0"/>
          <a:ext cx="0" cy="0"/>
          <a:chOff x="0" y="0"/>
          <a:chExt cx="0" cy="0"/>
        </a:xfrm>
      </p:grpSpPr>
      <p:sp>
        <p:nvSpPr>
          <p:cNvPr id="697" name="Google Shape;697;p22"/>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22"/>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A12 · Q4 results</a:t>
            </a:r>
            <a:endParaRPr b="0" i="0" sz="1300" u="none" cap="none" strike="noStrike">
              <a:solidFill>
                <a:schemeClr val="dk1"/>
              </a:solidFill>
              <a:latin typeface="Source Sans 3"/>
              <a:ea typeface="Source Sans 3"/>
              <a:cs typeface="Source Sans 3"/>
              <a:sym typeface="Source Sans 3"/>
            </a:endParaRPr>
          </a:p>
        </p:txBody>
      </p:sp>
      <p:sp>
        <p:nvSpPr>
          <p:cNvPr id="699" name="Google Shape;699;p22"/>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700" name="Google Shape;700;p22"/>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701" name="Google Shape;701;p22"/>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A12</a:t>
            </a:r>
            <a:endParaRPr b="0" i="0" sz="1400" u="none" cap="none" strike="noStrike">
              <a:solidFill>
                <a:schemeClr val="dk1"/>
              </a:solidFill>
              <a:latin typeface="Source Sans 3"/>
              <a:ea typeface="Source Sans 3"/>
              <a:cs typeface="Source Sans 3"/>
              <a:sym typeface="Source Sans 3"/>
            </a:endParaRPr>
          </a:p>
        </p:txBody>
      </p:sp>
      <p:sp>
        <p:nvSpPr>
          <p:cNvPr id="702" name="Google Shape;702;p22"/>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Prices add </a:t>
            </a:r>
            <a:r>
              <a:rPr b="1" i="0" lang="en-US" sz="2100">
                <a:solidFill>
                  <a:srgbClr val="B5501F"/>
                </a:solidFill>
                <a:latin typeface="Source Serif 4"/>
                <a:ea typeface="Source Serif 4"/>
                <a:cs typeface="Source Serif 4"/>
                <a:sym typeface="Source Serif 4"/>
              </a:rPr>
              <a:t>~1 pt</a:t>
            </a:r>
            <a:r>
              <a:rPr b="1" i="0" lang="en-US" sz="2100">
                <a:solidFill>
                  <a:srgbClr val="1F3B2D"/>
                </a:solidFill>
                <a:latin typeface="Source Serif 4"/>
                <a:ea typeface="Source Serif 4"/>
                <a:cs typeface="Source Serif 4"/>
                <a:sym typeface="Source Serif 4"/>
              </a:rPr>
              <a:t> a month; seasons swing </a:t>
            </a:r>
            <a:r>
              <a:rPr b="1" i="0" lang="en-US" sz="2100">
                <a:solidFill>
                  <a:srgbClr val="B5501F"/>
                </a:solidFill>
                <a:latin typeface="Source Serif 4"/>
                <a:ea typeface="Source Serif 4"/>
                <a:cs typeface="Source Serif 4"/>
                <a:sym typeface="Source Serif 4"/>
              </a:rPr>
              <a:t>5–7 pts</a:t>
            </a:r>
            <a:r>
              <a:rPr b="1" i="0" lang="en-US" sz="2100">
                <a:solidFill>
                  <a:srgbClr val="1F3B2D"/>
                </a:solidFill>
                <a:latin typeface="Source Serif 4"/>
                <a:ea typeface="Source Serif 4"/>
                <a:cs typeface="Source Serif 4"/>
                <a:sym typeface="Source Serif 4"/>
              </a:rPr>
              <a:t> and the SNAP cut </a:t>
            </a:r>
            <a:r>
              <a:rPr b="1" i="0" lang="en-US" sz="2100">
                <a:solidFill>
                  <a:srgbClr val="B5501F"/>
                </a:solidFill>
                <a:latin typeface="Source Serif 4"/>
                <a:ea typeface="Source Serif 4"/>
                <a:cs typeface="Source Serif 4"/>
                <a:sym typeface="Source Serif 4"/>
              </a:rPr>
              <a:t>16–19 pts</a:t>
            </a:r>
            <a:endParaRPr sz="2100"/>
          </a:p>
        </p:txBody>
      </p:sp>
      <p:sp>
        <p:nvSpPr>
          <p:cNvPr id="703" name="Google Shape;703;p22"/>
          <p:cNvSpPr/>
          <p:nvPr/>
        </p:nvSpPr>
        <p:spPr>
          <a:xfrm>
            <a:off x="615950" y="1555750"/>
            <a:ext cx="10960100" cy="1638300"/>
          </a:xfrm>
          <a:prstGeom prst="roundRect">
            <a:avLst>
              <a:gd fmla="val 6589"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22"/>
          <p:cNvSpPr/>
          <p:nvPr/>
        </p:nvSpPr>
        <p:spPr>
          <a:xfrm>
            <a:off x="812800" y="1789410"/>
            <a:ext cx="366268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Typical monthly price rise (+0.22%)</a:t>
            </a:r>
            <a:endParaRPr b="0" i="0" sz="1300" u="none" cap="none" strike="noStrike">
              <a:solidFill>
                <a:schemeClr val="dk1"/>
              </a:solidFill>
              <a:latin typeface="Source Sans 3"/>
              <a:ea typeface="Source Sans 3"/>
              <a:cs typeface="Source Sans 3"/>
              <a:sym typeface="Source Sans 3"/>
            </a:endParaRPr>
          </a:p>
        </p:txBody>
      </p:sp>
      <p:sp>
        <p:nvSpPr>
          <p:cNvPr id="705" name="Google Shape;705;p22"/>
          <p:cNvSpPr/>
          <p:nvPr/>
        </p:nvSpPr>
        <p:spPr>
          <a:xfrm>
            <a:off x="4521200" y="1752600"/>
            <a:ext cx="254000" cy="304800"/>
          </a:xfrm>
          <a:prstGeom prst="roundRect">
            <a:avLst>
              <a:gd fmla="val 25000"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22"/>
          <p:cNvSpPr/>
          <p:nvPr/>
        </p:nvSpPr>
        <p:spPr>
          <a:xfrm>
            <a:off x="4927600" y="1771650"/>
            <a:ext cx="717233"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 +1 pt</a:t>
            </a:r>
            <a:endParaRPr b="0" i="0" sz="1500" u="none" cap="none" strike="noStrike">
              <a:solidFill>
                <a:schemeClr val="dk1"/>
              </a:solidFill>
              <a:latin typeface="Source Sans 3"/>
              <a:ea typeface="Source Sans 3"/>
              <a:cs typeface="Source Sans 3"/>
              <a:sym typeface="Source Sans 3"/>
            </a:endParaRPr>
          </a:p>
        </p:txBody>
      </p:sp>
      <p:sp>
        <p:nvSpPr>
          <p:cNvPr id="707" name="Google Shape;707;p22"/>
          <p:cNvSpPr/>
          <p:nvPr/>
        </p:nvSpPr>
        <p:spPr>
          <a:xfrm>
            <a:off x="5677694" y="1798340"/>
            <a:ext cx="579675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per month</a:t>
            </a:r>
            <a:endParaRPr b="0" i="0" sz="1200" u="none" cap="none" strike="noStrike">
              <a:solidFill>
                <a:schemeClr val="dk1"/>
              </a:solidFill>
              <a:latin typeface="Source Sans 3"/>
              <a:ea typeface="Source Sans 3"/>
              <a:cs typeface="Source Sans 3"/>
              <a:sym typeface="Source Sans 3"/>
            </a:endParaRPr>
          </a:p>
        </p:txBody>
      </p:sp>
      <p:sp>
        <p:nvSpPr>
          <p:cNvPr id="708" name="Google Shape;708;p22"/>
          <p:cNvSpPr/>
          <p:nvPr/>
        </p:nvSpPr>
        <p:spPr>
          <a:xfrm>
            <a:off x="812800" y="2259310"/>
            <a:ext cx="366268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Seasonal swing (Aug, Oct–Nov peaks)</a:t>
            </a:r>
            <a:endParaRPr b="0" i="0" sz="1300" u="none" cap="none" strike="noStrike">
              <a:solidFill>
                <a:schemeClr val="dk1"/>
              </a:solidFill>
              <a:latin typeface="Source Sans 3"/>
              <a:ea typeface="Source Sans 3"/>
              <a:cs typeface="Source Sans 3"/>
              <a:sym typeface="Source Sans 3"/>
            </a:endParaRPr>
          </a:p>
        </p:txBody>
      </p:sp>
      <p:sp>
        <p:nvSpPr>
          <p:cNvPr id="709" name="Google Shape;709;p22"/>
          <p:cNvSpPr/>
          <p:nvPr/>
        </p:nvSpPr>
        <p:spPr>
          <a:xfrm>
            <a:off x="4521200" y="2222500"/>
            <a:ext cx="1651000" cy="304800"/>
          </a:xfrm>
          <a:prstGeom prst="roundRect">
            <a:avLst>
              <a:gd fmla="val 20833"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22"/>
          <p:cNvSpPr/>
          <p:nvPr/>
        </p:nvSpPr>
        <p:spPr>
          <a:xfrm>
            <a:off x="6324600" y="2241550"/>
            <a:ext cx="1015653"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±5 to 7 pts</a:t>
            </a:r>
            <a:endParaRPr b="0" i="0" sz="1500" u="none" cap="none" strike="noStrike">
              <a:solidFill>
                <a:schemeClr val="dk1"/>
              </a:solidFill>
              <a:latin typeface="Source Sans 3"/>
              <a:ea typeface="Source Sans 3"/>
              <a:cs typeface="Source Sans 3"/>
              <a:sym typeface="Source Sans 3"/>
            </a:endParaRPr>
          </a:p>
        </p:txBody>
      </p:sp>
      <p:sp>
        <p:nvSpPr>
          <p:cNvPr id="711" name="Google Shape;711;p22"/>
          <p:cNvSpPr/>
          <p:nvPr/>
        </p:nvSpPr>
        <p:spPr>
          <a:xfrm>
            <a:off x="7340253" y="2268240"/>
            <a:ext cx="413419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every year</a:t>
            </a:r>
            <a:endParaRPr b="0" i="0" sz="1200" u="none" cap="none" strike="noStrike">
              <a:solidFill>
                <a:schemeClr val="dk1"/>
              </a:solidFill>
              <a:latin typeface="Source Sans 3"/>
              <a:ea typeface="Source Sans 3"/>
              <a:cs typeface="Source Sans 3"/>
              <a:sym typeface="Source Sans 3"/>
            </a:endParaRPr>
          </a:p>
        </p:txBody>
      </p:sp>
      <p:sp>
        <p:nvSpPr>
          <p:cNvPr id="712" name="Google Shape;712;p22"/>
          <p:cNvSpPr/>
          <p:nvPr/>
        </p:nvSpPr>
        <p:spPr>
          <a:xfrm>
            <a:off x="812800" y="2729210"/>
            <a:ext cx="366268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SNAP allotments end (Mar 2023)</a:t>
            </a:r>
            <a:endParaRPr b="0" i="0" sz="1300" u="none" cap="none" strike="noStrike">
              <a:solidFill>
                <a:schemeClr val="dk1"/>
              </a:solidFill>
              <a:latin typeface="Source Sans 3"/>
              <a:ea typeface="Source Sans 3"/>
              <a:cs typeface="Source Sans 3"/>
              <a:sym typeface="Source Sans 3"/>
            </a:endParaRPr>
          </a:p>
        </p:txBody>
      </p:sp>
      <p:sp>
        <p:nvSpPr>
          <p:cNvPr id="713" name="Google Shape;713;p22"/>
          <p:cNvSpPr/>
          <p:nvPr/>
        </p:nvSpPr>
        <p:spPr>
          <a:xfrm>
            <a:off x="4521200" y="2692400"/>
            <a:ext cx="4572000" cy="304800"/>
          </a:xfrm>
          <a:prstGeom prst="roundRect">
            <a:avLst>
              <a:gd fmla="val 20833"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22"/>
          <p:cNvSpPr/>
          <p:nvPr/>
        </p:nvSpPr>
        <p:spPr>
          <a:xfrm>
            <a:off x="9245600" y="2711450"/>
            <a:ext cx="1280041"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+16 to 19 pts</a:t>
            </a:r>
            <a:endParaRPr b="0" i="0" sz="1500" u="none" cap="none" strike="noStrike">
              <a:solidFill>
                <a:schemeClr val="dk1"/>
              </a:solidFill>
              <a:latin typeface="Source Sans 3"/>
              <a:ea typeface="Source Sans 3"/>
              <a:cs typeface="Source Sans 3"/>
              <a:sym typeface="Source Sans 3"/>
            </a:endParaRPr>
          </a:p>
        </p:txBody>
      </p:sp>
      <p:sp>
        <p:nvSpPr>
          <p:cNvPr id="715" name="Google Shape;715;p22"/>
          <p:cNvSpPr/>
          <p:nvPr/>
        </p:nvSpPr>
        <p:spPr>
          <a:xfrm>
            <a:off x="615950" y="3384550"/>
            <a:ext cx="35433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22"/>
          <p:cNvSpPr/>
          <p:nvPr/>
        </p:nvSpPr>
        <p:spPr>
          <a:xfrm>
            <a:off x="787400" y="3517900"/>
            <a:ext cx="32702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Same month</a:t>
            </a:r>
            <a:endParaRPr b="0" i="0" sz="1300" u="none" cap="none" strike="noStrike">
              <a:solidFill>
                <a:schemeClr val="dk1"/>
              </a:solidFill>
              <a:latin typeface="Source Sans 3"/>
              <a:ea typeface="Source Sans 3"/>
              <a:cs typeface="Source Sans 3"/>
              <a:sym typeface="Source Sans 3"/>
            </a:endParaRPr>
          </a:p>
        </p:txBody>
      </p:sp>
      <p:sp>
        <p:nvSpPr>
          <p:cNvPr id="717" name="Google Shape;717;p22"/>
          <p:cNvSpPr/>
          <p:nvPr/>
        </p:nvSpPr>
        <p:spPr>
          <a:xfrm>
            <a:off x="787400" y="3799830"/>
            <a:ext cx="327025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No effect: r ≈ 0 once the shared trend is removed</a:t>
            </a:r>
            <a:endParaRPr b="0" i="0" sz="1200" u="none" cap="none" strike="noStrike">
              <a:solidFill>
                <a:schemeClr val="dk1"/>
              </a:solidFill>
              <a:latin typeface="Source Sans 3"/>
              <a:ea typeface="Source Sans 3"/>
              <a:cs typeface="Source Sans 3"/>
              <a:sym typeface="Source Sans 3"/>
            </a:endParaRPr>
          </a:p>
        </p:txBody>
      </p:sp>
      <p:sp>
        <p:nvSpPr>
          <p:cNvPr id="718" name="Google Shape;718;p22"/>
          <p:cNvSpPr/>
          <p:nvPr/>
        </p:nvSpPr>
        <p:spPr>
          <a:xfrm>
            <a:off x="4324350" y="3384550"/>
            <a:ext cx="35433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22"/>
          <p:cNvSpPr/>
          <p:nvPr/>
        </p:nvSpPr>
        <p:spPr>
          <a:xfrm>
            <a:off x="4495800" y="3517900"/>
            <a:ext cx="32702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Over a year</a:t>
            </a:r>
            <a:endParaRPr b="0" i="0" sz="1300" u="none" cap="none" strike="noStrike">
              <a:solidFill>
                <a:schemeClr val="dk1"/>
              </a:solidFill>
              <a:latin typeface="Source Sans 3"/>
              <a:ea typeface="Source Sans 3"/>
              <a:cs typeface="Source Sans 3"/>
              <a:sym typeface="Source Sans 3"/>
            </a:endParaRPr>
          </a:p>
        </p:txBody>
      </p:sp>
      <p:sp>
        <p:nvSpPr>
          <p:cNvPr id="720" name="Google Shape;720;p22"/>
          <p:cNvSpPr/>
          <p:nvPr/>
        </p:nvSpPr>
        <p:spPr>
          <a:xfrm>
            <a:off x="4495800" y="3799830"/>
            <a:ext cx="327025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Move together (r 0.33–0.55); no precise lag survives the falsification test</a:t>
            </a:r>
            <a:endParaRPr b="0" i="0" sz="1200" u="none" cap="none" strike="noStrike">
              <a:solidFill>
                <a:schemeClr val="dk1"/>
              </a:solidFill>
              <a:latin typeface="Source Sans 3"/>
              <a:ea typeface="Source Sans 3"/>
              <a:cs typeface="Source Sans 3"/>
              <a:sym typeface="Source Sans 3"/>
            </a:endParaRPr>
          </a:p>
        </p:txBody>
      </p:sp>
      <p:sp>
        <p:nvSpPr>
          <p:cNvPr id="721" name="Google Shape;721;p22"/>
          <p:cNvSpPr/>
          <p:nvPr/>
        </p:nvSpPr>
        <p:spPr>
          <a:xfrm>
            <a:off x="8032750" y="3384550"/>
            <a:ext cx="35433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22"/>
          <p:cNvSpPr/>
          <p:nvPr/>
        </p:nvSpPr>
        <p:spPr>
          <a:xfrm>
            <a:off x="8204200" y="3517900"/>
            <a:ext cx="32702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Donor number</a:t>
            </a:r>
            <a:endParaRPr b="0" i="0" sz="1300" u="none" cap="none" strike="noStrike">
              <a:solidFill>
                <a:schemeClr val="dk1"/>
              </a:solidFill>
              <a:latin typeface="Source Sans 3"/>
              <a:ea typeface="Source Sans 3"/>
              <a:cs typeface="Source Sans 3"/>
              <a:sym typeface="Source Sans 3"/>
            </a:endParaRPr>
          </a:p>
        </p:txBody>
      </p:sp>
      <p:sp>
        <p:nvSpPr>
          <p:cNvPr id="723" name="Google Shape;723;p22"/>
          <p:cNvSpPr/>
          <p:nvPr/>
        </p:nvSpPr>
        <p:spPr>
          <a:xfrm>
            <a:off x="8204200" y="3799830"/>
            <a:ext cx="327025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+1 pt food inflation ≈ +3.4 pts faster growth in people served (CI 2.2–4.6)</a:t>
            </a:r>
            <a:endParaRPr b="0" i="0" sz="1200" u="none" cap="none" strike="noStrike">
              <a:solidFill>
                <a:schemeClr val="dk1"/>
              </a:solidFill>
              <a:latin typeface="Source Sans 3"/>
              <a:ea typeface="Source Sans 3"/>
              <a:cs typeface="Source Sans 3"/>
              <a:sym typeface="Source Sans 3"/>
            </a:endParaRPr>
          </a:p>
        </p:txBody>
      </p:sp>
      <p:sp>
        <p:nvSpPr>
          <p:cNvPr id="724" name="Google Shape;724;p22"/>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23</a:t>
            </a:r>
            <a:r>
              <a:rPr b="0" i="0" lang="en-US" sz="1200" u="none" cap="none" strike="noStrike">
                <a:solidFill>
                  <a:srgbClr val="4B5A50"/>
                </a:solidFill>
                <a:latin typeface="Source Sans 3"/>
                <a:ea typeface="Source Sans 3"/>
                <a:cs typeface="Source Sans 3"/>
                <a:sym typeface="Source Sans 3"/>
              </a:rPr>
              <a:t> · BLS CPI-U Food at Home, Midwest Urban, via FRED; The Food Group · team notebook Q4_FINAL</a:t>
            </a:r>
            <a:endParaRPr b="0" i="0" sz="1200" u="none" cap="none" strike="noStrike">
              <a:solidFill>
                <a:schemeClr val="dk1"/>
              </a:solidFill>
              <a:latin typeface="Source Sans 3"/>
              <a:ea typeface="Source Sans 3"/>
              <a:cs typeface="Source Sans 3"/>
              <a:sym typeface="Source Sans 3"/>
            </a:endParaRPr>
          </a:p>
        </p:txBody>
      </p:sp>
      <p:sp>
        <p:nvSpPr>
          <p:cNvPr id="725" name="Google Shape;725;p22"/>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6" name="Google Shape;726;p22"/>
          <p:cNvSpPr/>
          <p:nvPr/>
        </p:nvSpPr>
        <p:spPr>
          <a:xfrm>
            <a:off x="0" y="6803136"/>
            <a:ext cx="6891130"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7" name="Google Shape;727;p22"/>
          <p:cNvSpPr/>
          <p:nvPr/>
        </p:nvSpPr>
        <p:spPr>
          <a:xfrm>
            <a:off x="4440000" y="1700000"/>
            <a:ext cx="2080000" cy="410000"/>
          </a:xfrm>
          <a:prstGeom prst="roundRect">
            <a:avLst>
              <a:gd fmla="val 16667" name="adj"/>
            </a:avLst>
          </a:prstGeom>
          <a:noFill/>
          <a:ln cap="flat" cmpd="sng" w="31750">
            <a:solidFill>
              <a:srgbClr val="C2410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8" name="Google Shape;728;p22"/>
          <p:cNvSpPr txBox="1"/>
          <p:nvPr/>
        </p:nvSpPr>
        <p:spPr>
          <a:xfrm>
            <a:off x="6640000" y="1770000"/>
            <a:ext cx="2960000" cy="280000"/>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200" u="none" cap="none" strike="noStrike">
                <a:solidFill>
                  <a:srgbClr val="C2410C"/>
                </a:solidFill>
                <a:latin typeface="Source Sans 3"/>
                <a:ea typeface="Source Sans 3"/>
                <a:cs typeface="Source Sans 3"/>
                <a:sym typeface="Source Sans 3"/>
              </a:rPr>
              <a:t>Prices: the smallest effect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733" name="Shape 733"/>
        <p:cNvGrpSpPr/>
        <p:nvPr/>
      </p:nvGrpSpPr>
      <p:grpSpPr>
        <a:xfrm>
          <a:off x="0" y="0"/>
          <a:ext cx="0" cy="0"/>
          <a:chOff x="0" y="0"/>
          <a:chExt cx="0" cy="0"/>
        </a:xfrm>
      </p:grpSpPr>
      <p:sp>
        <p:nvSpPr>
          <p:cNvPr id="734" name="Google Shape;734;p23"/>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23"/>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A13 · Q4 method and checks</a:t>
            </a:r>
            <a:endParaRPr b="0" i="0" sz="1300" u="none" cap="none" strike="noStrike">
              <a:solidFill>
                <a:schemeClr val="dk1"/>
              </a:solidFill>
              <a:latin typeface="Source Sans 3"/>
              <a:ea typeface="Source Sans 3"/>
              <a:cs typeface="Source Sans 3"/>
              <a:sym typeface="Source Sans 3"/>
            </a:endParaRPr>
          </a:p>
        </p:txBody>
      </p:sp>
      <p:sp>
        <p:nvSpPr>
          <p:cNvPr id="736" name="Google Shape;736;p23"/>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737" name="Google Shape;737;p23"/>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738" name="Google Shape;738;p23"/>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A13</a:t>
            </a:r>
            <a:endParaRPr b="0" i="0" sz="1400" u="none" cap="none" strike="noStrike">
              <a:solidFill>
                <a:schemeClr val="dk1"/>
              </a:solidFill>
              <a:latin typeface="Source Sans 3"/>
              <a:ea typeface="Source Sans 3"/>
              <a:cs typeface="Source Sans 3"/>
              <a:sym typeface="Source Sans 3"/>
            </a:endParaRPr>
          </a:p>
        </p:txBody>
      </p:sp>
      <p:sp>
        <p:nvSpPr>
          <p:cNvPr id="739" name="Google Shape;739;p23"/>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People served responds to prices most reliably; pounds least</a:t>
            </a:r>
            <a:endParaRPr sz="2100"/>
          </a:p>
        </p:txBody>
      </p:sp>
      <p:sp>
        <p:nvSpPr>
          <p:cNvPr id="740" name="Google Shape;740;p23"/>
          <p:cNvSpPr/>
          <p:nvPr/>
        </p:nvSpPr>
        <p:spPr>
          <a:xfrm>
            <a:off x="609600" y="155575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23"/>
          <p:cNvSpPr/>
          <p:nvPr/>
        </p:nvSpPr>
        <p:spPr>
          <a:xfrm>
            <a:off x="774700" y="168275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DATA</a:t>
            </a:r>
            <a:endParaRPr b="0" i="0" sz="1200" u="none" cap="none" strike="noStrike">
              <a:solidFill>
                <a:schemeClr val="dk1"/>
              </a:solidFill>
              <a:latin typeface="Source Sans 3"/>
              <a:ea typeface="Source Sans 3"/>
              <a:cs typeface="Source Sans 3"/>
              <a:sym typeface="Source Sans 3"/>
            </a:endParaRPr>
          </a:p>
        </p:txBody>
      </p:sp>
      <p:sp>
        <p:nvSpPr>
          <p:cNvPr id="742" name="Google Shape;742;p23"/>
          <p:cNvSpPr/>
          <p:nvPr/>
        </p:nvSpPr>
        <p:spPr>
          <a:xfrm>
            <a:off x="774700" y="1934171"/>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Statewide monthly totals, Jan 2022 – Jul 2026 (55 months), vs Midwest food-at-home CPI</a:t>
            </a:r>
            <a:endParaRPr b="0" i="0" sz="1200" u="none" cap="none" strike="noStrike">
              <a:solidFill>
                <a:schemeClr val="dk1"/>
              </a:solidFill>
              <a:latin typeface="Source Sans 3"/>
              <a:ea typeface="Source Sans 3"/>
              <a:cs typeface="Source Sans 3"/>
              <a:sym typeface="Source Sans 3"/>
            </a:endParaRPr>
          </a:p>
        </p:txBody>
      </p:sp>
      <p:sp>
        <p:nvSpPr>
          <p:cNvPr id="743" name="Google Shape;743;p23"/>
          <p:cNvSpPr/>
          <p:nvPr/>
        </p:nvSpPr>
        <p:spPr>
          <a:xfrm>
            <a:off x="4318000" y="155575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23"/>
          <p:cNvSpPr/>
          <p:nvPr/>
        </p:nvSpPr>
        <p:spPr>
          <a:xfrm>
            <a:off x="4483100" y="168275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METHOD</a:t>
            </a:r>
            <a:endParaRPr b="0" i="0" sz="1200" u="none" cap="none" strike="noStrike">
              <a:solidFill>
                <a:schemeClr val="dk1"/>
              </a:solidFill>
              <a:latin typeface="Source Sans 3"/>
              <a:ea typeface="Source Sans 3"/>
              <a:cs typeface="Source Sans 3"/>
              <a:sym typeface="Source Sans 3"/>
            </a:endParaRPr>
          </a:p>
        </p:txBody>
      </p:sp>
      <p:sp>
        <p:nvSpPr>
          <p:cNvPr id="745" name="Google Shape;745;p23"/>
          <p:cNvSpPr/>
          <p:nvPr/>
        </p:nvSpPr>
        <p:spPr>
          <a:xfrm>
            <a:off x="4483100" y="1934171"/>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Detrended monthly changes; lag correlations −3 to +3 months; yearly growth; calendar effects</a:t>
            </a:r>
            <a:endParaRPr b="0" i="0" sz="1200" u="none" cap="none" strike="noStrike">
              <a:solidFill>
                <a:schemeClr val="dk1"/>
              </a:solidFill>
              <a:latin typeface="Source Sans 3"/>
              <a:ea typeface="Source Sans 3"/>
              <a:cs typeface="Source Sans 3"/>
              <a:sym typeface="Source Sans 3"/>
            </a:endParaRPr>
          </a:p>
        </p:txBody>
      </p:sp>
      <p:sp>
        <p:nvSpPr>
          <p:cNvPr id="746" name="Google Shape;746;p23"/>
          <p:cNvSpPr/>
          <p:nvPr/>
        </p:nvSpPr>
        <p:spPr>
          <a:xfrm>
            <a:off x="8026400" y="155575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23"/>
          <p:cNvSpPr/>
          <p:nvPr/>
        </p:nvSpPr>
        <p:spPr>
          <a:xfrm>
            <a:off x="8191500" y="168275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FALSIFICATION</a:t>
            </a:r>
            <a:endParaRPr b="0" i="0" sz="1200" u="none" cap="none" strike="noStrike">
              <a:solidFill>
                <a:schemeClr val="dk1"/>
              </a:solidFill>
              <a:latin typeface="Source Sans 3"/>
              <a:ea typeface="Source Sans 3"/>
              <a:cs typeface="Source Sans 3"/>
              <a:sym typeface="Source Sans 3"/>
            </a:endParaRPr>
          </a:p>
        </p:txBody>
      </p:sp>
      <p:sp>
        <p:nvSpPr>
          <p:cNvPr id="748" name="Google Shape;748;p23"/>
          <p:cNvSpPr/>
          <p:nvPr/>
        </p:nvSpPr>
        <p:spPr>
          <a:xfrm>
            <a:off x="8191500" y="1934171"/>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Activity leading CPI by 2 months correlates as strongly, so no fixed delay is claimed</a:t>
            </a:r>
            <a:endParaRPr b="0" i="0" sz="1200" u="none" cap="none" strike="noStrike">
              <a:solidFill>
                <a:schemeClr val="dk1"/>
              </a:solidFill>
              <a:latin typeface="Source Sans 3"/>
              <a:ea typeface="Source Sans 3"/>
              <a:cs typeface="Source Sans 3"/>
              <a:sym typeface="Source Sans 3"/>
            </a:endParaRPr>
          </a:p>
        </p:txBody>
      </p:sp>
      <p:graphicFrame>
        <p:nvGraphicFramePr>
          <p:cNvPr id="749" name="Google Shape;749;p23"/>
          <p:cNvGraphicFramePr/>
          <p:nvPr/>
        </p:nvGraphicFramePr>
        <p:xfrm>
          <a:off x="622300" y="2663131"/>
          <a:ext cx="3000000" cy="3000000"/>
        </p:xfrm>
        <a:graphic>
          <a:graphicData uri="http://schemas.openxmlformats.org/drawingml/2006/table">
            <a:tbl>
              <a:tblPr>
                <a:noFill/>
                <a:tableStyleId>{B14A676D-5FE0-4728-95B7-5A5512F2545D}</a:tableStyleId>
              </a:tblPr>
              <a:tblGrid>
                <a:gridCol w="2630425"/>
                <a:gridCol w="8329675"/>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Metric</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Response to prices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Individuals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Strongest: lag-1 link significant in every check, incl. fixed-site panel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Households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Present in full data; weakens in the fixed-site panel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Pounds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Weakest: pounds is also supply, and prices cut what shelves can buy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750" name="Google Shape;750;p23"/>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24</a:t>
            </a:r>
            <a:r>
              <a:rPr b="0" i="0" lang="en-US" sz="1200" u="none" cap="none" strike="noStrike">
                <a:solidFill>
                  <a:srgbClr val="4B5A50"/>
                </a:solidFill>
                <a:latin typeface="Source Sans 3"/>
                <a:ea typeface="Source Sans 3"/>
                <a:cs typeface="Source Sans 3"/>
                <a:sym typeface="Source Sans 3"/>
              </a:rPr>
              <a:t> · Checks: fixed sites; mobile, Tribal, campus sites added; missing pounds imputed; late reporting</a:t>
            </a:r>
            <a:endParaRPr b="0" i="0" sz="1200" u="none" cap="none" strike="noStrike">
              <a:solidFill>
                <a:schemeClr val="dk1"/>
              </a:solidFill>
              <a:latin typeface="Source Sans 3"/>
              <a:ea typeface="Source Sans 3"/>
              <a:cs typeface="Source Sans 3"/>
              <a:sym typeface="Source Sans 3"/>
            </a:endParaRPr>
          </a:p>
        </p:txBody>
      </p:sp>
      <p:sp>
        <p:nvSpPr>
          <p:cNvPr id="751" name="Google Shape;751;p23"/>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2" name="Google Shape;752;p23"/>
          <p:cNvSpPr/>
          <p:nvPr/>
        </p:nvSpPr>
        <p:spPr>
          <a:xfrm>
            <a:off x="0" y="6803136"/>
            <a:ext cx="7421217"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757" name="Shape 757"/>
        <p:cNvGrpSpPr/>
        <p:nvPr/>
      </p:nvGrpSpPr>
      <p:grpSpPr>
        <a:xfrm>
          <a:off x="0" y="0"/>
          <a:ext cx="0" cy="0"/>
          <a:chOff x="0" y="0"/>
          <a:chExt cx="0" cy="0"/>
        </a:xfrm>
      </p:grpSpPr>
      <p:sp>
        <p:nvSpPr>
          <p:cNvPr id="758" name="Google Shape;758;p24"/>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24"/>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A14 · Q5 results</a:t>
            </a:r>
            <a:endParaRPr b="0" i="0" sz="1300" u="none" cap="none" strike="noStrike">
              <a:solidFill>
                <a:schemeClr val="dk1"/>
              </a:solidFill>
              <a:latin typeface="Source Sans 3"/>
              <a:ea typeface="Source Sans 3"/>
              <a:cs typeface="Source Sans 3"/>
              <a:sym typeface="Source Sans 3"/>
            </a:endParaRPr>
          </a:p>
        </p:txBody>
      </p:sp>
      <p:sp>
        <p:nvSpPr>
          <p:cNvPr id="760" name="Google Shape;760;p24"/>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761" name="Google Shape;761;p24"/>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762" name="Google Shape;762;p24"/>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A14</a:t>
            </a:r>
            <a:endParaRPr b="0" i="0" sz="1400" u="none" cap="none" strike="noStrike">
              <a:solidFill>
                <a:schemeClr val="dk1"/>
              </a:solidFill>
              <a:latin typeface="Source Sans 3"/>
              <a:ea typeface="Source Sans 3"/>
              <a:cs typeface="Source Sans 3"/>
              <a:sym typeface="Source Sans 3"/>
            </a:endParaRPr>
          </a:p>
        </p:txBody>
      </p:sp>
      <p:sp>
        <p:nvSpPr>
          <p:cNvPr id="763" name="Google Shape;763;p24"/>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SNAP fell </a:t>
            </a:r>
            <a:r>
              <a:rPr b="1" i="0" lang="en-US" sz="2100">
                <a:solidFill>
                  <a:srgbClr val="B5501F"/>
                </a:solidFill>
                <a:latin typeface="Source Serif 4"/>
                <a:ea typeface="Source Serif 4"/>
                <a:cs typeface="Source Serif 4"/>
                <a:sym typeface="Source Serif 4"/>
              </a:rPr>
              <a:t>$49M a month</a:t>
            </a:r>
            <a:r>
              <a:rPr b="1" i="0" lang="en-US" sz="2100">
                <a:solidFill>
                  <a:srgbClr val="1F3B2D"/>
                </a:solidFill>
                <a:latin typeface="Source Serif 4"/>
                <a:ea typeface="Source Serif 4"/>
                <a:cs typeface="Source Serif 4"/>
                <a:sym typeface="Source Serif 4"/>
              </a:rPr>
              <a:t>; visits ran </a:t>
            </a:r>
            <a:r>
              <a:rPr b="1" i="0" lang="en-US" sz="2100">
                <a:solidFill>
                  <a:srgbClr val="B5501F"/>
                </a:solidFill>
                <a:latin typeface="Source Serif 4"/>
                <a:ea typeface="Source Serif 4"/>
                <a:cs typeface="Source Serif 4"/>
                <a:sym typeface="Source Serif 4"/>
              </a:rPr>
              <a:t>18–26%</a:t>
            </a:r>
            <a:r>
              <a:rPr b="1" i="0" lang="en-US" sz="2100">
                <a:solidFill>
                  <a:srgbClr val="1F3B2D"/>
                </a:solidFill>
                <a:latin typeface="Source Serif 4"/>
                <a:ea typeface="Source Serif 4"/>
                <a:cs typeface="Source Serif 4"/>
                <a:sym typeface="Source Serif 4"/>
              </a:rPr>
              <a:t> over trend, ¼ less food each</a:t>
            </a:r>
            <a:endParaRPr sz="2100"/>
          </a:p>
        </p:txBody>
      </p:sp>
      <p:sp>
        <p:nvSpPr>
          <p:cNvPr id="764" name="Google Shape;764;p24"/>
          <p:cNvSpPr/>
          <p:nvPr/>
        </p:nvSpPr>
        <p:spPr>
          <a:xfrm>
            <a:off x="609600" y="1555750"/>
            <a:ext cx="3937000" cy="1818580"/>
          </a:xfrm>
          <a:prstGeom prst="roundRect">
            <a:avLst>
              <a:gd fmla="val 6285"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24"/>
          <p:cNvSpPr/>
          <p:nvPr/>
        </p:nvSpPr>
        <p:spPr>
          <a:xfrm>
            <a:off x="787400" y="1995190"/>
            <a:ext cx="3657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EMERGENCY ALLOTMENTS END</a:t>
            </a:r>
            <a:endParaRPr b="0" i="0" sz="1200" u="none" cap="none" strike="noStrike">
              <a:solidFill>
                <a:schemeClr val="dk1"/>
              </a:solidFill>
              <a:latin typeface="Source Sans 3"/>
              <a:ea typeface="Source Sans 3"/>
              <a:cs typeface="Source Sans 3"/>
              <a:sym typeface="Source Sans 3"/>
            </a:endParaRPr>
          </a:p>
        </p:txBody>
      </p:sp>
      <p:sp>
        <p:nvSpPr>
          <p:cNvPr id="766" name="Google Shape;766;p24"/>
          <p:cNvSpPr/>
          <p:nvPr/>
        </p:nvSpPr>
        <p:spPr>
          <a:xfrm>
            <a:off x="787400" y="2246610"/>
            <a:ext cx="3657600" cy="45209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3200"/>
              <a:buFont typeface="Source Serif 4"/>
              <a:buNone/>
            </a:pPr>
            <a:r>
              <a:rPr b="1" i="0" lang="en-US" sz="3200" u="none" cap="none" strike="noStrike">
                <a:solidFill>
                  <a:srgbClr val="F7F2E8"/>
                </a:solidFill>
                <a:latin typeface="Source Serif 4"/>
                <a:ea typeface="Source Serif 4"/>
                <a:cs typeface="Source Serif 4"/>
                <a:sym typeface="Source Serif 4"/>
              </a:rPr>
              <a:t>$49M a month</a:t>
            </a:r>
            <a:endParaRPr b="0" i="0" sz="3200" u="none" cap="none" strike="noStrike">
              <a:solidFill>
                <a:schemeClr val="dk1"/>
              </a:solidFill>
              <a:latin typeface="Source Sans 3"/>
              <a:ea typeface="Source Sans 3"/>
              <a:cs typeface="Source Sans 3"/>
              <a:sym typeface="Source Sans 3"/>
            </a:endParaRPr>
          </a:p>
        </p:txBody>
      </p:sp>
      <p:sp>
        <p:nvSpPr>
          <p:cNvPr id="767" name="Google Shape;767;p24"/>
          <p:cNvSpPr/>
          <p:nvPr/>
        </p:nvSpPr>
        <p:spPr>
          <a:xfrm>
            <a:off x="787400" y="2711400"/>
            <a:ext cx="36576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lost (−41%); benefit per person $260 → $160</a:t>
            </a:r>
            <a:endParaRPr b="0" i="0" sz="1200" u="none" cap="none" strike="noStrike">
              <a:solidFill>
                <a:schemeClr val="dk1"/>
              </a:solidFill>
              <a:latin typeface="Source Sans 3"/>
              <a:ea typeface="Source Sans 3"/>
              <a:cs typeface="Source Sans 3"/>
              <a:sym typeface="Source Sans 3"/>
            </a:endParaRPr>
          </a:p>
        </p:txBody>
      </p:sp>
      <p:sp>
        <p:nvSpPr>
          <p:cNvPr id="768" name="Google Shape;768;p24"/>
          <p:cNvSpPr/>
          <p:nvPr/>
        </p:nvSpPr>
        <p:spPr>
          <a:xfrm>
            <a:off x="4806950" y="1562100"/>
            <a:ext cx="6769100" cy="833090"/>
          </a:xfrm>
          <a:prstGeom prst="roundRect">
            <a:avLst>
              <a:gd fmla="val 11433"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24"/>
          <p:cNvSpPr/>
          <p:nvPr/>
        </p:nvSpPr>
        <p:spPr>
          <a:xfrm>
            <a:off x="4978400" y="1682750"/>
            <a:ext cx="6496050" cy="385415"/>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700"/>
              <a:buFont typeface="Source Serif 4"/>
              <a:buNone/>
            </a:pPr>
            <a:r>
              <a:rPr b="1" i="0" lang="en-US" sz="2700" u="none" cap="none" strike="noStrike">
                <a:solidFill>
                  <a:srgbClr val="1F3B2D"/>
                </a:solidFill>
                <a:latin typeface="Source Serif 4"/>
                <a:ea typeface="Source Serif 4"/>
                <a:cs typeface="Source Serif 4"/>
                <a:sym typeface="Source Serif 4"/>
              </a:rPr>
              <a:t>+18–26%</a:t>
            </a:r>
            <a:endParaRPr b="0" i="0" sz="2700" u="none" cap="none" strike="noStrike">
              <a:solidFill>
                <a:schemeClr val="dk1"/>
              </a:solidFill>
              <a:latin typeface="Source Sans 3"/>
              <a:ea typeface="Source Sans 3"/>
              <a:cs typeface="Source Sans 3"/>
              <a:sym typeface="Source Sans 3"/>
            </a:endParaRPr>
          </a:p>
        </p:txBody>
      </p:sp>
      <p:sp>
        <p:nvSpPr>
          <p:cNvPr id="770" name="Google Shape;770;p24"/>
          <p:cNvSpPr/>
          <p:nvPr/>
        </p:nvSpPr>
        <p:spPr>
          <a:xfrm>
            <a:off x="4978400" y="2068165"/>
            <a:ext cx="649605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300"/>
              <a:buFont typeface="Source Sans 3"/>
              <a:buNone/>
            </a:pPr>
            <a:r>
              <a:rPr b="0" i="0" lang="en-US" sz="1300" u="none" cap="none" strike="noStrike">
                <a:solidFill>
                  <a:srgbClr val="4B5A50"/>
                </a:solidFill>
                <a:latin typeface="Source Sans 3"/>
                <a:ea typeface="Source Sans 3"/>
                <a:cs typeface="Source Sans 3"/>
                <a:sym typeface="Source Sans 3"/>
              </a:rPr>
              <a:t>visits above prediction</a:t>
            </a:r>
            <a:endParaRPr b="0" i="0" sz="1300" u="none" cap="none" strike="noStrike">
              <a:solidFill>
                <a:schemeClr val="dk1"/>
              </a:solidFill>
              <a:latin typeface="Source Sans 3"/>
              <a:ea typeface="Source Sans 3"/>
              <a:cs typeface="Source Sans 3"/>
              <a:sym typeface="Source Sans 3"/>
            </a:endParaRPr>
          </a:p>
        </p:txBody>
      </p:sp>
      <p:sp>
        <p:nvSpPr>
          <p:cNvPr id="771" name="Google Shape;771;p24"/>
          <p:cNvSpPr/>
          <p:nvPr/>
        </p:nvSpPr>
        <p:spPr>
          <a:xfrm>
            <a:off x="4806950" y="2547590"/>
            <a:ext cx="6769100" cy="833090"/>
          </a:xfrm>
          <a:prstGeom prst="roundRect">
            <a:avLst>
              <a:gd fmla="val 11433"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24"/>
          <p:cNvSpPr/>
          <p:nvPr/>
        </p:nvSpPr>
        <p:spPr>
          <a:xfrm>
            <a:off x="4978400" y="2668240"/>
            <a:ext cx="6496050" cy="385415"/>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700"/>
              <a:buFont typeface="Source Serif 4"/>
              <a:buNone/>
            </a:pPr>
            <a:r>
              <a:rPr b="1" i="0" lang="en-US" sz="2700" u="none" cap="none" strike="noStrike">
                <a:solidFill>
                  <a:srgbClr val="1F3B2D"/>
                </a:solidFill>
                <a:latin typeface="Source Serif 4"/>
                <a:ea typeface="Source Serif 4"/>
                <a:cs typeface="Source Serif 4"/>
                <a:sym typeface="Source Serif 4"/>
              </a:rPr>
              <a:t>−10% → +5%</a:t>
            </a:r>
            <a:endParaRPr b="0" i="0" sz="2700" u="none" cap="none" strike="noStrike">
              <a:solidFill>
                <a:schemeClr val="dk1"/>
              </a:solidFill>
              <a:latin typeface="Source Sans 3"/>
              <a:ea typeface="Source Sans 3"/>
              <a:cs typeface="Source Sans 3"/>
              <a:sym typeface="Source Sans 3"/>
            </a:endParaRPr>
          </a:p>
        </p:txBody>
      </p:sp>
      <p:sp>
        <p:nvSpPr>
          <p:cNvPr id="773" name="Google Shape;773;p24"/>
          <p:cNvSpPr/>
          <p:nvPr/>
        </p:nvSpPr>
        <p:spPr>
          <a:xfrm>
            <a:off x="4978400" y="3053655"/>
            <a:ext cx="649605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300"/>
              <a:buFont typeface="Source Sans 3"/>
              <a:buNone/>
            </a:pPr>
            <a:r>
              <a:rPr b="0" i="0" lang="en-US" sz="1300" u="none" cap="none" strike="noStrike">
                <a:solidFill>
                  <a:srgbClr val="4B5A50"/>
                </a:solidFill>
                <a:latin typeface="Source Sans 3"/>
                <a:ea typeface="Source Sans 3"/>
                <a:cs typeface="Source Sans 3"/>
                <a:sym typeface="Source Sans 3"/>
              </a:rPr>
              <a:t>less SNAP per person, more visits</a:t>
            </a:r>
            <a:endParaRPr b="0" i="0" sz="1300" u="none" cap="none" strike="noStrike">
              <a:solidFill>
                <a:schemeClr val="dk1"/>
              </a:solidFill>
              <a:latin typeface="Source Sans 3"/>
              <a:ea typeface="Source Sans 3"/>
              <a:cs typeface="Source Sans 3"/>
              <a:sym typeface="Source Sans 3"/>
            </a:endParaRPr>
          </a:p>
        </p:txBody>
      </p:sp>
      <p:sp>
        <p:nvSpPr>
          <p:cNvPr id="774" name="Google Shape;774;p24"/>
          <p:cNvSpPr/>
          <p:nvPr/>
        </p:nvSpPr>
        <p:spPr>
          <a:xfrm>
            <a:off x="609600" y="355213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24"/>
          <p:cNvSpPr/>
          <p:nvPr/>
        </p:nvSpPr>
        <p:spPr>
          <a:xfrm>
            <a:off x="774700" y="367913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ACROSS COUNTIES</a:t>
            </a:r>
            <a:endParaRPr b="0" i="0" sz="1200" u="none" cap="none" strike="noStrike">
              <a:solidFill>
                <a:schemeClr val="dk1"/>
              </a:solidFill>
              <a:latin typeface="Source Sans 3"/>
              <a:ea typeface="Source Sans 3"/>
              <a:cs typeface="Source Sans 3"/>
              <a:sym typeface="Source Sans 3"/>
            </a:endParaRPr>
          </a:p>
        </p:txBody>
      </p:sp>
      <p:sp>
        <p:nvSpPr>
          <p:cNvPr id="776" name="Google Shape;776;p24"/>
          <p:cNvSpPr/>
          <p:nvPr/>
        </p:nvSpPr>
        <p:spPr>
          <a:xfrm>
            <a:off x="774700" y="3930550"/>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+1% SNAP participation → +0.30% visits (p = .01): both follow need</a:t>
            </a:r>
            <a:endParaRPr b="0" i="0" sz="1200" u="none" cap="none" strike="noStrike">
              <a:solidFill>
                <a:schemeClr val="dk1"/>
              </a:solidFill>
              <a:latin typeface="Source Sans 3"/>
              <a:ea typeface="Source Sans 3"/>
              <a:cs typeface="Source Sans 3"/>
              <a:sym typeface="Source Sans 3"/>
            </a:endParaRPr>
          </a:p>
        </p:txBody>
      </p:sp>
      <p:sp>
        <p:nvSpPr>
          <p:cNvPr id="777" name="Google Shape;777;p24"/>
          <p:cNvSpPr/>
          <p:nvPr/>
        </p:nvSpPr>
        <p:spPr>
          <a:xfrm>
            <a:off x="4318000" y="355213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24"/>
          <p:cNvSpPr/>
          <p:nvPr/>
        </p:nvSpPr>
        <p:spPr>
          <a:xfrm>
            <a:off x="4483100" y="367913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FOOD PER VISIT</a:t>
            </a:r>
            <a:endParaRPr b="0" i="0" sz="1200" u="none" cap="none" strike="noStrike">
              <a:solidFill>
                <a:schemeClr val="dk1"/>
              </a:solidFill>
              <a:latin typeface="Source Sans 3"/>
              <a:ea typeface="Source Sans 3"/>
              <a:cs typeface="Source Sans 3"/>
              <a:sym typeface="Source Sans 3"/>
            </a:endParaRPr>
          </a:p>
        </p:txBody>
      </p:sp>
      <p:sp>
        <p:nvSpPr>
          <p:cNvPr id="779" name="Google Shape;779;p24"/>
          <p:cNvSpPr/>
          <p:nvPr/>
        </p:nvSpPr>
        <p:spPr>
          <a:xfrm>
            <a:off x="4483100" y="3930550"/>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Visits doubled, pounds +50%: about ¼ less food each</a:t>
            </a:r>
            <a:endParaRPr b="0" i="0" sz="1200" u="none" cap="none" strike="noStrike">
              <a:solidFill>
                <a:schemeClr val="dk1"/>
              </a:solidFill>
              <a:latin typeface="Source Sans 3"/>
              <a:ea typeface="Source Sans 3"/>
              <a:cs typeface="Source Sans 3"/>
              <a:sym typeface="Source Sans 3"/>
            </a:endParaRPr>
          </a:p>
        </p:txBody>
      </p:sp>
      <p:sp>
        <p:nvSpPr>
          <p:cNvPr id="780" name="Google Shape;780;p24"/>
          <p:cNvSpPr/>
          <p:nvPr/>
        </p:nvSpPr>
        <p:spPr>
          <a:xfrm>
            <a:off x="8026400" y="355213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24"/>
          <p:cNvSpPr/>
          <p:nvPr/>
        </p:nvSpPr>
        <p:spPr>
          <a:xfrm>
            <a:off x="8191500" y="367913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LOCATIONS</a:t>
            </a:r>
            <a:endParaRPr b="0" i="0" sz="1200" u="none" cap="none" strike="noStrike">
              <a:solidFill>
                <a:schemeClr val="dk1"/>
              </a:solidFill>
              <a:latin typeface="Source Sans 3"/>
              <a:ea typeface="Source Sans 3"/>
              <a:cs typeface="Source Sans 3"/>
              <a:sym typeface="Source Sans 3"/>
            </a:endParaRPr>
          </a:p>
        </p:txBody>
      </p:sp>
      <p:sp>
        <p:nvSpPr>
          <p:cNvPr id="782" name="Google Shape;782;p24"/>
          <p:cNvSpPr/>
          <p:nvPr/>
        </p:nvSpPr>
        <p:spPr>
          <a:xfrm>
            <a:off x="8191500" y="3930550"/>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No metro difference; small counties lost most per resident</a:t>
            </a:r>
            <a:endParaRPr b="0" i="0" sz="1200" u="none" cap="none" strike="noStrike">
              <a:solidFill>
                <a:schemeClr val="dk1"/>
              </a:solidFill>
              <a:latin typeface="Source Sans 3"/>
              <a:ea typeface="Source Sans 3"/>
              <a:cs typeface="Source Sans 3"/>
              <a:sym typeface="Source Sans 3"/>
            </a:endParaRPr>
          </a:p>
        </p:txBody>
      </p:sp>
      <p:sp>
        <p:nvSpPr>
          <p:cNvPr id="783" name="Google Shape;783;p24"/>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25</a:t>
            </a:r>
            <a:r>
              <a:rPr b="0" i="0" lang="en-US" sz="1200" u="none" cap="none" strike="noStrike">
                <a:solidFill>
                  <a:srgbClr val="4B5A50"/>
                </a:solidFill>
                <a:latin typeface="Source Sans 3"/>
                <a:ea typeface="Source Sans 3"/>
                <a:cs typeface="Source Sans 3"/>
                <a:sym typeface="Source Sans 3"/>
              </a:rPr>
              <a:t> · MN DCYF SNAP dashboard; BLS CPI; Census Vintage 2025; The Food Group 2022–2026 · team notebook Q5_FINAL</a:t>
            </a:r>
            <a:endParaRPr b="0" i="0" sz="1200" u="none" cap="none" strike="noStrike">
              <a:solidFill>
                <a:schemeClr val="dk1"/>
              </a:solidFill>
              <a:latin typeface="Source Sans 3"/>
              <a:ea typeface="Source Sans 3"/>
              <a:cs typeface="Source Sans 3"/>
              <a:sym typeface="Source Sans 3"/>
            </a:endParaRPr>
          </a:p>
        </p:txBody>
      </p:sp>
      <p:sp>
        <p:nvSpPr>
          <p:cNvPr id="784" name="Google Shape;784;p24"/>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5" name="Google Shape;785;p24"/>
          <p:cNvSpPr/>
          <p:nvPr/>
        </p:nvSpPr>
        <p:spPr>
          <a:xfrm>
            <a:off x="0" y="6803136"/>
            <a:ext cx="7951304"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790" name="Shape 790"/>
        <p:cNvGrpSpPr/>
        <p:nvPr/>
      </p:nvGrpSpPr>
      <p:grpSpPr>
        <a:xfrm>
          <a:off x="0" y="0"/>
          <a:ext cx="0" cy="0"/>
          <a:chOff x="0" y="0"/>
          <a:chExt cx="0" cy="0"/>
        </a:xfrm>
      </p:grpSpPr>
      <p:sp>
        <p:nvSpPr>
          <p:cNvPr id="791" name="Google Shape;791;p25"/>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25"/>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A15 · Q5 tests: together or replace</a:t>
            </a:r>
            <a:endParaRPr b="0" i="0" sz="1300" u="none" cap="none" strike="noStrike">
              <a:solidFill>
                <a:schemeClr val="dk1"/>
              </a:solidFill>
              <a:latin typeface="Source Sans 3"/>
              <a:ea typeface="Source Sans 3"/>
              <a:cs typeface="Source Sans 3"/>
              <a:sym typeface="Source Sans 3"/>
            </a:endParaRPr>
          </a:p>
        </p:txBody>
      </p:sp>
      <p:sp>
        <p:nvSpPr>
          <p:cNvPr id="793" name="Google Shape;793;p25"/>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794" name="Google Shape;794;p25"/>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795" name="Google Shape;795;p25"/>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A15</a:t>
            </a:r>
            <a:endParaRPr b="0" i="0" sz="1400" u="none" cap="none" strike="noStrike">
              <a:solidFill>
                <a:schemeClr val="dk1"/>
              </a:solidFill>
              <a:latin typeface="Source Sans 3"/>
              <a:ea typeface="Source Sans 3"/>
              <a:cs typeface="Source Sans 3"/>
              <a:sym typeface="Source Sans 3"/>
            </a:endParaRPr>
          </a:p>
        </p:txBody>
      </p:sp>
      <p:sp>
        <p:nvSpPr>
          <p:cNvPr id="796" name="Google Shape;796;p25"/>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Across counties SNAP and shelves rise together; over time they substitute</a:t>
            </a:r>
            <a:endParaRPr sz="2100"/>
          </a:p>
        </p:txBody>
      </p:sp>
      <p:graphicFrame>
        <p:nvGraphicFramePr>
          <p:cNvPr id="797" name="Google Shape;797;p25"/>
          <p:cNvGraphicFramePr/>
          <p:nvPr/>
        </p:nvGraphicFramePr>
        <p:xfrm>
          <a:off x="622300" y="1555750"/>
          <a:ext cx="3000000" cy="3000000"/>
        </p:xfrm>
        <a:graphic>
          <a:graphicData uri="http://schemas.openxmlformats.org/drawingml/2006/table">
            <a:tbl>
              <a:tblPr>
                <a:noFill/>
                <a:tableStyleId>{B14A676D-5FE0-4728-95B7-5A5512F2545D}</a:tableStyleId>
              </a:tblPr>
              <a:tblGrid>
                <a:gridCol w="2411225"/>
                <a:gridCol w="3945625"/>
                <a:gridCol w="460325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Test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Specification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Result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Across counties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Log SNAP participation vs shelf rates per 1,000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 → +0.30% visits (p = .01), +0.30% individuals, +0.22% pounds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Over time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Statewide benefit per person; trend, CPI, season controlled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10% lower benefit → +5% visits, +6% individuals, +3.5% pounds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Within county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fixed effects, balanced vs all sites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Sign flips between samples: not interpreted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798" name="Google Shape;798;p25"/>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26</a:t>
            </a:r>
            <a:r>
              <a:rPr b="0" i="0" lang="en-US" sz="1200" u="none" cap="none" strike="noStrike">
                <a:solidFill>
                  <a:srgbClr val="4B5A50"/>
                </a:solidFill>
                <a:latin typeface="Source Sans 3"/>
                <a:ea typeface="Source Sans 3"/>
                <a:cs typeface="Source Sans 3"/>
                <a:sym typeface="Source Sans 3"/>
              </a:rPr>
              <a:t> · Team notebook Q5_FINAL, sections 5–6 and 8</a:t>
            </a:r>
            <a:endParaRPr b="0" i="0" sz="1200" u="none" cap="none" strike="noStrike">
              <a:solidFill>
                <a:schemeClr val="dk1"/>
              </a:solidFill>
              <a:latin typeface="Source Sans 3"/>
              <a:ea typeface="Source Sans 3"/>
              <a:cs typeface="Source Sans 3"/>
              <a:sym typeface="Source Sans 3"/>
            </a:endParaRPr>
          </a:p>
        </p:txBody>
      </p:sp>
      <p:sp>
        <p:nvSpPr>
          <p:cNvPr id="799" name="Google Shape;799;p25"/>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0" name="Google Shape;800;p25"/>
          <p:cNvSpPr/>
          <p:nvPr/>
        </p:nvSpPr>
        <p:spPr>
          <a:xfrm>
            <a:off x="0" y="6803136"/>
            <a:ext cx="8481391"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805" name="Shape 805"/>
        <p:cNvGrpSpPr/>
        <p:nvPr/>
      </p:nvGrpSpPr>
      <p:grpSpPr>
        <a:xfrm>
          <a:off x="0" y="0"/>
          <a:ext cx="0" cy="0"/>
          <a:chOff x="0" y="0"/>
          <a:chExt cx="0" cy="0"/>
        </a:xfrm>
      </p:grpSpPr>
      <p:sp>
        <p:nvSpPr>
          <p:cNvPr id="806" name="Google Shape;806;p26"/>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26"/>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A16 · Q5 tests: shock, locations</a:t>
            </a:r>
            <a:endParaRPr b="0" i="0" sz="1300" u="none" cap="none" strike="noStrike">
              <a:solidFill>
                <a:schemeClr val="dk1"/>
              </a:solidFill>
              <a:latin typeface="Source Sans 3"/>
              <a:ea typeface="Source Sans 3"/>
              <a:cs typeface="Source Sans 3"/>
              <a:sym typeface="Source Sans 3"/>
            </a:endParaRPr>
          </a:p>
        </p:txBody>
      </p:sp>
      <p:sp>
        <p:nvSpPr>
          <p:cNvPr id="808" name="Google Shape;808;p26"/>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809" name="Google Shape;809;p26"/>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810" name="Google Shape;810;p26"/>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A16</a:t>
            </a:r>
            <a:endParaRPr b="0" i="0" sz="1400" u="none" cap="none" strike="noStrike">
              <a:solidFill>
                <a:schemeClr val="dk1"/>
              </a:solidFill>
              <a:latin typeface="Source Sans 3"/>
              <a:ea typeface="Source Sans 3"/>
              <a:cs typeface="Source Sans 3"/>
              <a:sym typeface="Source Sans 3"/>
            </a:endParaRPr>
          </a:p>
        </p:txBody>
      </p:sp>
      <p:sp>
        <p:nvSpPr>
          <p:cNvPr id="811" name="Google Shape;811;p26"/>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Placebo picks </a:t>
            </a:r>
            <a:r>
              <a:rPr b="1" i="0" lang="en-US" sz="2100">
                <a:solidFill>
                  <a:srgbClr val="B5501F"/>
                </a:solidFill>
                <a:latin typeface="Source Serif 4"/>
                <a:ea typeface="Source Serif 4"/>
                <a:cs typeface="Source Serif 4"/>
                <a:sym typeface="Source Serif 4"/>
              </a:rPr>
              <a:t>spring 2023</a:t>
            </a:r>
            <a:r>
              <a:rPr b="1" i="0" lang="en-US" sz="2100">
                <a:solidFill>
                  <a:srgbClr val="1F3B2D"/>
                </a:solidFill>
                <a:latin typeface="Source Serif 4"/>
                <a:ea typeface="Source Serif 4"/>
                <a:cs typeface="Source Serif 4"/>
                <a:sym typeface="Source Serif 4"/>
              </a:rPr>
              <a:t> as the break; small counties were hit hardest</a:t>
            </a:r>
            <a:endParaRPr sz="2100"/>
          </a:p>
        </p:txBody>
      </p:sp>
      <p:graphicFrame>
        <p:nvGraphicFramePr>
          <p:cNvPr id="812" name="Google Shape;812;p26"/>
          <p:cNvGraphicFramePr/>
          <p:nvPr/>
        </p:nvGraphicFramePr>
        <p:xfrm>
          <a:off x="622300" y="1555750"/>
          <a:ext cx="3000000" cy="3000000"/>
        </p:xfrm>
        <a:graphic>
          <a:graphicData uri="http://schemas.openxmlformats.org/drawingml/2006/table">
            <a:tbl>
              <a:tblPr>
                <a:noFill/>
                <a:tableStyleId>{B14A676D-5FE0-4728-95B7-5A5512F2545D}</a:tableStyleId>
              </a:tblPr>
              <a:tblGrid>
                <a:gridCol w="2411225"/>
                <a:gridCol w="3945625"/>
                <a:gridCol w="460325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Test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Specification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Result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Benefit change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Interrupted time series at the Apr 2023 EA end, CPI-controlled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Visits +18–26%, individuals +26–30%, pounds +14–18%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Placebo</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Try a break at every month, mid-2022 to mid-2025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Best four fits: Mar–Jun 2023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Dose-response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EA dollars lost per resident ($3 to $18)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 0 (p = .71): rise was statewide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Locations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Metro interactions; small, mid, large counties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No metro gap (p .15–.74); small counties hit hardest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813" name="Google Shape;813;p26"/>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27</a:t>
            </a:r>
            <a:r>
              <a:rPr b="0" i="0" lang="en-US" sz="1200" u="none" cap="none" strike="noStrike">
                <a:solidFill>
                  <a:srgbClr val="4B5A50"/>
                </a:solidFill>
                <a:latin typeface="Source Sans 3"/>
                <a:ea typeface="Source Sans 3"/>
                <a:cs typeface="Source Sans 3"/>
                <a:sym typeface="Source Sans 3"/>
              </a:rPr>
              <a:t> · MN DCYF SNAP dashboard (county × month, lag ≈ 1 month) · team notebook Q5_FINAL</a:t>
            </a:r>
            <a:endParaRPr b="0" i="0" sz="1200" u="none" cap="none" strike="noStrike">
              <a:solidFill>
                <a:schemeClr val="dk1"/>
              </a:solidFill>
              <a:latin typeface="Source Sans 3"/>
              <a:ea typeface="Source Sans 3"/>
              <a:cs typeface="Source Sans 3"/>
              <a:sym typeface="Source Sans 3"/>
            </a:endParaRPr>
          </a:p>
        </p:txBody>
      </p:sp>
      <p:sp>
        <p:nvSpPr>
          <p:cNvPr id="814" name="Google Shape;814;p26"/>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5" name="Google Shape;815;p26"/>
          <p:cNvSpPr/>
          <p:nvPr/>
        </p:nvSpPr>
        <p:spPr>
          <a:xfrm>
            <a:off x="0" y="6803136"/>
            <a:ext cx="9011478"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820" name="Shape 820"/>
        <p:cNvGrpSpPr/>
        <p:nvPr/>
      </p:nvGrpSpPr>
      <p:grpSpPr>
        <a:xfrm>
          <a:off x="0" y="0"/>
          <a:ext cx="0" cy="0"/>
          <a:chOff x="0" y="0"/>
          <a:chExt cx="0" cy="0"/>
        </a:xfrm>
      </p:grpSpPr>
      <p:sp>
        <p:nvSpPr>
          <p:cNvPr id="821" name="Google Shape;821;p27"/>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27"/>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A17 · Q7 model and holdout</a:t>
            </a:r>
            <a:endParaRPr b="0" i="0" sz="1300" u="none" cap="none" strike="noStrike">
              <a:solidFill>
                <a:schemeClr val="dk1"/>
              </a:solidFill>
              <a:latin typeface="Source Sans 3"/>
              <a:ea typeface="Source Sans 3"/>
              <a:cs typeface="Source Sans 3"/>
              <a:sym typeface="Source Sans 3"/>
            </a:endParaRPr>
          </a:p>
        </p:txBody>
      </p:sp>
      <p:sp>
        <p:nvSpPr>
          <p:cNvPr id="823" name="Google Shape;823;p27"/>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824" name="Google Shape;824;p27"/>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825" name="Google Shape;825;p27"/>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A17</a:t>
            </a:r>
            <a:endParaRPr b="0" i="0" sz="1400" u="none" cap="none" strike="noStrike">
              <a:solidFill>
                <a:schemeClr val="dk1"/>
              </a:solidFill>
              <a:latin typeface="Source Sans 3"/>
              <a:ea typeface="Source Sans 3"/>
              <a:cs typeface="Source Sans 3"/>
              <a:sym typeface="Source Sans 3"/>
            </a:endParaRPr>
          </a:p>
        </p:txBody>
      </p:sp>
      <p:sp>
        <p:nvSpPr>
          <p:cNvPr id="826" name="Google Shape;826;p27"/>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Unemployment model won selection, then lost the 2025 holdout (</a:t>
            </a:r>
            <a:r>
              <a:rPr b="1" i="0" lang="en-US" sz="2100">
                <a:solidFill>
                  <a:srgbClr val="B5501F"/>
                </a:solidFill>
                <a:latin typeface="Source Serif 4"/>
                <a:ea typeface="Source Serif 4"/>
                <a:cs typeface="Source Serif 4"/>
                <a:sym typeface="Source Serif 4"/>
              </a:rPr>
              <a:t>824 vs 500</a:t>
            </a:r>
            <a:r>
              <a:rPr b="1" i="0" lang="en-US" sz="2100">
                <a:solidFill>
                  <a:srgbClr val="1F3B2D"/>
                </a:solidFill>
                <a:latin typeface="Source Serif 4"/>
                <a:ea typeface="Source Serif 4"/>
                <a:cs typeface="Source Serif 4"/>
                <a:sym typeface="Source Serif 4"/>
              </a:rPr>
              <a:t>)</a:t>
            </a:r>
            <a:endParaRPr sz="2100"/>
          </a:p>
        </p:txBody>
      </p:sp>
      <p:graphicFrame>
        <p:nvGraphicFramePr>
          <p:cNvPr id="827" name="Google Shape;827;p27"/>
          <p:cNvGraphicFramePr/>
          <p:nvPr/>
        </p:nvGraphicFramePr>
        <p:xfrm>
          <a:off x="622300" y="1555750"/>
          <a:ext cx="3000000" cy="3000000"/>
        </p:xfrm>
        <a:graphic>
          <a:graphicData uri="http://schemas.openxmlformats.org/drawingml/2006/table">
            <a:tbl>
              <a:tblPr>
                <a:noFill/>
                <a:tableStyleId>{B14A676D-5FE0-4728-95B7-5A5512F2545D}</a:tableStyleId>
              </a:tblPr>
              <a:tblGrid>
                <a:gridCol w="1424825"/>
                <a:gridCol w="2192025"/>
                <a:gridCol w="2192025"/>
                <a:gridCol w="1096000"/>
                <a:gridCol w="1205600"/>
                <a:gridCol w="2849625"/>
              </a:tblGrid>
              <a:tr h="362425">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Target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Pick error: avg / +unemp</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2025 error: avg / +unemp</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000" u="none" cap="none" strike="noStrike">
                          <a:solidFill>
                            <a:srgbClr val="FFFFFF"/>
                          </a:solidFill>
                          <a:latin typeface="Source Sans 3"/>
                          <a:ea typeface="Source Sans 3"/>
                          <a:cs typeface="Source Sans 3"/>
                          <a:sym typeface="Source Sans 3"/>
                        </a:rPr>
                        <a:t>Aug 2025 WAPE</a:t>
                      </a:r>
                      <a:endParaRPr sz="10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ctr">
                        <a:lnSpc>
                          <a:spcPct val="115000"/>
                        </a:lnSpc>
                        <a:spcBef>
                          <a:spcPts val="0"/>
                        </a:spcBef>
                        <a:spcAft>
                          <a:spcPts val="0"/>
                        </a:spcAft>
                        <a:buClr>
                          <a:srgbClr val="FFFFFF"/>
                        </a:buClr>
                        <a:buSzPts val="1300"/>
                        <a:buFont typeface="Source Sans 3"/>
                        <a:buNone/>
                      </a:pPr>
                      <a:r>
                        <a:rPr b="1" lang="en-US" sz="1200" u="none" cap="none" strike="noStrike">
                          <a:solidFill>
                            <a:srgbClr val="FFFFFF"/>
                          </a:solidFill>
                          <a:latin typeface="Source Sans 3"/>
                          <a:ea typeface="Source Sans 3"/>
                          <a:cs typeface="Source Sans 3"/>
                          <a:sym typeface="Source Sans 3"/>
                        </a:rPr>
                        <a:t>Band hit</a:t>
                      </a:r>
                      <a:endParaRPr sz="12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100" u="none" cap="none" strike="noStrike">
                          <a:solidFill>
                            <a:srgbClr val="FFFFFF"/>
                          </a:solidFill>
                          <a:latin typeface="Source Sans 3"/>
                          <a:ea typeface="Source Sans 3"/>
                          <a:cs typeface="Source Sans 3"/>
                          <a:sym typeface="Source Sans 3"/>
                        </a:rPr>
                        <a:t>August 2026 Forecast (past-August Range)</a:t>
                      </a:r>
                      <a:endParaRPr sz="11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Visits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902 / 676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500 / 824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236,148 (229k–263k)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Pounds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46,950 / 47,299</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61,245 / 59,372</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11.1%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12.26M (12.47M–13.70M)</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Children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1,331 / 1,093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269 / 615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77%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258,020 (260k–294k)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Adults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1,584 / 1,320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525 / 1,095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386,891 (377k–434k)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Seniors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257 / 214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392 / 340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85,216 (85k–94k)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r>
              <a:tr h="362425">
                <a:tc>
                  <a:txBody>
                    <a:bodyPr/>
                    <a:lstStyle/>
                    <a:p>
                      <a:pPr indent="0" lvl="0" marL="0" marR="0" rtl="0" algn="l">
                        <a:lnSpc>
                          <a:spcPct val="115000"/>
                        </a:lnSpc>
                        <a:spcBef>
                          <a:spcPts val="0"/>
                        </a:spcBef>
                        <a:spcAft>
                          <a:spcPts val="0"/>
                        </a:spcAft>
                        <a:buClr>
                          <a:srgbClr val="000000"/>
                        </a:buClr>
                        <a:buSzPts val="1300"/>
                        <a:buFont typeface="Arial"/>
                        <a:buNone/>
                      </a:pPr>
                      <a:r>
                        <a:rPr lang="en-US" sz="1300" u="none" cap="none" strike="noStrike">
                          <a:solidFill>
                            <a:srgbClr val="1F3B2D"/>
                          </a:solidFill>
                          <a:latin typeface="Source Sans 3"/>
                          <a:ea typeface="Source Sans 3"/>
                          <a:cs typeface="Source Sans 3"/>
                          <a:sym typeface="Source Sans 3"/>
                        </a:rPr>
                        <a:t>Individuals</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000000"/>
                        </a:buClr>
                        <a:buSzPts val="1300"/>
                        <a:buFont typeface="Arial"/>
                        <a:buNone/>
                      </a:pPr>
                      <a:r>
                        <a:rPr lang="en-US" sz="1300" u="none" cap="none" strike="noStrike">
                          <a:solidFill>
                            <a:srgbClr val="1F3B2D"/>
                          </a:solidFill>
                          <a:latin typeface="Source Sans 3"/>
                          <a:ea typeface="Source Sans 3"/>
                          <a:cs typeface="Source Sans 3"/>
                          <a:sym typeface="Source Sans 3"/>
                        </a:rPr>
                        <a:t>3,030 / 2,462</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000000"/>
                        </a:buClr>
                        <a:buSzPts val="1300"/>
                        <a:buFont typeface="Arial"/>
                        <a:buNone/>
                      </a:pPr>
                      <a:r>
                        <a:rPr lang="en-US" sz="1300" u="none" cap="none" strike="noStrike">
                          <a:solidFill>
                            <a:srgbClr val="1F3B2D"/>
                          </a:solidFill>
                          <a:latin typeface="Source Sans 3"/>
                          <a:ea typeface="Source Sans 3"/>
                          <a:cs typeface="Source Sans 3"/>
                          <a:sym typeface="Source Sans 3"/>
                        </a:rPr>
                        <a:t>575 / 1,541</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000000"/>
                        </a:buClr>
                        <a:buSzPts val="1300"/>
                        <a:buFont typeface="Arial"/>
                        <a:buNone/>
                      </a:pPr>
                      <a:r>
                        <a:rPr lang="en-US" sz="1300" u="none" cap="none" strike="noStrike">
                          <a:solidFill>
                            <a:srgbClr val="1F3B2D"/>
                          </a:solidFill>
                          <a:latin typeface="Source Sans 3"/>
                          <a:ea typeface="Source Sans 3"/>
                          <a:cs typeface="Source Sans 3"/>
                          <a:sym typeface="Source Sans 3"/>
                        </a:rPr>
                        <a:t>3.3%</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000000"/>
                        </a:buClr>
                        <a:buSzPts val="1300"/>
                        <a:buFont typeface="Arial"/>
                        <a:buNone/>
                      </a:pPr>
                      <a:r>
                        <a:rPr lang="en-US" sz="1300" u="none" cap="none" strike="noStrike">
                          <a:solidFill>
                            <a:srgbClr val="1F3B2D"/>
                          </a:solidFill>
                          <a:latin typeface="Source Sans 3"/>
                          <a:ea typeface="Source Sans 3"/>
                          <a:cs typeface="Source Sans 3"/>
                          <a:sym typeface="Source Sans 3"/>
                        </a:rPr>
                        <a:t>81%</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000000"/>
                        </a:buClr>
                        <a:buSzPts val="1300"/>
                        <a:buFont typeface="Arial"/>
                        <a:buNone/>
                      </a:pPr>
                      <a:r>
                        <a:rPr lang="en-US" sz="1300" u="none" cap="none" strike="noStrike">
                          <a:solidFill>
                            <a:srgbClr val="1F3B2D"/>
                          </a:solidFill>
                          <a:latin typeface="Source Sans 3"/>
                          <a:ea typeface="Source Sans 3"/>
                          <a:cs typeface="Source Sans 3"/>
                          <a:sym typeface="Source Sans 3"/>
                        </a:rPr>
                        <a:t>730,121 (723k-822k)</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828" name="Google Shape;828;p27"/>
          <p:cNvSpPr/>
          <p:nvPr/>
        </p:nvSpPr>
        <p:spPr>
          <a:xfrm>
            <a:off x="609600" y="4314169"/>
            <a:ext cx="3555900" cy="162000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27"/>
          <p:cNvSpPr/>
          <p:nvPr/>
        </p:nvSpPr>
        <p:spPr>
          <a:xfrm>
            <a:off x="774700" y="4441154"/>
            <a:ext cx="32892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MODEL</a:t>
            </a:r>
            <a:endParaRPr b="0" i="0" sz="1200" u="none" cap="none" strike="noStrike">
              <a:solidFill>
                <a:schemeClr val="dk1"/>
              </a:solidFill>
              <a:latin typeface="Source Sans 3"/>
              <a:ea typeface="Source Sans 3"/>
              <a:cs typeface="Source Sans 3"/>
              <a:sym typeface="Source Sans 3"/>
            </a:endParaRPr>
          </a:p>
        </p:txBody>
      </p:sp>
      <p:sp>
        <p:nvSpPr>
          <p:cNvPr id="830" name="Google Shape;830;p27"/>
          <p:cNvSpPr/>
          <p:nvPr/>
        </p:nvSpPr>
        <p:spPr>
          <a:xfrm>
            <a:off x="774700" y="4692575"/>
            <a:ext cx="32892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Each county's May–July 2026 average; Wilkin, with no site, forecast at 0</a:t>
            </a:r>
            <a:endParaRPr b="0" i="0" sz="1200" u="none" cap="none" strike="noStrike">
              <a:solidFill>
                <a:schemeClr val="dk1"/>
              </a:solidFill>
              <a:latin typeface="Source Sans 3"/>
              <a:ea typeface="Source Sans 3"/>
              <a:cs typeface="Source Sans 3"/>
              <a:sym typeface="Source Sans 3"/>
            </a:endParaRPr>
          </a:p>
        </p:txBody>
      </p:sp>
      <p:sp>
        <p:nvSpPr>
          <p:cNvPr id="831" name="Google Shape;831;p27"/>
          <p:cNvSpPr/>
          <p:nvPr/>
        </p:nvSpPr>
        <p:spPr>
          <a:xfrm>
            <a:off x="4318000" y="4314169"/>
            <a:ext cx="3555900" cy="162000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27"/>
          <p:cNvSpPr/>
          <p:nvPr/>
        </p:nvSpPr>
        <p:spPr>
          <a:xfrm>
            <a:off x="4483100" y="4441154"/>
            <a:ext cx="32892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DECISION RULE</a:t>
            </a:r>
            <a:endParaRPr b="0" i="0" sz="1200" u="none" cap="none" strike="noStrike">
              <a:solidFill>
                <a:schemeClr val="dk1"/>
              </a:solidFill>
              <a:latin typeface="Source Sans 3"/>
              <a:ea typeface="Source Sans 3"/>
              <a:cs typeface="Source Sans 3"/>
              <a:sym typeface="Source Sans 3"/>
            </a:endParaRPr>
          </a:p>
        </p:txBody>
      </p:sp>
      <p:sp>
        <p:nvSpPr>
          <p:cNvPr id="833" name="Google Shape;833;p27"/>
          <p:cNvSpPr/>
          <p:nvPr/>
        </p:nvSpPr>
        <p:spPr>
          <a:xfrm>
            <a:off x="4483100" y="4692575"/>
            <a:ext cx="32892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Unemployment won 4 of 5 picks, then lost 3 on the holdout: rejected</a:t>
            </a:r>
            <a:endParaRPr b="0" i="0" sz="1200" u="none" cap="none" strike="noStrike">
              <a:solidFill>
                <a:schemeClr val="dk1"/>
              </a:solidFill>
              <a:latin typeface="Source Sans 3"/>
              <a:ea typeface="Source Sans 3"/>
              <a:cs typeface="Source Sans 3"/>
              <a:sym typeface="Source Sans 3"/>
            </a:endParaRPr>
          </a:p>
        </p:txBody>
      </p:sp>
      <p:sp>
        <p:nvSpPr>
          <p:cNvPr id="834" name="Google Shape;834;p27"/>
          <p:cNvSpPr/>
          <p:nvPr/>
        </p:nvSpPr>
        <p:spPr>
          <a:xfrm>
            <a:off x="8026400" y="4314169"/>
            <a:ext cx="3555900" cy="162000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27"/>
          <p:cNvSpPr/>
          <p:nvPr/>
        </p:nvSpPr>
        <p:spPr>
          <a:xfrm>
            <a:off x="8191500" y="4441154"/>
            <a:ext cx="32892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ALSO CHECKED</a:t>
            </a:r>
            <a:endParaRPr b="0" i="0" sz="1200" u="none" cap="none" strike="noStrike">
              <a:solidFill>
                <a:schemeClr val="dk1"/>
              </a:solidFill>
              <a:latin typeface="Source Sans 3"/>
              <a:ea typeface="Source Sans 3"/>
              <a:cs typeface="Source Sans 3"/>
              <a:sym typeface="Source Sans 3"/>
            </a:endParaRPr>
          </a:p>
        </p:txBody>
      </p:sp>
      <p:sp>
        <p:nvSpPr>
          <p:cNvPr id="836" name="Google Shape;836;p27"/>
          <p:cNvSpPr/>
          <p:nvPr/>
        </p:nvSpPr>
        <p:spPr>
          <a:xfrm>
            <a:off x="8191500" y="4692575"/>
            <a:ext cx="3289200" cy="980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100" u="none" cap="none" strike="noStrike">
                <a:solidFill>
                  <a:srgbClr val="1F3B2D"/>
                </a:solidFill>
                <a:latin typeface="Source Sans 3"/>
                <a:ea typeface="Source Sans 3"/>
                <a:cs typeface="Source Sans 3"/>
                <a:sym typeface="Source Sans 3"/>
              </a:rPr>
              <a:t>An August seasonal factor made 4 of 6 targets worse. A uniform August multiplier, fit on prior years, made county RMSE worse in 10 of 12 backtests. Both were trying to model one event: 88% of our 2025 pounds error is one Ramsey site’s single month.</a:t>
            </a:r>
            <a:endParaRPr b="0" i="0" sz="1000" u="none" cap="none" strike="noStrike">
              <a:solidFill>
                <a:srgbClr val="1F3B2D"/>
              </a:solidFill>
              <a:latin typeface="Source Sans 3"/>
              <a:ea typeface="Source Sans 3"/>
              <a:cs typeface="Source Sans 3"/>
              <a:sym typeface="Source Sans 3"/>
            </a:endParaRPr>
          </a:p>
        </p:txBody>
      </p:sp>
      <p:sp>
        <p:nvSpPr>
          <p:cNvPr id="837" name="Google Shape;837;p27"/>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28</a:t>
            </a:r>
            <a:r>
              <a:rPr b="0" i="0" lang="en-US" sz="1200" u="none" cap="none" strike="noStrike">
                <a:solidFill>
                  <a:srgbClr val="4B5A50"/>
                </a:solidFill>
                <a:latin typeface="Source Sans 3"/>
                <a:ea typeface="Source Sans 3"/>
                <a:cs typeface="Source Sans 3"/>
                <a:sym typeface="Source Sans 3"/>
              </a:rPr>
              <a:t> · Errors are county RMSE · team script forecast_august.py; backtest_metrics.csv; summary.json</a:t>
            </a:r>
            <a:endParaRPr b="0" i="0" sz="1200" u="none" cap="none" strike="noStrike">
              <a:solidFill>
                <a:schemeClr val="dk1"/>
              </a:solidFill>
              <a:latin typeface="Source Sans 3"/>
              <a:ea typeface="Source Sans 3"/>
              <a:cs typeface="Source Sans 3"/>
              <a:sym typeface="Source Sans 3"/>
            </a:endParaRPr>
          </a:p>
        </p:txBody>
      </p:sp>
      <p:sp>
        <p:nvSpPr>
          <p:cNvPr id="838" name="Google Shape;838;p27"/>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9" name="Google Shape;839;p27"/>
          <p:cNvSpPr/>
          <p:nvPr/>
        </p:nvSpPr>
        <p:spPr>
          <a:xfrm>
            <a:off x="0" y="6803136"/>
            <a:ext cx="9541565"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844" name="Shape 844"/>
        <p:cNvGrpSpPr/>
        <p:nvPr/>
      </p:nvGrpSpPr>
      <p:grpSpPr>
        <a:xfrm>
          <a:off x="0" y="0"/>
          <a:ext cx="0" cy="0"/>
          <a:chOff x="0" y="0"/>
          <a:chExt cx="0" cy="0"/>
        </a:xfrm>
      </p:grpSpPr>
      <p:sp>
        <p:nvSpPr>
          <p:cNvPr id="845" name="Google Shape;845;p28"/>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28"/>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A18 · Q8 definition and method</a:t>
            </a:r>
            <a:endParaRPr b="0" i="0" sz="1300" u="none" cap="none" strike="noStrike">
              <a:solidFill>
                <a:schemeClr val="dk1"/>
              </a:solidFill>
              <a:latin typeface="Source Sans 3"/>
              <a:ea typeface="Source Sans 3"/>
              <a:cs typeface="Source Sans 3"/>
              <a:sym typeface="Source Sans 3"/>
            </a:endParaRPr>
          </a:p>
        </p:txBody>
      </p:sp>
      <p:sp>
        <p:nvSpPr>
          <p:cNvPr id="847" name="Google Shape;847;p28"/>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848" name="Google Shape;848;p28"/>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849" name="Google Shape;849;p28"/>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A18</a:t>
            </a:r>
            <a:endParaRPr b="0" i="0" sz="1400" u="none" cap="none" strike="noStrike">
              <a:solidFill>
                <a:schemeClr val="dk1"/>
              </a:solidFill>
              <a:latin typeface="Source Sans 3"/>
              <a:ea typeface="Source Sans 3"/>
              <a:cs typeface="Source Sans 3"/>
              <a:sym typeface="Source Sans 3"/>
            </a:endParaRPr>
          </a:p>
        </p:txBody>
      </p:sp>
      <p:sp>
        <p:nvSpPr>
          <p:cNvPr id="850" name="Google Shape;850;p28"/>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B5501F"/>
                </a:solidFill>
                <a:latin typeface="Source Serif 4"/>
                <a:ea typeface="Source Serif 4"/>
                <a:cs typeface="Source Serif 4"/>
                <a:sym typeface="Source Serif 4"/>
              </a:rPr>
              <a:t>141</a:t>
            </a:r>
            <a:r>
              <a:rPr b="1" i="0" lang="en-US" sz="2100">
                <a:solidFill>
                  <a:srgbClr val="1F3B2D"/>
                </a:solidFill>
                <a:latin typeface="Source Serif 4"/>
                <a:ea typeface="Source Serif 4"/>
                <a:cs typeface="Source Serif 4"/>
                <a:sym typeface="Source Serif 4"/>
              </a:rPr>
              <a:t> food-desert tracts, tested for reach, food supply and fill-or-repeat</a:t>
            </a:r>
            <a:endParaRPr sz="2100"/>
          </a:p>
        </p:txBody>
      </p:sp>
      <p:sp>
        <p:nvSpPr>
          <p:cNvPr id="851" name="Google Shape;851;p28"/>
          <p:cNvSpPr/>
          <p:nvPr/>
        </p:nvSpPr>
        <p:spPr>
          <a:xfrm>
            <a:off x="609600" y="1555750"/>
            <a:ext cx="4953000" cy="1300000"/>
          </a:xfrm>
          <a:prstGeom prst="roundRect">
            <a:avLst>
              <a:gd fmla="val 9935"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28"/>
          <p:cNvSpPr/>
          <p:nvPr/>
        </p:nvSpPr>
        <p:spPr>
          <a:xfrm>
            <a:off x="787400" y="1708150"/>
            <a:ext cx="4673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USDA LILA DEFINITION</a:t>
            </a:r>
            <a:endParaRPr b="0" i="0" sz="1200" u="none" cap="none" strike="noStrike">
              <a:solidFill>
                <a:schemeClr val="dk1"/>
              </a:solidFill>
              <a:latin typeface="Source Sans 3"/>
              <a:ea typeface="Source Sans 3"/>
              <a:cs typeface="Source Sans 3"/>
              <a:sym typeface="Source Sans 3"/>
            </a:endParaRPr>
          </a:p>
        </p:txBody>
      </p:sp>
      <p:sp>
        <p:nvSpPr>
          <p:cNvPr id="853" name="Google Shape;853;p28"/>
          <p:cNvSpPr/>
          <p:nvPr/>
        </p:nvSpPr>
        <p:spPr>
          <a:xfrm>
            <a:off x="787400" y="1959571"/>
            <a:ext cx="4673600" cy="78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1" i="0" lang="en-US" sz="1200" u="none" cap="none" strike="noStrike">
                <a:solidFill>
                  <a:srgbClr val="F7F2E8"/>
                </a:solidFill>
                <a:latin typeface="Source Sans 3"/>
                <a:ea typeface="Source Sans 3"/>
                <a:cs typeface="Source Sans 3"/>
                <a:sym typeface="Source Sans 3"/>
              </a:rPr>
              <a:t>Low income:</a:t>
            </a:r>
            <a:r>
              <a:rPr b="0" i="0" lang="en-US" sz="1200" u="none" cap="none" strike="noStrike">
                <a:solidFill>
                  <a:srgbClr val="F7F2E8"/>
                </a:solidFill>
                <a:latin typeface="Source Sans 3"/>
                <a:ea typeface="Source Sans 3"/>
                <a:cs typeface="Source Sans 3"/>
                <a:sym typeface="Source Sans 3"/>
              </a:rPr>
              <a:t> poverty ≥ 20%, or family income ≤ 80% of the area median. </a:t>
            </a:r>
            <a:r>
              <a:rPr b="1" i="0" lang="en-US" sz="1200" u="none" cap="none" strike="noStrike">
                <a:solidFill>
                  <a:srgbClr val="F7F2E8"/>
                </a:solidFill>
                <a:latin typeface="Source Sans 3"/>
                <a:ea typeface="Source Sans 3"/>
                <a:cs typeface="Source Sans 3"/>
                <a:sym typeface="Source Sans 3"/>
              </a:rPr>
              <a:t>Low access:</a:t>
            </a:r>
            <a:r>
              <a:rPr b="0" i="0" lang="en-US" sz="1200" u="none" cap="none" strike="noStrike">
                <a:solidFill>
                  <a:srgbClr val="F7F2E8"/>
                </a:solidFill>
                <a:latin typeface="Source Sans 3"/>
                <a:ea typeface="Source Sans 3"/>
                <a:cs typeface="Source Sans 3"/>
                <a:sym typeface="Source Sans 3"/>
              </a:rPr>
              <a:t> 500+ people or 33% live over 1 mile (urban) or 10 miles (rural) from a supermarket.</a:t>
            </a:r>
            <a:endParaRPr b="0" i="0" sz="1200" u="none" cap="none" strike="noStrike">
              <a:solidFill>
                <a:schemeClr val="dk1"/>
              </a:solidFill>
              <a:latin typeface="Source Sans 3"/>
              <a:ea typeface="Source Sans 3"/>
              <a:cs typeface="Source Sans 3"/>
              <a:sym typeface="Source Sans 3"/>
            </a:endParaRPr>
          </a:p>
        </p:txBody>
      </p:sp>
      <p:sp>
        <p:nvSpPr>
          <p:cNvPr id="854" name="Google Shape;854;p28"/>
          <p:cNvSpPr/>
          <p:nvPr/>
        </p:nvSpPr>
        <p:spPr>
          <a:xfrm>
            <a:off x="609600" y="3008641"/>
            <a:ext cx="4953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28"/>
          <p:cNvSpPr/>
          <p:nvPr/>
        </p:nvSpPr>
        <p:spPr>
          <a:xfrm>
            <a:off x="774700" y="3135641"/>
            <a:ext cx="4686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VINTAGES</a:t>
            </a:r>
            <a:endParaRPr b="0" i="0" sz="1200" u="none" cap="none" strike="noStrike">
              <a:solidFill>
                <a:schemeClr val="dk1"/>
              </a:solidFill>
              <a:latin typeface="Source Sans 3"/>
              <a:ea typeface="Source Sans 3"/>
              <a:cs typeface="Source Sans 3"/>
              <a:sym typeface="Source Sans 3"/>
            </a:endParaRPr>
          </a:p>
        </p:txBody>
      </p:sp>
      <p:sp>
        <p:nvSpPr>
          <p:cNvPr id="856" name="Google Shape;856;p28"/>
          <p:cNvSpPr/>
          <p:nvPr/>
        </p:nvSpPr>
        <p:spPr>
          <a:xfrm>
            <a:off x="774700" y="3387062"/>
            <a:ext cx="4686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1" i="0" lang="en-US" sz="1200" u="none" cap="none" strike="noStrike">
                <a:solidFill>
                  <a:srgbClr val="1F3B2D"/>
                </a:solidFill>
                <a:latin typeface="Source Sans 3"/>
                <a:ea typeface="Source Sans 3"/>
                <a:cs typeface="Source Sans 3"/>
                <a:sym typeface="Source Sans 3"/>
              </a:rPr>
              <a:t>Main:</a:t>
            </a:r>
            <a:r>
              <a:rPr b="0" i="0" lang="en-US" sz="1200" u="none" cap="none" strike="noStrike">
                <a:solidFill>
                  <a:srgbClr val="1F3B2D"/>
                </a:solidFill>
                <a:latin typeface="Source Sans 3"/>
                <a:ea typeface="Source Sans 3"/>
                <a:cs typeface="Source Sans 3"/>
                <a:sym typeface="Source Sans 3"/>
              </a:rPr>
              <a:t> Retailer Access Map 2025, driving: 141 tracts. </a:t>
            </a:r>
            <a:r>
              <a:rPr b="1" i="0" lang="en-US" sz="1200" u="none" cap="none" strike="noStrike">
                <a:solidFill>
                  <a:srgbClr val="1F3B2D"/>
                </a:solidFill>
                <a:latin typeface="Source Sans 3"/>
                <a:ea typeface="Source Sans 3"/>
                <a:cs typeface="Source Sans 3"/>
                <a:sym typeface="Source Sans 3"/>
              </a:rPr>
              <a:t>Check:</a:t>
            </a:r>
            <a:r>
              <a:rPr b="0" i="0" lang="en-US" sz="1200" u="none" cap="none" strike="noStrike">
                <a:solidFill>
                  <a:srgbClr val="1F3B2D"/>
                </a:solidFill>
                <a:latin typeface="Source Sans 3"/>
                <a:ea typeface="Source Sans 3"/>
                <a:cs typeface="Source Sans 3"/>
                <a:sym typeface="Source Sans 3"/>
              </a:rPr>
              <a:t> Food Access Atlas 2019: 164 tracts.</a:t>
            </a:r>
            <a:endParaRPr b="0" i="0" sz="1200" u="none" cap="none" strike="noStrike">
              <a:solidFill>
                <a:schemeClr val="dk1"/>
              </a:solidFill>
              <a:latin typeface="Source Sans 3"/>
              <a:ea typeface="Source Sans 3"/>
              <a:cs typeface="Source Sans 3"/>
              <a:sym typeface="Source Sans 3"/>
            </a:endParaRPr>
          </a:p>
        </p:txBody>
      </p:sp>
      <p:sp>
        <p:nvSpPr>
          <p:cNvPr id="857" name="Google Shape;857;p28"/>
          <p:cNvSpPr/>
          <p:nvPr/>
        </p:nvSpPr>
        <p:spPr>
          <a:xfrm>
            <a:off x="5746750" y="1555750"/>
            <a:ext cx="5829300" cy="2369771"/>
          </a:xfrm>
          <a:prstGeom prst="roundRect">
            <a:avLst>
              <a:gd fmla="val 494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28"/>
          <p:cNvSpPr/>
          <p:nvPr/>
        </p:nvSpPr>
        <p:spPr>
          <a:xfrm>
            <a:off x="5918200" y="1695450"/>
            <a:ext cx="55562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Pipeline · 1,502 tracts</a:t>
            </a:r>
            <a:endParaRPr b="0" i="0" sz="1300" u="none" cap="none" strike="noStrike">
              <a:solidFill>
                <a:schemeClr val="dk1"/>
              </a:solidFill>
              <a:latin typeface="Source Sans 3"/>
              <a:ea typeface="Source Sans 3"/>
              <a:cs typeface="Source Sans 3"/>
              <a:sym typeface="Source Sans 3"/>
            </a:endParaRPr>
          </a:p>
        </p:txBody>
      </p:sp>
      <p:sp>
        <p:nvSpPr>
          <p:cNvPr id="859" name="Google Shape;859;p28"/>
          <p:cNvSpPr/>
          <p:nvPr/>
        </p:nvSpPr>
        <p:spPr>
          <a:xfrm>
            <a:off x="5918200" y="1977381"/>
            <a:ext cx="5556250" cy="10540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Food shelves active in 2024 at their census-block point · groceries = supermarket, super store, large grocery on 1 Jul 2024 · straight-line miles from where residents live · capacity = pounds within 10 mi per person in poverty, 2-step catchment · compared with low-income tracts that are not low-access · fill or repeat = weighted log–log slope with a density control</a:t>
            </a:r>
            <a:endParaRPr b="0" i="0" sz="1200" u="none" cap="none" strike="noStrike">
              <a:solidFill>
                <a:schemeClr val="dk1"/>
              </a:solidFill>
              <a:latin typeface="Source Sans 3"/>
              <a:ea typeface="Source Sans 3"/>
              <a:cs typeface="Source Sans 3"/>
              <a:sym typeface="Source Sans 3"/>
            </a:endParaRPr>
          </a:p>
        </p:txBody>
      </p:sp>
      <p:sp>
        <p:nvSpPr>
          <p:cNvPr id="860" name="Google Shape;860;p28"/>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29</a:t>
            </a:r>
            <a:r>
              <a:rPr b="0" i="0" lang="en-US" sz="1200" u="none" cap="none" strike="noStrike">
                <a:solidFill>
                  <a:srgbClr val="4B5A50"/>
                </a:solidFill>
                <a:latin typeface="Source Sans 3"/>
                <a:ea typeface="Source Sans 3"/>
                <a:cs typeface="Source Sans 3"/>
                <a:sym typeface="Source Sans 3"/>
              </a:rPr>
              <a:t> · USDA ERS; USDA FNS; Census 2020 centers of population · team notebooks Q8_01 and Q8_02</a:t>
            </a:r>
            <a:endParaRPr b="0" i="0" sz="1200" u="none" cap="none" strike="noStrike">
              <a:solidFill>
                <a:schemeClr val="dk1"/>
              </a:solidFill>
              <a:latin typeface="Source Sans 3"/>
              <a:ea typeface="Source Sans 3"/>
              <a:cs typeface="Source Sans 3"/>
              <a:sym typeface="Source Sans 3"/>
            </a:endParaRPr>
          </a:p>
        </p:txBody>
      </p:sp>
      <p:sp>
        <p:nvSpPr>
          <p:cNvPr id="861" name="Google Shape;861;p28"/>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2" name="Google Shape;862;p28"/>
          <p:cNvSpPr/>
          <p:nvPr/>
        </p:nvSpPr>
        <p:spPr>
          <a:xfrm>
            <a:off x="0" y="6803136"/>
            <a:ext cx="10071652"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867" name="Shape 867"/>
        <p:cNvGrpSpPr/>
        <p:nvPr/>
      </p:nvGrpSpPr>
      <p:grpSpPr>
        <a:xfrm>
          <a:off x="0" y="0"/>
          <a:ext cx="0" cy="0"/>
          <a:chOff x="0" y="0"/>
          <a:chExt cx="0" cy="0"/>
        </a:xfrm>
      </p:grpSpPr>
      <p:sp>
        <p:nvSpPr>
          <p:cNvPr id="868" name="Google Shape;868;p29"/>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29"/>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A19 · Q8 reach, fill or repeat</a:t>
            </a:r>
            <a:endParaRPr b="0" i="0" sz="1300" u="none" cap="none" strike="noStrike">
              <a:solidFill>
                <a:schemeClr val="dk1"/>
              </a:solidFill>
              <a:latin typeface="Source Sans 3"/>
              <a:ea typeface="Source Sans 3"/>
              <a:cs typeface="Source Sans 3"/>
              <a:sym typeface="Source Sans 3"/>
            </a:endParaRPr>
          </a:p>
        </p:txBody>
      </p:sp>
      <p:sp>
        <p:nvSpPr>
          <p:cNvPr id="870" name="Google Shape;870;p29"/>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871" name="Google Shape;871;p29"/>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872" name="Google Shape;872;p29"/>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A19</a:t>
            </a:r>
            <a:endParaRPr b="0" i="0" sz="1400" u="none" cap="none" strike="noStrike">
              <a:solidFill>
                <a:schemeClr val="dk1"/>
              </a:solidFill>
              <a:latin typeface="Source Sans 3"/>
              <a:ea typeface="Source Sans 3"/>
              <a:cs typeface="Source Sans 3"/>
              <a:sym typeface="Source Sans 3"/>
            </a:endParaRPr>
          </a:p>
        </p:txBody>
      </p:sp>
      <p:sp>
        <p:nvSpPr>
          <p:cNvPr id="873" name="Google Shape;873;p29"/>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Rural shelves follow grocery distance (</a:t>
            </a:r>
            <a:r>
              <a:rPr b="1" i="0" lang="en-US" sz="2100">
                <a:solidFill>
                  <a:srgbClr val="B5501F"/>
                </a:solidFill>
                <a:latin typeface="Source Serif 4"/>
                <a:ea typeface="Source Serif 4"/>
                <a:cs typeface="Source Serif 4"/>
                <a:sym typeface="Source Serif 4"/>
              </a:rPr>
              <a:t>0.82</a:t>
            </a:r>
            <a:r>
              <a:rPr b="1" i="0" lang="en-US" sz="2100">
                <a:solidFill>
                  <a:srgbClr val="1F3B2D"/>
                </a:solidFill>
                <a:latin typeface="Source Serif 4"/>
                <a:ea typeface="Source Serif 4"/>
                <a:cs typeface="Source Serif 4"/>
                <a:sym typeface="Source Serif 4"/>
              </a:rPr>
              <a:t>); city shelves do not (</a:t>
            </a:r>
            <a:r>
              <a:rPr b="1" i="0" lang="en-US" sz="2100">
                <a:solidFill>
                  <a:srgbClr val="B5501F"/>
                </a:solidFill>
                <a:latin typeface="Source Serif 4"/>
                <a:ea typeface="Source Serif 4"/>
                <a:cs typeface="Source Serif 4"/>
                <a:sym typeface="Source Serif 4"/>
              </a:rPr>
              <a:t>0.33</a:t>
            </a:r>
            <a:r>
              <a:rPr b="1" i="0" lang="en-US" sz="2100">
                <a:solidFill>
                  <a:srgbClr val="1F3B2D"/>
                </a:solidFill>
                <a:latin typeface="Source Serif 4"/>
                <a:ea typeface="Source Serif 4"/>
                <a:cs typeface="Source Serif 4"/>
                <a:sym typeface="Source Serif 4"/>
              </a:rPr>
              <a:t>)</a:t>
            </a:r>
            <a:endParaRPr sz="2100"/>
          </a:p>
        </p:txBody>
      </p:sp>
      <p:sp>
        <p:nvSpPr>
          <p:cNvPr id="874" name="Google Shape;874;p29"/>
          <p:cNvSpPr/>
          <p:nvPr/>
        </p:nvSpPr>
        <p:spPr>
          <a:xfrm>
            <a:off x="615950" y="1555750"/>
            <a:ext cx="6540500" cy="3200400"/>
          </a:xfrm>
          <a:prstGeom prst="roundRect">
            <a:avLst>
              <a:gd fmla="val 3373"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wo scatter plots of low-income tracts, miles to nearest food shelf vs miles to nearest grocery: cities and suburbs slope 0.33; rural Greater Minnesota slope 0.82." id="875" name="Google Shape;875;p29"/>
          <p:cNvPicPr preferRelativeResize="0"/>
          <p:nvPr/>
        </p:nvPicPr>
        <p:blipFill rotWithShape="1">
          <a:blip r:embed="rId4">
            <a:alphaModFix/>
          </a:blip>
          <a:srcRect b="0" l="-11794" r="-11794" t="0"/>
          <a:stretch/>
        </p:blipFill>
        <p:spPr>
          <a:xfrm>
            <a:off x="711200" y="1651000"/>
            <a:ext cx="6350000" cy="3009900"/>
          </a:xfrm>
          <a:prstGeom prst="rect">
            <a:avLst/>
          </a:prstGeom>
          <a:noFill/>
          <a:ln>
            <a:noFill/>
          </a:ln>
        </p:spPr>
      </p:pic>
      <p:sp>
        <p:nvSpPr>
          <p:cNvPr id="876" name="Google Shape;876;p29"/>
          <p:cNvSpPr/>
          <p:nvPr/>
        </p:nvSpPr>
        <p:spPr>
          <a:xfrm>
            <a:off x="7429500" y="1720850"/>
            <a:ext cx="812800" cy="812800"/>
          </a:xfrm>
          <a:prstGeom prst="roundRect">
            <a:avLst>
              <a:gd fmla="val 50000" name="adj"/>
            </a:avLst>
          </a:prstGeom>
          <a:solidFill>
            <a:srgbClr val="FFFFFF"/>
          </a:solidFill>
          <a:ln cap="flat" cmpd="sng" w="76200">
            <a:solidFill>
              <a:srgbClr val="D9622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65%</a:t>
            </a:r>
            <a:endParaRPr b="0" i="0" sz="1500" u="none" cap="none" strike="noStrike">
              <a:solidFill>
                <a:schemeClr val="dk1"/>
              </a:solidFill>
              <a:latin typeface="Source Sans 3"/>
              <a:ea typeface="Source Sans 3"/>
              <a:cs typeface="Source Sans 3"/>
              <a:sym typeface="Source Sans 3"/>
            </a:endParaRPr>
          </a:p>
        </p:txBody>
      </p:sp>
      <p:sp>
        <p:nvSpPr>
          <p:cNvPr id="877" name="Google Shape;877;p29"/>
          <p:cNvSpPr/>
          <p:nvPr/>
        </p:nvSpPr>
        <p:spPr>
          <a:xfrm>
            <a:off x="8432800" y="1818640"/>
            <a:ext cx="3244088" cy="213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B2D"/>
              </a:buClr>
              <a:buSzPts val="1400"/>
              <a:buFont typeface="Source Serif 4"/>
              <a:buNone/>
            </a:pPr>
            <a:r>
              <a:rPr b="1" i="0" lang="en-US" sz="1400" u="none" cap="none" strike="noStrike">
                <a:solidFill>
                  <a:srgbClr val="1F3B2D"/>
                </a:solidFill>
                <a:latin typeface="Source Serif 4"/>
                <a:ea typeface="Source Serif 4"/>
                <a:cs typeface="Source Serif 4"/>
                <a:sym typeface="Source Serif 4"/>
              </a:rPr>
              <a:t>vs 72%</a:t>
            </a:r>
            <a:endParaRPr b="0" i="0" sz="1400" u="none" cap="none" strike="noStrike">
              <a:solidFill>
                <a:schemeClr val="dk1"/>
              </a:solidFill>
              <a:latin typeface="Source Sans 3"/>
              <a:ea typeface="Source Sans 3"/>
              <a:cs typeface="Source Sans 3"/>
              <a:sym typeface="Source Sans 3"/>
            </a:endParaRPr>
          </a:p>
        </p:txBody>
      </p:sp>
      <p:sp>
        <p:nvSpPr>
          <p:cNvPr id="878" name="Google Shape;878;p29"/>
          <p:cNvSpPr/>
          <p:nvPr/>
        </p:nvSpPr>
        <p:spPr>
          <a:xfrm>
            <a:off x="8432800" y="2070100"/>
            <a:ext cx="37592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people in poverty within USDA distance of a shelf</a:t>
            </a:r>
            <a:endParaRPr b="0" i="0" sz="1200" u="none" cap="none" strike="noStrike">
              <a:solidFill>
                <a:schemeClr val="dk1"/>
              </a:solidFill>
              <a:latin typeface="Source Sans 3"/>
              <a:ea typeface="Source Sans 3"/>
              <a:cs typeface="Source Sans 3"/>
              <a:sym typeface="Source Sans 3"/>
            </a:endParaRPr>
          </a:p>
        </p:txBody>
      </p:sp>
      <p:sp>
        <p:nvSpPr>
          <p:cNvPr id="879" name="Google Shape;879;p29"/>
          <p:cNvSpPr/>
          <p:nvPr/>
        </p:nvSpPr>
        <p:spPr>
          <a:xfrm>
            <a:off x="7429500" y="2749550"/>
            <a:ext cx="812800" cy="812800"/>
          </a:xfrm>
          <a:prstGeom prst="roundRect">
            <a:avLst>
              <a:gd fmla="val 50000" name="adj"/>
            </a:avLst>
          </a:prstGeom>
          <a:solidFill>
            <a:srgbClr val="FFFFFF"/>
          </a:solidFill>
          <a:ln cap="flat" cmpd="sng" w="76200">
            <a:solidFill>
              <a:srgbClr val="D9622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241</a:t>
            </a:r>
            <a:endParaRPr b="0" i="0" sz="1500" u="none" cap="none" strike="noStrike">
              <a:solidFill>
                <a:schemeClr val="dk1"/>
              </a:solidFill>
              <a:latin typeface="Source Sans 3"/>
              <a:ea typeface="Source Sans 3"/>
              <a:cs typeface="Source Sans 3"/>
              <a:sym typeface="Source Sans 3"/>
            </a:endParaRPr>
          </a:p>
        </p:txBody>
      </p:sp>
      <p:sp>
        <p:nvSpPr>
          <p:cNvPr id="880" name="Google Shape;880;p29"/>
          <p:cNvSpPr/>
          <p:nvPr/>
        </p:nvSpPr>
        <p:spPr>
          <a:xfrm>
            <a:off x="8432800" y="2938780"/>
            <a:ext cx="3244088" cy="213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B2D"/>
              </a:buClr>
              <a:buSzPts val="1400"/>
              <a:buFont typeface="Source Serif 4"/>
              <a:buNone/>
            </a:pPr>
            <a:r>
              <a:rPr b="1" i="0" lang="en-US" sz="1400" u="none" cap="none" strike="noStrike">
                <a:solidFill>
                  <a:srgbClr val="1F3B2D"/>
                </a:solidFill>
                <a:latin typeface="Source Serif 4"/>
                <a:ea typeface="Source Serif 4"/>
                <a:cs typeface="Source Serif 4"/>
                <a:sym typeface="Source Serif 4"/>
              </a:rPr>
              <a:t>vs 290 lb</a:t>
            </a:r>
            <a:endParaRPr b="0" i="0" sz="1400" u="none" cap="none" strike="noStrike">
              <a:solidFill>
                <a:schemeClr val="dk1"/>
              </a:solidFill>
              <a:latin typeface="Source Sans 3"/>
              <a:ea typeface="Source Sans 3"/>
              <a:cs typeface="Source Sans 3"/>
              <a:sym typeface="Source Sans 3"/>
            </a:endParaRPr>
          </a:p>
        </p:txBody>
      </p:sp>
      <p:sp>
        <p:nvSpPr>
          <p:cNvPr id="881" name="Google Shape;881;p29"/>
          <p:cNvSpPr/>
          <p:nvPr/>
        </p:nvSpPr>
        <p:spPr>
          <a:xfrm>
            <a:off x="8432800" y="3190240"/>
            <a:ext cx="3244088"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food reachable per person a year (10 mi)</a:t>
            </a:r>
            <a:endParaRPr b="0" i="0" sz="1200" u="none" cap="none" strike="noStrike">
              <a:solidFill>
                <a:schemeClr val="dk1"/>
              </a:solidFill>
              <a:latin typeface="Source Sans 3"/>
              <a:ea typeface="Source Sans 3"/>
              <a:cs typeface="Source Sans 3"/>
              <a:sym typeface="Source Sans 3"/>
            </a:endParaRPr>
          </a:p>
        </p:txBody>
      </p:sp>
      <p:sp>
        <p:nvSpPr>
          <p:cNvPr id="882" name="Google Shape;882;p29"/>
          <p:cNvSpPr/>
          <p:nvPr/>
        </p:nvSpPr>
        <p:spPr>
          <a:xfrm>
            <a:off x="7429500" y="3778250"/>
            <a:ext cx="812800" cy="812800"/>
          </a:xfrm>
          <a:prstGeom prst="roundRect">
            <a:avLst>
              <a:gd fmla="val 50000" name="adj"/>
            </a:avLst>
          </a:prstGeom>
          <a:solidFill>
            <a:srgbClr val="FFFFFF"/>
          </a:solidFill>
          <a:ln cap="flat" cmpd="sng" w="76200">
            <a:solidFill>
              <a:srgbClr val="D9622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0.82</a:t>
            </a:r>
            <a:endParaRPr b="0" i="0" sz="1500" u="none" cap="none" strike="noStrike">
              <a:solidFill>
                <a:schemeClr val="dk1"/>
              </a:solidFill>
              <a:latin typeface="Source Sans 3"/>
              <a:ea typeface="Source Sans 3"/>
              <a:cs typeface="Source Sans 3"/>
              <a:sym typeface="Source Sans 3"/>
            </a:endParaRPr>
          </a:p>
        </p:txBody>
      </p:sp>
      <p:sp>
        <p:nvSpPr>
          <p:cNvPr id="883" name="Google Shape;883;p29"/>
          <p:cNvSpPr/>
          <p:nvPr/>
        </p:nvSpPr>
        <p:spPr>
          <a:xfrm>
            <a:off x="8432800" y="3876040"/>
            <a:ext cx="3244088" cy="213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B2D"/>
              </a:buClr>
              <a:buSzPts val="1400"/>
              <a:buFont typeface="Source Serif 4"/>
              <a:buNone/>
            </a:pPr>
            <a:r>
              <a:rPr b="1" i="0" lang="en-US" sz="1400" u="none" cap="none" strike="noStrike">
                <a:solidFill>
                  <a:srgbClr val="1F3B2D"/>
                </a:solidFill>
                <a:latin typeface="Source Serif 4"/>
                <a:ea typeface="Source Serif 4"/>
                <a:cs typeface="Source Serif 4"/>
                <a:sym typeface="Source Serif 4"/>
              </a:rPr>
              <a:t>rural slope</a:t>
            </a:r>
            <a:endParaRPr b="0" i="0" sz="1400" u="none" cap="none" strike="noStrike">
              <a:solidFill>
                <a:schemeClr val="dk1"/>
              </a:solidFill>
              <a:latin typeface="Source Sans 3"/>
              <a:ea typeface="Source Sans 3"/>
              <a:cs typeface="Source Sans 3"/>
              <a:sym typeface="Source Sans 3"/>
            </a:endParaRPr>
          </a:p>
        </p:txBody>
      </p:sp>
      <p:sp>
        <p:nvSpPr>
          <p:cNvPr id="884" name="Google Shape;884;p29"/>
          <p:cNvSpPr/>
          <p:nvPr/>
        </p:nvSpPr>
        <p:spPr>
          <a:xfrm>
            <a:off x="8432800" y="4127500"/>
            <a:ext cx="3244088"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0.55 with density control; cities 0.07–0.33</a:t>
            </a:r>
            <a:endParaRPr b="0" i="0" sz="1200" u="none" cap="none" strike="noStrike">
              <a:solidFill>
                <a:schemeClr val="dk1"/>
              </a:solidFill>
              <a:latin typeface="Source Sans 3"/>
              <a:ea typeface="Source Sans 3"/>
              <a:cs typeface="Source Sans 3"/>
              <a:sym typeface="Source Sans 3"/>
            </a:endParaRPr>
          </a:p>
        </p:txBody>
      </p:sp>
      <p:sp>
        <p:nvSpPr>
          <p:cNvPr id="885" name="Google Shape;885;p29"/>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30</a:t>
            </a:r>
            <a:r>
              <a:rPr b="0" i="0" lang="en-US" sz="1200" u="none" cap="none" strike="noStrike">
                <a:solidFill>
                  <a:srgbClr val="4B5A50"/>
                </a:solidFill>
                <a:latin typeface="Source Sans 3"/>
                <a:ea typeface="Source Sans 3"/>
                <a:cs typeface="Source Sans 3"/>
                <a:sym typeface="Source Sans 3"/>
              </a:rPr>
              <a:t> · Weighted by people in poverty; comparison = low-income, not low-access tracts</a:t>
            </a:r>
            <a:endParaRPr b="0" i="0" sz="1200" u="none" cap="none" strike="noStrike">
              <a:solidFill>
                <a:schemeClr val="dk1"/>
              </a:solidFill>
              <a:latin typeface="Source Sans 3"/>
              <a:ea typeface="Source Sans 3"/>
              <a:cs typeface="Source Sans 3"/>
              <a:sym typeface="Source Sans 3"/>
            </a:endParaRPr>
          </a:p>
        </p:txBody>
      </p:sp>
      <p:sp>
        <p:nvSpPr>
          <p:cNvPr id="886" name="Google Shape;886;p29"/>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7" name="Google Shape;887;p29"/>
          <p:cNvSpPr/>
          <p:nvPr/>
        </p:nvSpPr>
        <p:spPr>
          <a:xfrm>
            <a:off x="0" y="6803136"/>
            <a:ext cx="10601739"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8" name="Google Shape;888;p29"/>
          <p:cNvSpPr/>
          <p:nvPr/>
        </p:nvSpPr>
        <p:spPr>
          <a:xfrm>
            <a:off x="3331030" y="3964214"/>
            <a:ext cx="517070" cy="136071"/>
          </a:xfrm>
          <a:prstGeom prst="ellipse">
            <a:avLst/>
          </a:prstGeom>
          <a:noFill/>
          <a:ln cap="flat" cmpd="sng" w="31750">
            <a:solidFill>
              <a:srgbClr val="1F3B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9" name="Google Shape;889;p29"/>
          <p:cNvSpPr/>
          <p:nvPr/>
        </p:nvSpPr>
        <p:spPr>
          <a:xfrm>
            <a:off x="5848343" y="3964214"/>
            <a:ext cx="530676" cy="136071"/>
          </a:xfrm>
          <a:prstGeom prst="ellipse">
            <a:avLst/>
          </a:prstGeom>
          <a:noFill/>
          <a:ln cap="flat" cmpd="sng" w="31750">
            <a:solidFill>
              <a:srgbClr val="C2410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894" name="Shape 894"/>
        <p:cNvGrpSpPr/>
        <p:nvPr/>
      </p:nvGrpSpPr>
      <p:grpSpPr>
        <a:xfrm>
          <a:off x="0" y="0"/>
          <a:ext cx="0" cy="0"/>
          <a:chOff x="0" y="0"/>
          <a:chExt cx="0" cy="0"/>
        </a:xfrm>
      </p:grpSpPr>
      <p:sp>
        <p:nvSpPr>
          <p:cNvPr id="895" name="Google Shape;895;p30"/>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30"/>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A20 · Q8 gap tracts</a:t>
            </a:r>
            <a:endParaRPr b="0" i="0" sz="1300" u="none" cap="none" strike="noStrike">
              <a:solidFill>
                <a:schemeClr val="dk1"/>
              </a:solidFill>
              <a:latin typeface="Source Sans 3"/>
              <a:ea typeface="Source Sans 3"/>
              <a:cs typeface="Source Sans 3"/>
              <a:sym typeface="Source Sans 3"/>
            </a:endParaRPr>
          </a:p>
        </p:txBody>
      </p:sp>
      <p:sp>
        <p:nvSpPr>
          <p:cNvPr id="897" name="Google Shape;897;p30"/>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898" name="Google Shape;898;p30"/>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899" name="Google Shape;899;p30"/>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A20</a:t>
            </a:r>
            <a:endParaRPr b="0" i="0" sz="1400" u="none" cap="none" strike="noStrike">
              <a:solidFill>
                <a:schemeClr val="dk1"/>
              </a:solidFill>
              <a:latin typeface="Source Sans 3"/>
              <a:ea typeface="Source Sans 3"/>
              <a:cs typeface="Source Sans 3"/>
              <a:sym typeface="Source Sans 3"/>
            </a:endParaRPr>
          </a:p>
        </p:txBody>
      </p:sp>
      <p:sp>
        <p:nvSpPr>
          <p:cNvPr id="900" name="Google Shape;900;p30"/>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B5501F"/>
                </a:solidFill>
                <a:latin typeface="Source Serif 4"/>
                <a:ea typeface="Source Serif 4"/>
                <a:cs typeface="Source Serif 4"/>
                <a:sym typeface="Source Serif 4"/>
              </a:rPr>
              <a:t>28 rural</a:t>
            </a:r>
            <a:r>
              <a:rPr b="1" i="0" lang="en-US" sz="2100">
                <a:solidFill>
                  <a:srgbClr val="1F3B2D"/>
                </a:solidFill>
                <a:latin typeface="Source Serif 4"/>
                <a:ea typeface="Source Serif 4"/>
                <a:cs typeface="Source Serif 4"/>
                <a:sym typeface="Source Serif 4"/>
              </a:rPr>
              <a:t> gap tracts sit 12.6 mi from a shelf; </a:t>
            </a:r>
            <a:r>
              <a:rPr b="1" i="0" lang="en-US" sz="2100">
                <a:solidFill>
                  <a:srgbClr val="B5501F"/>
                </a:solidFill>
                <a:latin typeface="Source Serif 4"/>
                <a:ea typeface="Source Serif 4"/>
                <a:cs typeface="Source Serif 4"/>
                <a:sym typeface="Source Serif 4"/>
              </a:rPr>
              <a:t>89 urban</a:t>
            </a:r>
            <a:r>
              <a:rPr b="1" i="0" lang="en-US" sz="2100">
                <a:solidFill>
                  <a:srgbClr val="1F3B2D"/>
                </a:solidFill>
                <a:latin typeface="Source Serif 4"/>
                <a:ea typeface="Source Serif 4"/>
                <a:cs typeface="Source Serif 4"/>
                <a:sym typeface="Source Serif 4"/>
              </a:rPr>
              <a:t> ones lack cars</a:t>
            </a:r>
            <a:endParaRPr sz="2100"/>
          </a:p>
        </p:txBody>
      </p:sp>
      <p:sp>
        <p:nvSpPr>
          <p:cNvPr id="901" name="Google Shape;901;p30"/>
          <p:cNvSpPr/>
          <p:nvPr/>
        </p:nvSpPr>
        <p:spPr>
          <a:xfrm>
            <a:off x="615950" y="1562100"/>
            <a:ext cx="3238500" cy="3987800"/>
          </a:xfrm>
          <a:prstGeom prst="roundRect">
            <a:avLst>
              <a:gd fmla="val 3333"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ap of Minnesota tracts: orange LILA tracts with no food shelf within USDA distance, blue LILA tracts with one, grey low-income only; dots are food shelves." id="902" name="Google Shape;902;p30"/>
          <p:cNvPicPr preferRelativeResize="0"/>
          <p:nvPr/>
        </p:nvPicPr>
        <p:blipFill rotWithShape="1">
          <a:blip r:embed="rId4">
            <a:alphaModFix/>
          </a:blip>
          <a:srcRect b="0" l="-29" r="-29" t="0"/>
          <a:stretch/>
        </p:blipFill>
        <p:spPr>
          <a:xfrm>
            <a:off x="711200" y="1657350"/>
            <a:ext cx="3048000" cy="3797300"/>
          </a:xfrm>
          <a:prstGeom prst="rect">
            <a:avLst/>
          </a:prstGeom>
          <a:noFill/>
          <a:ln>
            <a:noFill/>
          </a:ln>
        </p:spPr>
      </p:pic>
      <p:sp>
        <p:nvSpPr>
          <p:cNvPr id="903" name="Google Shape;903;p30"/>
          <p:cNvSpPr/>
          <p:nvPr/>
        </p:nvSpPr>
        <p:spPr>
          <a:xfrm>
            <a:off x="4114800" y="1555750"/>
            <a:ext cx="3670300" cy="1192461"/>
          </a:xfrm>
          <a:prstGeom prst="roundRect">
            <a:avLst>
              <a:gd fmla="val 9585"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30"/>
          <p:cNvSpPr/>
          <p:nvPr/>
        </p:nvSpPr>
        <p:spPr>
          <a:xfrm>
            <a:off x="4292600" y="1708150"/>
            <a:ext cx="33909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URBAN · 89 TRACTS</a:t>
            </a:r>
            <a:endParaRPr b="0" i="0" sz="1200" u="none" cap="none" strike="noStrike">
              <a:solidFill>
                <a:schemeClr val="dk1"/>
              </a:solidFill>
              <a:latin typeface="Source Sans 3"/>
              <a:ea typeface="Source Sans 3"/>
              <a:cs typeface="Source Sans 3"/>
              <a:sym typeface="Source Sans 3"/>
            </a:endParaRPr>
          </a:p>
        </p:txBody>
      </p:sp>
      <p:sp>
        <p:nvSpPr>
          <p:cNvPr id="905" name="Google Shape;905;p30"/>
          <p:cNvSpPr/>
          <p:nvPr/>
        </p:nvSpPr>
        <p:spPr>
          <a:xfrm>
            <a:off x="4292600" y="1959570"/>
            <a:ext cx="3390900" cy="42545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3000"/>
              <a:buFont typeface="Source Serif 4"/>
              <a:buNone/>
            </a:pPr>
            <a:r>
              <a:rPr b="1" i="0" lang="en-US" sz="3000" u="none" cap="none" strike="noStrike">
                <a:solidFill>
                  <a:srgbClr val="F7F2E8"/>
                </a:solidFill>
                <a:latin typeface="Source Serif 4"/>
                <a:ea typeface="Source Serif 4"/>
                <a:cs typeface="Source Serif 4"/>
                <a:sym typeface="Source Serif 4"/>
              </a:rPr>
              <a:t>48,000</a:t>
            </a:r>
            <a:endParaRPr b="0" i="0" sz="3000" u="none" cap="none" strike="noStrike">
              <a:solidFill>
                <a:schemeClr val="dk1"/>
              </a:solidFill>
              <a:latin typeface="Source Sans 3"/>
              <a:ea typeface="Source Sans 3"/>
              <a:cs typeface="Source Sans 3"/>
              <a:sym typeface="Source Sans 3"/>
            </a:endParaRPr>
          </a:p>
        </p:txBody>
      </p:sp>
      <p:sp>
        <p:nvSpPr>
          <p:cNvPr id="906" name="Google Shape;906;p30"/>
          <p:cNvSpPr/>
          <p:nvPr/>
        </p:nvSpPr>
        <p:spPr>
          <a:xfrm>
            <a:off x="4292600" y="2397720"/>
            <a:ext cx="33909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people in poverty; shelf 1.5 mi away, few cars</a:t>
            </a:r>
            <a:endParaRPr b="0" i="0" sz="1200" u="none" cap="none" strike="noStrike">
              <a:solidFill>
                <a:schemeClr val="dk1"/>
              </a:solidFill>
              <a:latin typeface="Source Sans 3"/>
              <a:ea typeface="Source Sans 3"/>
              <a:cs typeface="Source Sans 3"/>
              <a:sym typeface="Source Sans 3"/>
            </a:endParaRPr>
          </a:p>
        </p:txBody>
      </p:sp>
      <p:sp>
        <p:nvSpPr>
          <p:cNvPr id="907" name="Google Shape;907;p30"/>
          <p:cNvSpPr/>
          <p:nvPr/>
        </p:nvSpPr>
        <p:spPr>
          <a:xfrm>
            <a:off x="7912100" y="1555750"/>
            <a:ext cx="3670300" cy="1192461"/>
          </a:xfrm>
          <a:prstGeom prst="roundRect">
            <a:avLst>
              <a:gd fmla="val 9585" name="adj"/>
            </a:avLst>
          </a:prstGeom>
          <a:gradFill>
            <a:gsLst>
              <a:gs pos="0">
                <a:srgbClr val="D9622B"/>
              </a:gs>
              <a:gs pos="100000">
                <a:srgbClr val="E5814A"/>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30"/>
          <p:cNvSpPr/>
          <p:nvPr/>
        </p:nvSpPr>
        <p:spPr>
          <a:xfrm>
            <a:off x="8089900" y="1708150"/>
            <a:ext cx="33909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1A14"/>
              </a:buClr>
              <a:buSzPts val="1200"/>
              <a:buFont typeface="Source Sans 3"/>
              <a:buNone/>
            </a:pPr>
            <a:r>
              <a:rPr b="1" i="0" lang="en-US" sz="1200" u="none" cap="none" strike="noStrike">
                <a:solidFill>
                  <a:srgbClr val="1F1A14"/>
                </a:solidFill>
                <a:latin typeface="Source Sans 3"/>
                <a:ea typeface="Source Sans 3"/>
                <a:cs typeface="Source Sans 3"/>
                <a:sym typeface="Source Sans 3"/>
              </a:rPr>
              <a:t>RURAL · 28 TRACTS</a:t>
            </a:r>
            <a:endParaRPr b="0" i="0" sz="1200" u="none" cap="none" strike="noStrike">
              <a:solidFill>
                <a:schemeClr val="dk1"/>
              </a:solidFill>
              <a:latin typeface="Source Sans 3"/>
              <a:ea typeface="Source Sans 3"/>
              <a:cs typeface="Source Sans 3"/>
              <a:sym typeface="Source Sans 3"/>
            </a:endParaRPr>
          </a:p>
        </p:txBody>
      </p:sp>
      <p:sp>
        <p:nvSpPr>
          <p:cNvPr id="909" name="Google Shape;909;p30"/>
          <p:cNvSpPr/>
          <p:nvPr/>
        </p:nvSpPr>
        <p:spPr>
          <a:xfrm>
            <a:off x="8089900" y="1959570"/>
            <a:ext cx="3390900" cy="42545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1A14"/>
              </a:buClr>
              <a:buSzPts val="3000"/>
              <a:buFont typeface="Source Serif 4"/>
              <a:buNone/>
            </a:pPr>
            <a:r>
              <a:rPr b="1" i="0" lang="en-US" sz="3000" u="none" cap="none" strike="noStrike">
                <a:solidFill>
                  <a:srgbClr val="1F1A14"/>
                </a:solidFill>
                <a:latin typeface="Source Serif 4"/>
                <a:ea typeface="Source Serif 4"/>
                <a:cs typeface="Source Serif 4"/>
                <a:sym typeface="Source Serif 4"/>
              </a:rPr>
              <a:t>12.6 mi</a:t>
            </a:r>
            <a:endParaRPr b="0" i="0" sz="3000" u="none" cap="none" strike="noStrike">
              <a:solidFill>
                <a:schemeClr val="dk1"/>
              </a:solidFill>
              <a:latin typeface="Source Sans 3"/>
              <a:ea typeface="Source Sans 3"/>
              <a:cs typeface="Source Sans 3"/>
              <a:sym typeface="Source Sans 3"/>
            </a:endParaRPr>
          </a:p>
        </p:txBody>
      </p:sp>
      <p:sp>
        <p:nvSpPr>
          <p:cNvPr id="910" name="Google Shape;910;p30"/>
          <p:cNvSpPr/>
          <p:nvPr/>
        </p:nvSpPr>
        <p:spPr>
          <a:xfrm>
            <a:off x="8089900" y="2397720"/>
            <a:ext cx="33909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F1A14"/>
              </a:buClr>
              <a:buSzPts val="1200"/>
              <a:buFont typeface="Source Sans 3"/>
              <a:buNone/>
            </a:pPr>
            <a:r>
              <a:rPr b="0" i="0" lang="en-US" sz="1200" u="none" cap="none" strike="noStrike">
                <a:solidFill>
                  <a:srgbClr val="1F1A14"/>
                </a:solidFill>
                <a:latin typeface="Source Sans 3"/>
                <a:ea typeface="Source Sans 3"/>
                <a:cs typeface="Source Sans 3"/>
                <a:sym typeface="Source Sans 3"/>
              </a:rPr>
              <a:t>median to a shelf; up to 27 mi in Beltrami</a:t>
            </a:r>
            <a:endParaRPr b="0" i="0" sz="1200" u="none" cap="none" strike="noStrike">
              <a:solidFill>
                <a:schemeClr val="dk1"/>
              </a:solidFill>
              <a:latin typeface="Source Sans 3"/>
              <a:ea typeface="Source Sans 3"/>
              <a:cs typeface="Source Sans 3"/>
              <a:sym typeface="Source Sans 3"/>
            </a:endParaRPr>
          </a:p>
        </p:txBody>
      </p:sp>
      <p:sp>
        <p:nvSpPr>
          <p:cNvPr id="911" name="Google Shape;911;p30"/>
          <p:cNvSpPr/>
          <p:nvPr/>
        </p:nvSpPr>
        <p:spPr>
          <a:xfrm>
            <a:off x="4121150" y="2900611"/>
            <a:ext cx="7454900" cy="754360"/>
          </a:xfrm>
          <a:prstGeom prst="roundRect">
            <a:avLst>
              <a:gd fmla="val 14310"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30"/>
          <p:cNvSpPr/>
          <p:nvPr/>
        </p:nvSpPr>
        <p:spPr>
          <a:xfrm>
            <a:off x="4292600" y="3033961"/>
            <a:ext cx="71818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Rural LILA tracts</a:t>
            </a:r>
            <a:endParaRPr b="0" i="0" sz="1300" u="none" cap="none" strike="noStrike">
              <a:solidFill>
                <a:schemeClr val="dk1"/>
              </a:solidFill>
              <a:latin typeface="Source Sans 3"/>
              <a:ea typeface="Source Sans 3"/>
              <a:cs typeface="Source Sans 3"/>
              <a:sym typeface="Source Sans 3"/>
            </a:endParaRPr>
          </a:p>
        </p:txBody>
      </p:sp>
      <p:sp>
        <p:nvSpPr>
          <p:cNvPr id="913" name="Google Shape;913;p30"/>
          <p:cNvSpPr/>
          <p:nvPr/>
        </p:nvSpPr>
        <p:spPr>
          <a:xfrm>
            <a:off x="4292600" y="3315891"/>
            <a:ext cx="718185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reach 94 lb per person a year vs 172 in other rural low-income tracts</a:t>
            </a:r>
            <a:endParaRPr b="0" i="0" sz="1200" u="none" cap="none" strike="noStrike">
              <a:solidFill>
                <a:schemeClr val="dk1"/>
              </a:solidFill>
              <a:latin typeface="Source Sans 3"/>
              <a:ea typeface="Source Sans 3"/>
              <a:cs typeface="Source Sans 3"/>
              <a:sym typeface="Source Sans 3"/>
            </a:endParaRPr>
          </a:p>
        </p:txBody>
      </p:sp>
      <p:sp>
        <p:nvSpPr>
          <p:cNvPr id="914" name="Google Shape;914;p30"/>
          <p:cNvSpPr/>
          <p:nvPr/>
        </p:nvSpPr>
        <p:spPr>
          <a:xfrm>
            <a:off x="4121150" y="3807371"/>
            <a:ext cx="7454900" cy="754360"/>
          </a:xfrm>
          <a:prstGeom prst="roundRect">
            <a:avLst>
              <a:gd fmla="val 14310"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30"/>
          <p:cNvSpPr/>
          <p:nvPr/>
        </p:nvSpPr>
        <p:spPr>
          <a:xfrm>
            <a:off x="4292600" y="3940721"/>
            <a:ext cx="71818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Tribal areas</a:t>
            </a:r>
            <a:endParaRPr b="0" i="0" sz="1300" u="none" cap="none" strike="noStrike">
              <a:solidFill>
                <a:schemeClr val="dk1"/>
              </a:solidFill>
              <a:latin typeface="Source Sans 3"/>
              <a:ea typeface="Source Sans 3"/>
              <a:cs typeface="Source Sans 3"/>
              <a:sym typeface="Source Sans 3"/>
            </a:endParaRPr>
          </a:p>
        </p:txBody>
      </p:sp>
      <p:sp>
        <p:nvSpPr>
          <p:cNvPr id="916" name="Google Shape;916;p30"/>
          <p:cNvSpPr/>
          <p:nvPr/>
        </p:nvSpPr>
        <p:spPr>
          <a:xfrm>
            <a:off x="4292600" y="4222651"/>
            <a:ext cx="718185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118 lb vs 280 elsewhere (tribal food programs are not in this data)</a:t>
            </a:r>
            <a:endParaRPr b="0" i="0" sz="1200" u="none" cap="none" strike="noStrike">
              <a:solidFill>
                <a:schemeClr val="dk1"/>
              </a:solidFill>
              <a:latin typeface="Source Sans 3"/>
              <a:ea typeface="Source Sans 3"/>
              <a:cs typeface="Source Sans 3"/>
              <a:sym typeface="Source Sans 3"/>
            </a:endParaRPr>
          </a:p>
        </p:txBody>
      </p:sp>
      <p:sp>
        <p:nvSpPr>
          <p:cNvPr id="917" name="Google Shape;917;p30"/>
          <p:cNvSpPr/>
          <p:nvPr/>
        </p:nvSpPr>
        <p:spPr>
          <a:xfrm>
            <a:off x="4121150" y="4714131"/>
            <a:ext cx="7454900" cy="754360"/>
          </a:xfrm>
          <a:prstGeom prst="roundRect">
            <a:avLst>
              <a:gd fmla="val 14310"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30"/>
          <p:cNvSpPr/>
          <p:nvPr/>
        </p:nvSpPr>
        <p:spPr>
          <a:xfrm>
            <a:off x="4292600" y="4847481"/>
            <a:ext cx="71818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St. Cloud</a:t>
            </a:r>
            <a:endParaRPr b="0" i="0" sz="1300" u="none" cap="none" strike="noStrike">
              <a:solidFill>
                <a:schemeClr val="dk1"/>
              </a:solidFill>
              <a:latin typeface="Source Sans 3"/>
              <a:ea typeface="Source Sans 3"/>
              <a:cs typeface="Source Sans 3"/>
              <a:sym typeface="Source Sans 3"/>
            </a:endParaRPr>
          </a:p>
        </p:txBody>
      </p:sp>
      <p:sp>
        <p:nvSpPr>
          <p:cNvPr id="919" name="Google Shape;919;p30"/>
          <p:cNvSpPr/>
          <p:nvPr/>
        </p:nvSpPr>
        <p:spPr>
          <a:xfrm>
            <a:off x="4292600" y="5129411"/>
            <a:ext cx="718185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holds 5 of the 15 largest gap tracts</a:t>
            </a:r>
            <a:endParaRPr b="0" i="0" sz="1200" u="none" cap="none" strike="noStrike">
              <a:solidFill>
                <a:schemeClr val="dk1"/>
              </a:solidFill>
              <a:latin typeface="Source Sans 3"/>
              <a:ea typeface="Source Sans 3"/>
              <a:cs typeface="Source Sans 3"/>
              <a:sym typeface="Source Sans 3"/>
            </a:endParaRPr>
          </a:p>
        </p:txBody>
      </p:sp>
      <p:sp>
        <p:nvSpPr>
          <p:cNvPr id="920" name="Google Shape;920;p30"/>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31</a:t>
            </a:r>
            <a:r>
              <a:rPr b="0" i="0" lang="en-US" sz="1200" u="none" cap="none" strike="noStrike">
                <a:solidFill>
                  <a:srgbClr val="4B5A50"/>
                </a:solidFill>
                <a:latin typeface="Source Sans 3"/>
                <a:ea typeface="Source Sans 3"/>
                <a:cs typeface="Source Sans 3"/>
                <a:sym typeface="Source Sans 3"/>
              </a:rPr>
              <a:t> · Gap list: q8_gap_tracts.csv (LILA 2025 or 2019, no shelf within 1 mi urban / 10 mi rural)</a:t>
            </a:r>
            <a:endParaRPr b="0" i="0" sz="1200" u="none" cap="none" strike="noStrike">
              <a:solidFill>
                <a:schemeClr val="dk1"/>
              </a:solidFill>
              <a:latin typeface="Source Sans 3"/>
              <a:ea typeface="Source Sans 3"/>
              <a:cs typeface="Source Sans 3"/>
              <a:sym typeface="Source Sans 3"/>
            </a:endParaRPr>
          </a:p>
        </p:txBody>
      </p:sp>
      <p:sp>
        <p:nvSpPr>
          <p:cNvPr id="921" name="Google Shape;921;p30"/>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2" name="Google Shape;922;p30"/>
          <p:cNvSpPr/>
          <p:nvPr/>
        </p:nvSpPr>
        <p:spPr>
          <a:xfrm>
            <a:off x="0" y="6803136"/>
            <a:ext cx="11131826"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3" name="Google Shape;923;p30"/>
          <p:cNvSpPr/>
          <p:nvPr/>
        </p:nvSpPr>
        <p:spPr>
          <a:xfrm>
            <a:off x="2563385" y="2456781"/>
            <a:ext cx="1093951" cy="420754"/>
          </a:xfrm>
          <a:prstGeom prst="ellipse">
            <a:avLst/>
          </a:prstGeom>
          <a:noFill/>
          <a:ln cap="flat" cmpd="sng" w="31750">
            <a:solidFill>
              <a:srgbClr val="1F3B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4" name="Google Shape;924;p30"/>
          <p:cNvSpPr txBox="1"/>
          <p:nvPr/>
        </p:nvSpPr>
        <p:spPr>
          <a:xfrm>
            <a:off x="2815835" y="2919610"/>
            <a:ext cx="925651" cy="210377"/>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200" u="none" cap="none" strike="noStrike">
                <a:solidFill>
                  <a:srgbClr val="1F3B2D"/>
                </a:solidFill>
                <a:latin typeface="Source Sans 3"/>
                <a:ea typeface="Source Sans 3"/>
                <a:cs typeface="Source Sans 3"/>
                <a:sym typeface="Source Sans 3"/>
              </a:rPr>
              <a:t>Rural gaps</a:t>
            </a:r>
            <a:endParaRPr/>
          </a:p>
        </p:txBody>
      </p:sp>
      <p:sp>
        <p:nvSpPr>
          <p:cNvPr id="925" name="Google Shape;925;p30"/>
          <p:cNvSpPr/>
          <p:nvPr/>
        </p:nvSpPr>
        <p:spPr>
          <a:xfrm>
            <a:off x="2268860" y="3887343"/>
            <a:ext cx="378675" cy="357640"/>
          </a:xfrm>
          <a:prstGeom prst="ellipse">
            <a:avLst/>
          </a:prstGeom>
          <a:noFill/>
          <a:ln cap="flat" cmpd="sng" w="31750">
            <a:solidFill>
              <a:srgbClr val="1F3B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6" name="Google Shape;926;p30"/>
          <p:cNvSpPr txBox="1"/>
          <p:nvPr/>
        </p:nvSpPr>
        <p:spPr>
          <a:xfrm>
            <a:off x="2668572" y="3971494"/>
            <a:ext cx="1072914" cy="210376"/>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200" u="none" cap="none" strike="noStrike">
                <a:solidFill>
                  <a:srgbClr val="1F3B2D"/>
                </a:solidFill>
                <a:latin typeface="Source Sans 3"/>
                <a:ea typeface="Source Sans 3"/>
                <a:cs typeface="Source Sans 3"/>
                <a:sym typeface="Source Sans 3"/>
              </a:rPr>
              <a:t>Urban gaps (metro)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931" name="Shape 931"/>
        <p:cNvGrpSpPr/>
        <p:nvPr/>
      </p:nvGrpSpPr>
      <p:grpSpPr>
        <a:xfrm>
          <a:off x="0" y="0"/>
          <a:ext cx="0" cy="0"/>
          <a:chOff x="0" y="0"/>
          <a:chExt cx="0" cy="0"/>
        </a:xfrm>
      </p:grpSpPr>
      <p:sp>
        <p:nvSpPr>
          <p:cNvPr id="932" name="Google Shape;932;p31"/>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31"/>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A21 · Q8 robustness</a:t>
            </a:r>
            <a:endParaRPr b="0" i="0" sz="1300" u="none" cap="none" strike="noStrike">
              <a:solidFill>
                <a:schemeClr val="dk1"/>
              </a:solidFill>
              <a:latin typeface="Source Sans 3"/>
              <a:ea typeface="Source Sans 3"/>
              <a:cs typeface="Source Sans 3"/>
              <a:sym typeface="Source Sans 3"/>
            </a:endParaRPr>
          </a:p>
        </p:txBody>
      </p:sp>
      <p:sp>
        <p:nvSpPr>
          <p:cNvPr id="934" name="Google Shape;934;p31"/>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935" name="Google Shape;935;p31"/>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936" name="Google Shape;936;p31"/>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A21</a:t>
            </a:r>
            <a:endParaRPr b="0" i="0" sz="1400" u="none" cap="none" strike="noStrike">
              <a:solidFill>
                <a:schemeClr val="dk1"/>
              </a:solidFill>
              <a:latin typeface="Source Sans 3"/>
              <a:ea typeface="Source Sans 3"/>
              <a:cs typeface="Source Sans 3"/>
              <a:sym typeface="Source Sans 3"/>
            </a:endParaRPr>
          </a:p>
        </p:txBody>
      </p:sp>
      <p:sp>
        <p:nvSpPr>
          <p:cNvPr id="937" name="Google Shape;937;p31"/>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Food deserts trail on reach in </a:t>
            </a:r>
            <a:r>
              <a:rPr b="1" i="0" lang="en-US" sz="2100">
                <a:solidFill>
                  <a:srgbClr val="B5501F"/>
                </a:solidFill>
                <a:latin typeface="Source Serif 4"/>
                <a:ea typeface="Source Serif 4"/>
                <a:cs typeface="Source Serif 4"/>
                <a:sym typeface="Source Serif 4"/>
              </a:rPr>
              <a:t>10 of 10</a:t>
            </a:r>
            <a:r>
              <a:rPr b="1" i="0" lang="en-US" sz="2100">
                <a:solidFill>
                  <a:srgbClr val="1F3B2D"/>
                </a:solidFill>
                <a:latin typeface="Source Serif 4"/>
                <a:ea typeface="Source Serif 4"/>
                <a:cs typeface="Source Serif 4"/>
                <a:sym typeface="Source Serif 4"/>
              </a:rPr>
              <a:t> definitions, on food in </a:t>
            </a:r>
            <a:r>
              <a:rPr b="1" i="0" lang="en-US" sz="2100">
                <a:solidFill>
                  <a:srgbClr val="B5501F"/>
                </a:solidFill>
                <a:latin typeface="Source Serif 4"/>
                <a:ea typeface="Source Serif 4"/>
                <a:cs typeface="Source Serif 4"/>
                <a:sym typeface="Source Serif 4"/>
              </a:rPr>
              <a:t>9 of 10</a:t>
            </a:r>
            <a:endParaRPr sz="2100"/>
          </a:p>
        </p:txBody>
      </p:sp>
      <p:graphicFrame>
        <p:nvGraphicFramePr>
          <p:cNvPr id="938" name="Google Shape;938;p31"/>
          <p:cNvGraphicFramePr/>
          <p:nvPr/>
        </p:nvGraphicFramePr>
        <p:xfrm>
          <a:off x="622300" y="1555750"/>
          <a:ext cx="3000000" cy="3000000"/>
        </p:xfrm>
        <a:graphic>
          <a:graphicData uri="http://schemas.openxmlformats.org/drawingml/2006/table">
            <a:tbl>
              <a:tblPr>
                <a:noFill/>
                <a:tableStyleId>{B14A676D-5FE0-4728-95B7-5A5512F2545D}</a:tableStyleId>
              </a:tblPr>
              <a:tblGrid>
                <a:gridCol w="4603250"/>
                <a:gridCol w="1534425"/>
                <a:gridCol w="2849625"/>
                <a:gridCol w="1972825"/>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Variant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LILA tracts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Near a shelf: LILA vs other</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lb per person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Main: 2025, 1 &amp; 10 mi, driving</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65% vs 72%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241 vs 290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2025, straight-line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49</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50% vs 71%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193 vs 283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2025, ½ &amp; 10 mi</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291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58% vs 86%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271 vs 284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2025, 1 &amp; 20 mi</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106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66% vs 71%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262 vs 281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2025, vehicle access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104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65% vs 72%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288 vs 271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2019 Atlas (brief's source)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164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60% vs 74%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226 vs 298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Fixed sites only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63% vs 69%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241 vs 290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Capacity within 5 mi</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65% vs 72%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260 vs 279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Capacity within 20 mi</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65% vs 72%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249 vs 291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Weights: 2019 low-income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61% vs 70%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93 vs 125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939" name="Google Shape;939;p31"/>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32</a:t>
            </a:r>
            <a:r>
              <a:rPr b="0" i="0" lang="en-US" sz="1200" u="none" cap="none" strike="noStrike">
                <a:solidFill>
                  <a:srgbClr val="4B5A50"/>
                </a:solidFill>
                <a:latin typeface="Source Sans 3"/>
                <a:ea typeface="Source Sans 3"/>
                <a:cs typeface="Source Sans 3"/>
                <a:sym typeface="Source Sans 3"/>
              </a:rPr>
              <a:t> · q8_robustness.csv, team notebook Q8_02 section 4 · the vehicle-access definition reverses capacity</a:t>
            </a:r>
            <a:endParaRPr b="0" i="0" sz="1200" u="none" cap="none" strike="noStrike">
              <a:solidFill>
                <a:schemeClr val="dk1"/>
              </a:solidFill>
              <a:latin typeface="Source Sans 3"/>
              <a:ea typeface="Source Sans 3"/>
              <a:cs typeface="Source Sans 3"/>
              <a:sym typeface="Source Sans 3"/>
            </a:endParaRPr>
          </a:p>
        </p:txBody>
      </p:sp>
      <p:sp>
        <p:nvSpPr>
          <p:cNvPr id="940" name="Google Shape;940;p31"/>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1" name="Google Shape;941;p31"/>
          <p:cNvSpPr/>
          <p:nvPr/>
        </p:nvSpPr>
        <p:spPr>
          <a:xfrm>
            <a:off x="0" y="6803136"/>
            <a:ext cx="11661913"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946" name="Shape 946"/>
        <p:cNvGrpSpPr/>
        <p:nvPr/>
      </p:nvGrpSpPr>
      <p:grpSpPr>
        <a:xfrm>
          <a:off x="0" y="0"/>
          <a:ext cx="0" cy="0"/>
          <a:chOff x="0" y="0"/>
          <a:chExt cx="0" cy="0"/>
        </a:xfrm>
      </p:grpSpPr>
      <p:sp>
        <p:nvSpPr>
          <p:cNvPr id="947" name="Google Shape;947;p32"/>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32"/>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A22 · Limits and checks</a:t>
            </a:r>
            <a:endParaRPr b="0" i="0" sz="1300" u="none" cap="none" strike="noStrike">
              <a:solidFill>
                <a:schemeClr val="dk1"/>
              </a:solidFill>
              <a:latin typeface="Source Sans 3"/>
              <a:ea typeface="Source Sans 3"/>
              <a:cs typeface="Source Sans 3"/>
              <a:sym typeface="Source Sans 3"/>
            </a:endParaRPr>
          </a:p>
        </p:txBody>
      </p:sp>
      <p:sp>
        <p:nvSpPr>
          <p:cNvPr id="949" name="Google Shape;949;p32"/>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950" name="Google Shape;950;p32"/>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951" name="Google Shape;951;p32"/>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A22</a:t>
            </a:r>
            <a:endParaRPr b="0" i="0" sz="1400" u="none" cap="none" strike="noStrike">
              <a:solidFill>
                <a:schemeClr val="dk1"/>
              </a:solidFill>
              <a:latin typeface="Source Sans 3"/>
              <a:ea typeface="Source Sans 3"/>
              <a:cs typeface="Source Sans 3"/>
              <a:sym typeface="Source Sans 3"/>
            </a:endParaRPr>
          </a:p>
        </p:txBody>
      </p:sp>
      <p:sp>
        <p:nvSpPr>
          <p:cNvPr id="952" name="Google Shape;952;p32"/>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Five limits we name, and five checks that tried to prove us wrong</a:t>
            </a:r>
            <a:endParaRPr sz="2100"/>
          </a:p>
        </p:txBody>
      </p:sp>
      <p:sp>
        <p:nvSpPr>
          <p:cNvPr id="953" name="Google Shape;953;p32"/>
          <p:cNvSpPr/>
          <p:nvPr/>
        </p:nvSpPr>
        <p:spPr>
          <a:xfrm>
            <a:off x="615950" y="1555750"/>
            <a:ext cx="5384800" cy="1950000"/>
          </a:xfrm>
          <a:prstGeom prst="roundRect">
            <a:avLst>
              <a:gd fmla="val 68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32"/>
          <p:cNvSpPr/>
          <p:nvPr/>
        </p:nvSpPr>
        <p:spPr>
          <a:xfrm>
            <a:off x="787400" y="1695450"/>
            <a:ext cx="51117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Limits</a:t>
            </a:r>
            <a:endParaRPr b="0" i="0" sz="1300" u="none" cap="none" strike="noStrike">
              <a:solidFill>
                <a:schemeClr val="dk1"/>
              </a:solidFill>
              <a:latin typeface="Source Sans 3"/>
              <a:ea typeface="Source Sans 3"/>
              <a:cs typeface="Source Sans 3"/>
              <a:sym typeface="Source Sans 3"/>
            </a:endParaRPr>
          </a:p>
        </p:txBody>
      </p:sp>
      <p:sp>
        <p:nvSpPr>
          <p:cNvPr id="955" name="Google Shape;955;p32"/>
          <p:cNvSpPr/>
          <p:nvPr/>
        </p:nvSpPr>
        <p:spPr>
          <a:xfrm>
            <a:off x="787400" y="1977380"/>
            <a:ext cx="5111750" cy="1500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Households served are not visits (~28% of published totals)</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Partner network only; 39 sites unlocated</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Straight-line distance, not drive time</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One big SNAP shock to learn from</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Meal cost not comparable before 2023</a:t>
            </a:r>
            <a:endParaRPr b="0" i="0" sz="1200" u="none" cap="none" strike="noStrike">
              <a:solidFill>
                <a:schemeClr val="dk1"/>
              </a:solidFill>
              <a:latin typeface="Source Sans 3"/>
              <a:ea typeface="Source Sans 3"/>
              <a:cs typeface="Source Sans 3"/>
              <a:sym typeface="Source Sans 3"/>
            </a:endParaRPr>
          </a:p>
        </p:txBody>
      </p:sp>
      <p:sp>
        <p:nvSpPr>
          <p:cNvPr id="956" name="Google Shape;956;p32"/>
          <p:cNvSpPr/>
          <p:nvPr/>
        </p:nvSpPr>
        <p:spPr>
          <a:xfrm>
            <a:off x="6184900" y="1555750"/>
            <a:ext cx="5397500" cy="1950000"/>
          </a:xfrm>
          <a:prstGeom prst="roundRect">
            <a:avLst>
              <a:gd fmla="val 7189"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32"/>
          <p:cNvSpPr/>
          <p:nvPr/>
        </p:nvSpPr>
        <p:spPr>
          <a:xfrm>
            <a:off x="6362700" y="1708150"/>
            <a:ext cx="51181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CHECKS</a:t>
            </a:r>
            <a:endParaRPr b="0" i="0" sz="1200" u="none" cap="none" strike="noStrike">
              <a:solidFill>
                <a:schemeClr val="dk1"/>
              </a:solidFill>
              <a:latin typeface="Source Sans 3"/>
              <a:ea typeface="Source Sans 3"/>
              <a:cs typeface="Source Sans 3"/>
              <a:sym typeface="Source Sans 3"/>
            </a:endParaRPr>
          </a:p>
        </p:txBody>
      </p:sp>
      <p:sp>
        <p:nvSpPr>
          <p:cNvPr id="958" name="Google Shape;958;p32"/>
          <p:cNvSpPr/>
          <p:nvPr/>
        </p:nvSpPr>
        <p:spPr>
          <a:xfrm>
            <a:off x="6362700" y="1959570"/>
            <a:ext cx="5118100" cy="150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Q4: lag failed falsification, so not claimed</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Q5: placebo picks spring 2023</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Q6: index beats the rate alone</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Q7: holdout year rejected the fancier model</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Q8: holds in 10 of 10 definitions</a:t>
            </a:r>
            <a:endParaRPr b="0" i="0" sz="1200" u="none" cap="none" strike="noStrike">
              <a:solidFill>
                <a:schemeClr val="dk1"/>
              </a:solidFill>
              <a:latin typeface="Source Sans 3"/>
              <a:ea typeface="Source Sans 3"/>
              <a:cs typeface="Source Sans 3"/>
              <a:sym typeface="Source Sans 3"/>
            </a:endParaRPr>
          </a:p>
        </p:txBody>
      </p:sp>
      <p:sp>
        <p:nvSpPr>
          <p:cNvPr id="959" name="Google Shape;959;p32"/>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i="0" lang="en-US" sz="1200" u="none" cap="none" strike="noStrike">
                <a:solidFill>
                  <a:srgbClr val="4B5A50"/>
                </a:solidFill>
                <a:latin typeface="Source Sans 3"/>
                <a:ea typeface="Source Sans 3"/>
                <a:cs typeface="Source Sans 3"/>
                <a:sym typeface="Source Sans 3"/>
              </a:rPr>
              <a:t>33</a:t>
            </a:r>
            <a:r>
              <a:rPr b="0" i="0" lang="en-US" sz="1200" u="none" cap="none" strike="noStrike">
                <a:solidFill>
                  <a:srgbClr val="4B5A50"/>
                </a:solidFill>
                <a:latin typeface="Source Sans 3"/>
                <a:ea typeface="Source Sans 3"/>
                <a:cs typeface="Source Sans 3"/>
                <a:sym typeface="Source Sans 3"/>
              </a:rPr>
              <a:t> · Cleaning decisions in Appendix A6</a:t>
            </a:r>
            <a:endParaRPr b="0" i="0" sz="1200" u="none" cap="none" strike="noStrike">
              <a:solidFill>
                <a:schemeClr val="dk1"/>
              </a:solidFill>
              <a:latin typeface="Source Sans 3"/>
              <a:ea typeface="Source Sans 3"/>
              <a:cs typeface="Source Sans 3"/>
              <a:sym typeface="Source Sans 3"/>
            </a:endParaRPr>
          </a:p>
        </p:txBody>
      </p:sp>
      <p:sp>
        <p:nvSpPr>
          <p:cNvPr id="960" name="Google Shape;960;p32"/>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1" name="Google Shape;961;p32"/>
          <p:cNvSpPr/>
          <p:nvPr/>
        </p:nvSpPr>
        <p:spPr>
          <a:xfrm>
            <a:off x="0" y="6803136"/>
            <a:ext cx="12192000"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MinneMUDAC 2026: Demand Is Not Need">
  <a:themeElements>
    <a:clrScheme name="MinneMUDAC 2026: Demand Is Not Need">
      <a:dk1>
        <a:srgbClr val="1F3B2D"/>
      </a:dk1>
      <a:lt1>
        <a:srgbClr val="F7F2E8"/>
      </a:lt1>
      <a:dk2>
        <a:srgbClr val="55695C"/>
      </a:dk2>
      <a:lt2>
        <a:srgbClr val="E1E0D5"/>
      </a:lt2>
      <a:accent1>
        <a:srgbClr val="D9622B"/>
      </a:accent1>
      <a:accent2>
        <a:srgbClr val="F2B544"/>
      </a:accent2>
      <a:accent3>
        <a:srgbClr val="B5501F"/>
      </a:accent3>
      <a:accent4>
        <a:srgbClr val="E5814A"/>
      </a:accent4>
      <a:accent5>
        <a:srgbClr val="4B5A50"/>
      </a:accent5>
      <a:accent6>
        <a:srgbClr val="1F1A1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neMUDAC 2026: Demand Is Not Need">
  <a:themeElements>
    <a:clrScheme name="MinneMUDAC 2026: Demand Is Not Need">
      <a:dk1>
        <a:srgbClr val="1F3B2D"/>
      </a:dk1>
      <a:lt1>
        <a:srgbClr val="F7F2E8"/>
      </a:lt1>
      <a:dk2>
        <a:srgbClr val="55695C"/>
      </a:dk2>
      <a:lt2>
        <a:srgbClr val="E1E0D5"/>
      </a:lt2>
      <a:accent1>
        <a:srgbClr val="D9622B"/>
      </a:accent1>
      <a:accent2>
        <a:srgbClr val="F2B544"/>
      </a:accent2>
      <a:accent3>
        <a:srgbClr val="B5501F"/>
      </a:accent3>
      <a:accent4>
        <a:srgbClr val="E5814A"/>
      </a:accent4>
      <a:accent5>
        <a:srgbClr val="4B5A50"/>
      </a:accent5>
      <a:accent6>
        <a:srgbClr val="1F1A1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2026-10-12T16:12:21Z</dcterms:created>
</cp:coreProperties>
</file>