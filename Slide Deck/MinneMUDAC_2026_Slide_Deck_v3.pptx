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2000"/>
  <p:notesSz cx="6858000" cy="12192000"/>
  <p:embeddedFontLst>
    <p:embeddedFont>
      <p:font typeface="Source Sans 3"/>
      <p:regular r:id="rId39"/>
      <p:bold r:id="rId40"/>
      <p:italic r:id="rId41"/>
      <p:boldItalic r:id="rId42"/>
    </p:embeddedFont>
    <p:embeddedFont>
      <p:font typeface="Source Serif 4"/>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jGX4Rs9KS2Bbq1un/w5aggg4nc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549D05-5588-473D-A51F-5109B3858E67}">
  <a:tblStyle styleId="{3A549D05-5588-473D-A51F-5109B3858E6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0CA31FF4-67A7-4FF6-983C-CC8DA9553499}"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SourceSans3-bold.fntdata"/><Relationship Id="rId42" Type="http://schemas.openxmlformats.org/officeDocument/2006/relationships/font" Target="fonts/SourceSans3-boldItalic.fntdata"/><Relationship Id="rId41" Type="http://schemas.openxmlformats.org/officeDocument/2006/relationships/font" Target="fonts/SourceSans3-italic.fntdata"/><Relationship Id="rId44" Type="http://schemas.openxmlformats.org/officeDocument/2006/relationships/font" Target="fonts/SourceSerif4-bold.fntdata"/><Relationship Id="rId43" Type="http://schemas.openxmlformats.org/officeDocument/2006/relationships/font" Target="fonts/SourceSerif4-regular.fntdata"/><Relationship Id="rId46" Type="http://schemas.openxmlformats.org/officeDocument/2006/relationships/font" Target="fonts/SourceSerif4-boldItalic.fntdata"/><Relationship Id="rId45" Type="http://schemas.openxmlformats.org/officeDocument/2006/relationships/font" Target="fonts/SourceSerif4-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SourceSans3-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Source Sans 3"/>
                <a:ea typeface="Source Sans 3"/>
                <a:cs typeface="Source Sans 3"/>
                <a:sym typeface="Source Sans 3"/>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Source Sans 3"/>
                <a:ea typeface="Source Sans 3"/>
                <a:cs typeface="Source Sans 3"/>
                <a:sym typeface="Source Sans 3"/>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Source Sans 3"/>
                <a:ea typeface="Source Sans 3"/>
                <a:cs typeface="Source Sans 3"/>
                <a:sym typeface="Source Sans 3"/>
              </a:rPr>
              <a:t>‹#›</a:t>
            </a:fld>
            <a:endParaRPr b="0" i="0" sz="1200" u="none" cap="none" strike="noStrike">
              <a:solidFill>
                <a:schemeClr val="dk1"/>
              </a:solidFill>
              <a:latin typeface="Source Sans 3"/>
              <a:ea typeface="Source Sans 3"/>
              <a:cs typeface="Source Sans 3"/>
              <a:sym typeface="Source Sans 3"/>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t>Good morning. Demand is Not Need</a:t>
            </a:r>
            <a:endParaRPr/>
          </a:p>
          <a:p>
            <a:pPr indent="0" lvl="0" marL="0" rtl="0" algn="l">
              <a:lnSpc>
                <a:spcPct val="115000"/>
              </a:lnSpc>
              <a:spcBef>
                <a:spcPts val="1200"/>
              </a:spcBef>
              <a:spcAft>
                <a:spcPts val="0"/>
              </a:spcAft>
              <a:buNone/>
            </a:pPr>
            <a:r>
              <a:rPr lang="en-US"/>
              <a:t>The Food Group’s data shows where people arrive at a food shelf, not where people need help and don’t get it. That gap is our title: demand is not need.</a:t>
            </a:r>
            <a:endParaRPr/>
          </a:p>
          <a:p>
            <a:pPr indent="0" lvl="0" marL="0" rtl="0" algn="l">
              <a:lnSpc>
                <a:spcPct val="115000"/>
              </a:lnSpc>
              <a:spcBef>
                <a:spcPts val="1200"/>
              </a:spcBef>
              <a:spcAft>
                <a:spcPts val="0"/>
              </a:spcAft>
              <a:buNone/>
            </a:pPr>
            <a:r>
              <a:rPr lang="en-US"/>
              <a:t>In 2024, 636,610 Minnesotans were food insecure, and food shelves now serve 62 percent more people than in 2022.</a:t>
            </a:r>
            <a:endParaRPr/>
          </a:p>
          <a:p>
            <a:pPr indent="0" lvl="0" marL="0" rtl="0" algn="l">
              <a:lnSpc>
                <a:spcPct val="115000"/>
              </a:lnSpc>
              <a:spcBef>
                <a:spcPts val="1200"/>
              </a:spcBef>
              <a:spcAft>
                <a:spcPts val="1200"/>
              </a:spcAft>
              <a:buNone/>
            </a:pPr>
            <a:r>
              <a:rPr lang="en-US"/>
              <a:t>Our six answers tell one story in four parts: need, money, forecast and access.</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t>That story leads to four moves.</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Allocate: rural food deserts can reach only 94 pounds of food per person a year, versus 172 nearby.</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Reach: 117 food-desert tracts have no food shelf within USDA’s distance.</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Advocate: when SNAP’s emergency benefits ended in 2023, Minnesotans lost 49 million dollars a month, and visits ran up to 26 percent above prediction.</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Prepare: we forecast about 236,000 visits this August.</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1200"/>
              </a:spcAft>
              <a:buNone/>
            </a:pPr>
            <a:r>
              <a:rPr lang="en-US"/>
              <a:t>The common thread: traffic follows money and access more than need. Brian will start with the first part: does activity match need?</a:t>
            </a:r>
            <a:endParaRPr/>
          </a:p>
        </p:txBody>
      </p:sp>
      <p:sp>
        <p:nvSpPr>
          <p:cNvPr id="57" name="Google Shape;5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381000" marR="381000" rtl="0" algn="l">
              <a:lnSpc>
                <a:spcPct val="115000"/>
              </a:lnSpc>
              <a:spcBef>
                <a:spcPts val="1200"/>
              </a:spcBef>
              <a:spcAft>
                <a:spcPts val="1200"/>
              </a:spcAft>
              <a:buNone/>
            </a:pPr>
            <a:r>
              <a:rPr lang="en-US"/>
              <a:t>Q1: do Feeding America's need estimates and food shelf activity tell the same story? In totals, yes — correlation 0.93, with visits, people and pounds all within a point of each other. But that's county size. Each dot is a Minnesota county. Right is more food-insecure residents, up is more people served. Both axes are log — each gridline is ten times the last, because Hennepin has 143,000 food-insecure residents and Kittson has 400. The amber line is our fit. The dashed line is what it would look like if activity matched need exactly — slope 1.0. Ours is 1.25. Doubling a county's food-insecure population multiplies its activity by about 2.4, not 2. Steele, Rice and Washington sit far above the line. Steele and Washington we can explain, reporting above 95% and 77% share respectively. Rice we muddled — its largest site is under a third. Pope sits furthest below: one shelf, reporting every month for three years, and the lowest activity per food-insecure resident in the state.</a:t>
            </a:r>
            <a:endParaRPr/>
          </a:p>
        </p:txBody>
      </p:sp>
      <p:sp>
        <p:nvSpPr>
          <p:cNvPr id="94" name="Google Shape;9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our own measure of need</a:t>
            </a:r>
            <a:endParaRPr/>
          </a:p>
          <a:p>
            <a:pPr indent="0" lvl="0" marL="0" rtl="0" algn="l">
              <a:lnSpc>
                <a:spcPct val="100000"/>
              </a:lnSpc>
              <a:spcBef>
                <a:spcPts val="0"/>
              </a:spcBef>
              <a:spcAft>
                <a:spcPts val="0"/>
              </a:spcAft>
              <a:buSzPts val="1400"/>
              <a:buNone/>
            </a:pPr>
            <a:r>
              <a:rPr lang="en-US"/>
              <a:t>balanced between average cost of a meal in the county,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30c2c2845587104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h30c2c2845587104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100">
                <a:solidFill>
                  <a:srgbClr val="000000"/>
                </a:solidFill>
                <a:latin typeface="Arial"/>
                <a:ea typeface="Arial"/>
                <a:cs typeface="Arial"/>
                <a:sym typeface="Arial"/>
              </a:rPr>
              <a:t>Our first conclusion: </a:t>
            </a:r>
            <a:r>
              <a:rPr lang="en-US" sz="1100">
                <a:solidFill>
                  <a:srgbClr val="000000"/>
                </a:solidFill>
                <a:latin typeface="Arial"/>
                <a:ea typeface="Arial"/>
                <a:cs typeface="Arial"/>
                <a:sym typeface="Arial"/>
              </a:rPr>
              <a:t>plan around the calendar, not grocery prices. </a:t>
            </a:r>
            <a:r>
              <a:rPr i="1" lang="en-US" sz="1100">
                <a:solidFill>
                  <a:srgbClr val="000000"/>
                </a:solidFill>
                <a:latin typeface="Arial"/>
                <a:ea typeface="Arial"/>
                <a:cs typeface="Arial"/>
                <a:sym typeface="Arial"/>
              </a:rPr>
              <a:t>(orange bar)</a:t>
            </a:r>
            <a:r>
              <a:rPr lang="en-US" sz="1100">
                <a:solidFill>
                  <a:srgbClr val="000000"/>
                </a:solidFill>
                <a:latin typeface="Arial"/>
                <a:ea typeface="Arial"/>
                <a:cs typeface="Arial"/>
                <a:sym typeface="Arial"/>
              </a:rPr>
              <a:t> When food prices increase, more people do come, but only modestly: about one point, building over several months, in all three metrics. </a:t>
            </a:r>
            <a:r>
              <a:rPr i="1" lang="en-US" sz="1100">
                <a:solidFill>
                  <a:srgbClr val="000000"/>
                </a:solidFill>
                <a:latin typeface="Arial"/>
                <a:ea typeface="Arial"/>
                <a:cs typeface="Arial"/>
                <a:sym typeface="Arial"/>
              </a:rPr>
              <a:t>(gray box)</a:t>
            </a:r>
            <a:r>
              <a:rPr lang="en-US" sz="1100">
                <a:solidFill>
                  <a:srgbClr val="000000"/>
                </a:solidFill>
                <a:latin typeface="Arial"/>
                <a:ea typeface="Arial"/>
                <a:cs typeface="Arial"/>
                <a:sym typeface="Arial"/>
              </a:rPr>
              <a:t> Seasons move demand far more, up about 5 pts in fall and down 8 in winter. So food shelves should plan on the calendar, and donors should expect rising need when inflation stays high.</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60" name="Google Shape;160;h30c2c2845587104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773b6904dfcdbf01_1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h773b6904dfcdbf01_1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1100">
                <a:solidFill>
                  <a:srgbClr val="000000"/>
                </a:solidFill>
                <a:latin typeface="Arial"/>
                <a:ea typeface="Arial"/>
                <a:cs typeface="Arial"/>
                <a:sym typeface="Arial"/>
              </a:rPr>
              <a:t>Our second conclusion: when SNAP shrinks, Minnesotans turn to food shelves. We used the state’s DCYF SNAP dashboard, by county and month, with a one-month lag. </a:t>
            </a:r>
            <a:r>
              <a:rPr i="1" lang="en-US" sz="1100">
                <a:solidFill>
                  <a:srgbClr val="000000"/>
                </a:solidFill>
                <a:latin typeface="Arial"/>
                <a:ea typeface="Arial"/>
                <a:cs typeface="Arial"/>
                <a:sym typeface="Arial"/>
              </a:rPr>
              <a:t>(chart)</a:t>
            </a:r>
            <a:r>
              <a:rPr lang="en-US" sz="1100">
                <a:solidFill>
                  <a:srgbClr val="000000"/>
                </a:solidFill>
                <a:latin typeface="Arial"/>
                <a:ea typeface="Arial"/>
                <a:cs typeface="Arial"/>
                <a:sym typeface="Arial"/>
              </a:rPr>
              <a:t> The dashed line is what trend and prices predict; the solid line is reality. </a:t>
            </a:r>
            <a:r>
              <a:rPr i="1" lang="en-US" sz="1100">
                <a:solidFill>
                  <a:srgbClr val="000000"/>
                </a:solidFill>
                <a:latin typeface="Arial"/>
                <a:ea typeface="Arial"/>
                <a:cs typeface="Arial"/>
                <a:sym typeface="Arial"/>
              </a:rPr>
              <a:t>(shaded band)</a:t>
            </a:r>
            <a:r>
              <a:rPr lang="en-US" sz="1100">
                <a:solidFill>
                  <a:srgbClr val="000000"/>
                </a:solidFill>
                <a:latin typeface="Arial"/>
                <a:ea typeface="Arial"/>
                <a:cs typeface="Arial"/>
                <a:sym typeface="Arial"/>
              </a:rPr>
              <a:t> They split right when emergency allotments ended, a 49-million-dollar monthly cut. </a:t>
            </a:r>
            <a:r>
              <a:rPr i="1" lang="en-US" sz="1100">
                <a:solidFill>
                  <a:srgbClr val="000000"/>
                </a:solidFill>
                <a:latin typeface="Arial"/>
                <a:ea typeface="Arial"/>
                <a:cs typeface="Arial"/>
                <a:sym typeface="Arial"/>
              </a:rPr>
              <a:t>(151 / 130)</a:t>
            </a:r>
            <a:r>
              <a:rPr lang="en-US" sz="1100">
                <a:solidFill>
                  <a:srgbClr val="000000"/>
                </a:solidFill>
                <a:latin typeface="Arial"/>
                <a:ea typeface="Arial"/>
                <a:cs typeface="Arial"/>
                <a:sym typeface="Arial"/>
              </a:rPr>
              <a:t> On average since then, visits ran 18 to 26 percent above prediction; today it’s 151 versus 130.</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i="1" lang="en-US" sz="1100">
                <a:solidFill>
                  <a:srgbClr val="000000"/>
                </a:solidFill>
                <a:latin typeface="Arial"/>
                <a:ea typeface="Arial"/>
                <a:cs typeface="Arial"/>
                <a:sym typeface="Arial"/>
              </a:rPr>
              <a:t>(boxes)</a:t>
            </a:r>
            <a:r>
              <a:rPr lang="en-US" sz="1100">
                <a:solidFill>
                  <a:srgbClr val="000000"/>
                </a:solidFill>
                <a:latin typeface="Arial"/>
                <a:ea typeface="Arial"/>
                <a:cs typeface="Arial"/>
                <a:sym typeface="Arial"/>
              </a:rPr>
              <a:t> SNAP and food shelves track the same need, but less SNAP means more visits. This held statewide, and rural counties were hit hardest. Our message to lawmakers: food shelves cannot fill that gap.</a:t>
            </a:r>
            <a:endParaRPr sz="1100">
              <a:solidFill>
                <a:srgbClr val="000000"/>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191" name="Google Shape;191;h773b6904dfcdbf01_1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Bridge: once we know what moves demand, we can predict it. ~50 sec. Q7 is scored by forecast error across counties, so we built the test to match: use only data through July, predict August, compare, for three past Augusts. Why does the model say what it says? Each county's August forecast is simply its average of May, June and July. We also tried adjusting for each county's change in unemployment from the Bureau of Labor Statistics. It looked better on the two years we used to choose, then lost badly on August 2025, which we had held back as a final exam, so we did not trust it. The simple average was 5.6% off on visits. Our August 2026 forecast: about 236,000 visits statewide (range 229,000 to 263,000), 12.3 million pounds and 730,000 people. No input goes past July 2026.</a:t>
            </a:r>
            <a:endParaRPr/>
          </a:p>
        </p:txBody>
      </p:sp>
      <p:sp>
        <p:nvSpPr>
          <p:cNvPr id="219" name="Google Shape;2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6b3a70b61e5b931b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h6b3a70b61e5b931b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Bridge: a forecast says how many will come; Q8 asks who cannot reach a shelf at all. ~65 sec. Q8. USDA calls a census tract low-income, low-access, a food desert, when incomes are low and the nearest supermarket is more than a mile away in town or ten miles in the country. Does the food shelf network reach them? Less well: 65% of people in poverty in these tracts have a food shelf within USDA's distance, against 72% in other low-income tracts, and rural food deserts can reach 94 pounds of food a year per person, about half of other rural poor tracts. Does it fill the retail gap or repeat it? In cities there is no link. In rural Minnesota, where the grocery is twice as far, the food shelf is about 76% farther: the network repeats the retail pattern. The orange tracts are the 117 gaps: 28 rural tracts a median 12.6 miles from a shelf, and 89 urban tracts a mile and a half away where many families have no car. It holds in all ten definitions we tried. Limits: straight-line distance, partner sites only.</a:t>
            </a:r>
            <a:endParaRPr/>
          </a:p>
        </p:txBody>
      </p:sp>
      <p:sp>
        <p:nvSpPr>
          <p:cNvPr id="252" name="Google Shape;252;h6b3a70b61e5b931b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~40 sec. Close the loop: these are the four moves from the opening, now with the evidence the judges have just seen, and each is something The Food Group can act on with what it has today. Allocate: rural food deserts reach about 94 pounds per person a year, half of nearby areas, and the Q6 counties are the same thin rural networks, so shift pounds there and plan in pounds per person, not visits. Reach: the 117 gap tracts are two problems, a truck stop in the country and evening hours or delivery in the city; the gap list is ready to use. Advocate: we put a number on a SNAP cut, 49 million dollars a month and an 18 to 26 percent jump in visits. Prepare: August and October to November are the peaks every year; re-run the simple county forecast monthly and watch the SNAP dashboard. Close with: demand is not need.</a:t>
            </a:r>
            <a:endParaRPr/>
          </a:p>
        </p:txBody>
      </p:sp>
      <p:sp>
        <p:nvSpPr>
          <p:cNvPr id="284" name="Google Shape;28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 sec. Thank the judges, repeat "demand is not need", and open for questions. Point to the appendix for detail on any question.</a:t>
            </a:r>
            <a:endParaRPr/>
          </a:p>
        </p:txBody>
      </p:sp>
      <p:sp>
        <p:nvSpPr>
          <p:cNvPr id="346" name="Google Shape;34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Not presented. Jump here during Q&amp;A.</a:t>
            </a:r>
            <a:endParaRPr/>
          </a:p>
        </p:txBody>
      </p:sp>
      <p:sp>
        <p:nvSpPr>
          <p:cNvPr id="364" name="Google Shape;36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 backup for Q&amp;A. Households served is the brief's visit field and equals about 28% of The Food Group's published visit totals, so we report changes, not absolute visits.</a:t>
            </a:r>
            <a:endParaRPr/>
          </a:p>
        </p:txBody>
      </p:sp>
      <p:sp>
        <p:nvSpPr>
          <p:cNvPr id="445" name="Google Shape;44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A2, backup for Q&amp;A. SNAP source, grain and lag as Q5 asks: DCYF dashboard, county or Tribal Nation by accounting month, about one month lag. Tribal Nations are folded into Mille Lacs, Beltrami and Mahnomen.</a:t>
            </a:r>
            <a:endParaRPr/>
          </a:p>
        </p:txBody>
      </p:sp>
      <p:sp>
        <p:nvSpPr>
          <p:cNvPr id="464" name="Google Shape;4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A3, backup for Q&amp;A. Census population turns counts into rates per 1,000 residents. BLS county unemployment was tried as a Q7 input and rejected on the holdout year.</a:t>
            </a:r>
            <a:endParaRPr/>
          </a:p>
        </p:txBody>
      </p:sp>
      <p:sp>
        <p:nvSpPr>
          <p:cNvPr id="483" name="Google Shape;48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1" name="Google Shape;50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A4, backup for Q&amp;A. Main LILA flag: SRAM 2025, driving distance, 1 mile urban and 10 miles rural. The 2019 Atlas, which the brief names, is the check.</a:t>
            </a:r>
            <a:endParaRPr/>
          </a:p>
        </p:txBody>
      </p:sp>
      <p:sp>
        <p:nvSpPr>
          <p:cNvPr id="502" name="Google Shape;50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A5, backup for Q&amp;A. The crosswalk uses shared land area because block populations for both vintages are not in the relationship file.</a:t>
            </a:r>
            <a:endParaRPr/>
          </a:p>
        </p:txBody>
      </p:sp>
      <p:sp>
        <p:nvSpPr>
          <p:cNvPr id="518" name="Google Shape;51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A6, backup for Q&amp;A. The Waseca unit error alone would create a fake statewide spike. Per the code of conduct, operational data problems go back to The Food Group, assuming positive intent.</a:t>
            </a:r>
            <a:endParaRPr/>
          </a:p>
        </p:txBody>
      </p:sp>
      <p:sp>
        <p:nvSpPr>
          <p:cNvPr id="534" name="Google Shape;53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A7, backup for Q&amp;A. All three metrics correlate about 0.93 to 0.94 with Feeding America counts, pounds slightly strongest. That is mostly size; per resident the link is weak. The outliers are about the network: regional hubs and missing coverage.</a:t>
            </a:r>
            <a:endParaRPr/>
          </a:p>
        </p:txBody>
      </p:sp>
      <p:sp>
        <p:nvSpPr>
          <p:cNvPr id="550" name="Google Shape;55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A8, backup for Q&amp;A. Q1 asks for county characteristics. Poverty, SNAP share, no-vehicle share, rural share and hub concentration are not significant; distance to the nearest shelf is.</a:t>
            </a:r>
            <a:endParaRPr/>
          </a:p>
        </p:txBody>
      </p:sp>
      <p:sp>
        <p:nvSpPr>
          <p:cNvPr id="579" name="Google Shape;57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7" name="Google Shape;60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A9, backup for Q&amp;A. Wadena and Chippewa also rank under-served in 2 of 3 years. Wilkin cannot be scored: it has need but no rows at all.</a:t>
            </a:r>
            <a:endParaRPr/>
          </a:p>
        </p:txBody>
      </p:sp>
      <p:sp>
        <p:nvSpPr>
          <p:cNvPr id="608" name="Google Shape;60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A10, backup for Q&amp;A. The four items the addendum requires, stated plainly. The index is an extension of the food-insecurity rate, not a replacement.</a:t>
            </a:r>
            <a:endParaRPr/>
          </a:p>
        </p:txBody>
      </p:sp>
      <p:sp>
        <p:nvSpPr>
          <p:cNvPr id="637" name="Google Shape;63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A11, backup for Q&amp;A. Rurality is the strongest driver of hidden need; shelf density adds a little. The extra components matter: on the food-insecurity rate alone, five of the nine cluster counties drop out.</a:t>
            </a:r>
            <a:endParaRPr/>
          </a:p>
        </p:txBody>
      </p:sp>
      <p:sp>
        <p:nvSpPr>
          <p:cNvPr id="653" name="Google Shape;65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A12, backup for Q&amp;A. Answer Q4 directly: yes, modestly; not at once; the calendar and SNAP shocks are bigger. Activity peaks in August and October to November every year.</a:t>
            </a:r>
            <a:endParaRPr/>
          </a:p>
        </p:txBody>
      </p:sp>
      <p:sp>
        <p:nvSpPr>
          <p:cNvPr id="679" name="Google Shape;67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A13, backup for Q&amp;A. Individuals respond most consistently; pounds least, because pounds reflects supply as well as demand.</a:t>
            </a:r>
            <a:endParaRPr/>
          </a:p>
        </p:txBody>
      </p:sp>
      <p:sp>
        <p:nvSpPr>
          <p:cNvPr id="719" name="Google Shape;71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A14, backup for Q&amp;A. Move together or replace? Both: across counties they rise together because both follow need; over time SNAP money replaces food shelf trips.</a:t>
            </a:r>
            <a:endParaRPr/>
          </a:p>
        </p:txBody>
      </p:sp>
      <p:sp>
        <p:nvSpPr>
          <p:cNvPr id="744" name="Google Shape;74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A15, backup for Q&amp;A. Together across places, replacing over time; no robust month-to-month link inside one county.</a:t>
            </a:r>
            <a:endParaRPr/>
          </a:p>
        </p:txBody>
      </p:sp>
      <p:sp>
        <p:nvSpPr>
          <p:cNvPr id="783" name="Google Shape;78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A16, backup for Q&amp;A. How we know it was SNAP and not prices: CPI is controlled, prices were flat after April 2023, and the placebo scan picks March to June 2023.</a:t>
            </a:r>
            <a:endParaRPr/>
          </a:p>
        </p:txBody>
      </p:sp>
      <p:sp>
        <p:nvSpPr>
          <p:cNvPr id="804" name="Google Shape;80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1" name="Google Shape;82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A17, backup for Q&amp;A. If asked why not fancier: unemployment looked better on the years used to choose and lost on the held-back year, which is the overfitting the holdout exists to catch. Pounds is hardest: 11% error, because pounds also depends on supply; past Augusts ran above the May–July average, so its range sits above the point.</a:t>
            </a:r>
            <a:endParaRPr/>
          </a:p>
          <a:p>
            <a:pPr indent="0" lvl="0" marL="0" marR="381000" rtl="0" algn="l">
              <a:lnSpc>
                <a:spcPct val="115000"/>
              </a:lnSpc>
              <a:spcBef>
                <a:spcPts val="1200"/>
              </a:spcBef>
              <a:spcAft>
                <a:spcPts val="0"/>
              </a:spcAft>
              <a:buNone/>
            </a:pPr>
            <a:r>
              <a:rPr lang="en-US"/>
              <a:t>Two sites were relabeled to Hennepin in January 2024. We forecast the reported field, so the labels are left as-is; the three-month model never spans the break.</a:t>
            </a:r>
            <a:endParaRPr/>
          </a:p>
          <a:p>
            <a:pPr indent="0" lvl="0" marL="0" rtl="0" algn="l">
              <a:lnSpc>
                <a:spcPct val="100000"/>
              </a:lnSpc>
              <a:spcBef>
                <a:spcPts val="1200"/>
              </a:spcBef>
              <a:spcAft>
                <a:spcPts val="0"/>
              </a:spcAft>
              <a:buSzPts val="1400"/>
              <a:buNone/>
            </a:pPr>
            <a:r>
              <a:t/>
            </a:r>
            <a:endParaRPr/>
          </a:p>
        </p:txBody>
      </p:sp>
      <p:sp>
        <p:nvSpPr>
          <p:cNvPr id="822" name="Google Shape;82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6" name="Google Shape;84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A18, backup for Q&amp;A. Comparison group holds income roughly constant, so the difference is grocery access. The two-step catchment avoids double-counting a shelf shared by several tracts.</a:t>
            </a:r>
            <a:endParaRPr/>
          </a:p>
        </p:txBody>
      </p:sp>
      <p:sp>
        <p:nvSpPr>
          <p:cNvPr id="847" name="Google Shape;84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0" name="Google Shape;87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A19, backup for Q&amp;A. Slope 1 means the network repeats the retail map; 0 means independent; below 0 means it fills the gap. Rural Minnesota is close to repeating.</a:t>
            </a:r>
            <a:endParaRPr/>
          </a:p>
        </p:txBody>
      </p:sp>
      <p:sp>
        <p:nvSpPr>
          <p:cNvPr id="871" name="Google Shape;87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8" name="Google Shape;89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A20, backup for Q&amp;A. Two problems: a mobile stop in the country, hours, delivery or transit in the city. The gap list is ranked by people in poverty.</a:t>
            </a:r>
            <a:endParaRPr/>
          </a:p>
        </p:txBody>
      </p:sp>
      <p:sp>
        <p:nvSpPr>
          <p:cNvPr id="899" name="Google Shape;89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A21, backup for Q&amp;A. The coverage gap appears every time; capacity reverses only under the vehicle-access definition. The 2019 Atlas gives the same answer.</a:t>
            </a:r>
            <a:endParaRPr/>
          </a:p>
        </p:txBody>
      </p:sp>
      <p:sp>
        <p:nvSpPr>
          <p:cNvPr id="937" name="Google Shape;93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A22, backup for Q&amp;A. Judges reward honesty about limits. Left: what our data cannot tell you. Right: how we tried to prove ourselves wrong.</a:t>
            </a:r>
            <a:endParaRPr/>
          </a:p>
        </p:txBody>
      </p:sp>
      <p:sp>
        <p:nvSpPr>
          <p:cNvPr id="953" name="Google Shape;953;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2E8"/>
        </a:solidFill>
      </p:bgPr>
    </p:bg>
    <p:spTree>
      <p:nvGrpSpPr>
        <p:cNvPr id="13" name="Shape 13"/>
        <p:cNvGrpSpPr/>
        <p:nvPr/>
      </p:nvGrpSpPr>
      <p:grpSpPr>
        <a:xfrm>
          <a:off x="0" y="0"/>
          <a:ext cx="0" cy="0"/>
          <a:chOff x="0" y="0"/>
          <a:chExt cx="0" cy="0"/>
        </a:xfrm>
      </p:grpSpPr>
      <p:sp>
        <p:nvSpPr>
          <p:cNvPr id="14" name="Google Shape;14;p36"/>
          <p:cNvSpPr txBox="1"/>
          <p:nvPr>
            <p:ph type="title"/>
          </p:nvPr>
        </p:nvSpPr>
        <p:spPr>
          <a:xfrm>
            <a:off x="1320800" y="945505"/>
            <a:ext cx="10261600" cy="29334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3B2D"/>
              </a:buClr>
              <a:buSzPts val="2100"/>
              <a:buFont typeface="Source Serif 4"/>
              <a:buNone/>
              <a:defRPr sz="2100">
                <a:solidFill>
                  <a:srgbClr val="1F3B2D"/>
                </a:solidFill>
                <a:latin typeface="Source Serif 4"/>
                <a:ea typeface="Source Serif 4"/>
                <a:cs typeface="Source Serif 4"/>
                <a:sym typeface="Source Serif 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6"/>
          <p:cNvSpPr txBox="1"/>
          <p:nvPr>
            <p:ph idx="1" type="body"/>
          </p:nvPr>
        </p:nvSpPr>
        <p:spPr>
          <a:xfrm>
            <a:off x="1320800" y="1543645"/>
            <a:ext cx="10058400" cy="4501555"/>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3B2D"/>
              </a:buClr>
              <a:buSzPts val="1600"/>
              <a:buNone/>
              <a:defRPr sz="1600">
                <a:solidFill>
                  <a:srgbClr val="1F3B2D"/>
                </a:solidFill>
                <a:latin typeface="Source Sans 3"/>
                <a:ea typeface="Source Sans 3"/>
                <a:cs typeface="Source Sans 3"/>
                <a:sym typeface="Source Sans 3"/>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6" name="Google Shape;16;p36"/>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
        <p:nvSpPr>
          <p:cNvPr id="18" name="Google Shape;18;p37"/>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1320800" y="945505"/>
            <a:ext cx="10261600" cy="29334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3B2D"/>
              </a:buClr>
              <a:buSzPts val="2100"/>
              <a:buFont typeface="Source Serif 4"/>
              <a:buNone/>
              <a:defRPr b="0" i="0" sz="2100" u="none" cap="none" strike="noStrike">
                <a:solidFill>
                  <a:srgbClr val="1F3B2D"/>
                </a:solidFill>
                <a:latin typeface="Source Serif 4"/>
                <a:ea typeface="Source Serif 4"/>
                <a:cs typeface="Source Serif 4"/>
                <a:sym typeface="Source Serif 4"/>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5"/>
          <p:cNvSpPr txBox="1"/>
          <p:nvPr>
            <p:ph idx="1" type="body"/>
          </p:nvPr>
        </p:nvSpPr>
        <p:spPr>
          <a:xfrm>
            <a:off x="1320800" y="1543645"/>
            <a:ext cx="10058400" cy="4501555"/>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3B2D"/>
              </a:buClr>
              <a:buSzPts val="1600"/>
              <a:buFont typeface="Arial"/>
              <a:buNone/>
              <a:defRPr b="0" i="0" sz="1600" u="none" cap="none" strike="noStrike">
                <a:solidFill>
                  <a:srgbClr val="1F3B2D"/>
                </a:solidFill>
                <a:latin typeface="Source Sans 3"/>
                <a:ea typeface="Source Sans 3"/>
                <a:cs typeface="Source Sans 3"/>
                <a:sym typeface="Source Sans 3"/>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Source Sans 3"/>
                <a:ea typeface="Source Sans 3"/>
                <a:cs typeface="Source Sans 3"/>
                <a:sym typeface="Source Sans 3"/>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Source Sans 3"/>
                <a:ea typeface="Source Sans 3"/>
                <a:cs typeface="Source Sans 3"/>
                <a:sym typeface="Source Sans 3"/>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Source Sans 3"/>
                <a:ea typeface="Source Sans 3"/>
                <a:cs typeface="Source Sans 3"/>
                <a:sym typeface="Source Sans 3"/>
              </a:defRPr>
            </a:lvl9pPr>
          </a:lstStyle>
          <a:p/>
        </p:txBody>
      </p:sp>
      <p:sp>
        <p:nvSpPr>
          <p:cNvPr id="12" name="Google Shape;12;p35"/>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1F3B2D"/>
                </a:solidFill>
                <a:latin typeface="Source Sans 3"/>
                <a:ea typeface="Source Sans 3"/>
                <a:cs typeface="Source Sans 3"/>
                <a:sym typeface="Source Sans 3"/>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0" Type="http://schemas.openxmlformats.org/officeDocument/2006/relationships/slide" Target="/ppt/slides/slide24.xml"/><Relationship Id="rId42" Type="http://schemas.openxmlformats.org/officeDocument/2006/relationships/slide" Target="/ppt/slides/slide24.xml"/><Relationship Id="rId41" Type="http://schemas.openxmlformats.org/officeDocument/2006/relationships/slide" Target="/ppt/slides/slide24.xml"/><Relationship Id="rId44" Type="http://schemas.openxmlformats.org/officeDocument/2006/relationships/slide" Target="/ppt/slides/slide25.xml"/><Relationship Id="rId43" Type="http://schemas.openxmlformats.org/officeDocument/2006/relationships/slide" Target="/ppt/slides/slide25.xml"/><Relationship Id="rId46" Type="http://schemas.openxmlformats.org/officeDocument/2006/relationships/slide" Target="/ppt/slides/slide26.xml"/><Relationship Id="rId45" Type="http://schemas.openxmlformats.org/officeDocument/2006/relationships/slide" Target="/ppt/slides/slide25.xml"/><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slide" Target="/ppt/slides/slide12.xml"/><Relationship Id="rId9" Type="http://schemas.openxmlformats.org/officeDocument/2006/relationships/slide" Target="/ppt/slides/slide13.xml"/><Relationship Id="rId48" Type="http://schemas.openxmlformats.org/officeDocument/2006/relationships/slide" Target="/ppt/slides/slide26.xml"/><Relationship Id="rId47" Type="http://schemas.openxmlformats.org/officeDocument/2006/relationships/slide" Target="/ppt/slides/slide26.xml"/><Relationship Id="rId49" Type="http://schemas.openxmlformats.org/officeDocument/2006/relationships/slide" Target="/ppt/slides/slide27.xml"/><Relationship Id="rId5" Type="http://schemas.openxmlformats.org/officeDocument/2006/relationships/slide" Target="/ppt/slides/slide12.xml"/><Relationship Id="rId6" Type="http://schemas.openxmlformats.org/officeDocument/2006/relationships/slide" Target="/ppt/slides/slide12.xml"/><Relationship Id="rId7" Type="http://schemas.openxmlformats.org/officeDocument/2006/relationships/slide" Target="/ppt/slides/slide13.xml"/><Relationship Id="rId8" Type="http://schemas.openxmlformats.org/officeDocument/2006/relationships/slide" Target="/ppt/slides/slide13.xml"/><Relationship Id="rId31" Type="http://schemas.openxmlformats.org/officeDocument/2006/relationships/slide" Target="/ppt/slides/slide21.xml"/><Relationship Id="rId30" Type="http://schemas.openxmlformats.org/officeDocument/2006/relationships/slide" Target="/ppt/slides/slide20.xml"/><Relationship Id="rId33" Type="http://schemas.openxmlformats.org/officeDocument/2006/relationships/slide" Target="/ppt/slides/slide21.xml"/><Relationship Id="rId32" Type="http://schemas.openxmlformats.org/officeDocument/2006/relationships/slide" Target="/ppt/slides/slide21.xml"/><Relationship Id="rId35" Type="http://schemas.openxmlformats.org/officeDocument/2006/relationships/slide" Target="/ppt/slides/slide22.xml"/><Relationship Id="rId34" Type="http://schemas.openxmlformats.org/officeDocument/2006/relationships/slide" Target="/ppt/slides/slide22.xml"/><Relationship Id="rId37" Type="http://schemas.openxmlformats.org/officeDocument/2006/relationships/slide" Target="/ppt/slides/slide23.xml"/><Relationship Id="rId36" Type="http://schemas.openxmlformats.org/officeDocument/2006/relationships/slide" Target="/ppt/slides/slide22.xml"/><Relationship Id="rId39" Type="http://schemas.openxmlformats.org/officeDocument/2006/relationships/slide" Target="/ppt/slides/slide23.xml"/><Relationship Id="rId38" Type="http://schemas.openxmlformats.org/officeDocument/2006/relationships/slide" Target="/ppt/slides/slide23.xml"/><Relationship Id="rId62" Type="http://schemas.openxmlformats.org/officeDocument/2006/relationships/slide" Target="/ppt/slides/slide31.xml"/><Relationship Id="rId61" Type="http://schemas.openxmlformats.org/officeDocument/2006/relationships/slide" Target="/ppt/slides/slide31.xml"/><Relationship Id="rId20" Type="http://schemas.openxmlformats.org/officeDocument/2006/relationships/slide" Target="/ppt/slides/slide17.xml"/><Relationship Id="rId64" Type="http://schemas.openxmlformats.org/officeDocument/2006/relationships/slide" Target="/ppt/slides/slide32.xml"/><Relationship Id="rId63" Type="http://schemas.openxmlformats.org/officeDocument/2006/relationships/slide" Target="/ppt/slides/slide31.xml"/><Relationship Id="rId22" Type="http://schemas.openxmlformats.org/officeDocument/2006/relationships/slide" Target="/ppt/slides/slide18.xml"/><Relationship Id="rId66" Type="http://schemas.openxmlformats.org/officeDocument/2006/relationships/slide" Target="/ppt/slides/slide32.xml"/><Relationship Id="rId21" Type="http://schemas.openxmlformats.org/officeDocument/2006/relationships/slide" Target="/ppt/slides/slide17.xml"/><Relationship Id="rId65" Type="http://schemas.openxmlformats.org/officeDocument/2006/relationships/slide" Target="/ppt/slides/slide32.xml"/><Relationship Id="rId24" Type="http://schemas.openxmlformats.org/officeDocument/2006/relationships/slide" Target="/ppt/slides/slide18.xml"/><Relationship Id="rId68" Type="http://schemas.openxmlformats.org/officeDocument/2006/relationships/slide" Target="/ppt/slides/slide33.xml"/><Relationship Id="rId23" Type="http://schemas.openxmlformats.org/officeDocument/2006/relationships/slide" Target="/ppt/slides/slide18.xml"/><Relationship Id="rId67" Type="http://schemas.openxmlformats.org/officeDocument/2006/relationships/slide" Target="/ppt/slides/slide33.xml"/><Relationship Id="rId60" Type="http://schemas.openxmlformats.org/officeDocument/2006/relationships/slide" Target="/ppt/slides/slide30.xml"/><Relationship Id="rId26" Type="http://schemas.openxmlformats.org/officeDocument/2006/relationships/slide" Target="/ppt/slides/slide19.xml"/><Relationship Id="rId25" Type="http://schemas.openxmlformats.org/officeDocument/2006/relationships/slide" Target="/ppt/slides/slide19.xml"/><Relationship Id="rId69" Type="http://schemas.openxmlformats.org/officeDocument/2006/relationships/slide" Target="/ppt/slides/slide33.xml"/><Relationship Id="rId28" Type="http://schemas.openxmlformats.org/officeDocument/2006/relationships/slide" Target="/ppt/slides/slide20.xml"/><Relationship Id="rId27" Type="http://schemas.openxmlformats.org/officeDocument/2006/relationships/slide" Target="/ppt/slides/slide19.xml"/><Relationship Id="rId29" Type="http://schemas.openxmlformats.org/officeDocument/2006/relationships/slide" Target="/ppt/slides/slide20.xml"/><Relationship Id="rId51" Type="http://schemas.openxmlformats.org/officeDocument/2006/relationships/slide" Target="/ppt/slides/slide27.xml"/><Relationship Id="rId50" Type="http://schemas.openxmlformats.org/officeDocument/2006/relationships/slide" Target="/ppt/slides/slide27.xml"/><Relationship Id="rId53" Type="http://schemas.openxmlformats.org/officeDocument/2006/relationships/slide" Target="/ppt/slides/slide28.xml"/><Relationship Id="rId52" Type="http://schemas.openxmlformats.org/officeDocument/2006/relationships/slide" Target="/ppt/slides/slide28.xml"/><Relationship Id="rId11" Type="http://schemas.openxmlformats.org/officeDocument/2006/relationships/slide" Target="/ppt/slides/slide14.xml"/><Relationship Id="rId55" Type="http://schemas.openxmlformats.org/officeDocument/2006/relationships/slide" Target="/ppt/slides/slide29.xml"/><Relationship Id="rId10" Type="http://schemas.openxmlformats.org/officeDocument/2006/relationships/slide" Target="/ppt/slides/slide14.xml"/><Relationship Id="rId54" Type="http://schemas.openxmlformats.org/officeDocument/2006/relationships/slide" Target="/ppt/slides/slide28.xml"/><Relationship Id="rId13" Type="http://schemas.openxmlformats.org/officeDocument/2006/relationships/slide" Target="/ppt/slides/slide15.xml"/><Relationship Id="rId57" Type="http://schemas.openxmlformats.org/officeDocument/2006/relationships/slide" Target="/ppt/slides/slide29.xml"/><Relationship Id="rId12" Type="http://schemas.openxmlformats.org/officeDocument/2006/relationships/slide" Target="/ppt/slides/slide14.xml"/><Relationship Id="rId56" Type="http://schemas.openxmlformats.org/officeDocument/2006/relationships/slide" Target="/ppt/slides/slide29.xml"/><Relationship Id="rId15" Type="http://schemas.openxmlformats.org/officeDocument/2006/relationships/slide" Target="/ppt/slides/slide15.xml"/><Relationship Id="rId59" Type="http://schemas.openxmlformats.org/officeDocument/2006/relationships/slide" Target="/ppt/slides/slide30.xml"/><Relationship Id="rId14" Type="http://schemas.openxmlformats.org/officeDocument/2006/relationships/slide" Target="/ppt/slides/slide15.xml"/><Relationship Id="rId58" Type="http://schemas.openxmlformats.org/officeDocument/2006/relationships/slide" Target="/ppt/slides/slide30.xml"/><Relationship Id="rId17" Type="http://schemas.openxmlformats.org/officeDocument/2006/relationships/slide" Target="/ppt/slides/slide16.xml"/><Relationship Id="rId16" Type="http://schemas.openxmlformats.org/officeDocument/2006/relationships/slide" Target="/ppt/slides/slide16.xml"/><Relationship Id="rId19" Type="http://schemas.openxmlformats.org/officeDocument/2006/relationships/slide" Target="/ppt/slides/slide17.xml"/><Relationship Id="rId18" Type="http://schemas.openxmlformats.org/officeDocument/2006/relationships/slide" Target="/ppt/slid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3" name="Shape 23"/>
        <p:cNvGrpSpPr/>
        <p:nvPr/>
      </p:nvGrpSpPr>
      <p:grpSpPr>
        <a:xfrm>
          <a:off x="0" y="0"/>
          <a:ext cx="0" cy="0"/>
          <a:chOff x="0" y="0"/>
          <a:chExt cx="0" cy="0"/>
        </a:xfrm>
      </p:grpSpPr>
      <p:sp>
        <p:nvSpPr>
          <p:cNvPr id="24" name="Google Shape;24;p1"/>
          <p:cNvSpPr/>
          <p:nvPr/>
        </p:nvSpPr>
        <p:spPr>
          <a:xfrm>
            <a:off x="7493000" y="0"/>
            <a:ext cx="4698900" cy="6858000"/>
          </a:xfrm>
          <a:prstGeom prst="rect">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7874000" y="1205612"/>
            <a:ext cx="4055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500" u="none" cap="none" strike="noStrike">
                <a:solidFill>
                  <a:srgbClr val="F2B544"/>
                </a:solidFill>
                <a:latin typeface="Source Sans 3"/>
                <a:ea typeface="Source Sans 3"/>
                <a:cs typeface="Source Sans 3"/>
                <a:sym typeface="Source Sans 3"/>
              </a:rPr>
              <a:t>FOUR </a:t>
            </a:r>
            <a:r>
              <a:rPr b="1" lang="en-US" sz="1500">
                <a:solidFill>
                  <a:srgbClr val="F2B544"/>
                </a:solidFill>
                <a:latin typeface="Source Sans 3"/>
                <a:ea typeface="Source Sans 3"/>
                <a:cs typeface="Source Sans 3"/>
                <a:sym typeface="Source Sans 3"/>
              </a:rPr>
              <a:t>PARTS</a:t>
            </a:r>
            <a:r>
              <a:rPr b="1" i="0" lang="en-US" sz="1500" u="none" cap="none" strike="noStrike">
                <a:solidFill>
                  <a:srgbClr val="F2B544"/>
                </a:solidFill>
                <a:latin typeface="Source Sans 3"/>
                <a:ea typeface="Source Sans 3"/>
                <a:cs typeface="Source Sans 3"/>
                <a:sym typeface="Source Sans 3"/>
              </a:rPr>
              <a:t>, ONE STORY</a:t>
            </a:r>
            <a:endParaRPr b="0" i="0" sz="1500" u="none" cap="none" strike="noStrike">
              <a:solidFill>
                <a:schemeClr val="dk1"/>
              </a:solidFill>
              <a:latin typeface="Source Sans 3"/>
              <a:ea typeface="Source Sans 3"/>
              <a:cs typeface="Source Sans 3"/>
              <a:sym typeface="Source Sans 3"/>
            </a:endParaRPr>
          </a:p>
        </p:txBody>
      </p:sp>
      <p:grpSp>
        <p:nvGrpSpPr>
          <p:cNvPr id="26" name="Google Shape;26;p1"/>
          <p:cNvGrpSpPr/>
          <p:nvPr/>
        </p:nvGrpSpPr>
        <p:grpSpPr>
          <a:xfrm>
            <a:off x="7877175" y="1760833"/>
            <a:ext cx="3930600" cy="745500"/>
            <a:chOff x="7877175" y="1461095"/>
            <a:chExt cx="3930600" cy="745500"/>
          </a:xfrm>
        </p:grpSpPr>
        <p:sp>
          <p:nvSpPr>
            <p:cNvPr id="27" name="Google Shape;27;p1"/>
            <p:cNvSpPr/>
            <p:nvPr/>
          </p:nvSpPr>
          <p:spPr>
            <a:xfrm>
              <a:off x="7877175" y="1461095"/>
              <a:ext cx="3930600" cy="74550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8045450" y="1461095"/>
              <a:ext cx="495300" cy="74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1</a:t>
              </a:r>
              <a:endParaRPr b="0" i="0" sz="3600" u="none" cap="none" strike="noStrike">
                <a:solidFill>
                  <a:schemeClr val="dk1"/>
                </a:solidFill>
                <a:latin typeface="Source Sans 3"/>
                <a:ea typeface="Source Sans 3"/>
                <a:cs typeface="Source Sans 3"/>
                <a:sym typeface="Source Sans 3"/>
              </a:endParaRPr>
            </a:p>
          </p:txBody>
        </p:sp>
        <p:sp>
          <p:nvSpPr>
            <p:cNvPr id="29" name="Google Shape;29;p1"/>
            <p:cNvSpPr/>
            <p:nvPr/>
          </p:nvSpPr>
          <p:spPr>
            <a:xfrm>
              <a:off x="8540750" y="1711895"/>
              <a:ext cx="3087000" cy="24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2000" u="none" cap="none" strike="noStrike">
                  <a:solidFill>
                    <a:srgbClr val="FFFFFF"/>
                  </a:solidFill>
                  <a:latin typeface="Source Serif 4"/>
                  <a:ea typeface="Source Serif 4"/>
                  <a:cs typeface="Source Serif 4"/>
                  <a:sym typeface="Source Serif 4"/>
                </a:rPr>
                <a:t>Need</a:t>
              </a:r>
              <a:endParaRPr b="0" i="0" sz="2000" u="none" cap="none" strike="noStrike">
                <a:solidFill>
                  <a:schemeClr val="dk1"/>
                </a:solidFill>
                <a:latin typeface="Source Sans 3"/>
                <a:ea typeface="Source Sans 3"/>
                <a:cs typeface="Source Sans 3"/>
                <a:sym typeface="Source Sans 3"/>
              </a:endParaRPr>
            </a:p>
          </p:txBody>
        </p:sp>
      </p:grpSp>
      <p:grpSp>
        <p:nvGrpSpPr>
          <p:cNvPr id="30" name="Google Shape;30;p1"/>
          <p:cNvGrpSpPr/>
          <p:nvPr/>
        </p:nvGrpSpPr>
        <p:grpSpPr>
          <a:xfrm>
            <a:off x="7877175" y="2705601"/>
            <a:ext cx="3930600" cy="745500"/>
            <a:chOff x="7877175" y="2352576"/>
            <a:chExt cx="3930600" cy="745500"/>
          </a:xfrm>
        </p:grpSpPr>
        <p:sp>
          <p:nvSpPr>
            <p:cNvPr id="31" name="Google Shape;31;p1"/>
            <p:cNvSpPr/>
            <p:nvPr/>
          </p:nvSpPr>
          <p:spPr>
            <a:xfrm>
              <a:off x="7877175" y="2352576"/>
              <a:ext cx="3930600" cy="74550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8045450" y="2352576"/>
              <a:ext cx="495300" cy="74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2</a:t>
              </a:r>
              <a:endParaRPr b="0" i="0" sz="3600" u="none" cap="none" strike="noStrike">
                <a:solidFill>
                  <a:schemeClr val="dk1"/>
                </a:solidFill>
                <a:latin typeface="Source Sans 3"/>
                <a:ea typeface="Source Sans 3"/>
                <a:cs typeface="Source Sans 3"/>
                <a:sym typeface="Source Sans 3"/>
              </a:endParaRPr>
            </a:p>
          </p:txBody>
        </p:sp>
        <p:sp>
          <p:nvSpPr>
            <p:cNvPr id="33" name="Google Shape;33;p1"/>
            <p:cNvSpPr/>
            <p:nvPr/>
          </p:nvSpPr>
          <p:spPr>
            <a:xfrm>
              <a:off x="8540750" y="2603376"/>
              <a:ext cx="3087000" cy="24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2000" u="none" cap="none" strike="noStrike">
                  <a:solidFill>
                    <a:srgbClr val="FFFFFF"/>
                  </a:solidFill>
                  <a:latin typeface="Source Serif 4"/>
                  <a:ea typeface="Source Serif 4"/>
                  <a:cs typeface="Source Serif 4"/>
                  <a:sym typeface="Source Serif 4"/>
                </a:rPr>
                <a:t>Money</a:t>
              </a:r>
              <a:endParaRPr b="0" i="0" sz="2000" u="none" cap="none" strike="noStrike">
                <a:solidFill>
                  <a:schemeClr val="dk1"/>
                </a:solidFill>
                <a:latin typeface="Source Sans 3"/>
                <a:ea typeface="Source Sans 3"/>
                <a:cs typeface="Source Sans 3"/>
                <a:sym typeface="Source Sans 3"/>
              </a:endParaRPr>
            </a:p>
          </p:txBody>
        </p:sp>
      </p:grpSp>
      <p:grpSp>
        <p:nvGrpSpPr>
          <p:cNvPr id="34" name="Google Shape;34;p1"/>
          <p:cNvGrpSpPr/>
          <p:nvPr/>
        </p:nvGrpSpPr>
        <p:grpSpPr>
          <a:xfrm>
            <a:off x="7877175" y="3650367"/>
            <a:ext cx="3930600" cy="745500"/>
            <a:chOff x="7877175" y="3244056"/>
            <a:chExt cx="3930600" cy="745500"/>
          </a:xfrm>
        </p:grpSpPr>
        <p:sp>
          <p:nvSpPr>
            <p:cNvPr id="35" name="Google Shape;35;p1"/>
            <p:cNvSpPr/>
            <p:nvPr/>
          </p:nvSpPr>
          <p:spPr>
            <a:xfrm>
              <a:off x="7877175" y="3244056"/>
              <a:ext cx="3930600" cy="74550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8045450" y="3244056"/>
              <a:ext cx="495300" cy="74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3</a:t>
              </a:r>
              <a:endParaRPr b="0" i="0" sz="3600" u="none" cap="none" strike="noStrike">
                <a:solidFill>
                  <a:schemeClr val="dk1"/>
                </a:solidFill>
                <a:latin typeface="Source Sans 3"/>
                <a:ea typeface="Source Sans 3"/>
                <a:cs typeface="Source Sans 3"/>
                <a:sym typeface="Source Sans 3"/>
              </a:endParaRPr>
            </a:p>
          </p:txBody>
        </p:sp>
        <p:sp>
          <p:nvSpPr>
            <p:cNvPr id="37" name="Google Shape;37;p1"/>
            <p:cNvSpPr/>
            <p:nvPr/>
          </p:nvSpPr>
          <p:spPr>
            <a:xfrm>
              <a:off x="8540750" y="3494856"/>
              <a:ext cx="3087000" cy="24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2000" u="none" cap="none" strike="noStrike">
                  <a:solidFill>
                    <a:srgbClr val="FFFFFF"/>
                  </a:solidFill>
                  <a:latin typeface="Source Serif 4"/>
                  <a:ea typeface="Source Serif 4"/>
                  <a:cs typeface="Source Serif 4"/>
                  <a:sym typeface="Source Serif 4"/>
                </a:rPr>
                <a:t>Forecast</a:t>
              </a:r>
              <a:endParaRPr b="0" i="0" sz="2000" u="none" cap="none" strike="noStrike">
                <a:solidFill>
                  <a:schemeClr val="dk1"/>
                </a:solidFill>
                <a:latin typeface="Source Sans 3"/>
                <a:ea typeface="Source Sans 3"/>
                <a:cs typeface="Source Sans 3"/>
                <a:sym typeface="Source Sans 3"/>
              </a:endParaRPr>
            </a:p>
          </p:txBody>
        </p:sp>
      </p:grpSp>
      <p:grpSp>
        <p:nvGrpSpPr>
          <p:cNvPr id="38" name="Google Shape;38;p1"/>
          <p:cNvGrpSpPr/>
          <p:nvPr/>
        </p:nvGrpSpPr>
        <p:grpSpPr>
          <a:xfrm>
            <a:off x="7877175" y="4595135"/>
            <a:ext cx="3930600" cy="745500"/>
            <a:chOff x="7877175" y="4135537"/>
            <a:chExt cx="3930600" cy="745500"/>
          </a:xfrm>
        </p:grpSpPr>
        <p:sp>
          <p:nvSpPr>
            <p:cNvPr id="39" name="Google Shape;39;p1"/>
            <p:cNvSpPr/>
            <p:nvPr/>
          </p:nvSpPr>
          <p:spPr>
            <a:xfrm>
              <a:off x="7877175" y="4135537"/>
              <a:ext cx="3930600" cy="745500"/>
            </a:xfrm>
            <a:prstGeom prst="roundRect">
              <a:avLst>
                <a:gd fmla="val 14908" name="adj"/>
              </a:avLst>
            </a:prstGeom>
            <a:solidFill>
              <a:srgbClr val="FFFFFF">
                <a:alpha val="12157"/>
              </a:srgbClr>
            </a:solidFill>
            <a:ln cap="flat" cmpd="sng" w="9525">
              <a:solidFill>
                <a:srgbClr val="FFFFFF">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8045450" y="4135537"/>
              <a:ext cx="495300" cy="74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3600"/>
                <a:buFont typeface="Source Serif 4"/>
                <a:buNone/>
              </a:pPr>
              <a:r>
                <a:rPr b="1" i="0" lang="en-US" sz="3600" u="none" cap="none" strike="noStrike">
                  <a:solidFill>
                    <a:srgbClr val="F2B544"/>
                  </a:solidFill>
                  <a:latin typeface="Source Serif 4"/>
                  <a:ea typeface="Source Serif 4"/>
                  <a:cs typeface="Source Serif 4"/>
                  <a:sym typeface="Source Serif 4"/>
                </a:rPr>
                <a:t>4</a:t>
              </a:r>
              <a:endParaRPr b="0" i="0" sz="3600" u="none" cap="none" strike="noStrike">
                <a:solidFill>
                  <a:schemeClr val="dk1"/>
                </a:solidFill>
                <a:latin typeface="Source Sans 3"/>
                <a:ea typeface="Source Sans 3"/>
                <a:cs typeface="Source Sans 3"/>
                <a:sym typeface="Source Sans 3"/>
              </a:endParaRPr>
            </a:p>
          </p:txBody>
        </p:sp>
        <p:sp>
          <p:nvSpPr>
            <p:cNvPr id="41" name="Google Shape;41;p1"/>
            <p:cNvSpPr/>
            <p:nvPr/>
          </p:nvSpPr>
          <p:spPr>
            <a:xfrm>
              <a:off x="8540750" y="4386337"/>
              <a:ext cx="3087000" cy="24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Source Serif 4"/>
                <a:buNone/>
              </a:pPr>
              <a:r>
                <a:rPr b="1" i="0" lang="en-US" sz="2000" u="none" cap="none" strike="noStrike">
                  <a:solidFill>
                    <a:srgbClr val="FFFFFF"/>
                  </a:solidFill>
                  <a:latin typeface="Source Serif 4"/>
                  <a:ea typeface="Source Serif 4"/>
                  <a:cs typeface="Source Serif 4"/>
                  <a:sym typeface="Source Serif 4"/>
                </a:rPr>
                <a:t>Access</a:t>
              </a:r>
              <a:endParaRPr b="0" i="0" sz="2000" u="none" cap="none" strike="noStrike">
                <a:solidFill>
                  <a:schemeClr val="dk1"/>
                </a:solidFill>
                <a:latin typeface="Source Sans 3"/>
                <a:ea typeface="Source Sans 3"/>
                <a:cs typeface="Source Sans 3"/>
                <a:sym typeface="Source Sans 3"/>
              </a:endParaRPr>
            </a:p>
          </p:txBody>
        </p:sp>
      </p:grpSp>
      <p:sp>
        <p:nvSpPr>
          <p:cNvPr id="42" name="Google Shape;42;p1"/>
          <p:cNvSpPr/>
          <p:nvPr/>
        </p:nvSpPr>
        <p:spPr>
          <a:xfrm>
            <a:off x="609600" y="1170037"/>
            <a:ext cx="4860975" cy="34032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FFDF8"/>
              </a:buClr>
              <a:buSzPts val="1200"/>
              <a:buFont typeface="Source Sans 3"/>
              <a:buNone/>
            </a:pPr>
            <a:r>
              <a:rPr b="1" i="0" lang="en-US" sz="1200" u="none" cap="none" strike="noStrike">
                <a:solidFill>
                  <a:srgbClr val="FFFDF8"/>
                </a:solidFill>
                <a:latin typeface="Source Sans 3"/>
                <a:ea typeface="Source Sans 3"/>
                <a:cs typeface="Source Sans 3"/>
                <a:sym typeface="Source Sans 3"/>
              </a:rPr>
              <a:t>MINNEMUDAC 2026 · GRADUATE DIVISION · THE FOOD GROUP</a:t>
            </a:r>
            <a:endParaRPr b="0" i="0" sz="1200" u="none" cap="none" strike="noStrike">
              <a:solidFill>
                <a:schemeClr val="dk1"/>
              </a:solidFill>
              <a:latin typeface="Source Sans 3"/>
              <a:ea typeface="Source Sans 3"/>
              <a:cs typeface="Source Sans 3"/>
              <a:sym typeface="Source Sans 3"/>
            </a:endParaRPr>
          </a:p>
        </p:txBody>
      </p:sp>
      <p:sp>
        <p:nvSpPr>
          <p:cNvPr id="43" name="Google Shape;43;p1"/>
          <p:cNvSpPr txBox="1"/>
          <p:nvPr>
            <p:ph type="title"/>
          </p:nvPr>
        </p:nvSpPr>
        <p:spPr>
          <a:xfrm>
            <a:off x="609600" y="1679009"/>
            <a:ext cx="6540600" cy="1701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1F3B2D"/>
              </a:buClr>
              <a:buSzPts val="6600"/>
              <a:buFont typeface="Source Serif 4"/>
              <a:buNone/>
            </a:pPr>
            <a:r>
              <a:rPr b="1" i="0" lang="en-US" sz="6600">
                <a:solidFill>
                  <a:srgbClr val="1F3B2D"/>
                </a:solidFill>
                <a:latin typeface="Source Serif 4"/>
                <a:ea typeface="Source Serif 4"/>
                <a:cs typeface="Source Serif 4"/>
                <a:sym typeface="Source Serif 4"/>
              </a:rPr>
              <a:t>Demand is</a:t>
            </a:r>
            <a:endParaRPr sz="6600"/>
          </a:p>
          <a:p>
            <a:pPr indent="0" lvl="0" marL="0" rtl="0" algn="l">
              <a:lnSpc>
                <a:spcPct val="90000"/>
              </a:lnSpc>
              <a:spcBef>
                <a:spcPts val="0"/>
              </a:spcBef>
              <a:spcAft>
                <a:spcPts val="0"/>
              </a:spcAft>
              <a:buClr>
                <a:srgbClr val="1F3B2D"/>
              </a:buClr>
              <a:buSzPts val="6600"/>
              <a:buFont typeface="Source Serif 4"/>
              <a:buNone/>
            </a:pPr>
            <a:r>
              <a:rPr b="1" i="0" lang="en-US" sz="6600">
                <a:solidFill>
                  <a:srgbClr val="1F3B2D"/>
                </a:solidFill>
                <a:latin typeface="Source Serif 4"/>
                <a:ea typeface="Source Serif 4"/>
                <a:cs typeface="Source Serif 4"/>
                <a:sym typeface="Source Serif 4"/>
              </a:rPr>
              <a:t>not need.</a:t>
            </a:r>
            <a:endParaRPr sz="6600"/>
          </a:p>
        </p:txBody>
      </p:sp>
      <p:sp>
        <p:nvSpPr>
          <p:cNvPr id="44" name="Google Shape;44;p1"/>
          <p:cNvSpPr/>
          <p:nvPr/>
        </p:nvSpPr>
        <p:spPr>
          <a:xfrm>
            <a:off x="609600" y="3768419"/>
            <a:ext cx="5755500" cy="608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4B5A50"/>
              </a:buClr>
              <a:buSzPts val="1700"/>
              <a:buFont typeface="Source Sans 3"/>
              <a:buNone/>
            </a:pPr>
            <a:r>
              <a:rPr b="0" i="0" lang="en-US" sz="1700" u="none" cap="none" strike="noStrike">
                <a:solidFill>
                  <a:srgbClr val="4B5A50"/>
                </a:solidFill>
                <a:latin typeface="Source Sans 3"/>
                <a:ea typeface="Source Sans 3"/>
                <a:cs typeface="Source Sans 3"/>
                <a:sym typeface="Source Sans 3"/>
              </a:rPr>
              <a:t>Where Minnesota's food shelf demand comes from, </a:t>
            </a:r>
            <a:endParaRPr b="0" i="0" sz="1700" u="none" cap="none" strike="noStrike">
              <a:solidFill>
                <a:srgbClr val="4B5A50"/>
              </a:solidFill>
              <a:latin typeface="Source Sans 3"/>
              <a:ea typeface="Source Sans 3"/>
              <a:cs typeface="Source Sans 3"/>
              <a:sym typeface="Source Sans 3"/>
            </a:endParaRPr>
          </a:p>
          <a:p>
            <a:pPr indent="0" lvl="0" marL="0" marR="0" rtl="0" algn="l">
              <a:lnSpc>
                <a:spcPct val="115000"/>
              </a:lnSpc>
              <a:spcBef>
                <a:spcPts val="0"/>
              </a:spcBef>
              <a:spcAft>
                <a:spcPts val="0"/>
              </a:spcAft>
              <a:buClr>
                <a:srgbClr val="4B5A50"/>
              </a:buClr>
              <a:buSzPts val="1700"/>
              <a:buFont typeface="Source Sans 3"/>
              <a:buNone/>
            </a:pPr>
            <a:r>
              <a:rPr b="0" i="0" lang="en-US" sz="1700" u="none" cap="none" strike="noStrike">
                <a:solidFill>
                  <a:srgbClr val="4B5A50"/>
                </a:solidFill>
                <a:latin typeface="Source Sans 3"/>
                <a:ea typeface="Source Sans 3"/>
                <a:cs typeface="Source Sans 3"/>
                <a:sym typeface="Source Sans 3"/>
              </a:rPr>
              <a:t>and where it misses the people who need it most</a:t>
            </a:r>
            <a:endParaRPr b="0" i="0" sz="1700" u="none" cap="none" strike="noStrike">
              <a:solidFill>
                <a:schemeClr val="dk1"/>
              </a:solidFill>
              <a:latin typeface="Source Sans 3"/>
              <a:ea typeface="Source Sans 3"/>
              <a:cs typeface="Source Sans 3"/>
              <a:sym typeface="Source Sans 3"/>
            </a:endParaRPr>
          </a:p>
        </p:txBody>
      </p:sp>
      <p:sp>
        <p:nvSpPr>
          <p:cNvPr id="45" name="Google Shape;45;p1"/>
          <p:cNvSpPr/>
          <p:nvPr/>
        </p:nvSpPr>
        <p:spPr>
          <a:xfrm>
            <a:off x="615950" y="4619585"/>
            <a:ext cx="2705100" cy="742200"/>
          </a:xfrm>
          <a:prstGeom prst="roundRect">
            <a:avLst>
              <a:gd fmla="val 12832"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1"/>
          <p:cNvSpPr/>
          <p:nvPr/>
        </p:nvSpPr>
        <p:spPr>
          <a:xfrm>
            <a:off x="787400" y="4714835"/>
            <a:ext cx="24330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636,610</a:t>
            </a:r>
            <a:endParaRPr b="0" i="0" sz="2400" u="none" cap="none" strike="noStrike">
              <a:solidFill>
                <a:schemeClr val="dk1"/>
              </a:solidFill>
              <a:latin typeface="Source Sans 3"/>
              <a:ea typeface="Source Sans 3"/>
              <a:cs typeface="Source Sans 3"/>
              <a:sym typeface="Source Sans 3"/>
            </a:endParaRPr>
          </a:p>
        </p:txBody>
      </p:sp>
      <p:sp>
        <p:nvSpPr>
          <p:cNvPr id="47" name="Google Shape;47;p1"/>
          <p:cNvSpPr/>
          <p:nvPr/>
        </p:nvSpPr>
        <p:spPr>
          <a:xfrm>
            <a:off x="787400" y="5060265"/>
            <a:ext cx="24330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Food-insecure Minnesotans, 2024</a:t>
            </a:r>
            <a:endParaRPr b="0" i="0" sz="1300" u="none" cap="none" strike="noStrike">
              <a:solidFill>
                <a:schemeClr val="dk1"/>
              </a:solidFill>
              <a:latin typeface="Source Sans 3"/>
              <a:ea typeface="Source Sans 3"/>
              <a:cs typeface="Source Sans 3"/>
              <a:sym typeface="Source Sans 3"/>
            </a:endParaRPr>
          </a:p>
        </p:txBody>
      </p:sp>
      <p:sp>
        <p:nvSpPr>
          <p:cNvPr id="48" name="Google Shape;48;p1"/>
          <p:cNvSpPr/>
          <p:nvPr/>
        </p:nvSpPr>
        <p:spPr>
          <a:xfrm>
            <a:off x="3486150" y="4619585"/>
            <a:ext cx="2705100" cy="742200"/>
          </a:xfrm>
          <a:prstGeom prst="roundRect">
            <a:avLst>
              <a:gd fmla="val 12832"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3657600" y="4714968"/>
            <a:ext cx="24330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+62%</a:t>
            </a:r>
            <a:endParaRPr b="0" i="0" sz="2400" u="none" cap="none" strike="noStrike">
              <a:solidFill>
                <a:schemeClr val="dk1"/>
              </a:solidFill>
              <a:latin typeface="Source Sans 3"/>
              <a:ea typeface="Source Sans 3"/>
              <a:cs typeface="Source Sans 3"/>
              <a:sym typeface="Source Sans 3"/>
            </a:endParaRPr>
          </a:p>
        </p:txBody>
      </p:sp>
      <p:sp>
        <p:nvSpPr>
          <p:cNvPr id="50" name="Google Shape;50;p1"/>
          <p:cNvSpPr/>
          <p:nvPr/>
        </p:nvSpPr>
        <p:spPr>
          <a:xfrm>
            <a:off x="3657600" y="5060273"/>
            <a:ext cx="24330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More people served since 2022</a:t>
            </a:r>
            <a:endParaRPr b="0" i="0" sz="1300" u="none" cap="none" strike="noStrike">
              <a:solidFill>
                <a:schemeClr val="dk1"/>
              </a:solidFill>
              <a:latin typeface="Source Sans 3"/>
              <a:ea typeface="Source Sans 3"/>
              <a:cs typeface="Source Sans 3"/>
              <a:sym typeface="Source Sans 3"/>
            </a:endParaRPr>
          </a:p>
        </p:txBody>
      </p:sp>
      <p:sp>
        <p:nvSpPr>
          <p:cNvPr id="51" name="Google Shape;51;p1"/>
          <p:cNvSpPr/>
          <p:nvPr/>
        </p:nvSpPr>
        <p:spPr>
          <a:xfrm>
            <a:off x="609600" y="5603501"/>
            <a:ext cx="6540600" cy="274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F3B2D"/>
              </a:buClr>
              <a:buSzPts val="1400"/>
              <a:buFont typeface="Source Sans 3"/>
              <a:buNone/>
            </a:pPr>
            <a:r>
              <a:rPr b="1" lang="en-US">
                <a:solidFill>
                  <a:schemeClr val="dk1"/>
                </a:solidFill>
                <a:latin typeface="Source Sans 3"/>
                <a:ea typeface="Source Sans 3"/>
                <a:cs typeface="Source Sans 3"/>
                <a:sym typeface="Source Sans 3"/>
              </a:rPr>
              <a:t>Team ID: G09</a:t>
            </a:r>
            <a:endParaRPr b="1">
              <a:solidFill>
                <a:schemeClr val="dk1"/>
              </a:solidFill>
              <a:latin typeface="Source Sans 3"/>
              <a:ea typeface="Source Sans 3"/>
              <a:cs typeface="Source Sans 3"/>
              <a:sym typeface="Source Sans 3"/>
            </a:endParaRPr>
          </a:p>
          <a:p>
            <a:pPr indent="0" lvl="0" marL="0" marR="0" rtl="0" algn="l">
              <a:lnSpc>
                <a:spcPct val="115000"/>
              </a:lnSpc>
              <a:spcBef>
                <a:spcPts val="0"/>
              </a:spcBef>
              <a:spcAft>
                <a:spcPts val="0"/>
              </a:spcAft>
              <a:buClr>
                <a:srgbClr val="1F3B2D"/>
              </a:buClr>
              <a:buSzPts val="1400"/>
              <a:buFont typeface="Source Sans 3"/>
              <a:buNone/>
            </a:pPr>
            <a:r>
              <a:rPr b="1" lang="en-US">
                <a:solidFill>
                  <a:schemeClr val="dk1"/>
                </a:solidFill>
                <a:latin typeface="Source Sans 3"/>
                <a:ea typeface="Source Sans 3"/>
                <a:cs typeface="Source Sans 3"/>
                <a:sym typeface="Source Sans 3"/>
              </a:rPr>
              <a:t>Akbar · Alex · </a:t>
            </a:r>
            <a:r>
              <a:rPr b="1" i="0" lang="en-US" sz="1400" u="none" cap="none" strike="noStrike">
                <a:solidFill>
                  <a:srgbClr val="1F3B2D"/>
                </a:solidFill>
                <a:latin typeface="Source Sans 3"/>
                <a:ea typeface="Source Sans 3"/>
                <a:cs typeface="Source Sans 3"/>
                <a:sym typeface="Source Sans 3"/>
              </a:rPr>
              <a:t>Brian · Suji · Vishesh</a:t>
            </a:r>
            <a:endParaRPr b="0" i="0" sz="1400" u="none" cap="none" strike="noStrike">
              <a:solidFill>
                <a:schemeClr val="dk1"/>
              </a:solidFill>
              <a:latin typeface="Source Sans 3"/>
              <a:ea typeface="Source Sans 3"/>
              <a:cs typeface="Source Sans 3"/>
              <a:sym typeface="Source Sans 3"/>
            </a:endParaRPr>
          </a:p>
        </p:txBody>
      </p:sp>
      <p:sp>
        <p:nvSpPr>
          <p:cNvPr id="52" name="Google Shape;52;p1"/>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0" y="6803136"/>
            <a:ext cx="12192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8" name="Shape 58"/>
        <p:cNvGrpSpPr/>
        <p:nvPr/>
      </p:nvGrpSpPr>
      <p:grpSpPr>
        <a:xfrm>
          <a:off x="0" y="0"/>
          <a:ext cx="0" cy="0"/>
          <a:chOff x="0" y="0"/>
          <a:chExt cx="0" cy="0"/>
        </a:xfrm>
      </p:grpSpPr>
      <p:sp>
        <p:nvSpPr>
          <p:cNvPr id="59" name="Google Shape;59;p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Executive Summary</a:t>
            </a:r>
            <a:endParaRPr b="0" i="0" sz="1300" u="none" cap="none" strike="noStrike">
              <a:solidFill>
                <a:schemeClr val="dk1"/>
              </a:solidFill>
              <a:latin typeface="Source Sans 3"/>
              <a:ea typeface="Source Sans 3"/>
              <a:cs typeface="Source Sans 3"/>
              <a:sym typeface="Source Sans 3"/>
            </a:endParaRPr>
          </a:p>
        </p:txBody>
      </p:sp>
      <p:sp>
        <p:nvSpPr>
          <p:cNvPr id="61" name="Google Shape;61;p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2" name="Google Shape;62;p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3" name="Google Shape;63;p2"/>
          <p:cNvSpPr txBox="1"/>
          <p:nvPr>
            <p:ph type="title"/>
          </p:nvPr>
        </p:nvSpPr>
        <p:spPr>
          <a:xfrm>
            <a:off x="609600" y="1022014"/>
            <a:ext cx="10972800" cy="822000"/>
          </a:xfrm>
          <a:prstGeom prst="rect">
            <a:avLst/>
          </a:prstGeom>
          <a:noFill/>
          <a:ln>
            <a:noFill/>
          </a:ln>
        </p:spPr>
        <p:txBody>
          <a:bodyPr anchorCtr="0" anchor="ctr" bIns="0" lIns="0" spcFirstLastPara="1" rIns="0" wrap="square" tIns="0">
            <a:noAutofit/>
          </a:bodyPr>
          <a:lstStyle/>
          <a:p>
            <a:pPr indent="0" lvl="0" marL="0" rtl="0" algn="ctr">
              <a:lnSpc>
                <a:spcPct val="110000"/>
              </a:lnSpc>
              <a:spcBef>
                <a:spcPts val="0"/>
              </a:spcBef>
              <a:spcAft>
                <a:spcPts val="0"/>
              </a:spcAft>
              <a:buClr>
                <a:srgbClr val="1F3B2D"/>
              </a:buClr>
              <a:buSzPts val="2070"/>
              <a:buFont typeface="Source Serif 4"/>
              <a:buNone/>
            </a:pPr>
            <a:r>
              <a:rPr b="1" lang="en-US" sz="2770"/>
              <a:t>Traffic follows Money and Access </a:t>
            </a:r>
            <a:r>
              <a:rPr b="1" lang="en-US" sz="2770">
                <a:solidFill>
                  <a:schemeClr val="accent1"/>
                </a:solidFill>
              </a:rPr>
              <a:t>more</a:t>
            </a:r>
            <a:r>
              <a:rPr b="1" lang="en-US" sz="2770"/>
              <a:t> than Need.</a:t>
            </a:r>
            <a:endParaRPr b="1" sz="2770"/>
          </a:p>
        </p:txBody>
      </p:sp>
      <p:sp>
        <p:nvSpPr>
          <p:cNvPr id="64" name="Google Shape;64;p2"/>
          <p:cNvSpPr/>
          <p:nvPr/>
        </p:nvSpPr>
        <p:spPr>
          <a:xfrm>
            <a:off x="615950" y="2459649"/>
            <a:ext cx="2616300" cy="31035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p:nvPr/>
        </p:nvSpPr>
        <p:spPr>
          <a:xfrm>
            <a:off x="787400" y="2734256"/>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1</a:t>
            </a:r>
            <a:endParaRPr b="0" i="0" sz="1500" u="none" cap="none" strike="noStrike">
              <a:solidFill>
                <a:schemeClr val="dk1"/>
              </a:solidFill>
              <a:latin typeface="Source Sans 3"/>
              <a:ea typeface="Source Sans 3"/>
              <a:cs typeface="Source Sans 3"/>
              <a:sym typeface="Source Sans 3"/>
            </a:endParaRPr>
          </a:p>
        </p:txBody>
      </p:sp>
      <p:sp>
        <p:nvSpPr>
          <p:cNvPr id="66" name="Google Shape;66;p2"/>
          <p:cNvSpPr/>
          <p:nvPr/>
        </p:nvSpPr>
        <p:spPr>
          <a:xfrm>
            <a:off x="1270000" y="2734256"/>
            <a:ext cx="10578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Allocate</a:t>
            </a:r>
            <a:endParaRPr b="0" i="0" sz="1900" u="none" cap="none" strike="noStrike">
              <a:solidFill>
                <a:schemeClr val="dk1"/>
              </a:solidFill>
              <a:latin typeface="Source Sans 3"/>
              <a:ea typeface="Source Sans 3"/>
              <a:cs typeface="Source Sans 3"/>
              <a:sym typeface="Source Sans 3"/>
            </a:endParaRPr>
          </a:p>
        </p:txBody>
      </p:sp>
      <p:sp>
        <p:nvSpPr>
          <p:cNvPr id="67" name="Google Shape;67;p2"/>
          <p:cNvSpPr/>
          <p:nvPr/>
        </p:nvSpPr>
        <p:spPr>
          <a:xfrm>
            <a:off x="787400" y="3565686"/>
            <a:ext cx="23415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94</a:t>
            </a:r>
            <a:endParaRPr b="0" i="0" sz="4800" u="none" cap="none" strike="noStrike">
              <a:solidFill>
                <a:schemeClr val="dk1"/>
              </a:solidFill>
              <a:latin typeface="Source Sans 3"/>
              <a:ea typeface="Source Sans 3"/>
              <a:cs typeface="Source Sans 3"/>
              <a:sym typeface="Source Sans 3"/>
            </a:endParaRPr>
          </a:p>
        </p:txBody>
      </p:sp>
      <p:sp>
        <p:nvSpPr>
          <p:cNvPr id="68" name="Google Shape;68;p2"/>
          <p:cNvSpPr/>
          <p:nvPr/>
        </p:nvSpPr>
        <p:spPr>
          <a:xfrm>
            <a:off x="787400" y="4276886"/>
            <a:ext cx="2341500"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Shift food to rural food deserts</a:t>
            </a:r>
            <a:endParaRPr b="0" i="0" sz="1600" u="none" cap="none" strike="noStrike">
              <a:solidFill>
                <a:schemeClr val="dk1"/>
              </a:solidFill>
              <a:latin typeface="Source Sans 3"/>
              <a:ea typeface="Source Sans 3"/>
              <a:cs typeface="Source Sans 3"/>
              <a:sym typeface="Source Sans 3"/>
            </a:endParaRPr>
          </a:p>
        </p:txBody>
      </p:sp>
      <p:sp>
        <p:nvSpPr>
          <p:cNvPr id="69" name="Google Shape;69;p2"/>
          <p:cNvSpPr/>
          <p:nvPr/>
        </p:nvSpPr>
        <p:spPr>
          <a:xfrm>
            <a:off x="787400" y="4886486"/>
            <a:ext cx="23415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Pounds per person a year there, versus 172 nearby.</a:t>
            </a:r>
            <a:endParaRPr b="0" i="0" sz="1200" u="none" cap="none" strike="noStrike">
              <a:solidFill>
                <a:schemeClr val="dk1"/>
              </a:solidFill>
              <a:latin typeface="Source Sans 3"/>
              <a:ea typeface="Source Sans 3"/>
              <a:cs typeface="Source Sans 3"/>
              <a:sym typeface="Source Sans 3"/>
            </a:endParaRPr>
          </a:p>
        </p:txBody>
      </p:sp>
      <p:sp>
        <p:nvSpPr>
          <p:cNvPr id="70" name="Google Shape;70;p2"/>
          <p:cNvSpPr/>
          <p:nvPr/>
        </p:nvSpPr>
        <p:spPr>
          <a:xfrm>
            <a:off x="3397250" y="2459724"/>
            <a:ext cx="2616300" cy="31035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p:nvPr/>
        </p:nvSpPr>
        <p:spPr>
          <a:xfrm>
            <a:off x="3568700" y="2734256"/>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2</a:t>
            </a:r>
            <a:endParaRPr b="0" i="0" sz="1500" u="none" cap="none" strike="noStrike">
              <a:solidFill>
                <a:schemeClr val="dk1"/>
              </a:solidFill>
              <a:latin typeface="Source Sans 3"/>
              <a:ea typeface="Source Sans 3"/>
              <a:cs typeface="Source Sans 3"/>
              <a:sym typeface="Source Sans 3"/>
            </a:endParaRPr>
          </a:p>
        </p:txBody>
      </p:sp>
      <p:sp>
        <p:nvSpPr>
          <p:cNvPr id="72" name="Google Shape;72;p2"/>
          <p:cNvSpPr/>
          <p:nvPr/>
        </p:nvSpPr>
        <p:spPr>
          <a:xfrm>
            <a:off x="4051300" y="2734256"/>
            <a:ext cx="786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Reach</a:t>
            </a:r>
            <a:endParaRPr b="0" i="0" sz="1900" u="none" cap="none" strike="noStrike">
              <a:solidFill>
                <a:schemeClr val="dk1"/>
              </a:solidFill>
              <a:latin typeface="Source Sans 3"/>
              <a:ea typeface="Source Sans 3"/>
              <a:cs typeface="Source Sans 3"/>
              <a:sym typeface="Source Sans 3"/>
            </a:endParaRPr>
          </a:p>
        </p:txBody>
      </p:sp>
      <p:sp>
        <p:nvSpPr>
          <p:cNvPr id="73" name="Google Shape;73;p2"/>
          <p:cNvSpPr/>
          <p:nvPr/>
        </p:nvSpPr>
        <p:spPr>
          <a:xfrm>
            <a:off x="3568700" y="3565686"/>
            <a:ext cx="23415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117</a:t>
            </a:r>
            <a:endParaRPr b="0" i="0" sz="4800" u="none" cap="none" strike="noStrike">
              <a:solidFill>
                <a:schemeClr val="dk1"/>
              </a:solidFill>
              <a:latin typeface="Source Sans 3"/>
              <a:ea typeface="Source Sans 3"/>
              <a:cs typeface="Source Sans 3"/>
              <a:sym typeface="Source Sans 3"/>
            </a:endParaRPr>
          </a:p>
        </p:txBody>
      </p:sp>
      <p:sp>
        <p:nvSpPr>
          <p:cNvPr id="74" name="Google Shape;74;p2"/>
          <p:cNvSpPr/>
          <p:nvPr/>
        </p:nvSpPr>
        <p:spPr>
          <a:xfrm>
            <a:off x="3568700" y="4276886"/>
            <a:ext cx="2341500"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Rural mobile stops; urban hours or delivery</a:t>
            </a:r>
            <a:endParaRPr b="0" i="0" sz="1600" u="none" cap="none" strike="noStrike">
              <a:solidFill>
                <a:schemeClr val="dk1"/>
              </a:solidFill>
              <a:latin typeface="Source Sans 3"/>
              <a:ea typeface="Source Sans 3"/>
              <a:cs typeface="Source Sans 3"/>
              <a:sym typeface="Source Sans 3"/>
            </a:endParaRPr>
          </a:p>
        </p:txBody>
      </p:sp>
      <p:sp>
        <p:nvSpPr>
          <p:cNvPr id="75" name="Google Shape;75;p2"/>
          <p:cNvSpPr/>
          <p:nvPr/>
        </p:nvSpPr>
        <p:spPr>
          <a:xfrm>
            <a:off x="3568700" y="4886486"/>
            <a:ext cx="23415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Tracts with no food shelf within USDA distance.</a:t>
            </a:r>
            <a:endParaRPr b="0" i="0" sz="1200" u="none" cap="none" strike="noStrike">
              <a:solidFill>
                <a:schemeClr val="dk1"/>
              </a:solidFill>
              <a:latin typeface="Source Sans 3"/>
              <a:ea typeface="Source Sans 3"/>
              <a:cs typeface="Source Sans 3"/>
              <a:sym typeface="Source Sans 3"/>
            </a:endParaRPr>
          </a:p>
        </p:txBody>
      </p:sp>
      <p:sp>
        <p:nvSpPr>
          <p:cNvPr id="76" name="Google Shape;76;p2"/>
          <p:cNvSpPr/>
          <p:nvPr/>
        </p:nvSpPr>
        <p:spPr>
          <a:xfrm>
            <a:off x="6178550" y="2459724"/>
            <a:ext cx="2616300" cy="31035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
          <p:cNvSpPr/>
          <p:nvPr/>
        </p:nvSpPr>
        <p:spPr>
          <a:xfrm>
            <a:off x="6350000" y="2734256"/>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3</a:t>
            </a:r>
            <a:endParaRPr b="0" i="0" sz="1500" u="none" cap="none" strike="noStrike">
              <a:solidFill>
                <a:schemeClr val="dk1"/>
              </a:solidFill>
              <a:latin typeface="Source Sans 3"/>
              <a:ea typeface="Source Sans 3"/>
              <a:cs typeface="Source Sans 3"/>
              <a:sym typeface="Source Sans 3"/>
            </a:endParaRPr>
          </a:p>
        </p:txBody>
      </p:sp>
      <p:sp>
        <p:nvSpPr>
          <p:cNvPr id="78" name="Google Shape;78;p2"/>
          <p:cNvSpPr/>
          <p:nvPr/>
        </p:nvSpPr>
        <p:spPr>
          <a:xfrm>
            <a:off x="6832600" y="2734256"/>
            <a:ext cx="11754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Advocate</a:t>
            </a:r>
            <a:endParaRPr b="0" i="0" sz="1900" u="none" cap="none" strike="noStrike">
              <a:solidFill>
                <a:schemeClr val="dk1"/>
              </a:solidFill>
              <a:latin typeface="Source Sans 3"/>
              <a:ea typeface="Source Sans 3"/>
              <a:cs typeface="Source Sans 3"/>
              <a:sym typeface="Source Sans 3"/>
            </a:endParaRPr>
          </a:p>
        </p:txBody>
      </p:sp>
      <p:sp>
        <p:nvSpPr>
          <p:cNvPr id="79" name="Google Shape;79;p2"/>
          <p:cNvSpPr/>
          <p:nvPr/>
        </p:nvSpPr>
        <p:spPr>
          <a:xfrm>
            <a:off x="6350000" y="3565686"/>
            <a:ext cx="23415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$49M</a:t>
            </a:r>
            <a:endParaRPr b="0" i="0" sz="4800" u="none" cap="none" strike="noStrike">
              <a:solidFill>
                <a:schemeClr val="dk1"/>
              </a:solidFill>
              <a:latin typeface="Source Sans 3"/>
              <a:ea typeface="Source Sans 3"/>
              <a:cs typeface="Source Sans 3"/>
              <a:sym typeface="Source Sans 3"/>
            </a:endParaRPr>
          </a:p>
        </p:txBody>
      </p:sp>
      <p:sp>
        <p:nvSpPr>
          <p:cNvPr id="80" name="Google Shape;80;p2"/>
          <p:cNvSpPr/>
          <p:nvPr/>
        </p:nvSpPr>
        <p:spPr>
          <a:xfrm>
            <a:off x="6350000" y="4276886"/>
            <a:ext cx="2341500"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Show what a SNAP cut does</a:t>
            </a:r>
            <a:endParaRPr b="0" i="0" sz="1600" u="none" cap="none" strike="noStrike">
              <a:solidFill>
                <a:schemeClr val="dk1"/>
              </a:solidFill>
              <a:latin typeface="Source Sans 3"/>
              <a:ea typeface="Source Sans 3"/>
              <a:cs typeface="Source Sans 3"/>
              <a:sym typeface="Source Sans 3"/>
            </a:endParaRPr>
          </a:p>
        </p:txBody>
      </p:sp>
      <p:sp>
        <p:nvSpPr>
          <p:cNvPr id="81" name="Google Shape;81;p2"/>
          <p:cNvSpPr/>
          <p:nvPr/>
        </p:nvSpPr>
        <p:spPr>
          <a:xfrm>
            <a:off x="6350000" y="4886486"/>
            <a:ext cx="23415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Lost each month in 2023; visits rose 18–26%.</a:t>
            </a:r>
            <a:endParaRPr b="0" i="0" sz="1200" u="none" cap="none" strike="noStrike">
              <a:solidFill>
                <a:schemeClr val="dk1"/>
              </a:solidFill>
              <a:latin typeface="Source Sans 3"/>
              <a:ea typeface="Source Sans 3"/>
              <a:cs typeface="Source Sans 3"/>
              <a:sym typeface="Source Sans 3"/>
            </a:endParaRPr>
          </a:p>
        </p:txBody>
      </p:sp>
      <p:sp>
        <p:nvSpPr>
          <p:cNvPr id="82" name="Google Shape;82;p2"/>
          <p:cNvSpPr/>
          <p:nvPr/>
        </p:nvSpPr>
        <p:spPr>
          <a:xfrm>
            <a:off x="8959850" y="2459724"/>
            <a:ext cx="2616300" cy="3103500"/>
          </a:xfrm>
          <a:prstGeom prst="roundRect">
            <a:avLst>
              <a:gd fmla="val 4126"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9131300" y="2734256"/>
            <a:ext cx="381000" cy="381000"/>
          </a:xfrm>
          <a:prstGeom prst="roundRect">
            <a:avLst>
              <a:gd fmla="val 50000" name="adj"/>
            </a:avLst>
          </a:prstGeom>
          <a:solidFill>
            <a:srgbClr val="1F3B2D"/>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2B544"/>
              </a:buClr>
              <a:buSzPts val="1500"/>
              <a:buFont typeface="Source Serif 4"/>
              <a:buNone/>
            </a:pPr>
            <a:r>
              <a:rPr b="1" i="0" lang="en-US" sz="1500" u="none" cap="none" strike="noStrike">
                <a:solidFill>
                  <a:srgbClr val="F2B544"/>
                </a:solidFill>
                <a:latin typeface="Source Serif 4"/>
                <a:ea typeface="Source Serif 4"/>
                <a:cs typeface="Source Serif 4"/>
                <a:sym typeface="Source Serif 4"/>
              </a:rPr>
              <a:t>4</a:t>
            </a:r>
            <a:endParaRPr b="0" i="0" sz="1500" u="none" cap="none" strike="noStrike">
              <a:solidFill>
                <a:schemeClr val="dk1"/>
              </a:solidFill>
              <a:latin typeface="Source Sans 3"/>
              <a:ea typeface="Source Sans 3"/>
              <a:cs typeface="Source Sans 3"/>
              <a:sym typeface="Source Sans 3"/>
            </a:endParaRPr>
          </a:p>
        </p:txBody>
      </p:sp>
      <p:sp>
        <p:nvSpPr>
          <p:cNvPr id="84" name="Google Shape;84;p2"/>
          <p:cNvSpPr/>
          <p:nvPr/>
        </p:nvSpPr>
        <p:spPr>
          <a:xfrm>
            <a:off x="9613900" y="2734256"/>
            <a:ext cx="10203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900"/>
              <a:buFont typeface="Source Serif 4"/>
              <a:buNone/>
            </a:pPr>
            <a:r>
              <a:rPr b="1" i="0" lang="en-US" sz="1900" u="none" cap="none" strike="noStrike">
                <a:solidFill>
                  <a:srgbClr val="1F3B2D"/>
                </a:solidFill>
                <a:latin typeface="Source Serif 4"/>
                <a:ea typeface="Source Serif 4"/>
                <a:cs typeface="Source Serif 4"/>
                <a:sym typeface="Source Serif 4"/>
              </a:rPr>
              <a:t>Prepare</a:t>
            </a:r>
            <a:endParaRPr b="0" i="0" sz="1900" u="none" cap="none" strike="noStrike">
              <a:solidFill>
                <a:schemeClr val="dk1"/>
              </a:solidFill>
              <a:latin typeface="Source Sans 3"/>
              <a:ea typeface="Source Sans 3"/>
              <a:cs typeface="Source Sans 3"/>
              <a:sym typeface="Source Sans 3"/>
            </a:endParaRPr>
          </a:p>
        </p:txBody>
      </p:sp>
      <p:sp>
        <p:nvSpPr>
          <p:cNvPr id="85" name="Google Shape;85;p2"/>
          <p:cNvSpPr/>
          <p:nvPr/>
        </p:nvSpPr>
        <p:spPr>
          <a:xfrm>
            <a:off x="9131300" y="3524273"/>
            <a:ext cx="23415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rgbClr val="D9622B"/>
                </a:solidFill>
                <a:latin typeface="Source Serif 4"/>
                <a:ea typeface="Source Serif 4"/>
                <a:cs typeface="Source Serif 4"/>
                <a:sym typeface="Source Serif 4"/>
              </a:rPr>
              <a:t>August</a:t>
            </a:r>
            <a:endParaRPr b="0" i="0" sz="4800" u="none" cap="none" strike="noStrike">
              <a:solidFill>
                <a:schemeClr val="dk1"/>
              </a:solidFill>
              <a:latin typeface="Source Sans 3"/>
              <a:ea typeface="Source Sans 3"/>
              <a:cs typeface="Source Sans 3"/>
              <a:sym typeface="Source Sans 3"/>
            </a:endParaRPr>
          </a:p>
        </p:txBody>
      </p:sp>
      <p:sp>
        <p:nvSpPr>
          <p:cNvPr id="86" name="Google Shape;86;p2"/>
          <p:cNvSpPr/>
          <p:nvPr/>
        </p:nvSpPr>
        <p:spPr>
          <a:xfrm>
            <a:off x="9131300" y="4276886"/>
            <a:ext cx="2341500"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0" i="0" lang="en-US" sz="1600" u="none" cap="none" strike="noStrike">
                <a:solidFill>
                  <a:srgbClr val="1F3B2D"/>
                </a:solidFill>
                <a:latin typeface="Source Sans 3"/>
                <a:ea typeface="Source Sans 3"/>
                <a:cs typeface="Source Sans 3"/>
                <a:sym typeface="Source Sans 3"/>
              </a:rPr>
              <a:t>Stock and staff for the peaks</a:t>
            </a:r>
            <a:endParaRPr b="0" i="0" sz="1600" u="none" cap="none" strike="noStrike">
              <a:solidFill>
                <a:schemeClr val="dk1"/>
              </a:solidFill>
              <a:latin typeface="Source Sans 3"/>
              <a:ea typeface="Source Sans 3"/>
              <a:cs typeface="Source Sans 3"/>
              <a:sym typeface="Source Sans 3"/>
            </a:endParaRPr>
          </a:p>
        </p:txBody>
      </p:sp>
      <p:sp>
        <p:nvSpPr>
          <p:cNvPr id="87" name="Google Shape;87;p2"/>
          <p:cNvSpPr/>
          <p:nvPr/>
        </p:nvSpPr>
        <p:spPr>
          <a:xfrm>
            <a:off x="9131300" y="4886486"/>
            <a:ext cx="23415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lang="en-US" sz="1200">
                <a:solidFill>
                  <a:srgbClr val="4B5A50"/>
                </a:solidFill>
                <a:latin typeface="Source Sans 3"/>
                <a:ea typeface="Source Sans 3"/>
                <a:cs typeface="Source Sans 3"/>
                <a:sym typeface="Source Sans 3"/>
              </a:rPr>
              <a:t>Also October–November; 236,000 visits forecast.</a:t>
            </a:r>
            <a:endParaRPr b="0" i="0" sz="1200" u="none" cap="none" strike="noStrike">
              <a:solidFill>
                <a:schemeClr val="dk1"/>
              </a:solidFill>
              <a:latin typeface="Source Sans 3"/>
              <a:ea typeface="Source Sans 3"/>
              <a:cs typeface="Source Sans 3"/>
              <a:sym typeface="Source Sans 3"/>
            </a:endParaRPr>
          </a:p>
        </p:txBody>
      </p:sp>
      <p:sp>
        <p:nvSpPr>
          <p:cNvPr id="88" name="Google Shape;88;p2"/>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0" y="6803136"/>
            <a:ext cx="24384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 name="Google Shape;90;p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5" name="Shape 95"/>
        <p:cNvGrpSpPr/>
        <p:nvPr/>
      </p:nvGrpSpPr>
      <p:grpSpPr>
        <a:xfrm>
          <a:off x="0" y="0"/>
          <a:ext cx="0" cy="0"/>
          <a:chOff x="0" y="0"/>
          <a:chExt cx="0" cy="0"/>
        </a:xfrm>
      </p:grpSpPr>
      <p:sp>
        <p:nvSpPr>
          <p:cNvPr id="96" name="Google Shape;96;p3"/>
          <p:cNvSpPr/>
          <p:nvPr/>
        </p:nvSpPr>
        <p:spPr>
          <a:xfrm>
            <a:off x="609600" y="5308600"/>
            <a:ext cx="10972800" cy="657900"/>
          </a:xfrm>
          <a:prstGeom prst="roundRect">
            <a:avLst>
              <a:gd fmla="val 13514"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Q1 · Need Estimates versus Food Shelf Activity</a:t>
            </a:r>
            <a:endParaRPr b="0" i="0" sz="1300" u="none" cap="none" strike="noStrike">
              <a:solidFill>
                <a:schemeClr val="dk1"/>
              </a:solidFill>
              <a:latin typeface="Source Sans 3"/>
              <a:ea typeface="Source Sans 3"/>
              <a:cs typeface="Source Sans 3"/>
              <a:sym typeface="Source Sans 3"/>
            </a:endParaRPr>
          </a:p>
        </p:txBody>
      </p:sp>
      <p:sp>
        <p:nvSpPr>
          <p:cNvPr id="99" name="Google Shape;99;p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00" name="Google Shape;100;p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01" name="Google Shape;101;p3"/>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lang="en-US" sz="2300"/>
              <a:t>Activity only reveals county size, </a:t>
            </a:r>
            <a:r>
              <a:rPr b="1" lang="en-US" sz="2300">
                <a:solidFill>
                  <a:schemeClr val="accent1"/>
                </a:solidFill>
              </a:rPr>
              <a:t>not need</a:t>
            </a:r>
            <a:endParaRPr b="1" sz="2300">
              <a:solidFill>
                <a:schemeClr val="accent1"/>
              </a:solidFill>
            </a:endParaRPr>
          </a:p>
        </p:txBody>
      </p:sp>
      <p:sp>
        <p:nvSpPr>
          <p:cNvPr id="102" name="Google Shape;102;p3"/>
          <p:cNvSpPr/>
          <p:nvPr/>
        </p:nvSpPr>
        <p:spPr>
          <a:xfrm>
            <a:off x="615950" y="1555750"/>
            <a:ext cx="633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 name="Google Shape;103;p3" title="SLIDE3.png"/>
          <p:cNvPicPr preferRelativeResize="0"/>
          <p:nvPr/>
        </p:nvPicPr>
        <p:blipFill rotWithShape="1">
          <a:blip r:embed="rId4">
            <a:alphaModFix/>
          </a:blip>
          <a:srcRect b="1588" l="0" r="0" t="1588"/>
          <a:stretch/>
        </p:blipFill>
        <p:spPr>
          <a:xfrm>
            <a:off x="723900" y="1663700"/>
            <a:ext cx="6121401" cy="3352800"/>
          </a:xfrm>
          <a:prstGeom prst="rect">
            <a:avLst/>
          </a:prstGeom>
          <a:noFill/>
          <a:ln>
            <a:noFill/>
          </a:ln>
        </p:spPr>
      </p:pic>
      <p:sp>
        <p:nvSpPr>
          <p:cNvPr id="104" name="Google Shape;104;p3"/>
          <p:cNvSpPr/>
          <p:nvPr/>
        </p:nvSpPr>
        <p:spPr>
          <a:xfrm>
            <a:off x="7169150" y="15557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7340600" y="1679139"/>
            <a:ext cx="41859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0.9</a:t>
            </a:r>
            <a:r>
              <a:rPr b="1" lang="en-US" sz="2400">
                <a:solidFill>
                  <a:srgbClr val="1F3B2D"/>
                </a:solidFill>
                <a:latin typeface="Source Serif 4"/>
                <a:ea typeface="Source Serif 4"/>
                <a:cs typeface="Source Serif 4"/>
                <a:sym typeface="Source Serif 4"/>
              </a:rPr>
              <a:t>3</a:t>
            </a:r>
            <a:endParaRPr b="0" i="0" sz="2400" u="none" cap="none" strike="noStrike">
              <a:solidFill>
                <a:schemeClr val="dk1"/>
              </a:solidFill>
              <a:latin typeface="Source Sans 3"/>
              <a:ea typeface="Source Sans 3"/>
              <a:cs typeface="Source Sans 3"/>
              <a:sym typeface="Source Sans 3"/>
            </a:endParaRPr>
          </a:p>
        </p:txBody>
      </p:sp>
      <p:sp>
        <p:nvSpPr>
          <p:cNvPr id="106" name="Google Shape;106;p3"/>
          <p:cNvSpPr/>
          <p:nvPr/>
        </p:nvSpPr>
        <p:spPr>
          <a:xfrm>
            <a:off x="7340600" y="20659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i="0" lang="en-US" sz="1300" u="none" cap="none" strike="noStrike">
                <a:solidFill>
                  <a:schemeClr val="accent1"/>
                </a:solidFill>
                <a:latin typeface="Source Sans 3"/>
                <a:ea typeface="Source Sans 3"/>
                <a:cs typeface="Source Sans 3"/>
                <a:sym typeface="Source Sans 3"/>
              </a:rPr>
              <a:t>Correlation with need across 86 counties, 2024</a:t>
            </a:r>
            <a:endParaRPr b="1" i="0" sz="1300" u="none" cap="none" strike="noStrike">
              <a:solidFill>
                <a:schemeClr val="accent1"/>
              </a:solidFill>
              <a:latin typeface="Source Sans 3"/>
              <a:ea typeface="Source Sans 3"/>
              <a:cs typeface="Source Sans 3"/>
              <a:sym typeface="Source Sans 3"/>
            </a:endParaRPr>
          </a:p>
        </p:txBody>
      </p:sp>
      <p:sp>
        <p:nvSpPr>
          <p:cNvPr id="107" name="Google Shape;107;p3"/>
          <p:cNvSpPr/>
          <p:nvPr/>
        </p:nvSpPr>
        <p:spPr>
          <a:xfrm>
            <a:off x="7340600" y="2297757"/>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lang="en-US" sz="1200">
                <a:solidFill>
                  <a:schemeClr val="dk1"/>
                </a:solidFill>
                <a:latin typeface="Source Sans 3"/>
                <a:ea typeface="Source Sans 3"/>
                <a:cs typeface="Source Sans 3"/>
                <a:sym typeface="Source Sans 3"/>
              </a:rPr>
              <a:t>Visits 0.93 </a:t>
            </a:r>
            <a:r>
              <a:rPr b="1" lang="en-US" sz="1200">
                <a:solidFill>
                  <a:schemeClr val="dk1"/>
                </a:solidFill>
                <a:latin typeface="Source Sans 3"/>
                <a:ea typeface="Source Sans 3"/>
                <a:cs typeface="Source Sans 3"/>
                <a:sym typeface="Source Sans 3"/>
              </a:rPr>
              <a:t>· </a:t>
            </a:r>
            <a:r>
              <a:rPr lang="en-US" sz="1200">
                <a:solidFill>
                  <a:schemeClr val="dk1"/>
                </a:solidFill>
                <a:latin typeface="Source Sans 3"/>
                <a:ea typeface="Source Sans 3"/>
                <a:cs typeface="Source Sans 3"/>
                <a:sym typeface="Source Sans 3"/>
              </a:rPr>
              <a:t>people 0.93 </a:t>
            </a:r>
            <a:r>
              <a:rPr b="1" lang="en-US" sz="1200">
                <a:solidFill>
                  <a:schemeClr val="dk1"/>
                </a:solidFill>
                <a:latin typeface="Source Sans 3"/>
                <a:ea typeface="Source Sans 3"/>
                <a:cs typeface="Source Sans 3"/>
                <a:sym typeface="Source Sans 3"/>
              </a:rPr>
              <a:t>· </a:t>
            </a:r>
            <a:r>
              <a:rPr lang="en-US" sz="1200">
                <a:solidFill>
                  <a:schemeClr val="dk1"/>
                </a:solidFill>
                <a:latin typeface="Source Sans 3"/>
                <a:ea typeface="Source Sans 3"/>
                <a:cs typeface="Source Sans 3"/>
                <a:sym typeface="Source Sans 3"/>
              </a:rPr>
              <a:t>pounds 0.94 – slope shows 1.19-1.25</a:t>
            </a:r>
            <a:endParaRPr i="0" sz="1200" u="none" cap="none" strike="noStrike">
              <a:solidFill>
                <a:schemeClr val="dk1"/>
              </a:solidFill>
              <a:latin typeface="Source Sans 3"/>
              <a:ea typeface="Source Sans 3"/>
              <a:cs typeface="Source Sans 3"/>
              <a:sym typeface="Source Sans 3"/>
            </a:endParaRPr>
          </a:p>
        </p:txBody>
      </p:sp>
      <p:sp>
        <p:nvSpPr>
          <p:cNvPr id="108" name="Google Shape;108;p3"/>
          <p:cNvSpPr/>
          <p:nvPr/>
        </p:nvSpPr>
        <p:spPr>
          <a:xfrm>
            <a:off x="7169150" y="27876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7340600" y="2897235"/>
            <a:ext cx="41859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3 </a:t>
            </a:r>
            <a:r>
              <a:rPr b="1" lang="en-US" sz="2400">
                <a:solidFill>
                  <a:srgbClr val="1F3B2D"/>
                </a:solidFill>
                <a:latin typeface="Source Serif 4"/>
                <a:ea typeface="Source Serif 4"/>
                <a:cs typeface="Source Serif 4"/>
                <a:sym typeface="Source Serif 4"/>
              </a:rPr>
              <a:t>counties</a:t>
            </a:r>
            <a:endParaRPr b="0" i="0" sz="2400" u="none" cap="none" strike="noStrike">
              <a:solidFill>
                <a:schemeClr val="dk1"/>
              </a:solidFill>
              <a:latin typeface="Source Sans 3"/>
              <a:ea typeface="Source Sans 3"/>
              <a:cs typeface="Source Sans 3"/>
              <a:sym typeface="Source Sans 3"/>
            </a:endParaRPr>
          </a:p>
        </p:txBody>
      </p:sp>
      <p:sp>
        <p:nvSpPr>
          <p:cNvPr id="110" name="Google Shape;110;p3"/>
          <p:cNvSpPr/>
          <p:nvPr/>
        </p:nvSpPr>
        <p:spPr>
          <a:xfrm>
            <a:off x="7340600" y="3297882"/>
            <a:ext cx="41859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i="0" lang="en-US" sz="1300" u="none" cap="none" strike="noStrike">
                <a:solidFill>
                  <a:schemeClr val="accent1"/>
                </a:solidFill>
                <a:latin typeface="Source Sans 3"/>
                <a:ea typeface="Source Sans 3"/>
                <a:cs typeface="Source Sans 3"/>
                <a:sym typeface="Source Sans 3"/>
              </a:rPr>
              <a:t>Steele, Rice and Washington counties: above need</a:t>
            </a:r>
            <a:endParaRPr b="1" i="0" sz="1300" u="none" cap="none" strike="noStrike">
              <a:solidFill>
                <a:schemeClr val="accent1"/>
              </a:solidFill>
              <a:latin typeface="Source Sans 3"/>
              <a:ea typeface="Source Sans 3"/>
              <a:cs typeface="Source Sans 3"/>
              <a:sym typeface="Source Sans 3"/>
            </a:endParaRPr>
          </a:p>
        </p:txBody>
      </p:sp>
      <p:sp>
        <p:nvSpPr>
          <p:cNvPr id="111" name="Google Shape;111;p3"/>
          <p:cNvSpPr/>
          <p:nvPr/>
        </p:nvSpPr>
        <p:spPr>
          <a:xfrm>
            <a:off x="7340600" y="35296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lang="en-US" sz="1200">
                <a:solidFill>
                  <a:schemeClr val="dk1"/>
                </a:solidFill>
                <a:latin typeface="Source Sans 3"/>
                <a:ea typeface="Source Sans 3"/>
                <a:cs typeface="Source Sans 3"/>
                <a:sym typeface="Source Sans 3"/>
              </a:rPr>
              <a:t>Steele &amp; Washington </a:t>
            </a:r>
            <a:r>
              <a:rPr lang="en-US" sz="1200">
                <a:solidFill>
                  <a:schemeClr val="dk1"/>
                </a:solidFill>
                <a:latin typeface="Source Sans 3"/>
                <a:ea typeface="Source Sans 3"/>
                <a:cs typeface="Source Sans 3"/>
                <a:sym typeface="Source Sans 3"/>
              </a:rPr>
              <a:t>single-hub</a:t>
            </a:r>
            <a:r>
              <a:rPr lang="en-US" sz="1200">
                <a:solidFill>
                  <a:schemeClr val="dk1"/>
                </a:solidFill>
                <a:latin typeface="Source Sans 3"/>
                <a:ea typeface="Source Sans 3"/>
                <a:cs typeface="Source Sans 3"/>
                <a:sym typeface="Source Sans 3"/>
              </a:rPr>
              <a:t> counties; Rice’s largest is 29%</a:t>
            </a:r>
            <a:endParaRPr i="0" sz="1200" u="none" cap="none" strike="noStrike">
              <a:solidFill>
                <a:schemeClr val="dk1"/>
              </a:solidFill>
              <a:latin typeface="Source Sans 3"/>
              <a:ea typeface="Source Sans 3"/>
              <a:cs typeface="Source Sans 3"/>
              <a:sym typeface="Source Sans 3"/>
            </a:endParaRPr>
          </a:p>
        </p:txBody>
      </p:sp>
      <p:sp>
        <p:nvSpPr>
          <p:cNvPr id="112" name="Google Shape;112;p3"/>
          <p:cNvSpPr/>
          <p:nvPr/>
        </p:nvSpPr>
        <p:spPr>
          <a:xfrm>
            <a:off x="7169150" y="40195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p:nvPr/>
        </p:nvSpPr>
        <p:spPr>
          <a:xfrm>
            <a:off x="7340600" y="4142939"/>
            <a:ext cx="41859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lang="en-US" sz="2400">
                <a:solidFill>
                  <a:srgbClr val="1F3B2D"/>
                </a:solidFill>
                <a:latin typeface="Source Serif 4"/>
                <a:ea typeface="Source Serif 4"/>
                <a:cs typeface="Source Serif 4"/>
                <a:sym typeface="Source Serif 4"/>
              </a:rPr>
              <a:t>Pope county</a:t>
            </a:r>
            <a:endParaRPr b="0" i="0" sz="2400" u="none" cap="none" strike="noStrike">
              <a:solidFill>
                <a:schemeClr val="dk1"/>
              </a:solidFill>
              <a:latin typeface="Source Sans 3"/>
              <a:ea typeface="Source Sans 3"/>
              <a:cs typeface="Source Sans 3"/>
              <a:sym typeface="Source Sans 3"/>
            </a:endParaRPr>
          </a:p>
        </p:txBody>
      </p:sp>
      <p:sp>
        <p:nvSpPr>
          <p:cNvPr id="114" name="Google Shape;114;p3"/>
          <p:cNvSpPr/>
          <p:nvPr/>
        </p:nvSpPr>
        <p:spPr>
          <a:xfrm>
            <a:off x="7340600" y="45297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300">
                <a:solidFill>
                  <a:schemeClr val="accent1"/>
                </a:solidFill>
                <a:latin typeface="Source Sans 3"/>
                <a:ea typeface="Source Sans 3"/>
                <a:cs typeface="Source Sans 3"/>
                <a:sym typeface="Source Sans 3"/>
              </a:rPr>
              <a:t>Lowest activity per food-insecure resident in the state</a:t>
            </a:r>
            <a:endParaRPr b="1" i="0" sz="1300" u="none" cap="none" strike="noStrike">
              <a:solidFill>
                <a:schemeClr val="accent1"/>
              </a:solidFill>
              <a:latin typeface="Source Sans 3"/>
              <a:ea typeface="Source Sans 3"/>
              <a:cs typeface="Source Sans 3"/>
              <a:sym typeface="Source Sans 3"/>
            </a:endParaRPr>
          </a:p>
        </p:txBody>
      </p:sp>
      <p:sp>
        <p:nvSpPr>
          <p:cNvPr id="115" name="Google Shape;115;p3"/>
          <p:cNvSpPr/>
          <p:nvPr/>
        </p:nvSpPr>
        <p:spPr>
          <a:xfrm>
            <a:off x="7340600" y="47615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lang="en-US" sz="1200">
                <a:solidFill>
                  <a:schemeClr val="dk1"/>
                </a:solidFill>
                <a:latin typeface="Source Sans 3"/>
                <a:ea typeface="Source Sans 3"/>
                <a:cs typeface="Source Sans 3"/>
                <a:sym typeface="Source Sans 3"/>
              </a:rPr>
              <a:t>One shelf, reporting all 36 months on its own</a:t>
            </a:r>
            <a:endParaRPr i="0" sz="1200" u="none" cap="none" strike="noStrike">
              <a:solidFill>
                <a:schemeClr val="dk1"/>
              </a:solidFill>
              <a:latin typeface="Source Sans 3"/>
              <a:ea typeface="Source Sans 3"/>
              <a:cs typeface="Source Sans 3"/>
              <a:sym typeface="Source Sans 3"/>
            </a:endParaRPr>
          </a:p>
        </p:txBody>
      </p:sp>
      <p:sp>
        <p:nvSpPr>
          <p:cNvPr id="116" name="Google Shape;116;p3"/>
          <p:cNvSpPr/>
          <p:nvPr/>
        </p:nvSpPr>
        <p:spPr>
          <a:xfrm>
            <a:off x="787400" y="5406887"/>
            <a:ext cx="830100" cy="4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17" name="Google Shape;117;p3"/>
          <p:cNvSpPr/>
          <p:nvPr/>
        </p:nvSpPr>
        <p:spPr>
          <a:xfrm>
            <a:off x="1689100" y="5408807"/>
            <a:ext cx="10094100" cy="459600"/>
          </a:xfrm>
          <a:prstGeom prst="rect">
            <a:avLst/>
          </a:prstGeom>
          <a:noFill/>
          <a:ln>
            <a:noFill/>
          </a:ln>
        </p:spPr>
        <p:txBody>
          <a:bodyPr anchorCtr="0" anchor="ctr" bIns="0" lIns="0" spcFirstLastPara="1" rIns="0" wrap="square" tIns="0">
            <a:noAutofit/>
          </a:bodyPr>
          <a:lstStyle/>
          <a:p>
            <a:pPr indent="0" lvl="0" marL="0" marR="381000" rtl="0" algn="l">
              <a:lnSpc>
                <a:spcPct val="115000"/>
              </a:lnSpc>
              <a:spcBef>
                <a:spcPts val="1200"/>
              </a:spcBef>
              <a:spcAft>
                <a:spcPts val="1200"/>
              </a:spcAft>
              <a:buNone/>
            </a:pPr>
            <a:r>
              <a:rPr lang="en-US" sz="1300">
                <a:solidFill>
                  <a:srgbClr val="F7F2E8"/>
                </a:solidFill>
                <a:latin typeface="Source Sans 3"/>
                <a:ea typeface="Source Sans 3"/>
                <a:cs typeface="Source Sans 3"/>
                <a:sym typeface="Source Sans 3"/>
              </a:rPr>
              <a:t>Per food-insecure person, activity falls as the food-insecurity rate rises, but it points stronger to rurality instead of need. Only rurality survives when the two are separated. “Rurality” works </a:t>
            </a:r>
            <a:r>
              <a:rPr lang="en-US" sz="1300">
                <a:solidFill>
                  <a:srgbClr val="F7F2E8"/>
                </a:solidFill>
                <a:latin typeface="Source Sans 3"/>
                <a:ea typeface="Source Sans 3"/>
                <a:cs typeface="Source Sans 3"/>
                <a:sym typeface="Source Sans 3"/>
              </a:rPr>
              <a:t>through</a:t>
            </a:r>
            <a:r>
              <a:rPr lang="en-US" sz="1300">
                <a:solidFill>
                  <a:srgbClr val="F7F2E8"/>
                </a:solidFill>
                <a:latin typeface="Source Sans 3"/>
                <a:ea typeface="Source Sans 3"/>
                <a:cs typeface="Source Sans 3"/>
                <a:sym typeface="Source Sans 3"/>
              </a:rPr>
              <a:t> distance: 2.2 more miles to a shelf, 17% fewer people served than predicted.</a:t>
            </a:r>
            <a:endParaRPr sz="1300">
              <a:solidFill>
                <a:srgbClr val="F7F2E8"/>
              </a:solidFill>
              <a:latin typeface="Source Sans 3"/>
              <a:ea typeface="Source Sans 3"/>
              <a:cs typeface="Source Sans 3"/>
              <a:sym typeface="Source Sans 3"/>
            </a:endParaRPr>
          </a:p>
        </p:txBody>
      </p:sp>
      <p:sp>
        <p:nvSpPr>
          <p:cNvPr id="118" name="Google Shape;118;p3"/>
          <p:cNvSpPr/>
          <p:nvPr/>
        </p:nvSpPr>
        <p:spPr>
          <a:xfrm>
            <a:off x="0" y="6803136"/>
            <a:ext cx="12192000" cy="54900"/>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0" y="6803136"/>
            <a:ext cx="3657600" cy="54900"/>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1865800" y="1872757"/>
            <a:ext cx="1516200" cy="4176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Three counties serve</a:t>
            </a:r>
            <a:endParaRPr/>
          </a:p>
          <a:p>
            <a:pPr indent="0" lvl="0" marL="0" marR="0" rtl="0" algn="l">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far more than need.</a:t>
            </a:r>
            <a:endParaRPr/>
          </a:p>
        </p:txBody>
      </p:sp>
      <p:cxnSp>
        <p:nvCxnSpPr>
          <p:cNvPr id="121" name="Google Shape;121;p3"/>
          <p:cNvCxnSpPr/>
          <p:nvPr/>
        </p:nvCxnSpPr>
        <p:spPr>
          <a:xfrm>
            <a:off x="3134467" y="2304415"/>
            <a:ext cx="254100" cy="165000"/>
          </a:xfrm>
          <a:prstGeom prst="straightConnector1">
            <a:avLst/>
          </a:prstGeom>
          <a:noFill/>
          <a:ln cap="flat" cmpd="sng" w="25400">
            <a:solidFill>
              <a:srgbClr val="C2410C"/>
            </a:solidFill>
            <a:prstDash val="solid"/>
            <a:round/>
            <a:headEnd len="sm" w="sm" type="none"/>
            <a:tailEnd len="med" w="med" type="triangle"/>
          </a:ln>
        </p:spPr>
      </p:cxnSp>
      <p:sp>
        <p:nvSpPr>
          <p:cNvPr id="122" name="Google Shape;122;p3"/>
          <p:cNvSpPr/>
          <p:nvPr/>
        </p:nvSpPr>
        <p:spPr>
          <a:xfrm rot="-1465551">
            <a:off x="3136273" y="1965785"/>
            <a:ext cx="2278755" cy="901139"/>
          </a:xfrm>
          <a:prstGeom prst="ellipse">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28" name="Shape 128"/>
        <p:cNvGrpSpPr/>
        <p:nvPr/>
      </p:nvGrpSpPr>
      <p:grpSpPr>
        <a:xfrm>
          <a:off x="0" y="0"/>
          <a:ext cx="0" cy="0"/>
          <a:chOff x="0" y="0"/>
          <a:chExt cx="0" cy="0"/>
        </a:xfrm>
      </p:grpSpPr>
      <p:sp>
        <p:nvSpPr>
          <p:cNvPr id="129" name="Google Shape;129;p4"/>
          <p:cNvSpPr/>
          <p:nvPr/>
        </p:nvSpPr>
        <p:spPr>
          <a:xfrm>
            <a:off x="609600" y="5308600"/>
            <a:ext cx="10972800" cy="657900"/>
          </a:xfrm>
          <a:prstGeom prst="roundRect">
            <a:avLst>
              <a:gd fmla="val 13514"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4"/>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Q6 · A Falsifiable Measure of Need</a:t>
            </a:r>
            <a:endParaRPr b="0" i="0" sz="1300" u="none" cap="none" strike="noStrike">
              <a:solidFill>
                <a:schemeClr val="dk1"/>
              </a:solidFill>
              <a:latin typeface="Source Sans 3"/>
              <a:ea typeface="Source Sans 3"/>
              <a:cs typeface="Source Sans 3"/>
              <a:sym typeface="Source Sans 3"/>
            </a:endParaRPr>
          </a:p>
        </p:txBody>
      </p:sp>
      <p:sp>
        <p:nvSpPr>
          <p:cNvPr id="132" name="Google Shape;132;p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133" name="Google Shape;133;p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34" name="Google Shape;134;p4"/>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lang="en-US" sz="2300">
                <a:solidFill>
                  <a:srgbClr val="B5501F"/>
                </a:solidFill>
              </a:rPr>
              <a:t>Seven counties </a:t>
            </a:r>
            <a:r>
              <a:rPr b="1" lang="en-US" sz="2300"/>
              <a:t>the visit numbers</a:t>
            </a:r>
            <a:r>
              <a:rPr b="1" lang="en-US" sz="2300">
                <a:solidFill>
                  <a:srgbClr val="B5501F"/>
                </a:solidFill>
              </a:rPr>
              <a:t> </a:t>
            </a:r>
            <a:r>
              <a:rPr b="1" lang="en-US" sz="2300">
                <a:solidFill>
                  <a:schemeClr val="dk1"/>
                </a:solidFill>
              </a:rPr>
              <a:t>don’t flag</a:t>
            </a:r>
            <a:endParaRPr sz="2300">
              <a:solidFill>
                <a:schemeClr val="dk1"/>
              </a:solidFill>
            </a:endParaRPr>
          </a:p>
        </p:txBody>
      </p:sp>
      <p:sp>
        <p:nvSpPr>
          <p:cNvPr id="135" name="Google Shape;135;p4"/>
          <p:cNvSpPr/>
          <p:nvPr/>
        </p:nvSpPr>
        <p:spPr>
          <a:xfrm>
            <a:off x="615950" y="1555750"/>
            <a:ext cx="379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innesota county map: seven rural counties in orange where need exceeds activity every year; Washington, Rice and Steele in blue where activity exceeds need." id="136" name="Google Shape;136;p4"/>
          <p:cNvPicPr preferRelativeResize="0"/>
          <p:nvPr/>
        </p:nvPicPr>
        <p:blipFill rotWithShape="1">
          <a:blip r:embed="rId4">
            <a:alphaModFix/>
          </a:blip>
          <a:srcRect b="0" l="-2987" r="-2987" t="0"/>
          <a:stretch/>
        </p:blipFill>
        <p:spPr>
          <a:xfrm>
            <a:off x="657825" y="1601850"/>
            <a:ext cx="3647476" cy="3414651"/>
          </a:xfrm>
          <a:prstGeom prst="rect">
            <a:avLst/>
          </a:prstGeom>
          <a:noFill/>
          <a:ln>
            <a:noFill/>
          </a:ln>
        </p:spPr>
      </p:pic>
      <p:sp>
        <p:nvSpPr>
          <p:cNvPr id="137" name="Google Shape;137;p4"/>
          <p:cNvSpPr/>
          <p:nvPr/>
        </p:nvSpPr>
        <p:spPr>
          <a:xfrm>
            <a:off x="4629150" y="15557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4"/>
          <p:cNvSpPr/>
          <p:nvPr/>
        </p:nvSpPr>
        <p:spPr>
          <a:xfrm>
            <a:off x="4780978" y="1692943"/>
            <a:ext cx="68022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7 </a:t>
            </a:r>
            <a:r>
              <a:rPr b="1" lang="en-US" sz="2400">
                <a:solidFill>
                  <a:srgbClr val="1F3B2D"/>
                </a:solidFill>
                <a:latin typeface="Source Serif 4"/>
                <a:ea typeface="Source Serif 4"/>
                <a:cs typeface="Source Serif 4"/>
                <a:sym typeface="Source Serif 4"/>
              </a:rPr>
              <a:t>under-served</a:t>
            </a:r>
            <a:endParaRPr b="0" i="0" sz="2400" u="none" cap="none" strike="noStrike">
              <a:solidFill>
                <a:schemeClr val="dk1"/>
              </a:solidFill>
              <a:latin typeface="Source Sans 3"/>
              <a:ea typeface="Source Sans 3"/>
              <a:cs typeface="Source Sans 3"/>
              <a:sym typeface="Source Sans 3"/>
            </a:endParaRPr>
          </a:p>
        </p:txBody>
      </p:sp>
      <p:sp>
        <p:nvSpPr>
          <p:cNvPr id="139" name="Google Shape;139;p4"/>
          <p:cNvSpPr/>
          <p:nvPr/>
        </p:nvSpPr>
        <p:spPr>
          <a:xfrm>
            <a:off x="4800600" y="20659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300">
                <a:solidFill>
                  <a:schemeClr val="accent1"/>
                </a:solidFill>
                <a:latin typeface="Source Sans 3"/>
                <a:ea typeface="Source Sans 3"/>
                <a:cs typeface="Source Sans 3"/>
                <a:sym typeface="Source Sans 3"/>
              </a:rPr>
              <a:t>Among the 10 most under-served in all 3 years</a:t>
            </a:r>
            <a:endParaRPr b="1" i="0" sz="1300" u="none" cap="none" strike="noStrike">
              <a:solidFill>
                <a:schemeClr val="accent1"/>
              </a:solidFill>
              <a:latin typeface="Source Sans 3"/>
              <a:ea typeface="Source Sans 3"/>
              <a:cs typeface="Source Sans 3"/>
              <a:sym typeface="Source Sans 3"/>
            </a:endParaRPr>
          </a:p>
        </p:txBody>
      </p:sp>
      <p:sp>
        <p:nvSpPr>
          <p:cNvPr id="140" name="Google Shape;140;p4"/>
          <p:cNvSpPr/>
          <p:nvPr/>
        </p:nvSpPr>
        <p:spPr>
          <a:xfrm>
            <a:off x="4800600" y="22977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i="0" lang="en-US" sz="1200" u="none" cap="none" strike="noStrike">
                <a:solidFill>
                  <a:schemeClr val="dk1"/>
                </a:solidFill>
                <a:latin typeface="Source Sans 3"/>
                <a:ea typeface="Source Sans 3"/>
                <a:cs typeface="Source Sans 3"/>
                <a:sym typeface="Source Sans 3"/>
              </a:rPr>
              <a:t>Swift, Grant, Todd, Benton, Aitkin, Norman and Nicollet</a:t>
            </a:r>
            <a:endParaRPr i="0" sz="1200" u="none" cap="none" strike="noStrike">
              <a:solidFill>
                <a:schemeClr val="dk1"/>
              </a:solidFill>
              <a:latin typeface="Source Sans 3"/>
              <a:ea typeface="Source Sans 3"/>
              <a:cs typeface="Source Sans 3"/>
              <a:sym typeface="Source Sans 3"/>
            </a:endParaRPr>
          </a:p>
        </p:txBody>
      </p:sp>
      <p:sp>
        <p:nvSpPr>
          <p:cNvPr id="141" name="Google Shape;141;p4"/>
          <p:cNvSpPr/>
          <p:nvPr/>
        </p:nvSpPr>
        <p:spPr>
          <a:xfrm>
            <a:off x="4629150" y="27876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
          <p:cNvSpPr/>
          <p:nvPr/>
        </p:nvSpPr>
        <p:spPr>
          <a:xfrm>
            <a:off x="4780978" y="2924843"/>
            <a:ext cx="68022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lang="en-US" sz="2400">
                <a:solidFill>
                  <a:srgbClr val="1F3B2D"/>
                </a:solidFill>
                <a:latin typeface="Source Serif 4"/>
                <a:ea typeface="Source Serif 4"/>
                <a:cs typeface="Source Serif 4"/>
                <a:sym typeface="Source Serif 4"/>
              </a:rPr>
              <a:t>3 over-served</a:t>
            </a:r>
            <a:endParaRPr b="0" i="0" sz="2400" u="none" cap="none" strike="noStrike">
              <a:solidFill>
                <a:schemeClr val="dk1"/>
              </a:solidFill>
              <a:latin typeface="Source Sans 3"/>
              <a:ea typeface="Source Sans 3"/>
              <a:cs typeface="Source Sans 3"/>
              <a:sym typeface="Source Sans 3"/>
            </a:endParaRPr>
          </a:p>
        </p:txBody>
      </p:sp>
      <p:sp>
        <p:nvSpPr>
          <p:cNvPr id="143" name="Google Shape;143;p4"/>
          <p:cNvSpPr/>
          <p:nvPr/>
        </p:nvSpPr>
        <p:spPr>
          <a:xfrm>
            <a:off x="4800600" y="32978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300">
                <a:solidFill>
                  <a:schemeClr val="accent1"/>
                </a:solidFill>
                <a:latin typeface="Source Sans 3"/>
                <a:ea typeface="Source Sans 3"/>
                <a:cs typeface="Source Sans 3"/>
                <a:sym typeface="Source Sans 3"/>
              </a:rPr>
              <a:t>Activity far above need in all 3 years</a:t>
            </a:r>
            <a:endParaRPr b="1" i="0" sz="1300" u="none" cap="none" strike="noStrike">
              <a:solidFill>
                <a:schemeClr val="accent1"/>
              </a:solidFill>
              <a:latin typeface="Source Sans 3"/>
              <a:ea typeface="Source Sans 3"/>
              <a:cs typeface="Source Sans 3"/>
              <a:sym typeface="Source Sans 3"/>
            </a:endParaRPr>
          </a:p>
        </p:txBody>
      </p:sp>
      <p:sp>
        <p:nvSpPr>
          <p:cNvPr id="144" name="Google Shape;144;p4"/>
          <p:cNvSpPr/>
          <p:nvPr/>
        </p:nvSpPr>
        <p:spPr>
          <a:xfrm>
            <a:off x="4800600" y="35296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lang="en-US" sz="1200">
                <a:solidFill>
                  <a:schemeClr val="dk1"/>
                </a:solidFill>
                <a:latin typeface="Source Sans 3"/>
                <a:ea typeface="Source Sans 3"/>
                <a:cs typeface="Source Sans 3"/>
                <a:sym typeface="Source Sans 3"/>
              </a:rPr>
              <a:t>Rice, Steele, and Washington</a:t>
            </a:r>
            <a:endParaRPr i="0" sz="1200" u="none" cap="none" strike="noStrike">
              <a:solidFill>
                <a:schemeClr val="dk1"/>
              </a:solidFill>
              <a:latin typeface="Source Sans 3"/>
              <a:ea typeface="Source Sans 3"/>
              <a:cs typeface="Source Sans 3"/>
              <a:sym typeface="Source Sans 3"/>
            </a:endParaRPr>
          </a:p>
        </p:txBody>
      </p:sp>
      <p:sp>
        <p:nvSpPr>
          <p:cNvPr id="145" name="Google Shape;145;p4"/>
          <p:cNvSpPr/>
          <p:nvPr/>
        </p:nvSpPr>
        <p:spPr>
          <a:xfrm>
            <a:off x="4629150" y="4019550"/>
            <a:ext cx="694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a:off x="4800600" y="4156743"/>
            <a:ext cx="68022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lang="en-US" sz="2400">
                <a:solidFill>
                  <a:srgbClr val="1F3B2D"/>
                </a:solidFill>
                <a:latin typeface="Source Serif 4"/>
                <a:ea typeface="Source Serif 4"/>
                <a:cs typeface="Source Serif 4"/>
                <a:sym typeface="Source Serif 4"/>
              </a:rPr>
              <a:t>2 of 7 </a:t>
            </a:r>
            <a:endParaRPr b="1" sz="2400">
              <a:solidFill>
                <a:srgbClr val="1F3B2D"/>
              </a:solidFill>
              <a:latin typeface="Source Serif 4"/>
              <a:ea typeface="Source Serif 4"/>
              <a:cs typeface="Source Serif 4"/>
              <a:sym typeface="Source Serif 4"/>
            </a:endParaRPr>
          </a:p>
          <a:p>
            <a:pPr indent="0" lvl="0" marL="0" marR="0" rtl="0" algn="l">
              <a:lnSpc>
                <a:spcPct val="104999"/>
              </a:lnSpc>
              <a:spcBef>
                <a:spcPts val="0"/>
              </a:spcBef>
              <a:spcAft>
                <a:spcPts val="0"/>
              </a:spcAft>
              <a:buClr>
                <a:srgbClr val="1F3B2D"/>
              </a:buClr>
              <a:buSzPts val="2400"/>
              <a:buFont typeface="Source Serif 4"/>
              <a:buNone/>
            </a:pPr>
            <a:r>
              <a:t/>
            </a:r>
            <a:endParaRPr b="1" sz="2400">
              <a:solidFill>
                <a:srgbClr val="1F3B2D"/>
              </a:solidFill>
              <a:latin typeface="Source Serif 4"/>
              <a:ea typeface="Source Serif 4"/>
              <a:cs typeface="Source Serif 4"/>
              <a:sym typeface="Source Serif 4"/>
            </a:endParaRPr>
          </a:p>
        </p:txBody>
      </p:sp>
      <p:sp>
        <p:nvSpPr>
          <p:cNvPr id="147" name="Google Shape;147;p4"/>
          <p:cNvSpPr/>
          <p:nvPr/>
        </p:nvSpPr>
        <p:spPr>
          <a:xfrm>
            <a:off x="4800600" y="4529782"/>
            <a:ext cx="68021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1" lang="en-US" sz="1300">
                <a:solidFill>
                  <a:schemeClr val="accent1"/>
                </a:solidFill>
                <a:latin typeface="Source Sans 3"/>
                <a:ea typeface="Source Sans 3"/>
                <a:cs typeface="Source Sans 3"/>
                <a:sym typeface="Source Sans 3"/>
              </a:rPr>
              <a:t>The hunger rate alone finds only Swift and Aitkin</a:t>
            </a:r>
            <a:endParaRPr b="1" sz="1300">
              <a:solidFill>
                <a:schemeClr val="accent1"/>
              </a:solidFill>
              <a:latin typeface="Source Sans 3"/>
              <a:ea typeface="Source Sans 3"/>
              <a:cs typeface="Source Sans 3"/>
              <a:sym typeface="Source Sans 3"/>
            </a:endParaRPr>
          </a:p>
          <a:p>
            <a:pPr indent="0" lvl="0" marL="0" marR="0" rtl="0" algn="l">
              <a:lnSpc>
                <a:spcPct val="125000"/>
              </a:lnSpc>
              <a:spcBef>
                <a:spcPts val="0"/>
              </a:spcBef>
              <a:spcAft>
                <a:spcPts val="0"/>
              </a:spcAft>
              <a:buClr>
                <a:srgbClr val="1F3B2D"/>
              </a:buClr>
              <a:buSzPts val="1300"/>
              <a:buFont typeface="Source Sans 3"/>
              <a:buNone/>
            </a:pPr>
            <a:r>
              <a:t/>
            </a:r>
            <a:endParaRPr sz="1300">
              <a:solidFill>
                <a:srgbClr val="1F3B2D"/>
              </a:solidFill>
              <a:latin typeface="Source Sans 3"/>
              <a:ea typeface="Source Sans 3"/>
              <a:cs typeface="Source Sans 3"/>
              <a:sym typeface="Source Sans 3"/>
            </a:endParaRPr>
          </a:p>
        </p:txBody>
      </p:sp>
      <p:sp>
        <p:nvSpPr>
          <p:cNvPr id="148" name="Google Shape;148;p4"/>
          <p:cNvSpPr/>
          <p:nvPr/>
        </p:nvSpPr>
        <p:spPr>
          <a:xfrm>
            <a:off x="4800600" y="4761557"/>
            <a:ext cx="68021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lang="en-US" sz="1200">
                <a:solidFill>
                  <a:schemeClr val="dk1"/>
                </a:solidFill>
                <a:latin typeface="Source Sans 3"/>
                <a:ea typeface="Source Sans 3"/>
                <a:cs typeface="Source Sans 3"/>
                <a:sym typeface="Source Sans 3"/>
              </a:rPr>
              <a:t>Adding meal cost and poverty depth reveals the other five.</a:t>
            </a:r>
            <a:endParaRPr i="0" sz="1200" u="none" cap="none" strike="noStrike">
              <a:solidFill>
                <a:schemeClr val="dk1"/>
              </a:solidFill>
              <a:latin typeface="Source Sans 3"/>
              <a:ea typeface="Source Sans 3"/>
              <a:cs typeface="Source Sans 3"/>
              <a:sym typeface="Source Sans 3"/>
            </a:endParaRPr>
          </a:p>
        </p:txBody>
      </p:sp>
      <p:sp>
        <p:nvSpPr>
          <p:cNvPr id="149" name="Google Shape;149;p4"/>
          <p:cNvSpPr/>
          <p:nvPr/>
        </p:nvSpPr>
        <p:spPr>
          <a:xfrm>
            <a:off x="787400" y="5308600"/>
            <a:ext cx="830000" cy="6578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50" name="Google Shape;150;p4"/>
          <p:cNvSpPr/>
          <p:nvPr/>
        </p:nvSpPr>
        <p:spPr>
          <a:xfrm>
            <a:off x="1689100" y="5308600"/>
            <a:ext cx="9715500" cy="6578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lang="en-US" sz="1300">
                <a:solidFill>
                  <a:srgbClr val="F7F2E8"/>
                </a:solidFill>
                <a:latin typeface="Source Sans 3"/>
                <a:ea typeface="Source Sans 3"/>
                <a:cs typeface="Source Sans 3"/>
                <a:sym typeface="Source Sans 3"/>
              </a:rPr>
              <a:t>Allocating by visits alone sends food away from these counties: weigh the need index alongside visit counts. </a:t>
            </a:r>
            <a:endParaRPr sz="1300">
              <a:solidFill>
                <a:srgbClr val="F7F2E8"/>
              </a:solidFill>
              <a:latin typeface="Source Sans 3"/>
              <a:ea typeface="Source Sans 3"/>
              <a:cs typeface="Source Sans 3"/>
              <a:sym typeface="Source Sans 3"/>
            </a:endParaRPr>
          </a:p>
          <a:p>
            <a:pPr indent="0" lvl="0" marL="0" marR="0" rtl="0" algn="l">
              <a:lnSpc>
                <a:spcPct val="115000"/>
              </a:lnSpc>
              <a:spcBef>
                <a:spcPts val="0"/>
              </a:spcBef>
              <a:spcAft>
                <a:spcPts val="0"/>
              </a:spcAft>
              <a:buClr>
                <a:srgbClr val="F7F2E8"/>
              </a:buClr>
              <a:buSzPts val="1300"/>
              <a:buFont typeface="Source Sans 3"/>
              <a:buNone/>
            </a:pPr>
            <a:r>
              <a:rPr lang="en-US" sz="1300">
                <a:solidFill>
                  <a:srgbClr val="F7F2E8"/>
                </a:solidFill>
                <a:latin typeface="Source Sans 3"/>
                <a:ea typeface="Source Sans 3"/>
                <a:cs typeface="Source Sans 3"/>
                <a:sym typeface="Source Sans 3"/>
              </a:rPr>
              <a:t>Per resident, need and activity barely move together (r ≤ 0.29, near 0 by 2024); rurality is the strongest predictor of the gap.</a:t>
            </a:r>
            <a:endParaRPr b="0" i="0" sz="1300" u="none" cap="none" strike="noStrike">
              <a:solidFill>
                <a:schemeClr val="dk1"/>
              </a:solidFill>
              <a:latin typeface="Source Sans 3"/>
              <a:ea typeface="Source Sans 3"/>
              <a:cs typeface="Source Sans 3"/>
              <a:sym typeface="Source Sans 3"/>
            </a:endParaRPr>
          </a:p>
        </p:txBody>
      </p:sp>
      <p:sp>
        <p:nvSpPr>
          <p:cNvPr id="151" name="Google Shape;151;p4"/>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4"/>
          <p:cNvSpPr/>
          <p:nvPr/>
        </p:nvSpPr>
        <p:spPr>
          <a:xfrm>
            <a:off x="0" y="6803136"/>
            <a:ext cx="48768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 name="Google Shape;153;p4"/>
          <p:cNvSpPr/>
          <p:nvPr/>
        </p:nvSpPr>
        <p:spPr>
          <a:xfrm rot="5400000">
            <a:off x="1778985" y="3984550"/>
            <a:ext cx="1041900" cy="689700"/>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 name="Google Shape;154;p4"/>
          <p:cNvSpPr txBox="1"/>
          <p:nvPr/>
        </p:nvSpPr>
        <p:spPr>
          <a:xfrm>
            <a:off x="2769314" y="3137575"/>
            <a:ext cx="1565400" cy="4599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r">
              <a:lnSpc>
                <a:spcPct val="100000"/>
              </a:lnSpc>
              <a:spcBef>
                <a:spcPts val="0"/>
              </a:spcBef>
              <a:spcAft>
                <a:spcPts val="0"/>
              </a:spcAft>
              <a:buNone/>
            </a:pPr>
            <a:r>
              <a:rPr b="1" lang="en-US" sz="1100">
                <a:solidFill>
                  <a:srgbClr val="1F3B2D"/>
                </a:solidFill>
                <a:latin typeface="Source Sans 3"/>
                <a:ea typeface="Source Sans 3"/>
                <a:cs typeface="Source Sans 3"/>
                <a:sym typeface="Source Sans 3"/>
              </a:rPr>
              <a:t>Counties within an hour of high volume Twin Cities counties</a:t>
            </a:r>
            <a:endParaRPr/>
          </a:p>
        </p:txBody>
      </p:sp>
      <p:cxnSp>
        <p:nvCxnSpPr>
          <p:cNvPr id="155" name="Google Shape;155;p4"/>
          <p:cNvCxnSpPr>
            <a:endCxn id="153" idx="1"/>
          </p:cNvCxnSpPr>
          <p:nvPr/>
        </p:nvCxnSpPr>
        <p:spPr>
          <a:xfrm flipH="1">
            <a:off x="2543781" y="3550633"/>
            <a:ext cx="711900" cy="410400"/>
          </a:xfrm>
          <a:prstGeom prst="straightConnector1">
            <a:avLst/>
          </a:prstGeom>
          <a:noFill/>
          <a:ln cap="flat" cmpd="sng" w="25400">
            <a:solidFill>
              <a:srgbClr val="1F3B2D"/>
            </a:solidFill>
            <a:prstDash val="solid"/>
            <a:round/>
            <a:headEnd len="sm" w="sm" type="none"/>
            <a:tailEnd len="med" w="med" type="triangle"/>
          </a:ln>
        </p:spPr>
      </p:cxnSp>
      <p:sp>
        <p:nvSpPr>
          <p:cNvPr id="156" name="Google Shape;156;p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61" name="Shape 161"/>
        <p:cNvGrpSpPr/>
        <p:nvPr/>
      </p:nvGrpSpPr>
      <p:grpSpPr>
        <a:xfrm>
          <a:off x="0" y="0"/>
          <a:ext cx="0" cy="0"/>
          <a:chOff x="0" y="0"/>
          <a:chExt cx="0" cy="0"/>
        </a:xfrm>
      </p:grpSpPr>
      <p:sp>
        <p:nvSpPr>
          <p:cNvPr id="162" name="Google Shape;162;h30c2c28455871043_0_0"/>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h30c2c28455871043_0_0"/>
          <p:cNvSpPr/>
          <p:nvPr/>
        </p:nvSpPr>
        <p:spPr>
          <a:xfrm>
            <a:off x="0" y="6803125"/>
            <a:ext cx="5943000" cy="54900"/>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h30c2c28455871043_0_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h30c2c28455871043_0_0"/>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lang="en-US" sz="1300">
                <a:solidFill>
                  <a:srgbClr val="1F3B2D"/>
                </a:solidFill>
                <a:latin typeface="Source Sans 3"/>
                <a:ea typeface="Source Sans 3"/>
                <a:cs typeface="Source Sans 3"/>
                <a:sym typeface="Source Sans 3"/>
              </a:rPr>
              <a:t>Q4 · Food Prices</a:t>
            </a:r>
            <a:endParaRPr b="1" sz="1300">
              <a:solidFill>
                <a:srgbClr val="1F3B2D"/>
              </a:solidFill>
              <a:latin typeface="Source Sans 3"/>
              <a:ea typeface="Source Sans 3"/>
              <a:cs typeface="Source Sans 3"/>
              <a:sym typeface="Source Sans 3"/>
            </a:endParaRPr>
          </a:p>
        </p:txBody>
      </p:sp>
      <p:sp>
        <p:nvSpPr>
          <p:cNvPr id="166" name="Google Shape;166;h30c2c28455871043_0_0"/>
          <p:cNvSpPr/>
          <p:nvPr/>
        </p:nvSpPr>
        <p:spPr>
          <a:xfrm>
            <a:off x="7658100" y="228600"/>
            <a:ext cx="3924300" cy="2082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rgbClr val="1F3B2D"/>
              </a:solidFill>
              <a:latin typeface="Source Sans 3"/>
              <a:ea typeface="Source Sans 3"/>
              <a:cs typeface="Source Sans 3"/>
              <a:sym typeface="Source Sans 3"/>
            </a:endParaRPr>
          </a:p>
        </p:txBody>
      </p:sp>
      <p:pic>
        <p:nvPicPr>
          <p:cNvPr descr="line" id="167" name="Google Shape;167;h30c2c28455871043_0_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68" name="Google Shape;168;h30c2c28455871043_0_0"/>
          <p:cNvSpPr txBox="1"/>
          <p:nvPr/>
        </p:nvSpPr>
        <p:spPr>
          <a:xfrm>
            <a:off x="609600" y="890290"/>
            <a:ext cx="10972800" cy="3468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None/>
            </a:pPr>
            <a:r>
              <a:rPr b="1" lang="en-US" sz="2050">
                <a:solidFill>
                  <a:srgbClr val="1F3B2D"/>
                </a:solidFill>
                <a:latin typeface="Source Serif 4"/>
                <a:ea typeface="Source Serif 4"/>
                <a:cs typeface="Source Serif 4"/>
                <a:sym typeface="Source Serif 4"/>
              </a:rPr>
              <a:t>Plan food-shelf supply around the calendar, not grocery prices</a:t>
            </a:r>
            <a:endParaRPr b="1" sz="2050">
              <a:solidFill>
                <a:srgbClr val="1F3B2D"/>
              </a:solidFill>
              <a:latin typeface="Source Serif 4"/>
              <a:ea typeface="Source Serif 4"/>
              <a:cs typeface="Source Serif 4"/>
              <a:sym typeface="Source Serif 4"/>
            </a:endParaRPr>
          </a:p>
        </p:txBody>
      </p:sp>
      <p:sp>
        <p:nvSpPr>
          <p:cNvPr id="169" name="Google Shape;169;h30c2c28455871043_0_0"/>
          <p:cNvSpPr/>
          <p:nvPr/>
        </p:nvSpPr>
        <p:spPr>
          <a:xfrm>
            <a:off x="7169150" y="1555750"/>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170" name="Google Shape;170;h30c2c28455871043_0_0"/>
          <p:cNvSpPr/>
          <p:nvPr/>
        </p:nvSpPr>
        <p:spPr>
          <a:xfrm>
            <a:off x="7279700" y="1930712"/>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3B2D"/>
              </a:buClr>
              <a:buSzPts val="2400"/>
              <a:buFont typeface="Source Serif 4"/>
              <a:buNone/>
            </a:pPr>
            <a:r>
              <a:rPr b="1" lang="en-US" sz="1500">
                <a:solidFill>
                  <a:srgbClr val="1F3B2D"/>
                </a:solidFill>
                <a:latin typeface="Source Serif 4"/>
                <a:ea typeface="Source Serif 4"/>
                <a:cs typeface="Source Serif 4"/>
                <a:sym typeface="Source Serif 4"/>
              </a:rPr>
              <a:t>· +1 pt food inflation ↔ +3.4 pts faster yearly     </a:t>
            </a:r>
            <a:endParaRPr b="1" sz="1500">
              <a:solidFill>
                <a:srgbClr val="1F3B2D"/>
              </a:solidFill>
              <a:latin typeface="Source Serif 4"/>
              <a:ea typeface="Source Serif 4"/>
              <a:cs typeface="Source Serif 4"/>
              <a:sym typeface="Source Serif 4"/>
            </a:endParaRPr>
          </a:p>
          <a:p>
            <a:pPr indent="0" lvl="0" marL="0" marR="0" rtl="0" algn="l">
              <a:lnSpc>
                <a:spcPct val="105000"/>
              </a:lnSpc>
              <a:spcBef>
                <a:spcPts val="0"/>
              </a:spcBef>
              <a:spcAft>
                <a:spcPts val="0"/>
              </a:spcAft>
              <a:buClr>
                <a:srgbClr val="1F3B2D"/>
              </a:buClr>
              <a:buSzPts val="2400"/>
              <a:buFont typeface="Source Serif 4"/>
              <a:buNone/>
            </a:pPr>
            <a:r>
              <a:rPr b="1" lang="en-US" sz="1500">
                <a:solidFill>
                  <a:srgbClr val="1F3B2D"/>
                </a:solidFill>
                <a:latin typeface="Source Serif 4"/>
                <a:ea typeface="Source Serif 4"/>
                <a:cs typeface="Source Serif 4"/>
                <a:sym typeface="Source Serif 4"/>
              </a:rPr>
              <a:t>   growth in people served</a:t>
            </a:r>
            <a:endParaRPr b="1" sz="1500">
              <a:solidFill>
                <a:srgbClr val="1F3B2D"/>
              </a:solidFill>
              <a:latin typeface="Source Serif 4"/>
              <a:ea typeface="Source Serif 4"/>
              <a:cs typeface="Source Serif 4"/>
              <a:sym typeface="Source Serif 4"/>
            </a:endParaRPr>
          </a:p>
        </p:txBody>
      </p:sp>
      <p:sp>
        <p:nvSpPr>
          <p:cNvPr id="171" name="Google Shape;171;h30c2c28455871043_0_0"/>
          <p:cNvSpPr/>
          <p:nvPr/>
        </p:nvSpPr>
        <p:spPr>
          <a:xfrm>
            <a:off x="7279700" y="1662188"/>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MORE PEOPLE WHEN PRICES INCREASE?</a:t>
            </a:r>
            <a:endParaRPr b="0" i="0" sz="1100" u="none" cap="none" strike="noStrike">
              <a:solidFill>
                <a:srgbClr val="1F3B2D"/>
              </a:solidFill>
              <a:latin typeface="Source Sans 3"/>
              <a:ea typeface="Source Sans 3"/>
              <a:cs typeface="Source Sans 3"/>
              <a:sym typeface="Source Sans 3"/>
            </a:endParaRPr>
          </a:p>
        </p:txBody>
      </p:sp>
      <p:sp>
        <p:nvSpPr>
          <p:cNvPr id="172" name="Google Shape;172;h30c2c28455871043_0_0"/>
          <p:cNvSpPr/>
          <p:nvPr/>
        </p:nvSpPr>
        <p:spPr>
          <a:xfrm>
            <a:off x="7169150" y="2785328"/>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173" name="Google Shape;173;h30c2c28455871043_0_0"/>
          <p:cNvSpPr/>
          <p:nvPr/>
        </p:nvSpPr>
        <p:spPr>
          <a:xfrm>
            <a:off x="7279700" y="3160290"/>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lang="en-US" sz="1500">
                <a:solidFill>
                  <a:srgbClr val="1F3B2D"/>
                </a:solidFill>
                <a:latin typeface="Source Serif 4"/>
                <a:ea typeface="Source Serif 4"/>
                <a:cs typeface="Source Serif 4"/>
                <a:sym typeface="Source Serif 4"/>
              </a:rPr>
              <a:t>· Not at once, No same-month link</a:t>
            </a:r>
            <a:endParaRPr b="1" sz="1500">
              <a:solidFill>
                <a:srgbClr val="1F3B2D"/>
              </a:solidFill>
              <a:latin typeface="Source Serif 4"/>
              <a:ea typeface="Source Serif 4"/>
              <a:cs typeface="Source Serif 4"/>
              <a:sym typeface="Source Serif 4"/>
            </a:endParaRPr>
          </a:p>
          <a:p>
            <a:pPr indent="0" lvl="0" marL="0" marR="0" rtl="0" algn="l">
              <a:lnSpc>
                <a:spcPct val="105000"/>
              </a:lnSpc>
              <a:spcBef>
                <a:spcPts val="0"/>
              </a:spcBef>
              <a:spcAft>
                <a:spcPts val="0"/>
              </a:spcAft>
              <a:buNone/>
            </a:pPr>
            <a:r>
              <a:rPr b="1" lang="en-US" sz="1500">
                <a:solidFill>
                  <a:srgbClr val="1F3B2D"/>
                </a:solidFill>
                <a:latin typeface="Source Serif 4"/>
                <a:ea typeface="Source Serif 4"/>
                <a:cs typeface="Source Serif 4"/>
                <a:sym typeface="Source Serif 4"/>
              </a:rPr>
              <a:t>· Shows up over several months.</a:t>
            </a:r>
            <a:endParaRPr b="1" sz="1500">
              <a:solidFill>
                <a:srgbClr val="1F3B2D"/>
              </a:solidFill>
              <a:latin typeface="Source Serif 4"/>
              <a:ea typeface="Source Serif 4"/>
              <a:cs typeface="Source Serif 4"/>
              <a:sym typeface="Source Serif 4"/>
            </a:endParaRPr>
          </a:p>
        </p:txBody>
      </p:sp>
      <p:sp>
        <p:nvSpPr>
          <p:cNvPr id="174" name="Google Shape;174;h30c2c28455871043_0_0"/>
          <p:cNvSpPr/>
          <p:nvPr/>
        </p:nvSpPr>
        <p:spPr>
          <a:xfrm>
            <a:off x="7279700" y="2891766"/>
            <a:ext cx="4185900" cy="223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0"/>
              </a:spcAft>
              <a:buClr>
                <a:schemeClr val="accent1"/>
              </a:buClr>
              <a:buSzPts val="1200"/>
              <a:buFont typeface="Source Sans 3"/>
              <a:buNone/>
            </a:pPr>
            <a:r>
              <a:rPr b="1" lang="en-US" sz="1100">
                <a:solidFill>
                  <a:schemeClr val="accent1"/>
                </a:solidFill>
                <a:latin typeface="Source Sans 3"/>
                <a:ea typeface="Source Sans 3"/>
                <a:cs typeface="Source Sans 3"/>
                <a:sym typeface="Source Sans 3"/>
              </a:rPr>
              <a:t>AT ONCE OR DELAYED?</a:t>
            </a:r>
            <a:endParaRPr sz="1100">
              <a:solidFill>
                <a:schemeClr val="dk1"/>
              </a:solidFill>
              <a:latin typeface="Source Sans 3"/>
              <a:ea typeface="Source Sans 3"/>
              <a:cs typeface="Source Sans 3"/>
              <a:sym typeface="Source Sans 3"/>
            </a:endParaRPr>
          </a:p>
          <a:p>
            <a:pPr indent="0" lvl="0" marL="0" rtl="0" algn="l">
              <a:lnSpc>
                <a:spcPct val="130000"/>
              </a:lnSpc>
              <a:spcBef>
                <a:spcPts val="0"/>
              </a:spcBef>
              <a:spcAft>
                <a:spcPts val="0"/>
              </a:spcAft>
              <a:buClr>
                <a:schemeClr val="accent1"/>
              </a:buClr>
              <a:buSzPts val="1200"/>
              <a:buFont typeface="Source Sans 3"/>
              <a:buNone/>
            </a:pPr>
            <a:r>
              <a:t/>
            </a:r>
            <a:endParaRPr sz="1100">
              <a:solidFill>
                <a:schemeClr val="dk1"/>
              </a:solidFill>
              <a:latin typeface="Source Sans 3"/>
              <a:ea typeface="Source Sans 3"/>
              <a:cs typeface="Source Sans 3"/>
              <a:sym typeface="Source Sans 3"/>
            </a:endParaRPr>
          </a:p>
        </p:txBody>
      </p:sp>
      <p:sp>
        <p:nvSpPr>
          <p:cNvPr id="175" name="Google Shape;175;h30c2c28455871043_0_0"/>
          <p:cNvSpPr/>
          <p:nvPr/>
        </p:nvSpPr>
        <p:spPr>
          <a:xfrm>
            <a:off x="615950" y="1554800"/>
            <a:ext cx="6337200" cy="35688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h30c2c28455871043_0_0"/>
          <p:cNvSpPr/>
          <p:nvPr/>
        </p:nvSpPr>
        <p:spPr>
          <a:xfrm>
            <a:off x="609600" y="5308600"/>
            <a:ext cx="10972800" cy="657900"/>
          </a:xfrm>
          <a:prstGeom prst="roundRect">
            <a:avLst>
              <a:gd fmla="val 13514"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h30c2c28455871043_0_0"/>
          <p:cNvSpPr/>
          <p:nvPr/>
        </p:nvSpPr>
        <p:spPr>
          <a:xfrm>
            <a:off x="787400" y="5308600"/>
            <a:ext cx="830100" cy="65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178" name="Google Shape;178;h30c2c28455871043_0_0"/>
          <p:cNvSpPr/>
          <p:nvPr/>
        </p:nvSpPr>
        <p:spPr>
          <a:xfrm>
            <a:off x="1689100" y="5308600"/>
            <a:ext cx="9715500" cy="657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1" i="0" lang="en-US" sz="1300" u="none" cap="none" strike="noStrike">
                <a:solidFill>
                  <a:srgbClr val="F7F2E8"/>
                </a:solidFill>
                <a:latin typeface="Source Sans 3"/>
                <a:ea typeface="Source Sans 3"/>
                <a:cs typeface="Source Sans 3"/>
                <a:sym typeface="Source Sans 3"/>
              </a:rPr>
              <a:t>Food shelves: </a:t>
            </a:r>
            <a:r>
              <a:rPr b="0" i="0" lang="en-US" sz="1300" u="none" cap="none" strike="noStrike">
                <a:solidFill>
                  <a:srgbClr val="F7F2E8"/>
                </a:solidFill>
                <a:latin typeface="Source Sans 3"/>
                <a:ea typeface="Source Sans 3"/>
                <a:cs typeface="Source Sans 3"/>
                <a:sym typeface="Source Sans 3"/>
              </a:rPr>
              <a:t>Plan stock and staff around the calendar.</a:t>
            </a:r>
            <a:endParaRPr b="0" i="0" sz="1300" u="none" cap="none" strike="noStrike">
              <a:solidFill>
                <a:srgbClr val="F7F2E8"/>
              </a:solidFill>
              <a:latin typeface="Source Sans 3"/>
              <a:ea typeface="Source Sans 3"/>
              <a:cs typeface="Source Sans 3"/>
              <a:sym typeface="Source Sans 3"/>
            </a:endParaRPr>
          </a:p>
          <a:p>
            <a:pPr indent="0" lvl="0" marL="0" marR="0" rtl="0" algn="l">
              <a:lnSpc>
                <a:spcPct val="115000"/>
              </a:lnSpc>
              <a:spcBef>
                <a:spcPts val="0"/>
              </a:spcBef>
              <a:spcAft>
                <a:spcPts val="0"/>
              </a:spcAft>
              <a:buClr>
                <a:srgbClr val="F7F2E8"/>
              </a:buClr>
              <a:buSzPts val="1300"/>
              <a:buFont typeface="Source Sans 3"/>
              <a:buNone/>
            </a:pPr>
            <a:r>
              <a:rPr b="1" i="0" lang="en-US" sz="1300" u="none" cap="none" strike="noStrike">
                <a:solidFill>
                  <a:srgbClr val="F7F2E8"/>
                </a:solidFill>
                <a:latin typeface="Source Sans 3"/>
                <a:ea typeface="Source Sans 3"/>
                <a:cs typeface="Source Sans 3"/>
                <a:sym typeface="Source Sans 3"/>
              </a:rPr>
              <a:t>Donors: </a:t>
            </a:r>
            <a:r>
              <a:rPr b="0" i="0" lang="en-US" sz="1300" u="none" cap="none" strike="noStrike">
                <a:solidFill>
                  <a:srgbClr val="F7F2E8"/>
                </a:solidFill>
                <a:latin typeface="Source Sans 3"/>
                <a:ea typeface="Source Sans 3"/>
                <a:cs typeface="Source Sans 3"/>
                <a:sym typeface="Source Sans 3"/>
              </a:rPr>
              <a:t>When inflation stays high, expect demand to grow faster over the year.</a:t>
            </a:r>
            <a:endParaRPr b="0" i="0" sz="1300" u="none" cap="none" strike="noStrike">
              <a:solidFill>
                <a:srgbClr val="F7F2E8"/>
              </a:solidFill>
              <a:latin typeface="Source Sans 3"/>
              <a:ea typeface="Source Sans 3"/>
              <a:cs typeface="Source Sans 3"/>
              <a:sym typeface="Source Sans 3"/>
            </a:endParaRPr>
          </a:p>
        </p:txBody>
      </p:sp>
      <p:sp>
        <p:nvSpPr>
          <p:cNvPr id="179" name="Google Shape;179;h30c2c28455871043_0_0"/>
          <p:cNvSpPr/>
          <p:nvPr/>
        </p:nvSpPr>
        <p:spPr>
          <a:xfrm>
            <a:off x="7169150" y="4014909"/>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180" name="Google Shape;180;h30c2c28455871043_0_0"/>
          <p:cNvSpPr/>
          <p:nvPr/>
        </p:nvSpPr>
        <p:spPr>
          <a:xfrm>
            <a:off x="7279700" y="4389871"/>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lang="en-US" sz="1500">
                <a:solidFill>
                  <a:srgbClr val="1F3B2D"/>
                </a:solidFill>
                <a:latin typeface="Source Serif 4"/>
                <a:ea typeface="Source Serif 4"/>
                <a:cs typeface="Source Serif 4"/>
                <a:sym typeface="Source Serif 4"/>
              </a:rPr>
              <a:t>· Peaks Aug, Oct, Nov</a:t>
            </a:r>
            <a:endParaRPr b="1" sz="1500">
              <a:solidFill>
                <a:srgbClr val="1F3B2D"/>
              </a:solidFill>
              <a:latin typeface="Source Serif 4"/>
              <a:ea typeface="Source Serif 4"/>
              <a:cs typeface="Source Serif 4"/>
              <a:sym typeface="Source Serif 4"/>
            </a:endParaRPr>
          </a:p>
          <a:p>
            <a:pPr indent="0" lvl="0" marL="0" marR="0" rtl="0" algn="l">
              <a:lnSpc>
                <a:spcPct val="105000"/>
              </a:lnSpc>
              <a:spcBef>
                <a:spcPts val="0"/>
              </a:spcBef>
              <a:spcAft>
                <a:spcPts val="0"/>
              </a:spcAft>
              <a:buNone/>
            </a:pPr>
            <a:r>
              <a:rPr b="1" lang="en-US" sz="1500">
                <a:solidFill>
                  <a:srgbClr val="1F3B2D"/>
                </a:solidFill>
                <a:latin typeface="Source Serif 4"/>
                <a:ea typeface="Source Serif 4"/>
                <a:cs typeface="Source Serif 4"/>
                <a:sym typeface="Source Serif 4"/>
              </a:rPr>
              <a:t>· Lows Dec - Feb</a:t>
            </a:r>
            <a:endParaRPr b="1" sz="1500">
              <a:solidFill>
                <a:srgbClr val="1F3B2D"/>
              </a:solidFill>
              <a:latin typeface="Source Serif 4"/>
              <a:ea typeface="Source Serif 4"/>
              <a:cs typeface="Source Serif 4"/>
              <a:sym typeface="Source Serif 4"/>
            </a:endParaRPr>
          </a:p>
        </p:txBody>
      </p:sp>
      <p:sp>
        <p:nvSpPr>
          <p:cNvPr id="181" name="Google Shape;181;h30c2c28455871043_0_0"/>
          <p:cNvSpPr/>
          <p:nvPr/>
        </p:nvSpPr>
        <p:spPr>
          <a:xfrm>
            <a:off x="7279700" y="4121347"/>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OTHER CYCLES?</a:t>
            </a:r>
            <a:endParaRPr b="0" i="0" sz="1100" u="none" cap="none" strike="noStrike">
              <a:solidFill>
                <a:srgbClr val="1F3B2D"/>
              </a:solidFill>
              <a:latin typeface="Source Sans 3"/>
              <a:ea typeface="Source Sans 3"/>
              <a:cs typeface="Source Sans 3"/>
              <a:sym typeface="Source Sans 3"/>
            </a:endParaRPr>
          </a:p>
        </p:txBody>
      </p:sp>
      <p:pic>
        <p:nvPicPr>
          <p:cNvPr id="182" name="Google Shape;182;h30c2c28455871043_0_0"/>
          <p:cNvPicPr preferRelativeResize="0"/>
          <p:nvPr/>
        </p:nvPicPr>
        <p:blipFill>
          <a:blip r:embed="rId4">
            <a:alphaModFix/>
          </a:blip>
          <a:stretch>
            <a:fillRect/>
          </a:stretch>
        </p:blipFill>
        <p:spPr>
          <a:xfrm>
            <a:off x="666997" y="1895553"/>
            <a:ext cx="5889664" cy="2856450"/>
          </a:xfrm>
          <a:prstGeom prst="rect">
            <a:avLst/>
          </a:prstGeom>
          <a:noFill/>
          <a:ln>
            <a:noFill/>
          </a:ln>
        </p:spPr>
      </p:pic>
      <p:sp>
        <p:nvSpPr>
          <p:cNvPr id="183" name="Google Shape;183;h30c2c28455871043_0_0"/>
          <p:cNvSpPr txBox="1"/>
          <p:nvPr/>
        </p:nvSpPr>
        <p:spPr>
          <a:xfrm>
            <a:off x="5757182" y="2156728"/>
            <a:ext cx="1169400" cy="4176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r">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Prices add </a:t>
            </a:r>
            <a:r>
              <a:rPr b="1" lang="en-US" sz="1200">
                <a:solidFill>
                  <a:srgbClr val="C2410C"/>
                </a:solidFill>
                <a:latin typeface="Source Sans 3"/>
                <a:ea typeface="Source Sans 3"/>
                <a:cs typeface="Source Sans 3"/>
                <a:sym typeface="Source Sans 3"/>
              </a:rPr>
              <a:t> </a:t>
            </a:r>
            <a:r>
              <a:rPr b="1" i="0" lang="en-US" sz="1200" u="none" cap="none" strike="noStrike">
                <a:solidFill>
                  <a:srgbClr val="C2410C"/>
                </a:solidFill>
                <a:latin typeface="Source Sans 3"/>
                <a:ea typeface="Source Sans 3"/>
                <a:cs typeface="Source Sans 3"/>
                <a:sym typeface="Source Sans 3"/>
              </a:rPr>
              <a:t>only</a:t>
            </a:r>
            <a:r>
              <a:rPr lang="en-US"/>
              <a:t> </a:t>
            </a:r>
            <a:endParaRPr/>
          </a:p>
          <a:p>
            <a:pPr indent="0" lvl="0" marL="0" marR="0" rtl="0" algn="r">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about 1 point.</a:t>
            </a:r>
            <a:endParaRPr/>
          </a:p>
        </p:txBody>
      </p:sp>
      <p:sp>
        <p:nvSpPr>
          <p:cNvPr id="184" name="Google Shape;184;h30c2c28455871043_0_0"/>
          <p:cNvSpPr/>
          <p:nvPr/>
        </p:nvSpPr>
        <p:spPr>
          <a:xfrm>
            <a:off x="2271202" y="2850191"/>
            <a:ext cx="4185900" cy="1404000"/>
          </a:xfrm>
          <a:prstGeom prst="roundRect">
            <a:avLst>
              <a:gd fmla="val 16667" name="adj"/>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h30c2c28455871043_0_0"/>
          <p:cNvSpPr txBox="1"/>
          <p:nvPr/>
        </p:nvSpPr>
        <p:spPr>
          <a:xfrm>
            <a:off x="5544286" y="4310075"/>
            <a:ext cx="1365900" cy="4176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r">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Seasons move it</a:t>
            </a:r>
            <a:endParaRPr/>
          </a:p>
          <a:p>
            <a:pPr indent="0" lvl="0" marL="0" marR="0" rtl="0" algn="r">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5 to 8 points.</a:t>
            </a:r>
            <a:endParaRPr/>
          </a:p>
        </p:txBody>
      </p:sp>
      <p:sp>
        <p:nvSpPr>
          <p:cNvPr id="186" name="Google Shape;186;h30c2c28455871043_0_0"/>
          <p:cNvSpPr/>
          <p:nvPr/>
        </p:nvSpPr>
        <p:spPr>
          <a:xfrm>
            <a:off x="4473136" y="2060098"/>
            <a:ext cx="1310700" cy="657900"/>
          </a:xfrm>
          <a:prstGeom prst="ellipse">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h30c2c28455871043_0_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192" name="Shape 192"/>
        <p:cNvGrpSpPr/>
        <p:nvPr/>
      </p:nvGrpSpPr>
      <p:grpSpPr>
        <a:xfrm>
          <a:off x="0" y="0"/>
          <a:ext cx="0" cy="0"/>
          <a:chOff x="0" y="0"/>
          <a:chExt cx="0" cy="0"/>
        </a:xfrm>
      </p:grpSpPr>
      <p:sp>
        <p:nvSpPr>
          <p:cNvPr id="193" name="Google Shape;193;h773b6904dfcdbf01_1_3"/>
          <p:cNvSpPr/>
          <p:nvPr/>
        </p:nvSpPr>
        <p:spPr>
          <a:xfrm>
            <a:off x="0" y="6803136"/>
            <a:ext cx="12192000" cy="54900"/>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h773b6904dfcdbf01_1_3"/>
          <p:cNvSpPr/>
          <p:nvPr/>
        </p:nvSpPr>
        <p:spPr>
          <a:xfrm>
            <a:off x="0" y="6803136"/>
            <a:ext cx="7315200" cy="54900"/>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h773b6904dfcdbf01_1_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h773b6904dfcdbf01_1_3"/>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Q5</a:t>
            </a:r>
            <a:r>
              <a:rPr b="1" lang="en-US" sz="1300">
                <a:solidFill>
                  <a:srgbClr val="1F3B2D"/>
                </a:solidFill>
                <a:latin typeface="Source Sans 3"/>
                <a:ea typeface="Source Sans 3"/>
                <a:cs typeface="Source Sans 3"/>
                <a:sym typeface="Source Sans 3"/>
              </a:rPr>
              <a:t> · </a:t>
            </a:r>
            <a:r>
              <a:rPr b="1" i="0" lang="en-US" sz="1300" u="none" cap="none" strike="noStrike">
                <a:solidFill>
                  <a:srgbClr val="1F3B2D"/>
                </a:solidFill>
                <a:latin typeface="Source Sans 3"/>
                <a:ea typeface="Source Sans 3"/>
                <a:cs typeface="Source Sans 3"/>
                <a:sym typeface="Source Sans 3"/>
              </a:rPr>
              <a:t>SNAP Enrollment and Food-Shelf Use</a:t>
            </a:r>
            <a:endParaRPr b="0" i="0" sz="1300" u="none" cap="none" strike="noStrike">
              <a:solidFill>
                <a:srgbClr val="1F3B2D"/>
              </a:solidFill>
              <a:latin typeface="Source Sans 3"/>
              <a:ea typeface="Source Sans 3"/>
              <a:cs typeface="Source Sans 3"/>
              <a:sym typeface="Source Sans 3"/>
            </a:endParaRPr>
          </a:p>
        </p:txBody>
      </p:sp>
      <p:sp>
        <p:nvSpPr>
          <p:cNvPr id="197" name="Google Shape;197;h773b6904dfcdbf01_1_3"/>
          <p:cNvSpPr/>
          <p:nvPr/>
        </p:nvSpPr>
        <p:spPr>
          <a:xfrm>
            <a:off x="7658100" y="228600"/>
            <a:ext cx="3924300" cy="2082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rgbClr val="1F3B2D"/>
              </a:solidFill>
              <a:latin typeface="Source Sans 3"/>
              <a:ea typeface="Source Sans 3"/>
              <a:cs typeface="Source Sans 3"/>
              <a:sym typeface="Source Sans 3"/>
            </a:endParaRPr>
          </a:p>
        </p:txBody>
      </p:sp>
      <p:pic>
        <p:nvPicPr>
          <p:cNvPr descr="line" id="198" name="Google Shape;198;h773b6904dfcdbf01_1_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199" name="Google Shape;199;h773b6904dfcdbf01_1_3"/>
          <p:cNvSpPr txBox="1"/>
          <p:nvPr/>
        </p:nvSpPr>
        <p:spPr>
          <a:xfrm>
            <a:off x="609600" y="890290"/>
            <a:ext cx="10972800" cy="3468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None/>
            </a:pPr>
            <a:r>
              <a:rPr b="1" lang="en-US" sz="2050">
                <a:solidFill>
                  <a:srgbClr val="1F3B2D"/>
                </a:solidFill>
                <a:latin typeface="Source Serif 4"/>
                <a:ea typeface="Source Serif 4"/>
                <a:cs typeface="Source Serif 4"/>
                <a:sym typeface="Source Serif 4"/>
              </a:rPr>
              <a:t>When SNAP shrinks, Minnesotans turn to food shelves</a:t>
            </a:r>
            <a:endParaRPr sz="2050">
              <a:solidFill>
                <a:srgbClr val="1F3B2D"/>
              </a:solidFill>
              <a:latin typeface="Source Serif 4"/>
              <a:ea typeface="Source Serif 4"/>
              <a:cs typeface="Source Serif 4"/>
              <a:sym typeface="Source Serif 4"/>
            </a:endParaRPr>
          </a:p>
        </p:txBody>
      </p:sp>
      <p:sp>
        <p:nvSpPr>
          <p:cNvPr id="200" name="Google Shape;200;h773b6904dfcdbf01_1_3"/>
          <p:cNvSpPr/>
          <p:nvPr/>
        </p:nvSpPr>
        <p:spPr>
          <a:xfrm>
            <a:off x="615950" y="1555750"/>
            <a:ext cx="6337200" cy="35688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h773b6904dfcdbf01_1_3"/>
          <p:cNvSpPr/>
          <p:nvPr/>
        </p:nvSpPr>
        <p:spPr>
          <a:xfrm>
            <a:off x="7169150" y="1555750"/>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202" name="Google Shape;202;h773b6904dfcdbf01_1_3"/>
          <p:cNvSpPr/>
          <p:nvPr/>
        </p:nvSpPr>
        <p:spPr>
          <a:xfrm>
            <a:off x="7279700" y="1930712"/>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3B2D"/>
              </a:buClr>
              <a:buSzPts val="2400"/>
              <a:buFont typeface="Source Serif 4"/>
              <a:buNone/>
            </a:pPr>
            <a:r>
              <a:rPr b="1" lang="en-US" sz="1500">
                <a:solidFill>
                  <a:srgbClr val="1F3B2D"/>
                </a:solidFill>
                <a:latin typeface="Source Serif 4"/>
                <a:ea typeface="Source Serif 4"/>
                <a:cs typeface="Source Serif 4"/>
                <a:sym typeface="Source Serif 4"/>
              </a:rPr>
              <a:t>· Same need across counties</a:t>
            </a:r>
            <a:endParaRPr b="1" sz="1500">
              <a:solidFill>
                <a:srgbClr val="1F3B2D"/>
              </a:solidFill>
              <a:latin typeface="Source Serif 4"/>
              <a:ea typeface="Source Serif 4"/>
              <a:cs typeface="Source Serif 4"/>
              <a:sym typeface="Source Serif 4"/>
            </a:endParaRPr>
          </a:p>
          <a:p>
            <a:pPr indent="0" lvl="0" marL="0" marR="0" rtl="0" algn="l">
              <a:lnSpc>
                <a:spcPct val="105000"/>
              </a:lnSpc>
              <a:spcBef>
                <a:spcPts val="0"/>
              </a:spcBef>
              <a:spcAft>
                <a:spcPts val="0"/>
              </a:spcAft>
              <a:buClr>
                <a:srgbClr val="1F3B2D"/>
              </a:buClr>
              <a:buSzPts val="2400"/>
              <a:buFont typeface="Source Serif 4"/>
              <a:buNone/>
            </a:pPr>
            <a:r>
              <a:rPr b="1" lang="en-US" sz="1500">
                <a:solidFill>
                  <a:srgbClr val="1F3B2D"/>
                </a:solidFill>
                <a:latin typeface="Source Serif 4"/>
                <a:ea typeface="Source Serif 4"/>
                <a:cs typeface="Source Serif 4"/>
                <a:sym typeface="Source Serif 4"/>
              </a:rPr>
              <a:t>· 10% less SNAP ≈ 5% more visits</a:t>
            </a:r>
            <a:endParaRPr b="1" sz="1500">
              <a:solidFill>
                <a:srgbClr val="1F3B2D"/>
              </a:solidFill>
              <a:latin typeface="Source Serif 4"/>
              <a:ea typeface="Source Serif 4"/>
              <a:cs typeface="Source Serif 4"/>
              <a:sym typeface="Source Serif 4"/>
            </a:endParaRPr>
          </a:p>
        </p:txBody>
      </p:sp>
      <p:sp>
        <p:nvSpPr>
          <p:cNvPr id="203" name="Google Shape;203;h773b6904dfcdbf01_1_3"/>
          <p:cNvSpPr/>
          <p:nvPr/>
        </p:nvSpPr>
        <p:spPr>
          <a:xfrm>
            <a:off x="7279700" y="1662188"/>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TOGETHER OR REPLACE?</a:t>
            </a:r>
            <a:endParaRPr b="0" i="0" sz="1100" u="none" cap="none" strike="noStrike">
              <a:solidFill>
                <a:srgbClr val="1F3B2D"/>
              </a:solidFill>
              <a:latin typeface="Source Sans 3"/>
              <a:ea typeface="Source Sans 3"/>
              <a:cs typeface="Source Sans 3"/>
              <a:sym typeface="Source Sans 3"/>
            </a:endParaRPr>
          </a:p>
        </p:txBody>
      </p:sp>
      <p:pic>
        <p:nvPicPr>
          <p:cNvPr id="204" name="Google Shape;204;h773b6904dfcdbf01_1_3"/>
          <p:cNvPicPr preferRelativeResize="0"/>
          <p:nvPr/>
        </p:nvPicPr>
        <p:blipFill rotWithShape="1">
          <a:blip r:embed="rId4">
            <a:alphaModFix/>
          </a:blip>
          <a:srcRect b="0" l="0" r="0" t="0"/>
          <a:stretch/>
        </p:blipFill>
        <p:spPr>
          <a:xfrm>
            <a:off x="834196" y="1634250"/>
            <a:ext cx="5900726" cy="3391509"/>
          </a:xfrm>
          <a:prstGeom prst="rect">
            <a:avLst/>
          </a:prstGeom>
          <a:noFill/>
          <a:ln>
            <a:noFill/>
          </a:ln>
        </p:spPr>
      </p:pic>
      <p:sp>
        <p:nvSpPr>
          <p:cNvPr id="205" name="Google Shape;205;h773b6904dfcdbf01_1_3"/>
          <p:cNvSpPr txBox="1"/>
          <p:nvPr/>
        </p:nvSpPr>
        <p:spPr>
          <a:xfrm>
            <a:off x="1389088" y="2195971"/>
            <a:ext cx="1314000" cy="3378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ctr">
              <a:lnSpc>
                <a:spcPct val="100000"/>
              </a:lnSpc>
              <a:spcBef>
                <a:spcPts val="0"/>
              </a:spcBef>
              <a:spcAft>
                <a:spcPts val="0"/>
              </a:spcAft>
              <a:buNone/>
            </a:pPr>
            <a:r>
              <a:rPr b="1" lang="en-US" sz="1200">
                <a:solidFill>
                  <a:srgbClr val="C2410C"/>
                </a:solidFill>
                <a:latin typeface="Source Sans 3"/>
                <a:ea typeface="Source Sans 3"/>
                <a:cs typeface="Source Sans 3"/>
                <a:sym typeface="Source Sans 3"/>
              </a:rPr>
              <a:t>Step-up in spring 2023</a:t>
            </a:r>
            <a:endParaRPr/>
          </a:p>
        </p:txBody>
      </p:sp>
      <p:sp>
        <p:nvSpPr>
          <p:cNvPr id="206" name="Google Shape;206;h773b6904dfcdbf01_1_3"/>
          <p:cNvSpPr/>
          <p:nvPr/>
        </p:nvSpPr>
        <p:spPr>
          <a:xfrm>
            <a:off x="7169150" y="4022296"/>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207" name="Google Shape;207;h773b6904dfcdbf01_1_3"/>
          <p:cNvSpPr/>
          <p:nvPr/>
        </p:nvSpPr>
        <p:spPr>
          <a:xfrm>
            <a:off x="7279700" y="4397258"/>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F3B2D"/>
              </a:buClr>
              <a:buSzPts val="2400"/>
              <a:buFont typeface="Source Serif 4"/>
              <a:buNone/>
            </a:pPr>
            <a:r>
              <a:rPr b="1" lang="en-US" sz="1500">
                <a:solidFill>
                  <a:srgbClr val="1F3B2D"/>
                </a:solidFill>
                <a:latin typeface="Source Serif 4"/>
                <a:ea typeface="Source Serif 4"/>
                <a:cs typeface="Source Serif 4"/>
                <a:sym typeface="Source Serif 4"/>
              </a:rPr>
              <a:t>·</a:t>
            </a:r>
            <a:r>
              <a:rPr b="1" lang="en-US" sz="1500">
                <a:solidFill>
                  <a:srgbClr val="1F3B2D"/>
                </a:solidFill>
                <a:latin typeface="Source Serif 4"/>
                <a:ea typeface="Source Serif 4"/>
                <a:cs typeface="Source Serif 4"/>
                <a:sym typeface="Source Serif 4"/>
              </a:rPr>
              <a:t> </a:t>
            </a:r>
            <a:r>
              <a:rPr b="1" lang="en-US" sz="1500">
                <a:solidFill>
                  <a:srgbClr val="1F3B2D"/>
                </a:solidFill>
                <a:latin typeface="Source Serif 4"/>
                <a:ea typeface="Source Serif 4"/>
                <a:cs typeface="Source Serif 4"/>
                <a:sym typeface="Source Serif 4"/>
              </a:rPr>
              <a:t>Same response statewide </a:t>
            </a:r>
            <a:endParaRPr b="1" sz="1500">
              <a:solidFill>
                <a:srgbClr val="1F3B2D"/>
              </a:solidFill>
              <a:latin typeface="Source Serif 4"/>
              <a:ea typeface="Source Serif 4"/>
              <a:cs typeface="Source Serif 4"/>
              <a:sym typeface="Source Serif 4"/>
            </a:endParaRPr>
          </a:p>
          <a:p>
            <a:pPr indent="0" lvl="0" marL="0" marR="0" rtl="0" algn="l">
              <a:lnSpc>
                <a:spcPct val="105000"/>
              </a:lnSpc>
              <a:spcBef>
                <a:spcPts val="0"/>
              </a:spcBef>
              <a:spcAft>
                <a:spcPts val="0"/>
              </a:spcAft>
              <a:buClr>
                <a:srgbClr val="1F3B2D"/>
              </a:buClr>
              <a:buSzPts val="2400"/>
              <a:buFont typeface="Source Serif 4"/>
              <a:buNone/>
            </a:pPr>
            <a:r>
              <a:rPr b="1" lang="en-US" sz="1500">
                <a:solidFill>
                  <a:srgbClr val="1F3B2D"/>
                </a:solidFill>
                <a:latin typeface="Source Serif 4"/>
                <a:ea typeface="Source Serif 4"/>
                <a:cs typeface="Source Serif 4"/>
                <a:sym typeface="Source Serif 4"/>
              </a:rPr>
              <a:t>·</a:t>
            </a:r>
            <a:r>
              <a:rPr b="1" lang="en-US" sz="1500">
                <a:solidFill>
                  <a:srgbClr val="1F3B2D"/>
                </a:solidFill>
                <a:latin typeface="Source Serif 4"/>
                <a:ea typeface="Source Serif 4"/>
                <a:cs typeface="Source Serif 4"/>
                <a:sym typeface="Source Serif 4"/>
              </a:rPr>
              <a:t> </a:t>
            </a:r>
            <a:r>
              <a:rPr b="1" lang="en-US" sz="1500">
                <a:solidFill>
                  <a:srgbClr val="1F3B2D"/>
                </a:solidFill>
                <a:latin typeface="Source Serif 4"/>
                <a:ea typeface="Source Serif 4"/>
                <a:cs typeface="Source Serif 4"/>
                <a:sym typeface="Source Serif 4"/>
              </a:rPr>
              <a:t>Rural counties lose most per resident</a:t>
            </a:r>
            <a:endParaRPr b="1" sz="1500">
              <a:solidFill>
                <a:srgbClr val="1F3B2D"/>
              </a:solidFill>
              <a:latin typeface="Source Serif 4"/>
              <a:ea typeface="Source Serif 4"/>
              <a:cs typeface="Source Serif 4"/>
              <a:sym typeface="Source Serif 4"/>
            </a:endParaRPr>
          </a:p>
        </p:txBody>
      </p:sp>
      <p:sp>
        <p:nvSpPr>
          <p:cNvPr id="208" name="Google Shape;208;h773b6904dfcdbf01_1_3"/>
          <p:cNvSpPr/>
          <p:nvPr/>
        </p:nvSpPr>
        <p:spPr>
          <a:xfrm>
            <a:off x="7279700" y="4128734"/>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DIFFERENT BY PLACE?</a:t>
            </a:r>
            <a:endParaRPr b="0" i="0" sz="1100" u="none" cap="none" strike="noStrike">
              <a:solidFill>
                <a:srgbClr val="1F3B2D"/>
              </a:solidFill>
              <a:latin typeface="Source Sans 3"/>
              <a:ea typeface="Source Sans 3"/>
              <a:cs typeface="Source Sans 3"/>
              <a:sym typeface="Source Sans 3"/>
            </a:endParaRPr>
          </a:p>
        </p:txBody>
      </p:sp>
      <p:sp>
        <p:nvSpPr>
          <p:cNvPr id="209" name="Google Shape;209;h773b6904dfcdbf01_1_3"/>
          <p:cNvSpPr/>
          <p:nvPr/>
        </p:nvSpPr>
        <p:spPr>
          <a:xfrm>
            <a:off x="7169150" y="2789021"/>
            <a:ext cx="44070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300" u="none" cap="none" strike="noStrike">
              <a:solidFill>
                <a:srgbClr val="000000"/>
              </a:solidFill>
              <a:latin typeface="Arial"/>
              <a:ea typeface="Arial"/>
              <a:cs typeface="Arial"/>
              <a:sym typeface="Arial"/>
            </a:endParaRPr>
          </a:p>
        </p:txBody>
      </p:sp>
      <p:sp>
        <p:nvSpPr>
          <p:cNvPr id="210" name="Google Shape;210;h773b6904dfcdbf01_1_3"/>
          <p:cNvSpPr/>
          <p:nvPr/>
        </p:nvSpPr>
        <p:spPr>
          <a:xfrm>
            <a:off x="7279700" y="3163983"/>
            <a:ext cx="4185900" cy="345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lang="en-US" sz="1500">
                <a:solidFill>
                  <a:srgbClr val="1F3B2D"/>
                </a:solidFill>
                <a:latin typeface="Source Serif 4"/>
                <a:ea typeface="Source Serif 4"/>
                <a:cs typeface="Source Serif 4"/>
                <a:sym typeface="Source Serif 4"/>
              </a:rPr>
              <a:t>· $49M/month lost</a:t>
            </a:r>
            <a:endParaRPr b="1" sz="1500">
              <a:solidFill>
                <a:srgbClr val="1F3B2D"/>
              </a:solidFill>
              <a:latin typeface="Source Serif 4"/>
              <a:ea typeface="Source Serif 4"/>
              <a:cs typeface="Source Serif 4"/>
              <a:sym typeface="Source Serif 4"/>
            </a:endParaRPr>
          </a:p>
          <a:p>
            <a:pPr indent="0" lvl="0" marL="0" marR="0" rtl="0" algn="l">
              <a:lnSpc>
                <a:spcPct val="105000"/>
              </a:lnSpc>
              <a:spcBef>
                <a:spcPts val="0"/>
              </a:spcBef>
              <a:spcAft>
                <a:spcPts val="0"/>
              </a:spcAft>
              <a:buNone/>
            </a:pPr>
            <a:r>
              <a:rPr b="1" lang="en-US" sz="1500">
                <a:solidFill>
                  <a:srgbClr val="1F3B2D"/>
                </a:solidFill>
                <a:latin typeface="Source Serif 4"/>
                <a:ea typeface="Source Serif 4"/>
                <a:cs typeface="Source Serif 4"/>
                <a:sym typeface="Source Serif 4"/>
              </a:rPr>
              <a:t>· Visits +18–26% above prediction</a:t>
            </a:r>
            <a:endParaRPr b="1" sz="1500">
              <a:solidFill>
                <a:srgbClr val="1F3B2D"/>
              </a:solidFill>
              <a:latin typeface="Source Serif 4"/>
              <a:ea typeface="Source Serif 4"/>
              <a:cs typeface="Source Serif 4"/>
              <a:sym typeface="Source Serif 4"/>
            </a:endParaRPr>
          </a:p>
        </p:txBody>
      </p:sp>
      <p:sp>
        <p:nvSpPr>
          <p:cNvPr id="211" name="Google Shape;211;h773b6904dfcdbf01_1_3"/>
          <p:cNvSpPr/>
          <p:nvPr/>
        </p:nvSpPr>
        <p:spPr>
          <a:xfrm>
            <a:off x="7279700" y="2895459"/>
            <a:ext cx="4185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100">
                <a:solidFill>
                  <a:srgbClr val="D9622B"/>
                </a:solidFill>
                <a:latin typeface="Source Sans 3"/>
                <a:ea typeface="Source Sans 3"/>
                <a:cs typeface="Source Sans 3"/>
                <a:sym typeface="Source Sans 3"/>
              </a:rPr>
              <a:t>WHEN BENEFITS CHANGE?</a:t>
            </a:r>
            <a:endParaRPr b="0" i="0" sz="1100" u="none" cap="none" strike="noStrike">
              <a:solidFill>
                <a:srgbClr val="1F3B2D"/>
              </a:solidFill>
              <a:latin typeface="Source Sans 3"/>
              <a:ea typeface="Source Sans 3"/>
              <a:cs typeface="Source Sans 3"/>
              <a:sym typeface="Source Sans 3"/>
            </a:endParaRPr>
          </a:p>
        </p:txBody>
      </p:sp>
      <p:sp>
        <p:nvSpPr>
          <p:cNvPr id="212" name="Google Shape;212;h773b6904dfcdbf01_1_3"/>
          <p:cNvSpPr/>
          <p:nvPr/>
        </p:nvSpPr>
        <p:spPr>
          <a:xfrm>
            <a:off x="609600" y="5308600"/>
            <a:ext cx="10972800" cy="45960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h773b6904dfcdbf01_1_3"/>
          <p:cNvSpPr/>
          <p:nvPr/>
        </p:nvSpPr>
        <p:spPr>
          <a:xfrm>
            <a:off x="787400" y="5308600"/>
            <a:ext cx="830100" cy="4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14" name="Google Shape;214;h773b6904dfcdbf01_1_3"/>
          <p:cNvSpPr/>
          <p:nvPr/>
        </p:nvSpPr>
        <p:spPr>
          <a:xfrm>
            <a:off x="1689100" y="5308600"/>
            <a:ext cx="9715500" cy="4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1" lang="en-US" sz="1300">
                <a:solidFill>
                  <a:srgbClr val="F7F2E8"/>
                </a:solidFill>
                <a:latin typeface="Source Sans 3"/>
                <a:ea typeface="Source Sans 3"/>
                <a:cs typeface="Source Sans 3"/>
                <a:sym typeface="Source Sans 3"/>
              </a:rPr>
              <a:t>Lawmakers:</a:t>
            </a:r>
            <a:r>
              <a:rPr lang="en-US" sz="1300">
                <a:solidFill>
                  <a:srgbClr val="F7F2E8"/>
                </a:solidFill>
                <a:latin typeface="Source Sans 3"/>
                <a:ea typeface="Source Sans 3"/>
                <a:cs typeface="Source Sans 3"/>
                <a:sym typeface="Source Sans 3"/>
              </a:rPr>
              <a:t> SNAP cuts push need onto food shelves, which cannot fill the gap: each visit now carries ~¼ less food than in early 2022.</a:t>
            </a:r>
            <a:endParaRPr sz="1300">
              <a:solidFill>
                <a:srgbClr val="F7F2E8"/>
              </a:solidFill>
              <a:latin typeface="Source Sans 3"/>
              <a:ea typeface="Source Sans 3"/>
              <a:cs typeface="Source Sans 3"/>
              <a:sym typeface="Source Sans 3"/>
            </a:endParaRPr>
          </a:p>
        </p:txBody>
      </p:sp>
      <p:sp>
        <p:nvSpPr>
          <p:cNvPr id="215" name="Google Shape;215;h773b6904dfcdbf01_1_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20" name="Shape 220"/>
        <p:cNvGrpSpPr/>
        <p:nvPr/>
      </p:nvGrpSpPr>
      <p:grpSpPr>
        <a:xfrm>
          <a:off x="0" y="0"/>
          <a:ext cx="0" cy="0"/>
          <a:chOff x="0" y="0"/>
          <a:chExt cx="0" cy="0"/>
        </a:xfrm>
      </p:grpSpPr>
      <p:sp>
        <p:nvSpPr>
          <p:cNvPr id="221" name="Google Shape;221;p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6"/>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Q7 · August 2026 Forecast</a:t>
            </a:r>
            <a:endParaRPr b="0" i="0" sz="1300" u="none" cap="none" strike="noStrike">
              <a:solidFill>
                <a:schemeClr val="dk1"/>
              </a:solidFill>
              <a:latin typeface="Source Sans 3"/>
              <a:ea typeface="Source Sans 3"/>
              <a:cs typeface="Source Sans 3"/>
              <a:sym typeface="Source Sans 3"/>
            </a:endParaRPr>
          </a:p>
        </p:txBody>
      </p:sp>
      <p:sp>
        <p:nvSpPr>
          <p:cNvPr id="223" name="Google Shape;223;p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24" name="Google Shape;224;p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25" name="Google Shape;225;p6"/>
          <p:cNvSpPr txBox="1"/>
          <p:nvPr>
            <p:ph type="title"/>
          </p:nvPr>
        </p:nvSpPr>
        <p:spPr>
          <a:xfrm>
            <a:off x="609600" y="890290"/>
            <a:ext cx="10972800" cy="346800"/>
          </a:xfrm>
          <a:prstGeom prst="rect">
            <a:avLst/>
          </a:prstGeom>
          <a:noFill/>
          <a:ln>
            <a:noFill/>
          </a:ln>
        </p:spPr>
        <p:txBody>
          <a:bodyPr anchorCtr="0" anchor="t" bIns="0" lIns="0" spcFirstLastPara="1" rIns="0" wrap="square" tIns="0">
            <a:normAutofit fontScale="90000"/>
          </a:bodyPr>
          <a:lstStyle/>
          <a:p>
            <a:pPr indent="0" lvl="0" marL="0" marR="381000" rtl="0" algn="l">
              <a:spcBef>
                <a:spcPts val="1200"/>
              </a:spcBef>
              <a:spcAft>
                <a:spcPts val="0"/>
              </a:spcAft>
              <a:buNone/>
            </a:pPr>
            <a:r>
              <a:rPr b="1" lang="en-US" sz="2300"/>
              <a:t>Simple three-month model beat everything we added to it</a:t>
            </a:r>
            <a:endParaRPr b="1" sz="2300"/>
          </a:p>
          <a:p>
            <a:pPr indent="0" lvl="0" marL="0" rtl="0" algn="l">
              <a:lnSpc>
                <a:spcPct val="110000"/>
              </a:lnSpc>
              <a:spcBef>
                <a:spcPts val="1200"/>
              </a:spcBef>
              <a:spcAft>
                <a:spcPts val="0"/>
              </a:spcAft>
              <a:buClr>
                <a:srgbClr val="1F3B2D"/>
              </a:buClr>
              <a:buSzPct val="100000"/>
              <a:buFont typeface="Source Serif 4"/>
              <a:buNone/>
            </a:pPr>
            <a:r>
              <a:t/>
            </a:r>
            <a:endParaRPr b="1" sz="2300"/>
          </a:p>
        </p:txBody>
      </p:sp>
      <p:sp>
        <p:nvSpPr>
          <p:cNvPr id="226" name="Google Shape;226;p6"/>
          <p:cNvSpPr/>
          <p:nvPr/>
        </p:nvSpPr>
        <p:spPr>
          <a:xfrm>
            <a:off x="615950" y="1555750"/>
            <a:ext cx="6337300" cy="35687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ar chart of county visit forecast error: the 3-month average scores 1,073, 732 and 500 in August 2023–2025; adding unemployment scores 732 and 619, then 824 on the 2025 holdout." id="227" name="Google Shape;227;p6"/>
          <p:cNvPicPr preferRelativeResize="0"/>
          <p:nvPr/>
        </p:nvPicPr>
        <p:blipFill rotWithShape="1">
          <a:blip r:embed="rId4">
            <a:alphaModFix/>
          </a:blip>
          <a:srcRect b="0" l="-4773" r="-4773" t="0"/>
          <a:stretch/>
        </p:blipFill>
        <p:spPr>
          <a:xfrm>
            <a:off x="723900" y="1663700"/>
            <a:ext cx="6121400" cy="3352800"/>
          </a:xfrm>
          <a:prstGeom prst="rect">
            <a:avLst/>
          </a:prstGeom>
          <a:noFill/>
          <a:ln>
            <a:noFill/>
          </a:ln>
        </p:spPr>
      </p:pic>
      <p:sp>
        <p:nvSpPr>
          <p:cNvPr id="228" name="Google Shape;228;p6"/>
          <p:cNvSpPr/>
          <p:nvPr/>
        </p:nvSpPr>
        <p:spPr>
          <a:xfrm>
            <a:off x="7169150" y="15557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6"/>
          <p:cNvSpPr/>
          <p:nvPr/>
        </p:nvSpPr>
        <p:spPr>
          <a:xfrm>
            <a:off x="7340600" y="17205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236,148</a:t>
            </a:r>
            <a:endParaRPr b="0" i="0" sz="2400" u="none" cap="none" strike="noStrike">
              <a:solidFill>
                <a:schemeClr val="dk1"/>
              </a:solidFill>
              <a:latin typeface="Source Sans 3"/>
              <a:ea typeface="Source Sans 3"/>
              <a:cs typeface="Source Sans 3"/>
              <a:sym typeface="Source Sans 3"/>
            </a:endParaRPr>
          </a:p>
        </p:txBody>
      </p:sp>
      <p:sp>
        <p:nvSpPr>
          <p:cNvPr id="230" name="Google Shape;230;p6"/>
          <p:cNvSpPr/>
          <p:nvPr/>
        </p:nvSpPr>
        <p:spPr>
          <a:xfrm>
            <a:off x="7340600" y="20659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Visits forecast for August 2026</a:t>
            </a:r>
            <a:endParaRPr b="0" i="0" sz="1300" u="none" cap="none" strike="noStrike">
              <a:solidFill>
                <a:schemeClr val="dk1"/>
              </a:solidFill>
              <a:latin typeface="Source Sans 3"/>
              <a:ea typeface="Source Sans 3"/>
              <a:cs typeface="Source Sans 3"/>
              <a:sym typeface="Source Sans 3"/>
            </a:endParaRPr>
          </a:p>
        </p:txBody>
      </p:sp>
      <p:sp>
        <p:nvSpPr>
          <p:cNvPr id="231" name="Google Shape;231;p6"/>
          <p:cNvSpPr/>
          <p:nvPr/>
        </p:nvSpPr>
        <p:spPr>
          <a:xfrm>
            <a:off x="7340600" y="22977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Past Augusts ranged from 229,000 to 263,000.</a:t>
            </a:r>
            <a:endParaRPr b="0" i="0" sz="1200" u="none" cap="none" strike="noStrike">
              <a:solidFill>
                <a:schemeClr val="dk1"/>
              </a:solidFill>
              <a:latin typeface="Source Sans 3"/>
              <a:ea typeface="Source Sans 3"/>
              <a:cs typeface="Source Sans 3"/>
              <a:sym typeface="Source Sans 3"/>
            </a:endParaRPr>
          </a:p>
        </p:txBody>
      </p:sp>
      <p:sp>
        <p:nvSpPr>
          <p:cNvPr id="232" name="Google Shape;232;p6"/>
          <p:cNvSpPr/>
          <p:nvPr/>
        </p:nvSpPr>
        <p:spPr>
          <a:xfrm>
            <a:off x="7169150" y="27876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6"/>
          <p:cNvSpPr/>
          <p:nvPr/>
        </p:nvSpPr>
        <p:spPr>
          <a:xfrm>
            <a:off x="7340600" y="29524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5.6%</a:t>
            </a:r>
            <a:endParaRPr b="0" i="0" sz="2400" u="none" cap="none" strike="noStrike">
              <a:solidFill>
                <a:schemeClr val="dk1"/>
              </a:solidFill>
              <a:latin typeface="Source Sans 3"/>
              <a:ea typeface="Source Sans 3"/>
              <a:cs typeface="Source Sans 3"/>
              <a:sym typeface="Source Sans 3"/>
            </a:endParaRPr>
          </a:p>
        </p:txBody>
      </p:sp>
      <p:sp>
        <p:nvSpPr>
          <p:cNvPr id="234" name="Google Shape;234;p6"/>
          <p:cNvSpPr/>
          <p:nvPr/>
        </p:nvSpPr>
        <p:spPr>
          <a:xfrm>
            <a:off x="7340600" y="32978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Error on statewide visits, held-back August 2025</a:t>
            </a:r>
            <a:endParaRPr b="0" i="0" sz="1300" u="none" cap="none" strike="noStrike">
              <a:solidFill>
                <a:schemeClr val="dk1"/>
              </a:solidFill>
              <a:latin typeface="Source Sans 3"/>
              <a:ea typeface="Source Sans 3"/>
              <a:cs typeface="Source Sans 3"/>
              <a:sym typeface="Source Sans 3"/>
            </a:endParaRPr>
          </a:p>
        </p:txBody>
      </p:sp>
      <p:sp>
        <p:nvSpPr>
          <p:cNvPr id="235" name="Google Shape;235;p6"/>
          <p:cNvSpPr/>
          <p:nvPr/>
        </p:nvSpPr>
        <p:spPr>
          <a:xfrm>
            <a:off x="7340600" y="35296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200">
                <a:solidFill>
                  <a:srgbClr val="D9622B"/>
                </a:solidFill>
                <a:latin typeface="Source Sans 3"/>
                <a:ea typeface="Source Sans 3"/>
                <a:cs typeface="Source Sans 3"/>
                <a:sym typeface="Source Sans 3"/>
              </a:rPr>
              <a:t>County root-mean-squared-error: about 500 visits</a:t>
            </a:r>
            <a:endParaRPr b="0" i="0" sz="1200" u="none" cap="none" strike="noStrike">
              <a:solidFill>
                <a:schemeClr val="dk1"/>
              </a:solidFill>
              <a:latin typeface="Source Sans 3"/>
              <a:ea typeface="Source Sans 3"/>
              <a:cs typeface="Source Sans 3"/>
              <a:sym typeface="Source Sans 3"/>
            </a:endParaRPr>
          </a:p>
        </p:txBody>
      </p:sp>
      <p:sp>
        <p:nvSpPr>
          <p:cNvPr id="236" name="Google Shape;236;p6"/>
          <p:cNvSpPr/>
          <p:nvPr/>
        </p:nvSpPr>
        <p:spPr>
          <a:xfrm>
            <a:off x="7169150" y="4019550"/>
            <a:ext cx="4406900" cy="11049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6"/>
          <p:cNvSpPr/>
          <p:nvPr/>
        </p:nvSpPr>
        <p:spPr>
          <a:xfrm>
            <a:off x="7340600" y="4184352"/>
            <a:ext cx="4185920" cy="34543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12.3 million</a:t>
            </a:r>
            <a:endParaRPr b="0" i="0" sz="2400" u="none" cap="none" strike="noStrike">
              <a:solidFill>
                <a:schemeClr val="dk1"/>
              </a:solidFill>
              <a:latin typeface="Source Sans 3"/>
              <a:ea typeface="Source Sans 3"/>
              <a:cs typeface="Source Sans 3"/>
              <a:sym typeface="Source Sans 3"/>
            </a:endParaRPr>
          </a:p>
        </p:txBody>
      </p:sp>
      <p:sp>
        <p:nvSpPr>
          <p:cNvPr id="238" name="Google Shape;238;p6"/>
          <p:cNvSpPr/>
          <p:nvPr/>
        </p:nvSpPr>
        <p:spPr>
          <a:xfrm>
            <a:off x="7340600" y="4529782"/>
            <a:ext cx="4185920" cy="23177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Pounds of food; 730,000 people served</a:t>
            </a:r>
            <a:endParaRPr b="0" i="0" sz="1300" u="none" cap="none" strike="noStrike">
              <a:solidFill>
                <a:schemeClr val="dk1"/>
              </a:solidFill>
              <a:latin typeface="Source Sans 3"/>
              <a:ea typeface="Source Sans 3"/>
              <a:cs typeface="Source Sans 3"/>
              <a:sym typeface="Source Sans 3"/>
            </a:endParaRPr>
          </a:p>
        </p:txBody>
      </p:sp>
      <p:sp>
        <p:nvSpPr>
          <p:cNvPr id="239" name="Google Shape;239;p6"/>
          <p:cNvSpPr/>
          <p:nvPr/>
        </p:nvSpPr>
        <p:spPr>
          <a:xfrm>
            <a:off x="7340600" y="4761557"/>
            <a:ext cx="418592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Children 258,000, adults 387,000 and seniors 85,000.</a:t>
            </a:r>
            <a:endParaRPr b="0" i="0" sz="1200" u="none" cap="none" strike="noStrike">
              <a:solidFill>
                <a:schemeClr val="dk1"/>
              </a:solidFill>
              <a:latin typeface="Source Sans 3"/>
              <a:ea typeface="Source Sans 3"/>
              <a:cs typeface="Source Sans 3"/>
              <a:sym typeface="Source Sans 3"/>
            </a:endParaRPr>
          </a:p>
        </p:txBody>
      </p:sp>
      <p:sp>
        <p:nvSpPr>
          <p:cNvPr id="240" name="Google Shape;240;p6"/>
          <p:cNvSpPr/>
          <p:nvPr/>
        </p:nvSpPr>
        <p:spPr>
          <a:xfrm>
            <a:off x="609600" y="5308600"/>
            <a:ext cx="10972800" cy="45973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6"/>
          <p:cNvSpPr/>
          <p:nvPr/>
        </p:nvSpPr>
        <p:spPr>
          <a:xfrm>
            <a:off x="787400" y="5308600"/>
            <a:ext cx="830000" cy="45973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42" name="Google Shape;242;p6"/>
          <p:cNvSpPr/>
          <p:nvPr/>
        </p:nvSpPr>
        <p:spPr>
          <a:xfrm>
            <a:off x="1689100" y="5308600"/>
            <a:ext cx="9715500" cy="45973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Each county's forecast is its May–July average. Adding unemployment failed the holdout, and three large counties drive most of the error.</a:t>
            </a:r>
            <a:endParaRPr b="0" i="0" sz="1300" u="none" cap="none" strike="noStrike">
              <a:solidFill>
                <a:schemeClr val="dk1"/>
              </a:solidFill>
              <a:latin typeface="Source Sans 3"/>
              <a:ea typeface="Source Sans 3"/>
              <a:cs typeface="Source Sans 3"/>
              <a:sym typeface="Source Sans 3"/>
            </a:endParaRPr>
          </a:p>
        </p:txBody>
      </p:sp>
      <p:sp>
        <p:nvSpPr>
          <p:cNvPr id="243" name="Google Shape;243;p6"/>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6"/>
          <p:cNvSpPr/>
          <p:nvPr/>
        </p:nvSpPr>
        <p:spPr>
          <a:xfrm>
            <a:off x="0" y="6803136"/>
            <a:ext cx="85344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6"/>
          <p:cNvSpPr/>
          <p:nvPr/>
        </p:nvSpPr>
        <p:spPr>
          <a:xfrm>
            <a:off x="4832350" y="2585725"/>
            <a:ext cx="1275300" cy="1159500"/>
          </a:xfrm>
          <a:prstGeom prst="ellipse">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6"/>
          <p:cNvSpPr txBox="1"/>
          <p:nvPr/>
        </p:nvSpPr>
        <p:spPr>
          <a:xfrm>
            <a:off x="2552321" y="2307209"/>
            <a:ext cx="1791076" cy="557022"/>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r">
              <a:lnSpc>
                <a:spcPct val="100000"/>
              </a:lnSpc>
              <a:spcBef>
                <a:spcPts val="0"/>
              </a:spcBef>
              <a:spcAft>
                <a:spcPts val="0"/>
              </a:spcAft>
              <a:buNone/>
            </a:pPr>
            <a:r>
              <a:rPr b="1" i="0" lang="en-US" sz="1100" u="none" cap="none" strike="noStrike">
                <a:solidFill>
                  <a:srgbClr val="C2410C"/>
                </a:solidFill>
                <a:latin typeface="Source Sans 3"/>
                <a:ea typeface="Source Sans 3"/>
                <a:cs typeface="Source Sans 3"/>
                <a:sym typeface="Source Sans 3"/>
              </a:rPr>
              <a:t>On the holdout,</a:t>
            </a:r>
            <a:endParaRPr/>
          </a:p>
          <a:p>
            <a:pPr indent="0" lvl="0" marL="0" marR="0" rtl="0" algn="r">
              <a:lnSpc>
                <a:spcPct val="100000"/>
              </a:lnSpc>
              <a:spcBef>
                <a:spcPts val="0"/>
              </a:spcBef>
              <a:spcAft>
                <a:spcPts val="0"/>
              </a:spcAft>
              <a:buNone/>
            </a:pPr>
            <a:r>
              <a:rPr b="1" i="0" lang="en-US" sz="1100" u="none" cap="none" strike="noStrike">
                <a:solidFill>
                  <a:srgbClr val="C2410C"/>
                </a:solidFill>
                <a:latin typeface="Source Sans 3"/>
                <a:ea typeface="Source Sans 3"/>
                <a:cs typeface="Source Sans 3"/>
                <a:sym typeface="Source Sans 3"/>
              </a:rPr>
              <a:t>the simple model wins:</a:t>
            </a:r>
            <a:endParaRPr/>
          </a:p>
          <a:p>
            <a:pPr indent="0" lvl="0" marL="0" marR="0" rtl="0" algn="r">
              <a:lnSpc>
                <a:spcPct val="100000"/>
              </a:lnSpc>
              <a:spcBef>
                <a:spcPts val="0"/>
              </a:spcBef>
              <a:spcAft>
                <a:spcPts val="0"/>
              </a:spcAft>
              <a:buNone/>
            </a:pPr>
            <a:r>
              <a:rPr b="1" i="0" lang="en-US" sz="1100" u="none" cap="none" strike="noStrike">
                <a:solidFill>
                  <a:srgbClr val="C2410C"/>
                </a:solidFill>
                <a:latin typeface="Source Sans 3"/>
                <a:ea typeface="Source Sans 3"/>
                <a:cs typeface="Source Sans 3"/>
                <a:sym typeface="Source Sans 3"/>
              </a:rPr>
              <a:t>500 versus 824.</a:t>
            </a:r>
            <a:endParaRPr/>
          </a:p>
        </p:txBody>
      </p:sp>
      <p:cxnSp>
        <p:nvCxnSpPr>
          <p:cNvPr id="247" name="Google Shape;247;p6"/>
          <p:cNvCxnSpPr/>
          <p:nvPr/>
        </p:nvCxnSpPr>
        <p:spPr>
          <a:xfrm>
            <a:off x="4343397" y="2585720"/>
            <a:ext cx="544827" cy="391160"/>
          </a:xfrm>
          <a:prstGeom prst="straightConnector1">
            <a:avLst/>
          </a:prstGeom>
          <a:noFill/>
          <a:ln cap="flat" cmpd="sng" w="25400">
            <a:solidFill>
              <a:srgbClr val="C2410C"/>
            </a:solidFill>
            <a:prstDash val="solid"/>
            <a:round/>
            <a:headEnd len="sm" w="sm" type="none"/>
            <a:tailEnd len="med" w="med" type="triangle"/>
          </a:ln>
        </p:spPr>
      </p:cxnSp>
      <p:sp>
        <p:nvSpPr>
          <p:cNvPr id="248" name="Google Shape;248;p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53" name="Shape 253"/>
        <p:cNvGrpSpPr/>
        <p:nvPr/>
      </p:nvGrpSpPr>
      <p:grpSpPr>
        <a:xfrm>
          <a:off x="0" y="0"/>
          <a:ext cx="0" cy="0"/>
          <a:chOff x="0" y="0"/>
          <a:chExt cx="0" cy="0"/>
        </a:xfrm>
      </p:grpSpPr>
      <p:sp>
        <p:nvSpPr>
          <p:cNvPr id="254" name="Google Shape;254;h6b3a70b61e5b931b_0_5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h6b3a70b61e5b931b_0_52"/>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Q8 · Low-Income, Low-Access Areas</a:t>
            </a:r>
            <a:endParaRPr b="0" i="0" sz="1300" u="none" cap="none" strike="noStrike">
              <a:solidFill>
                <a:schemeClr val="dk1"/>
              </a:solidFill>
              <a:latin typeface="Source Sans 3"/>
              <a:ea typeface="Source Sans 3"/>
              <a:cs typeface="Source Sans 3"/>
              <a:sym typeface="Source Sans 3"/>
            </a:endParaRPr>
          </a:p>
        </p:txBody>
      </p:sp>
      <p:sp>
        <p:nvSpPr>
          <p:cNvPr id="256" name="Google Shape;256;h6b3a70b61e5b931b_0_52"/>
          <p:cNvSpPr/>
          <p:nvPr/>
        </p:nvSpPr>
        <p:spPr>
          <a:xfrm>
            <a:off x="7658100" y="228600"/>
            <a:ext cx="3924300" cy="20820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57" name="Google Shape;257;h6b3a70b61e5b931b_0_5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58" name="Google Shape;258;h6b3a70b61e5b931b_0_52"/>
          <p:cNvSpPr txBox="1"/>
          <p:nvPr>
            <p:ph type="title"/>
          </p:nvPr>
        </p:nvSpPr>
        <p:spPr>
          <a:xfrm>
            <a:off x="609600" y="890215"/>
            <a:ext cx="10972800" cy="3468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lang="en-US" sz="2300">
                <a:solidFill>
                  <a:schemeClr val="dk1"/>
                </a:solidFill>
              </a:rPr>
              <a:t>Where food shelves do not reach</a:t>
            </a:r>
            <a:endParaRPr b="1" sz="2300">
              <a:solidFill>
                <a:schemeClr val="dk1"/>
              </a:solidFill>
            </a:endParaRPr>
          </a:p>
        </p:txBody>
      </p:sp>
      <p:sp>
        <p:nvSpPr>
          <p:cNvPr id="259" name="Google Shape;259;h6b3a70b61e5b931b_0_52"/>
          <p:cNvSpPr/>
          <p:nvPr/>
        </p:nvSpPr>
        <p:spPr>
          <a:xfrm>
            <a:off x="615950" y="1555750"/>
            <a:ext cx="5442900" cy="3568800"/>
          </a:xfrm>
          <a:prstGeom prst="roundRect">
            <a:avLst>
              <a:gd fmla="val 3025"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innesota census tracts: orange are low-income, low-access with no food shelf within USDA distance, blue have one, grey low income only; dots are food shelves." id="260" name="Google Shape;260;h6b3a70b61e5b931b_0_52"/>
          <p:cNvPicPr preferRelativeResize="0"/>
          <p:nvPr/>
        </p:nvPicPr>
        <p:blipFill rotWithShape="1">
          <a:blip r:embed="rId4">
            <a:alphaModFix/>
          </a:blip>
          <a:srcRect b="10337" l="-16871" r="-9503" t="7562"/>
          <a:stretch/>
        </p:blipFill>
        <p:spPr>
          <a:xfrm>
            <a:off x="1123175" y="1597550"/>
            <a:ext cx="4302946" cy="3485211"/>
          </a:xfrm>
          <a:prstGeom prst="rect">
            <a:avLst/>
          </a:prstGeom>
          <a:noFill/>
          <a:ln>
            <a:noFill/>
          </a:ln>
        </p:spPr>
      </p:pic>
      <p:sp>
        <p:nvSpPr>
          <p:cNvPr id="261" name="Google Shape;261;h6b3a70b61e5b931b_0_52"/>
          <p:cNvSpPr/>
          <p:nvPr/>
        </p:nvSpPr>
        <p:spPr>
          <a:xfrm>
            <a:off x="6283375" y="3393950"/>
            <a:ext cx="5298900" cy="17307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h6b3a70b61e5b931b_0_52"/>
          <p:cNvSpPr/>
          <p:nvPr/>
        </p:nvSpPr>
        <p:spPr>
          <a:xfrm>
            <a:off x="6494085" y="3804673"/>
            <a:ext cx="51888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i="0" lang="en-US" sz="2400" u="none" cap="none" strike="noStrike">
                <a:solidFill>
                  <a:srgbClr val="1F3B2D"/>
                </a:solidFill>
                <a:latin typeface="Source Serif 4"/>
                <a:ea typeface="Source Serif 4"/>
                <a:cs typeface="Source Serif 4"/>
                <a:sym typeface="Source Serif 4"/>
              </a:rPr>
              <a:t>117 tracts</a:t>
            </a:r>
            <a:endParaRPr b="0" i="0" sz="2400" u="none" cap="none" strike="noStrike">
              <a:solidFill>
                <a:schemeClr val="dk1"/>
              </a:solidFill>
              <a:latin typeface="Source Sans 3"/>
              <a:ea typeface="Source Sans 3"/>
              <a:cs typeface="Source Sans 3"/>
              <a:sym typeface="Source Sans 3"/>
            </a:endParaRPr>
          </a:p>
        </p:txBody>
      </p:sp>
      <p:sp>
        <p:nvSpPr>
          <p:cNvPr id="263" name="Google Shape;263;h6b3a70b61e5b931b_0_52"/>
          <p:cNvSpPr/>
          <p:nvPr/>
        </p:nvSpPr>
        <p:spPr>
          <a:xfrm>
            <a:off x="6494085" y="4216711"/>
            <a:ext cx="51888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b="0" i="0" lang="en-US" sz="1300" u="none" cap="none" strike="noStrike">
                <a:solidFill>
                  <a:srgbClr val="1F3B2D"/>
                </a:solidFill>
                <a:latin typeface="Source Sans 3"/>
                <a:ea typeface="Source Sans 3"/>
                <a:cs typeface="Source Sans 3"/>
                <a:sym typeface="Source Sans 3"/>
              </a:rPr>
              <a:t>With no shelf within USDA distance; 57,000 people in poverty</a:t>
            </a:r>
            <a:endParaRPr b="0" i="0" sz="1300" u="none" cap="none" strike="noStrike">
              <a:solidFill>
                <a:schemeClr val="dk1"/>
              </a:solidFill>
              <a:latin typeface="Source Sans 3"/>
              <a:ea typeface="Source Sans 3"/>
              <a:cs typeface="Source Sans 3"/>
              <a:sym typeface="Source Sans 3"/>
            </a:endParaRPr>
          </a:p>
        </p:txBody>
      </p:sp>
      <p:sp>
        <p:nvSpPr>
          <p:cNvPr id="264" name="Google Shape;264;h6b3a70b61e5b931b_0_52"/>
          <p:cNvSpPr/>
          <p:nvPr/>
        </p:nvSpPr>
        <p:spPr>
          <a:xfrm>
            <a:off x="6494085" y="4481791"/>
            <a:ext cx="51888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i="0" lang="en-US" sz="1200" u="none" cap="none" strike="noStrike">
                <a:solidFill>
                  <a:srgbClr val="D9622B"/>
                </a:solidFill>
                <a:latin typeface="Source Sans 3"/>
                <a:ea typeface="Source Sans 3"/>
                <a:cs typeface="Source Sans 3"/>
                <a:sym typeface="Source Sans 3"/>
              </a:rPr>
              <a:t>28 are rural (12.6 miles away); 89 are urban (1.5 miles, few cars).</a:t>
            </a:r>
            <a:endParaRPr b="0" i="0" sz="1200" u="none" cap="none" strike="noStrike">
              <a:solidFill>
                <a:schemeClr val="dk1"/>
              </a:solidFill>
              <a:latin typeface="Source Sans 3"/>
              <a:ea typeface="Source Sans 3"/>
              <a:cs typeface="Source Sans 3"/>
              <a:sym typeface="Source Sans 3"/>
            </a:endParaRPr>
          </a:p>
        </p:txBody>
      </p:sp>
      <p:sp>
        <p:nvSpPr>
          <p:cNvPr id="265" name="Google Shape;265;h6b3a70b61e5b931b_0_52"/>
          <p:cNvSpPr/>
          <p:nvPr/>
        </p:nvSpPr>
        <p:spPr>
          <a:xfrm>
            <a:off x="609600" y="5308600"/>
            <a:ext cx="10972800" cy="459600"/>
          </a:xfrm>
          <a:prstGeom prst="roundRect">
            <a:avLst>
              <a:gd fmla="val 19337" name="adj"/>
            </a:avLst>
          </a:prstGeom>
          <a:solidFill>
            <a:srgbClr val="1F3B2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h6b3a70b61e5b931b_0_52"/>
          <p:cNvSpPr/>
          <p:nvPr/>
        </p:nvSpPr>
        <p:spPr>
          <a:xfrm>
            <a:off x="787400" y="5308600"/>
            <a:ext cx="830100" cy="4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2B544"/>
              </a:buClr>
              <a:buSzPts val="1300"/>
              <a:buFont typeface="Source Sans 3"/>
              <a:buNone/>
            </a:pPr>
            <a:r>
              <a:rPr b="1" i="0" lang="en-US" sz="1300" u="none" cap="none" strike="noStrike">
                <a:solidFill>
                  <a:srgbClr val="F2B544"/>
                </a:solidFill>
                <a:latin typeface="Source Sans 3"/>
                <a:ea typeface="Source Sans 3"/>
                <a:cs typeface="Source Sans 3"/>
                <a:sym typeface="Source Sans 3"/>
              </a:rPr>
              <a:t>So what?</a:t>
            </a:r>
            <a:endParaRPr b="0" i="0" sz="1300" u="none" cap="none" strike="noStrike">
              <a:solidFill>
                <a:schemeClr val="dk1"/>
              </a:solidFill>
              <a:latin typeface="Source Sans 3"/>
              <a:ea typeface="Source Sans 3"/>
              <a:cs typeface="Source Sans 3"/>
              <a:sym typeface="Source Sans 3"/>
            </a:endParaRPr>
          </a:p>
        </p:txBody>
      </p:sp>
      <p:sp>
        <p:nvSpPr>
          <p:cNvPr id="267" name="Google Shape;267;h6b3a70b61e5b931b_0_52"/>
          <p:cNvSpPr/>
          <p:nvPr/>
        </p:nvSpPr>
        <p:spPr>
          <a:xfrm>
            <a:off x="1689100" y="5308600"/>
            <a:ext cx="9715500" cy="45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300"/>
              <a:buFont typeface="Source Sans 3"/>
              <a:buNone/>
            </a:pPr>
            <a:r>
              <a:rPr b="0" i="0" lang="en-US" sz="1300" u="none" cap="none" strike="noStrike">
                <a:solidFill>
                  <a:srgbClr val="F7F2E8"/>
                </a:solidFill>
                <a:latin typeface="Source Sans 3"/>
                <a:ea typeface="Source Sans 3"/>
                <a:cs typeface="Source Sans 3"/>
                <a:sym typeface="Source Sans 3"/>
              </a:rPr>
              <a:t>In rural areas, a grocery twice as far away means a shelf 76% farther; in cities there is no link. This holds in 10 of 10 tests.</a:t>
            </a:r>
            <a:endParaRPr b="0" i="0" sz="1300" u="none" cap="none" strike="noStrike">
              <a:solidFill>
                <a:schemeClr val="dk1"/>
              </a:solidFill>
              <a:latin typeface="Source Sans 3"/>
              <a:ea typeface="Source Sans 3"/>
              <a:cs typeface="Source Sans 3"/>
              <a:sym typeface="Source Sans 3"/>
            </a:endParaRPr>
          </a:p>
        </p:txBody>
      </p:sp>
      <p:sp>
        <p:nvSpPr>
          <p:cNvPr id="268" name="Google Shape;268;h6b3a70b61e5b931b_0_52"/>
          <p:cNvSpPr/>
          <p:nvPr/>
        </p:nvSpPr>
        <p:spPr>
          <a:xfrm>
            <a:off x="0" y="6803136"/>
            <a:ext cx="12192000" cy="54900"/>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9" name="Google Shape;269;h6b3a70b61e5b931b_0_52"/>
          <p:cNvSpPr/>
          <p:nvPr/>
        </p:nvSpPr>
        <p:spPr>
          <a:xfrm>
            <a:off x="0" y="6803136"/>
            <a:ext cx="9753600" cy="54900"/>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h6b3a70b61e5b931b_0_52"/>
          <p:cNvSpPr/>
          <p:nvPr/>
        </p:nvSpPr>
        <p:spPr>
          <a:xfrm>
            <a:off x="3653202" y="2123644"/>
            <a:ext cx="1371600" cy="613500"/>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h6b3a70b61e5b931b_0_52"/>
          <p:cNvSpPr txBox="1"/>
          <p:nvPr/>
        </p:nvSpPr>
        <p:spPr>
          <a:xfrm>
            <a:off x="4640471" y="3065252"/>
            <a:ext cx="1263000" cy="7275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100" u="none" cap="none" strike="noStrike">
                <a:solidFill>
                  <a:srgbClr val="1F3B2D"/>
                </a:solidFill>
                <a:latin typeface="Source Sans 3"/>
                <a:ea typeface="Source Sans 3"/>
                <a:cs typeface="Source Sans 3"/>
                <a:sym typeface="Source Sans 3"/>
              </a:rPr>
              <a:t>Rural gaps</a:t>
            </a:r>
            <a:endParaRPr/>
          </a:p>
          <a:p>
            <a:pPr indent="0" lvl="0" marL="0" marR="0" rtl="0" algn="l">
              <a:lnSpc>
                <a:spcPct val="100000"/>
              </a:lnSpc>
              <a:spcBef>
                <a:spcPts val="0"/>
              </a:spcBef>
              <a:spcAft>
                <a:spcPts val="0"/>
              </a:spcAft>
              <a:buNone/>
            </a:pPr>
            <a:r>
              <a:rPr b="1" i="0" lang="en-US" sz="1100" u="none" cap="none" strike="noStrike">
                <a:solidFill>
                  <a:srgbClr val="1F3B2D"/>
                </a:solidFill>
                <a:latin typeface="Source Sans 3"/>
                <a:ea typeface="Source Sans 3"/>
                <a:cs typeface="Source Sans 3"/>
                <a:sym typeface="Source Sans 3"/>
              </a:rPr>
              <a:t>(hatched) sit</a:t>
            </a:r>
            <a:endParaRPr/>
          </a:p>
          <a:p>
            <a:pPr indent="0" lvl="0" marL="0" marR="0" rtl="0" algn="l">
              <a:lnSpc>
                <a:spcPct val="100000"/>
              </a:lnSpc>
              <a:spcBef>
                <a:spcPts val="0"/>
              </a:spcBef>
              <a:spcAft>
                <a:spcPts val="0"/>
              </a:spcAft>
              <a:buNone/>
            </a:pPr>
            <a:r>
              <a:rPr b="1" i="0" lang="en-US" sz="1100" u="none" cap="none" strike="noStrike">
                <a:solidFill>
                  <a:srgbClr val="1F3B2D"/>
                </a:solidFill>
                <a:latin typeface="Source Sans 3"/>
                <a:ea typeface="Source Sans 3"/>
                <a:cs typeface="Source Sans 3"/>
                <a:sym typeface="Source Sans 3"/>
              </a:rPr>
              <a:t>12.6 miles from</a:t>
            </a:r>
            <a:endParaRPr/>
          </a:p>
          <a:p>
            <a:pPr indent="0" lvl="0" marL="0" marR="0" rtl="0" algn="l">
              <a:lnSpc>
                <a:spcPct val="100000"/>
              </a:lnSpc>
              <a:spcBef>
                <a:spcPts val="0"/>
              </a:spcBef>
              <a:spcAft>
                <a:spcPts val="0"/>
              </a:spcAft>
              <a:buNone/>
            </a:pPr>
            <a:r>
              <a:rPr b="1" i="0" lang="en-US" sz="1100" u="none" cap="none" strike="noStrike">
                <a:solidFill>
                  <a:srgbClr val="1F3B2D"/>
                </a:solidFill>
                <a:latin typeface="Source Sans 3"/>
                <a:ea typeface="Source Sans 3"/>
                <a:cs typeface="Source Sans 3"/>
                <a:sym typeface="Source Sans 3"/>
              </a:rPr>
              <a:t>a shelf.</a:t>
            </a:r>
            <a:endParaRPr/>
          </a:p>
        </p:txBody>
      </p:sp>
      <p:cxnSp>
        <p:nvCxnSpPr>
          <p:cNvPr id="272" name="Google Shape;272;h6b3a70b61e5b931b_0_52"/>
          <p:cNvCxnSpPr/>
          <p:nvPr/>
        </p:nvCxnSpPr>
        <p:spPr>
          <a:xfrm rot="10800000">
            <a:off x="4651252" y="2678000"/>
            <a:ext cx="213000" cy="369600"/>
          </a:xfrm>
          <a:prstGeom prst="straightConnector1">
            <a:avLst/>
          </a:prstGeom>
          <a:noFill/>
          <a:ln cap="flat" cmpd="sng" w="25400">
            <a:solidFill>
              <a:srgbClr val="1F3B2D"/>
            </a:solidFill>
            <a:prstDash val="solid"/>
            <a:round/>
            <a:headEnd len="sm" w="sm" type="none"/>
            <a:tailEnd len="med" w="med" type="triangle"/>
          </a:ln>
        </p:spPr>
      </p:cxnSp>
      <p:sp>
        <p:nvSpPr>
          <p:cNvPr id="273" name="Google Shape;273;h6b3a70b61e5b931b_0_52"/>
          <p:cNvSpPr/>
          <p:nvPr/>
        </p:nvSpPr>
        <p:spPr>
          <a:xfrm>
            <a:off x="3318704" y="3728945"/>
            <a:ext cx="614400" cy="568500"/>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h6b3a70b61e5b931b_0_52"/>
          <p:cNvSpPr txBox="1"/>
          <p:nvPr/>
        </p:nvSpPr>
        <p:spPr>
          <a:xfrm>
            <a:off x="733667" y="3630375"/>
            <a:ext cx="1497900" cy="4596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89 urban gaps are</a:t>
            </a:r>
            <a:endParaRPr/>
          </a:p>
          <a:p>
            <a:pPr indent="0" lvl="0" marL="0" marR="0" rtl="0" algn="l">
              <a:lnSpc>
                <a:spcPct val="100000"/>
              </a:lnSpc>
              <a:spcBef>
                <a:spcPts val="0"/>
              </a:spcBef>
              <a:spcAft>
                <a:spcPts val="0"/>
              </a:spcAft>
              <a:buNone/>
            </a:pPr>
            <a:r>
              <a:rPr b="1" i="0" lang="en-US" sz="1200" u="none" cap="none" strike="noStrike">
                <a:solidFill>
                  <a:srgbClr val="1F3B2D"/>
                </a:solidFill>
                <a:latin typeface="Source Sans 3"/>
                <a:ea typeface="Source Sans 3"/>
                <a:cs typeface="Source Sans 3"/>
                <a:sym typeface="Source Sans 3"/>
              </a:rPr>
              <a:t>small metro tracts.</a:t>
            </a:r>
            <a:endParaRPr/>
          </a:p>
        </p:txBody>
      </p:sp>
      <p:cxnSp>
        <p:nvCxnSpPr>
          <p:cNvPr id="275" name="Google Shape;275;h6b3a70b61e5b931b_0_52"/>
          <p:cNvCxnSpPr>
            <a:stCxn id="274" idx="3"/>
          </p:cNvCxnSpPr>
          <p:nvPr/>
        </p:nvCxnSpPr>
        <p:spPr>
          <a:xfrm>
            <a:off x="2231567" y="3860175"/>
            <a:ext cx="1087200" cy="187800"/>
          </a:xfrm>
          <a:prstGeom prst="straightConnector1">
            <a:avLst/>
          </a:prstGeom>
          <a:noFill/>
          <a:ln cap="flat" cmpd="sng" w="25400">
            <a:solidFill>
              <a:srgbClr val="1F3B2D"/>
            </a:solidFill>
            <a:prstDash val="solid"/>
            <a:round/>
            <a:headEnd len="sm" w="sm" type="none"/>
            <a:tailEnd len="med" w="med" type="triangle"/>
          </a:ln>
        </p:spPr>
      </p:cxnSp>
      <p:sp>
        <p:nvSpPr>
          <p:cNvPr id="276" name="Google Shape;276;h6b3a70b61e5b931b_0_52"/>
          <p:cNvSpPr/>
          <p:nvPr/>
        </p:nvSpPr>
        <p:spPr>
          <a:xfrm>
            <a:off x="6273025" y="1555750"/>
            <a:ext cx="5298900" cy="1730700"/>
          </a:xfrm>
          <a:prstGeom prst="roundRect">
            <a:avLst>
              <a:gd fmla="val 862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h6b3a70b61e5b931b_0_52"/>
          <p:cNvSpPr/>
          <p:nvPr/>
        </p:nvSpPr>
        <p:spPr>
          <a:xfrm>
            <a:off x="6483735" y="1966473"/>
            <a:ext cx="5188800" cy="3453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400"/>
              <a:buFont typeface="Source Serif 4"/>
              <a:buNone/>
            </a:pPr>
            <a:r>
              <a:rPr b="1" lang="en-US" sz="2400">
                <a:solidFill>
                  <a:srgbClr val="1F3B2D"/>
                </a:solidFill>
                <a:latin typeface="Source Serif 4"/>
                <a:ea typeface="Source Serif 4"/>
                <a:cs typeface="Source Serif 4"/>
                <a:sym typeface="Source Serif 4"/>
              </a:rPr>
              <a:t>94 pounds</a:t>
            </a:r>
            <a:endParaRPr b="1" sz="2400">
              <a:solidFill>
                <a:srgbClr val="1F3B2D"/>
              </a:solidFill>
              <a:latin typeface="Source Serif 4"/>
              <a:ea typeface="Source Serif 4"/>
              <a:cs typeface="Source Serif 4"/>
              <a:sym typeface="Source Serif 4"/>
            </a:endParaRPr>
          </a:p>
          <a:p>
            <a:pPr indent="0" lvl="0" marL="0" marR="0" rtl="0" algn="l">
              <a:lnSpc>
                <a:spcPct val="104999"/>
              </a:lnSpc>
              <a:spcBef>
                <a:spcPts val="0"/>
              </a:spcBef>
              <a:spcAft>
                <a:spcPts val="0"/>
              </a:spcAft>
              <a:buClr>
                <a:srgbClr val="1F3B2D"/>
              </a:buClr>
              <a:buSzPts val="2400"/>
              <a:buFont typeface="Source Serif 4"/>
              <a:buNone/>
            </a:pPr>
            <a:r>
              <a:t/>
            </a:r>
            <a:endParaRPr b="1" sz="2400">
              <a:solidFill>
                <a:srgbClr val="1F3B2D"/>
              </a:solidFill>
              <a:latin typeface="Source Serif 4"/>
              <a:ea typeface="Source Serif 4"/>
              <a:cs typeface="Source Serif 4"/>
              <a:sym typeface="Source Serif 4"/>
            </a:endParaRPr>
          </a:p>
        </p:txBody>
      </p:sp>
      <p:sp>
        <p:nvSpPr>
          <p:cNvPr id="278" name="Google Shape;278;h6b3a70b61e5b931b_0_52"/>
          <p:cNvSpPr/>
          <p:nvPr/>
        </p:nvSpPr>
        <p:spPr>
          <a:xfrm>
            <a:off x="6483735" y="2378511"/>
            <a:ext cx="51888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F3B2D"/>
              </a:buClr>
              <a:buSzPts val="1300"/>
              <a:buFont typeface="Source Sans 3"/>
              <a:buNone/>
            </a:pPr>
            <a:r>
              <a:rPr lang="en-US" sz="1300">
                <a:solidFill>
                  <a:srgbClr val="1F3B2D"/>
                </a:solidFill>
                <a:latin typeface="Source Sans 3"/>
                <a:ea typeface="Source Sans 3"/>
                <a:cs typeface="Source Sans 3"/>
                <a:sym typeface="Source Sans 3"/>
              </a:rPr>
              <a:t>Per person a year in rural food deserts</a:t>
            </a:r>
            <a:endParaRPr sz="1300">
              <a:solidFill>
                <a:srgbClr val="1F3B2D"/>
              </a:solidFill>
              <a:latin typeface="Source Sans 3"/>
              <a:ea typeface="Source Sans 3"/>
              <a:cs typeface="Source Sans 3"/>
              <a:sym typeface="Source Sans 3"/>
            </a:endParaRPr>
          </a:p>
          <a:p>
            <a:pPr indent="0" lvl="0" marL="0" marR="0" rtl="0" algn="l">
              <a:lnSpc>
                <a:spcPct val="125000"/>
              </a:lnSpc>
              <a:spcBef>
                <a:spcPts val="0"/>
              </a:spcBef>
              <a:spcAft>
                <a:spcPts val="0"/>
              </a:spcAft>
              <a:buClr>
                <a:srgbClr val="1F3B2D"/>
              </a:buClr>
              <a:buSzPts val="1300"/>
              <a:buFont typeface="Source Sans 3"/>
              <a:buNone/>
            </a:pPr>
            <a:r>
              <a:t/>
            </a:r>
            <a:endParaRPr sz="1300">
              <a:solidFill>
                <a:srgbClr val="1F3B2D"/>
              </a:solidFill>
              <a:latin typeface="Source Sans 3"/>
              <a:ea typeface="Source Sans 3"/>
              <a:cs typeface="Source Sans 3"/>
              <a:sym typeface="Source Sans 3"/>
            </a:endParaRPr>
          </a:p>
        </p:txBody>
      </p:sp>
      <p:sp>
        <p:nvSpPr>
          <p:cNvPr id="279" name="Google Shape;279;h6b3a70b61e5b931b_0_52"/>
          <p:cNvSpPr/>
          <p:nvPr/>
        </p:nvSpPr>
        <p:spPr>
          <a:xfrm>
            <a:off x="6483735" y="2643591"/>
            <a:ext cx="51888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D9622B"/>
              </a:buClr>
              <a:buSzPts val="1200"/>
              <a:buFont typeface="Source Sans 3"/>
              <a:buNone/>
            </a:pPr>
            <a:r>
              <a:rPr b="1" lang="en-US" sz="1200">
                <a:solidFill>
                  <a:srgbClr val="D9622B"/>
                </a:solidFill>
                <a:latin typeface="Source Sans 3"/>
                <a:ea typeface="Source Sans 3"/>
                <a:cs typeface="Source Sans 3"/>
                <a:sym typeface="Source Sans 3"/>
              </a:rPr>
              <a:t>Nearby areas get 172; tribal areas get 118, versus 280.</a:t>
            </a:r>
            <a:endParaRPr b="1" sz="1200">
              <a:solidFill>
                <a:srgbClr val="D9622B"/>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D9622B"/>
              </a:buClr>
              <a:buSzPts val="1200"/>
              <a:buFont typeface="Source Sans 3"/>
              <a:buNone/>
            </a:pPr>
            <a:r>
              <a:t/>
            </a:r>
            <a:endParaRPr b="1" sz="1200">
              <a:solidFill>
                <a:srgbClr val="D9622B"/>
              </a:solidFill>
              <a:latin typeface="Source Sans 3"/>
              <a:ea typeface="Source Sans 3"/>
              <a:cs typeface="Source Sans 3"/>
              <a:sym typeface="Source Sans 3"/>
            </a:endParaRPr>
          </a:p>
        </p:txBody>
      </p:sp>
      <p:sp>
        <p:nvSpPr>
          <p:cNvPr id="280" name="Google Shape;280;h6b3a70b61e5b931b_0_5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285" name="Shape 285"/>
        <p:cNvGrpSpPr/>
        <p:nvPr/>
      </p:nvGrpSpPr>
      <p:grpSpPr>
        <a:xfrm>
          <a:off x="0" y="0"/>
          <a:ext cx="0" cy="0"/>
          <a:chOff x="0" y="0"/>
          <a:chExt cx="0" cy="0"/>
        </a:xfrm>
      </p:grpSpPr>
      <p:sp>
        <p:nvSpPr>
          <p:cNvPr id="286" name="Google Shape;286;p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8"/>
          <p:cNvSpPr/>
          <p:nvPr/>
        </p:nvSpPr>
        <p:spPr>
          <a:xfrm>
            <a:off x="812800" y="237756"/>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Recommendations, Revisited</a:t>
            </a:r>
            <a:endParaRPr b="0" i="0" sz="1300" u="none" cap="none" strike="noStrike">
              <a:solidFill>
                <a:schemeClr val="dk1"/>
              </a:solidFill>
              <a:latin typeface="Source Sans 3"/>
              <a:ea typeface="Source Sans 3"/>
              <a:cs typeface="Source Sans 3"/>
              <a:sym typeface="Source Sans 3"/>
            </a:endParaRPr>
          </a:p>
        </p:txBody>
      </p:sp>
      <p:sp>
        <p:nvSpPr>
          <p:cNvPr id="288" name="Google Shape;288;p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289" name="Google Shape;289;p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290" name="Google Shape;290;p8"/>
          <p:cNvSpPr txBox="1"/>
          <p:nvPr>
            <p:ph type="title"/>
          </p:nvPr>
        </p:nvSpPr>
        <p:spPr>
          <a:xfrm>
            <a:off x="942150" y="1026050"/>
            <a:ext cx="10307700" cy="1034100"/>
          </a:xfrm>
          <a:prstGeom prst="rect">
            <a:avLst/>
          </a:prstGeom>
          <a:noFill/>
          <a:ln>
            <a:noFill/>
          </a:ln>
        </p:spPr>
        <p:txBody>
          <a:bodyPr anchorCtr="0" anchor="t" bIns="0" lIns="0" spcFirstLastPara="1" rIns="0" wrap="square" tIns="0">
            <a:noAutofit/>
          </a:bodyPr>
          <a:lstStyle/>
          <a:p>
            <a:pPr indent="0" lvl="0" marL="0" rtl="0" algn="ctr">
              <a:lnSpc>
                <a:spcPct val="110000"/>
              </a:lnSpc>
              <a:spcBef>
                <a:spcPts val="0"/>
              </a:spcBef>
              <a:spcAft>
                <a:spcPts val="0"/>
              </a:spcAft>
              <a:buClr>
                <a:srgbClr val="1F3B2D"/>
              </a:buClr>
              <a:buSzPts val="2070"/>
              <a:buFont typeface="Source Serif 4"/>
              <a:buNone/>
            </a:pPr>
            <a:r>
              <a:rPr b="1" lang="en-US" sz="3170"/>
              <a:t>You don’t need to invest more!</a:t>
            </a:r>
            <a:endParaRPr b="1" sz="3170"/>
          </a:p>
          <a:p>
            <a:pPr indent="0" lvl="0" marL="0" rtl="0" algn="ctr">
              <a:lnSpc>
                <a:spcPct val="110000"/>
              </a:lnSpc>
              <a:spcBef>
                <a:spcPts val="0"/>
              </a:spcBef>
              <a:spcAft>
                <a:spcPts val="0"/>
              </a:spcAft>
              <a:buNone/>
            </a:pPr>
            <a:r>
              <a:rPr b="1" lang="en-US" sz="3150">
                <a:solidFill>
                  <a:schemeClr val="accent3"/>
                </a:solidFill>
              </a:rPr>
              <a:t>You need Strategy, Execution and Monitoring.</a:t>
            </a:r>
            <a:endParaRPr sz="3150">
              <a:solidFill>
                <a:srgbClr val="000000"/>
              </a:solidFill>
              <a:latin typeface="Arial"/>
              <a:ea typeface="Arial"/>
              <a:cs typeface="Arial"/>
              <a:sym typeface="Arial"/>
            </a:endParaRPr>
          </a:p>
          <a:p>
            <a:pPr indent="0" lvl="0" marL="0" rtl="0" algn="ctr">
              <a:lnSpc>
                <a:spcPct val="110000"/>
              </a:lnSpc>
              <a:spcBef>
                <a:spcPts val="0"/>
              </a:spcBef>
              <a:spcAft>
                <a:spcPts val="0"/>
              </a:spcAft>
              <a:buClr>
                <a:srgbClr val="1F3B2D"/>
              </a:buClr>
              <a:buSzPts val="2070"/>
              <a:buFont typeface="Source Serif 4"/>
              <a:buNone/>
            </a:pPr>
            <a:r>
              <a:t/>
            </a:r>
            <a:endParaRPr b="1" sz="3170"/>
          </a:p>
        </p:txBody>
      </p:sp>
      <p:sp>
        <p:nvSpPr>
          <p:cNvPr id="291" name="Google Shape;291;p8"/>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2" name="Google Shape;292;p8"/>
          <p:cNvSpPr/>
          <p:nvPr/>
        </p:nvSpPr>
        <p:spPr>
          <a:xfrm>
            <a:off x="0" y="6803136"/>
            <a:ext cx="109728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93" name="Google Shape;293;p8"/>
          <p:cNvGrpSpPr/>
          <p:nvPr/>
        </p:nvGrpSpPr>
        <p:grpSpPr>
          <a:xfrm>
            <a:off x="3390900" y="2385979"/>
            <a:ext cx="2628900" cy="3581400"/>
            <a:chOff x="3390900" y="1549400"/>
            <a:chExt cx="2628900" cy="3581400"/>
          </a:xfrm>
        </p:grpSpPr>
        <p:sp>
          <p:nvSpPr>
            <p:cNvPr id="294" name="Google Shape;294;p8"/>
            <p:cNvSpPr/>
            <p:nvPr/>
          </p:nvSpPr>
          <p:spPr>
            <a:xfrm>
              <a:off x="33909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5" name="Google Shape;295;p8"/>
            <p:cNvGrpSpPr/>
            <p:nvPr/>
          </p:nvGrpSpPr>
          <p:grpSpPr>
            <a:xfrm>
              <a:off x="3521550" y="1714500"/>
              <a:ext cx="2367600" cy="3276610"/>
              <a:chOff x="3539599" y="1714500"/>
              <a:chExt cx="2367600" cy="3276610"/>
            </a:xfrm>
          </p:grpSpPr>
          <p:grpSp>
            <p:nvGrpSpPr>
              <p:cNvPr id="296" name="Google Shape;296;p8"/>
              <p:cNvGrpSpPr/>
              <p:nvPr/>
            </p:nvGrpSpPr>
            <p:grpSpPr>
              <a:xfrm>
                <a:off x="3539599" y="1714500"/>
                <a:ext cx="1268600" cy="381000"/>
                <a:chOff x="3556000" y="1714500"/>
                <a:chExt cx="1268600" cy="381000"/>
              </a:xfrm>
            </p:grpSpPr>
            <p:sp>
              <p:nvSpPr>
                <p:cNvPr id="297" name="Google Shape;297;p8"/>
                <p:cNvSpPr/>
                <p:nvPr/>
              </p:nvSpPr>
              <p:spPr>
                <a:xfrm>
                  <a:off x="35560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2</a:t>
                  </a:r>
                  <a:endParaRPr b="0" i="0" sz="1500" u="none" cap="none" strike="noStrike">
                    <a:solidFill>
                      <a:schemeClr val="dk1"/>
                    </a:solidFill>
                    <a:latin typeface="Source Sans 3"/>
                    <a:ea typeface="Source Sans 3"/>
                    <a:cs typeface="Source Sans 3"/>
                    <a:sym typeface="Source Sans 3"/>
                  </a:endParaRPr>
                </a:p>
              </p:txBody>
            </p:sp>
            <p:sp>
              <p:nvSpPr>
                <p:cNvPr id="298" name="Google Shape;298;p8"/>
                <p:cNvSpPr/>
                <p:nvPr/>
              </p:nvSpPr>
              <p:spPr>
                <a:xfrm>
                  <a:off x="4038600" y="1714500"/>
                  <a:ext cx="786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Reach</a:t>
                  </a:r>
                  <a:endParaRPr b="0" i="0" sz="1900" u="none" cap="none" strike="noStrike">
                    <a:solidFill>
                      <a:schemeClr val="dk1"/>
                    </a:solidFill>
                    <a:latin typeface="Source Sans 3"/>
                    <a:ea typeface="Source Sans 3"/>
                    <a:cs typeface="Source Sans 3"/>
                    <a:sym typeface="Source Sans 3"/>
                  </a:endParaRPr>
                </a:p>
              </p:txBody>
            </p:sp>
          </p:grpSp>
          <p:grpSp>
            <p:nvGrpSpPr>
              <p:cNvPr id="299" name="Google Shape;299;p8"/>
              <p:cNvGrpSpPr/>
              <p:nvPr/>
            </p:nvGrpSpPr>
            <p:grpSpPr>
              <a:xfrm>
                <a:off x="3539599" y="2508072"/>
                <a:ext cx="2367600" cy="2483038"/>
                <a:chOff x="3539599" y="2508072"/>
                <a:chExt cx="2367600" cy="2483038"/>
              </a:xfrm>
            </p:grpSpPr>
            <p:cxnSp>
              <p:nvCxnSpPr>
                <p:cNvPr id="300" name="Google Shape;300;p8"/>
                <p:cNvCxnSpPr/>
                <p:nvPr/>
              </p:nvCxnSpPr>
              <p:spPr>
                <a:xfrm>
                  <a:off x="3539599" y="4685060"/>
                  <a:ext cx="22986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01" name="Google Shape;301;p8"/>
                <p:cNvSpPr/>
                <p:nvPr/>
              </p:nvSpPr>
              <p:spPr>
                <a:xfrm>
                  <a:off x="3539599" y="4767610"/>
                  <a:ext cx="23676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Uses existing routes and the gap list.</a:t>
                  </a:r>
                  <a:endParaRPr b="0" i="0" sz="1200" u="none" cap="none" strike="noStrike">
                    <a:solidFill>
                      <a:schemeClr val="dk1"/>
                    </a:solidFill>
                    <a:latin typeface="Source Sans 3"/>
                    <a:ea typeface="Source Sans 3"/>
                    <a:cs typeface="Source Sans 3"/>
                    <a:sym typeface="Source Sans 3"/>
                  </a:endParaRPr>
                </a:p>
              </p:txBody>
            </p:sp>
            <p:sp>
              <p:nvSpPr>
                <p:cNvPr id="302" name="Google Shape;302;p8"/>
                <p:cNvSpPr/>
                <p:nvPr/>
              </p:nvSpPr>
              <p:spPr>
                <a:xfrm>
                  <a:off x="3539599" y="2508072"/>
                  <a:ext cx="2341500" cy="63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chemeClr val="accent2"/>
                      </a:solidFill>
                      <a:latin typeface="Source Serif 4"/>
                      <a:ea typeface="Source Serif 4"/>
                      <a:cs typeface="Source Serif 4"/>
                      <a:sym typeface="Source Serif 4"/>
                    </a:rPr>
                    <a:t>117</a:t>
                  </a:r>
                  <a:endParaRPr b="0" i="0" sz="4800" u="none" cap="none" strike="noStrike">
                    <a:solidFill>
                      <a:schemeClr val="accent2"/>
                    </a:solidFill>
                    <a:latin typeface="Source Sans 3"/>
                    <a:ea typeface="Source Sans 3"/>
                    <a:cs typeface="Source Sans 3"/>
                    <a:sym typeface="Source Sans 3"/>
                  </a:endParaRPr>
                </a:p>
              </p:txBody>
            </p:sp>
            <p:sp>
              <p:nvSpPr>
                <p:cNvPr id="303" name="Google Shape;303;p8"/>
                <p:cNvSpPr/>
                <p:nvPr/>
              </p:nvSpPr>
              <p:spPr>
                <a:xfrm>
                  <a:off x="3539599" y="4019706"/>
                  <a:ext cx="2341500" cy="533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1" lang="en-US" sz="1300">
                      <a:solidFill>
                        <a:srgbClr val="EFE6D4"/>
                      </a:solidFill>
                      <a:latin typeface="Source Sans 3"/>
                      <a:ea typeface="Source Sans 3"/>
                      <a:cs typeface="Source Sans 3"/>
                      <a:sym typeface="Source Sans 3"/>
                    </a:rPr>
                    <a:t>Rural mobile stops; urban hours or delivery</a:t>
                  </a:r>
                  <a:endParaRPr b="0" i="0" sz="1600" u="none" cap="none" strike="noStrike">
                    <a:solidFill>
                      <a:srgbClr val="EFE6D4"/>
                    </a:solidFill>
                    <a:latin typeface="Source Sans 3"/>
                    <a:ea typeface="Source Sans 3"/>
                    <a:cs typeface="Source Sans 3"/>
                    <a:sym typeface="Source Sans 3"/>
                  </a:endParaRPr>
                </a:p>
              </p:txBody>
            </p:sp>
            <p:sp>
              <p:nvSpPr>
                <p:cNvPr id="304" name="Google Shape;304;p8"/>
                <p:cNvSpPr/>
                <p:nvPr/>
              </p:nvSpPr>
              <p:spPr>
                <a:xfrm>
                  <a:off x="3539599" y="3263457"/>
                  <a:ext cx="2341500" cy="578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lang="en-US" sz="1600">
                      <a:solidFill>
                        <a:srgbClr val="F7F2E8"/>
                      </a:solidFill>
                      <a:latin typeface="Source Sans 3"/>
                      <a:ea typeface="Source Sans 3"/>
                      <a:cs typeface="Source Sans 3"/>
                      <a:sym typeface="Source Sans 3"/>
                    </a:rPr>
                    <a:t>Tracts with no food shelf within USDA distance.</a:t>
                  </a:r>
                  <a:endParaRPr b="0" i="0" sz="1200" u="none" cap="none" strike="noStrike">
                    <a:solidFill>
                      <a:srgbClr val="F7F2E8"/>
                    </a:solidFill>
                    <a:latin typeface="Source Sans 3"/>
                    <a:ea typeface="Source Sans 3"/>
                    <a:cs typeface="Source Sans 3"/>
                    <a:sym typeface="Source Sans 3"/>
                  </a:endParaRPr>
                </a:p>
              </p:txBody>
            </p:sp>
          </p:grpSp>
        </p:grpSp>
      </p:grpSp>
      <p:grpSp>
        <p:nvGrpSpPr>
          <p:cNvPr id="305" name="Google Shape;305;p8"/>
          <p:cNvGrpSpPr/>
          <p:nvPr/>
        </p:nvGrpSpPr>
        <p:grpSpPr>
          <a:xfrm>
            <a:off x="6172200" y="2385979"/>
            <a:ext cx="2628900" cy="3581400"/>
            <a:chOff x="6172200" y="1549400"/>
            <a:chExt cx="2628900" cy="3581400"/>
          </a:xfrm>
        </p:grpSpPr>
        <p:sp>
          <p:nvSpPr>
            <p:cNvPr id="306" name="Google Shape;306;p8"/>
            <p:cNvSpPr/>
            <p:nvPr/>
          </p:nvSpPr>
          <p:spPr>
            <a:xfrm>
              <a:off x="61722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7" name="Google Shape;307;p8"/>
            <p:cNvGrpSpPr/>
            <p:nvPr/>
          </p:nvGrpSpPr>
          <p:grpSpPr>
            <a:xfrm>
              <a:off x="6302850" y="1714500"/>
              <a:ext cx="2367600" cy="3276610"/>
              <a:chOff x="6337300" y="1714500"/>
              <a:chExt cx="2367600" cy="3276610"/>
            </a:xfrm>
          </p:grpSpPr>
          <p:grpSp>
            <p:nvGrpSpPr>
              <p:cNvPr id="308" name="Google Shape;308;p8"/>
              <p:cNvGrpSpPr/>
              <p:nvPr/>
            </p:nvGrpSpPr>
            <p:grpSpPr>
              <a:xfrm>
                <a:off x="6337300" y="1714500"/>
                <a:ext cx="1658000" cy="381000"/>
                <a:chOff x="6337300" y="1714500"/>
                <a:chExt cx="1658000" cy="381000"/>
              </a:xfrm>
            </p:grpSpPr>
            <p:sp>
              <p:nvSpPr>
                <p:cNvPr id="309" name="Google Shape;309;p8"/>
                <p:cNvSpPr/>
                <p:nvPr/>
              </p:nvSpPr>
              <p:spPr>
                <a:xfrm>
                  <a:off x="63373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3</a:t>
                  </a:r>
                  <a:endParaRPr b="0" i="0" sz="1500" u="none" cap="none" strike="noStrike">
                    <a:solidFill>
                      <a:schemeClr val="dk1"/>
                    </a:solidFill>
                    <a:latin typeface="Source Sans 3"/>
                    <a:ea typeface="Source Sans 3"/>
                    <a:cs typeface="Source Sans 3"/>
                    <a:sym typeface="Source Sans 3"/>
                  </a:endParaRPr>
                </a:p>
              </p:txBody>
            </p:sp>
            <p:sp>
              <p:nvSpPr>
                <p:cNvPr id="310" name="Google Shape;310;p8"/>
                <p:cNvSpPr/>
                <p:nvPr/>
              </p:nvSpPr>
              <p:spPr>
                <a:xfrm>
                  <a:off x="6819900" y="1714500"/>
                  <a:ext cx="11754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Advocate</a:t>
                  </a:r>
                  <a:endParaRPr b="0" i="0" sz="1900" u="none" cap="none" strike="noStrike">
                    <a:solidFill>
                      <a:schemeClr val="dk1"/>
                    </a:solidFill>
                    <a:latin typeface="Source Sans 3"/>
                    <a:ea typeface="Source Sans 3"/>
                    <a:cs typeface="Source Sans 3"/>
                    <a:sym typeface="Source Sans 3"/>
                  </a:endParaRPr>
                </a:p>
              </p:txBody>
            </p:sp>
          </p:grpSp>
          <p:grpSp>
            <p:nvGrpSpPr>
              <p:cNvPr id="311" name="Google Shape;311;p8"/>
              <p:cNvGrpSpPr/>
              <p:nvPr/>
            </p:nvGrpSpPr>
            <p:grpSpPr>
              <a:xfrm>
                <a:off x="6337300" y="2508072"/>
                <a:ext cx="2367600" cy="2483038"/>
                <a:chOff x="6337300" y="2508072"/>
                <a:chExt cx="2367600" cy="2483038"/>
              </a:xfrm>
            </p:grpSpPr>
            <p:cxnSp>
              <p:nvCxnSpPr>
                <p:cNvPr id="312" name="Google Shape;312;p8"/>
                <p:cNvCxnSpPr/>
                <p:nvPr/>
              </p:nvCxnSpPr>
              <p:spPr>
                <a:xfrm>
                  <a:off x="6337300" y="4685060"/>
                  <a:ext cx="22986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13" name="Google Shape;313;p8"/>
                <p:cNvSpPr/>
                <p:nvPr/>
              </p:nvSpPr>
              <p:spPr>
                <a:xfrm>
                  <a:off x="6337300" y="4767610"/>
                  <a:ext cx="23676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Needs staff time and free DCYF data.</a:t>
                  </a:r>
                  <a:endParaRPr b="0" i="0" sz="1200" u="none" cap="none" strike="noStrike">
                    <a:solidFill>
                      <a:schemeClr val="dk1"/>
                    </a:solidFill>
                    <a:latin typeface="Source Sans 3"/>
                    <a:ea typeface="Source Sans 3"/>
                    <a:cs typeface="Source Sans 3"/>
                    <a:sym typeface="Source Sans 3"/>
                  </a:endParaRPr>
                </a:p>
              </p:txBody>
            </p:sp>
            <p:sp>
              <p:nvSpPr>
                <p:cNvPr id="314" name="Google Shape;314;p8"/>
                <p:cNvSpPr/>
                <p:nvPr/>
              </p:nvSpPr>
              <p:spPr>
                <a:xfrm>
                  <a:off x="6337300" y="2508072"/>
                  <a:ext cx="2341500" cy="63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chemeClr val="accent2"/>
                      </a:solidFill>
                      <a:latin typeface="Source Serif 4"/>
                      <a:ea typeface="Source Serif 4"/>
                      <a:cs typeface="Source Serif 4"/>
                      <a:sym typeface="Source Serif 4"/>
                    </a:rPr>
                    <a:t>$49M</a:t>
                  </a:r>
                  <a:endParaRPr b="0" i="0" sz="4800" u="none" cap="none" strike="noStrike">
                    <a:solidFill>
                      <a:schemeClr val="accent2"/>
                    </a:solidFill>
                    <a:latin typeface="Source Sans 3"/>
                    <a:ea typeface="Source Sans 3"/>
                    <a:cs typeface="Source Sans 3"/>
                    <a:sym typeface="Source Sans 3"/>
                  </a:endParaRPr>
                </a:p>
              </p:txBody>
            </p:sp>
            <p:sp>
              <p:nvSpPr>
                <p:cNvPr id="315" name="Google Shape;315;p8"/>
                <p:cNvSpPr/>
                <p:nvPr/>
              </p:nvSpPr>
              <p:spPr>
                <a:xfrm>
                  <a:off x="6337300" y="3999772"/>
                  <a:ext cx="2341500" cy="3468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1" lang="en-US" sz="1300">
                      <a:solidFill>
                        <a:srgbClr val="EFE6D4"/>
                      </a:solidFill>
                      <a:latin typeface="Source Sans 3"/>
                      <a:ea typeface="Source Sans 3"/>
                      <a:cs typeface="Source Sans 3"/>
                      <a:sym typeface="Source Sans 3"/>
                    </a:rPr>
                    <a:t>Show what a SNAP cut does</a:t>
                  </a:r>
                  <a:endParaRPr b="0" i="0" sz="1600" u="none" cap="none" strike="noStrike">
                    <a:solidFill>
                      <a:srgbClr val="EFE6D4"/>
                    </a:solidFill>
                    <a:latin typeface="Source Sans 3"/>
                    <a:ea typeface="Source Sans 3"/>
                    <a:cs typeface="Source Sans 3"/>
                    <a:sym typeface="Source Sans 3"/>
                  </a:endParaRPr>
                </a:p>
              </p:txBody>
            </p:sp>
            <p:sp>
              <p:nvSpPr>
                <p:cNvPr id="316" name="Google Shape;316;p8"/>
                <p:cNvSpPr/>
                <p:nvPr/>
              </p:nvSpPr>
              <p:spPr>
                <a:xfrm>
                  <a:off x="6337300" y="3263457"/>
                  <a:ext cx="2341500" cy="578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lang="en-US" sz="1600">
                      <a:solidFill>
                        <a:srgbClr val="F7F2E8"/>
                      </a:solidFill>
                      <a:latin typeface="Source Sans 3"/>
                      <a:ea typeface="Source Sans 3"/>
                      <a:cs typeface="Source Sans 3"/>
                      <a:sym typeface="Source Sans 3"/>
                    </a:rPr>
                    <a:t>Lost each month in 2023; 18–26% increase in visits.</a:t>
                  </a:r>
                  <a:endParaRPr b="0" i="0" sz="1200" u="none" cap="none" strike="noStrike">
                    <a:solidFill>
                      <a:srgbClr val="F7F2E8"/>
                    </a:solidFill>
                    <a:latin typeface="Source Sans 3"/>
                    <a:ea typeface="Source Sans 3"/>
                    <a:cs typeface="Source Sans 3"/>
                    <a:sym typeface="Source Sans 3"/>
                  </a:endParaRPr>
                </a:p>
              </p:txBody>
            </p:sp>
          </p:grpSp>
        </p:grpSp>
      </p:grpSp>
      <p:grpSp>
        <p:nvGrpSpPr>
          <p:cNvPr id="317" name="Google Shape;317;p8"/>
          <p:cNvGrpSpPr/>
          <p:nvPr/>
        </p:nvGrpSpPr>
        <p:grpSpPr>
          <a:xfrm>
            <a:off x="8953500" y="2385979"/>
            <a:ext cx="2628900" cy="3581400"/>
            <a:chOff x="8953500" y="1549400"/>
            <a:chExt cx="2628900" cy="3581400"/>
          </a:xfrm>
        </p:grpSpPr>
        <p:sp>
          <p:nvSpPr>
            <p:cNvPr id="318" name="Google Shape;318;p8"/>
            <p:cNvSpPr/>
            <p:nvPr/>
          </p:nvSpPr>
          <p:spPr>
            <a:xfrm>
              <a:off x="89535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9" name="Google Shape;319;p8"/>
            <p:cNvGrpSpPr/>
            <p:nvPr/>
          </p:nvGrpSpPr>
          <p:grpSpPr>
            <a:xfrm>
              <a:off x="9084150" y="1714500"/>
              <a:ext cx="2367600" cy="3276610"/>
              <a:chOff x="9092200" y="1714500"/>
              <a:chExt cx="2367600" cy="3276610"/>
            </a:xfrm>
          </p:grpSpPr>
          <p:grpSp>
            <p:nvGrpSpPr>
              <p:cNvPr id="320" name="Google Shape;320;p8"/>
              <p:cNvGrpSpPr/>
              <p:nvPr/>
            </p:nvGrpSpPr>
            <p:grpSpPr>
              <a:xfrm>
                <a:off x="9092200" y="1714500"/>
                <a:ext cx="1502900" cy="381000"/>
                <a:chOff x="9118600" y="1714500"/>
                <a:chExt cx="1502900" cy="381000"/>
              </a:xfrm>
            </p:grpSpPr>
            <p:sp>
              <p:nvSpPr>
                <p:cNvPr id="321" name="Google Shape;321;p8"/>
                <p:cNvSpPr/>
                <p:nvPr/>
              </p:nvSpPr>
              <p:spPr>
                <a:xfrm>
                  <a:off x="91186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4</a:t>
                  </a:r>
                  <a:endParaRPr b="0" i="0" sz="1500" u="none" cap="none" strike="noStrike">
                    <a:solidFill>
                      <a:schemeClr val="dk1"/>
                    </a:solidFill>
                    <a:latin typeface="Source Sans 3"/>
                    <a:ea typeface="Source Sans 3"/>
                    <a:cs typeface="Source Sans 3"/>
                    <a:sym typeface="Source Sans 3"/>
                  </a:endParaRPr>
                </a:p>
              </p:txBody>
            </p:sp>
            <p:sp>
              <p:nvSpPr>
                <p:cNvPr id="322" name="Google Shape;322;p8"/>
                <p:cNvSpPr/>
                <p:nvPr/>
              </p:nvSpPr>
              <p:spPr>
                <a:xfrm>
                  <a:off x="9601200" y="1714500"/>
                  <a:ext cx="10203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Prepare</a:t>
                  </a:r>
                  <a:endParaRPr b="0" i="0" sz="1900" u="none" cap="none" strike="noStrike">
                    <a:solidFill>
                      <a:schemeClr val="dk1"/>
                    </a:solidFill>
                    <a:latin typeface="Source Sans 3"/>
                    <a:ea typeface="Source Sans 3"/>
                    <a:cs typeface="Source Sans 3"/>
                    <a:sym typeface="Source Sans 3"/>
                  </a:endParaRPr>
                </a:p>
              </p:txBody>
            </p:sp>
          </p:grpSp>
          <p:grpSp>
            <p:nvGrpSpPr>
              <p:cNvPr id="323" name="Google Shape;323;p8"/>
              <p:cNvGrpSpPr/>
              <p:nvPr/>
            </p:nvGrpSpPr>
            <p:grpSpPr>
              <a:xfrm>
                <a:off x="9092200" y="2508072"/>
                <a:ext cx="2367600" cy="2483038"/>
                <a:chOff x="9092200" y="2508072"/>
                <a:chExt cx="2367600" cy="2483038"/>
              </a:xfrm>
            </p:grpSpPr>
            <p:cxnSp>
              <p:nvCxnSpPr>
                <p:cNvPr id="324" name="Google Shape;324;p8"/>
                <p:cNvCxnSpPr/>
                <p:nvPr/>
              </p:nvCxnSpPr>
              <p:spPr>
                <a:xfrm>
                  <a:off x="9092200" y="4685060"/>
                  <a:ext cx="22986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25" name="Google Shape;325;p8"/>
                <p:cNvSpPr/>
                <p:nvPr/>
              </p:nvSpPr>
              <p:spPr>
                <a:xfrm>
                  <a:off x="9092200" y="4767610"/>
                  <a:ext cx="23676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Needs a monthly forecast re-run.</a:t>
                  </a:r>
                  <a:endParaRPr b="0" i="0" sz="1200" u="none" cap="none" strike="noStrike">
                    <a:solidFill>
                      <a:schemeClr val="dk1"/>
                    </a:solidFill>
                    <a:latin typeface="Source Sans 3"/>
                    <a:ea typeface="Source Sans 3"/>
                    <a:cs typeface="Source Sans 3"/>
                    <a:sym typeface="Source Sans 3"/>
                  </a:endParaRPr>
                </a:p>
              </p:txBody>
            </p:sp>
            <p:sp>
              <p:nvSpPr>
                <p:cNvPr id="326" name="Google Shape;326;p8"/>
                <p:cNvSpPr/>
                <p:nvPr/>
              </p:nvSpPr>
              <p:spPr>
                <a:xfrm>
                  <a:off x="9092200" y="2508072"/>
                  <a:ext cx="2341500" cy="63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chemeClr val="accent2"/>
                      </a:solidFill>
                      <a:latin typeface="Source Serif 4"/>
                      <a:ea typeface="Source Serif 4"/>
                      <a:cs typeface="Source Serif 4"/>
                      <a:sym typeface="Source Serif 4"/>
                    </a:rPr>
                    <a:t>August</a:t>
                  </a:r>
                  <a:endParaRPr b="0" i="0" sz="4800" u="none" cap="none" strike="noStrike">
                    <a:solidFill>
                      <a:schemeClr val="accent2"/>
                    </a:solidFill>
                    <a:latin typeface="Source Sans 3"/>
                    <a:ea typeface="Source Sans 3"/>
                    <a:cs typeface="Source Sans 3"/>
                    <a:sym typeface="Source Sans 3"/>
                  </a:endParaRPr>
                </a:p>
              </p:txBody>
            </p:sp>
            <p:sp>
              <p:nvSpPr>
                <p:cNvPr id="327" name="Google Shape;327;p8"/>
                <p:cNvSpPr/>
                <p:nvPr/>
              </p:nvSpPr>
              <p:spPr>
                <a:xfrm>
                  <a:off x="9092200" y="3982672"/>
                  <a:ext cx="2341500" cy="3810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1" lang="en-US" sz="1300">
                      <a:solidFill>
                        <a:srgbClr val="EFE6D4"/>
                      </a:solidFill>
                      <a:latin typeface="Source Sans 3"/>
                      <a:ea typeface="Source Sans 3"/>
                      <a:cs typeface="Source Sans 3"/>
                      <a:sym typeface="Source Sans 3"/>
                    </a:rPr>
                    <a:t>Stock and staff for the peaks</a:t>
                  </a:r>
                  <a:endParaRPr b="0" i="0" sz="1600" u="none" cap="none" strike="noStrike">
                    <a:solidFill>
                      <a:srgbClr val="EFE6D4"/>
                    </a:solidFill>
                    <a:latin typeface="Source Sans 3"/>
                    <a:ea typeface="Source Sans 3"/>
                    <a:cs typeface="Source Sans 3"/>
                    <a:sym typeface="Source Sans 3"/>
                  </a:endParaRPr>
                </a:p>
              </p:txBody>
            </p:sp>
            <p:sp>
              <p:nvSpPr>
                <p:cNvPr id="328" name="Google Shape;328;p8"/>
                <p:cNvSpPr/>
                <p:nvPr/>
              </p:nvSpPr>
              <p:spPr>
                <a:xfrm>
                  <a:off x="9092200" y="3235257"/>
                  <a:ext cx="2341500" cy="635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lang="en-US" sz="1600">
                      <a:solidFill>
                        <a:srgbClr val="F7F2E8"/>
                      </a:solidFill>
                      <a:latin typeface="Source Sans 3"/>
                      <a:ea typeface="Source Sans 3"/>
                      <a:cs typeface="Source Sans 3"/>
                      <a:sym typeface="Source Sans 3"/>
                    </a:rPr>
                    <a:t>October and November; 236,000 visits forecast.</a:t>
                  </a:r>
                  <a:endParaRPr b="0" i="0" sz="1200" u="none" cap="none" strike="noStrike">
                    <a:solidFill>
                      <a:srgbClr val="F7F2E8"/>
                    </a:solidFill>
                    <a:latin typeface="Source Sans 3"/>
                    <a:ea typeface="Source Sans 3"/>
                    <a:cs typeface="Source Sans 3"/>
                    <a:sym typeface="Source Sans 3"/>
                  </a:endParaRPr>
                </a:p>
              </p:txBody>
            </p:sp>
          </p:grpSp>
        </p:grpSp>
      </p:grpSp>
      <p:grpSp>
        <p:nvGrpSpPr>
          <p:cNvPr id="329" name="Google Shape;329;p8"/>
          <p:cNvGrpSpPr/>
          <p:nvPr/>
        </p:nvGrpSpPr>
        <p:grpSpPr>
          <a:xfrm>
            <a:off x="609600" y="2385979"/>
            <a:ext cx="2628900" cy="3581400"/>
            <a:chOff x="609600" y="1549400"/>
            <a:chExt cx="2628900" cy="3581400"/>
          </a:xfrm>
        </p:grpSpPr>
        <p:sp>
          <p:nvSpPr>
            <p:cNvPr id="330" name="Google Shape;330;p8"/>
            <p:cNvSpPr/>
            <p:nvPr/>
          </p:nvSpPr>
          <p:spPr>
            <a:xfrm>
              <a:off x="609600" y="1549400"/>
              <a:ext cx="2628900" cy="3581400"/>
            </a:xfrm>
            <a:prstGeom prst="roundRect">
              <a:avLst>
                <a:gd fmla="val 4348"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1" name="Google Shape;331;p8"/>
            <p:cNvGrpSpPr/>
            <p:nvPr/>
          </p:nvGrpSpPr>
          <p:grpSpPr>
            <a:xfrm>
              <a:off x="740220" y="1714500"/>
              <a:ext cx="2367600" cy="3276610"/>
              <a:chOff x="740220" y="1714500"/>
              <a:chExt cx="2367600" cy="3276610"/>
            </a:xfrm>
          </p:grpSpPr>
          <p:grpSp>
            <p:nvGrpSpPr>
              <p:cNvPr id="332" name="Google Shape;332;p8"/>
              <p:cNvGrpSpPr/>
              <p:nvPr/>
            </p:nvGrpSpPr>
            <p:grpSpPr>
              <a:xfrm>
                <a:off x="740220" y="1714500"/>
                <a:ext cx="1540400" cy="381000"/>
                <a:chOff x="774700" y="1714500"/>
                <a:chExt cx="1540400" cy="381000"/>
              </a:xfrm>
            </p:grpSpPr>
            <p:sp>
              <p:nvSpPr>
                <p:cNvPr id="333" name="Google Shape;333;p8"/>
                <p:cNvSpPr/>
                <p:nvPr/>
              </p:nvSpPr>
              <p:spPr>
                <a:xfrm>
                  <a:off x="774700" y="1714500"/>
                  <a:ext cx="381000" cy="381000"/>
                </a:xfrm>
                <a:prstGeom prst="roundRect">
                  <a:avLst>
                    <a:gd fmla="val 50000" name="adj"/>
                  </a:avLst>
                </a:prstGeom>
                <a:solidFill>
                  <a:srgbClr val="D9622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DF8"/>
                    </a:buClr>
                    <a:buSzPts val="1500"/>
                    <a:buFont typeface="Source Serif 4"/>
                    <a:buNone/>
                  </a:pPr>
                  <a:r>
                    <a:rPr b="1" i="0" lang="en-US" sz="1500" u="none" cap="none" strike="noStrike">
                      <a:solidFill>
                        <a:srgbClr val="FFFDF8"/>
                      </a:solidFill>
                      <a:latin typeface="Source Serif 4"/>
                      <a:ea typeface="Source Serif 4"/>
                      <a:cs typeface="Source Serif 4"/>
                      <a:sym typeface="Source Serif 4"/>
                    </a:rPr>
                    <a:t>1</a:t>
                  </a:r>
                  <a:endParaRPr b="0" i="0" sz="1500" u="none" cap="none" strike="noStrike">
                    <a:solidFill>
                      <a:schemeClr val="dk1"/>
                    </a:solidFill>
                    <a:latin typeface="Source Sans 3"/>
                    <a:ea typeface="Source Sans 3"/>
                    <a:cs typeface="Source Sans 3"/>
                    <a:sym typeface="Source Sans 3"/>
                  </a:endParaRPr>
                </a:p>
              </p:txBody>
            </p:sp>
            <p:sp>
              <p:nvSpPr>
                <p:cNvPr id="334" name="Google Shape;334;p8"/>
                <p:cNvSpPr/>
                <p:nvPr/>
              </p:nvSpPr>
              <p:spPr>
                <a:xfrm>
                  <a:off x="1257300" y="1714500"/>
                  <a:ext cx="10578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7F2E8"/>
                    </a:buClr>
                    <a:buSzPts val="1900"/>
                    <a:buFont typeface="Source Serif 4"/>
                    <a:buNone/>
                  </a:pPr>
                  <a:r>
                    <a:rPr b="1" i="0" lang="en-US" sz="1900" u="none" cap="none" strike="noStrike">
                      <a:solidFill>
                        <a:srgbClr val="F7F2E8"/>
                      </a:solidFill>
                      <a:latin typeface="Source Serif 4"/>
                      <a:ea typeface="Source Serif 4"/>
                      <a:cs typeface="Source Serif 4"/>
                      <a:sym typeface="Source Serif 4"/>
                    </a:rPr>
                    <a:t>Allocate</a:t>
                  </a:r>
                  <a:endParaRPr b="0" i="0" sz="1900" u="none" cap="none" strike="noStrike">
                    <a:solidFill>
                      <a:schemeClr val="dk1"/>
                    </a:solidFill>
                    <a:latin typeface="Source Sans 3"/>
                    <a:ea typeface="Source Sans 3"/>
                    <a:cs typeface="Source Sans 3"/>
                    <a:sym typeface="Source Sans 3"/>
                  </a:endParaRPr>
                </a:p>
              </p:txBody>
            </p:sp>
          </p:grpSp>
          <p:grpSp>
            <p:nvGrpSpPr>
              <p:cNvPr id="335" name="Google Shape;335;p8"/>
              <p:cNvGrpSpPr/>
              <p:nvPr/>
            </p:nvGrpSpPr>
            <p:grpSpPr>
              <a:xfrm>
                <a:off x="740220" y="2508072"/>
                <a:ext cx="2367600" cy="2483038"/>
                <a:chOff x="764000" y="2508072"/>
                <a:chExt cx="2367600" cy="2483038"/>
              </a:xfrm>
            </p:grpSpPr>
            <p:sp>
              <p:nvSpPr>
                <p:cNvPr id="336" name="Google Shape;336;p8"/>
                <p:cNvSpPr/>
                <p:nvPr/>
              </p:nvSpPr>
              <p:spPr>
                <a:xfrm>
                  <a:off x="764000" y="2508072"/>
                  <a:ext cx="2341500" cy="63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9622B"/>
                    </a:buClr>
                    <a:buSzPts val="4800"/>
                    <a:buFont typeface="Source Serif 4"/>
                    <a:buNone/>
                  </a:pPr>
                  <a:r>
                    <a:rPr b="1" i="0" lang="en-US" sz="4800" u="none" cap="none" strike="noStrike">
                      <a:solidFill>
                        <a:schemeClr val="accent2"/>
                      </a:solidFill>
                      <a:latin typeface="Source Serif 4"/>
                      <a:ea typeface="Source Serif 4"/>
                      <a:cs typeface="Source Serif 4"/>
                      <a:sym typeface="Source Serif 4"/>
                    </a:rPr>
                    <a:t>94</a:t>
                  </a:r>
                  <a:endParaRPr b="0" i="0" sz="4800" u="none" cap="none" strike="noStrike">
                    <a:solidFill>
                      <a:schemeClr val="accent2"/>
                    </a:solidFill>
                    <a:latin typeface="Source Sans 3"/>
                    <a:ea typeface="Source Sans 3"/>
                    <a:cs typeface="Source Sans 3"/>
                    <a:sym typeface="Source Sans 3"/>
                  </a:endParaRPr>
                </a:p>
              </p:txBody>
            </p:sp>
            <p:sp>
              <p:nvSpPr>
                <p:cNvPr id="337" name="Google Shape;337;p8"/>
                <p:cNvSpPr/>
                <p:nvPr/>
              </p:nvSpPr>
              <p:spPr>
                <a:xfrm>
                  <a:off x="764000" y="3962422"/>
                  <a:ext cx="2341500" cy="4215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F3B2D"/>
                    </a:buClr>
                    <a:buSzPts val="1600"/>
                    <a:buFont typeface="Source Sans 3"/>
                    <a:buNone/>
                  </a:pPr>
                  <a:r>
                    <a:rPr b="1" i="0" lang="en-US" sz="1300" u="none" cap="none" strike="noStrike">
                      <a:solidFill>
                        <a:srgbClr val="EFE6D4"/>
                      </a:solidFill>
                      <a:latin typeface="Source Sans 3"/>
                      <a:ea typeface="Source Sans 3"/>
                      <a:cs typeface="Source Sans 3"/>
                      <a:sym typeface="Source Sans 3"/>
                    </a:rPr>
                    <a:t>Shift food to rural food deserts</a:t>
                  </a:r>
                  <a:endParaRPr b="1" i="0" sz="1300" u="none" cap="none" strike="noStrike">
                    <a:solidFill>
                      <a:srgbClr val="EFE6D4"/>
                    </a:solidFill>
                    <a:latin typeface="Source Sans 3"/>
                    <a:ea typeface="Source Sans 3"/>
                    <a:cs typeface="Source Sans 3"/>
                    <a:sym typeface="Source Sans 3"/>
                  </a:endParaRPr>
                </a:p>
              </p:txBody>
            </p:sp>
            <p:sp>
              <p:nvSpPr>
                <p:cNvPr id="338" name="Google Shape;338;p8"/>
                <p:cNvSpPr/>
                <p:nvPr/>
              </p:nvSpPr>
              <p:spPr>
                <a:xfrm>
                  <a:off x="764000" y="3235257"/>
                  <a:ext cx="2341500" cy="635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B5A50"/>
                    </a:buClr>
                    <a:buSzPts val="1200"/>
                    <a:buFont typeface="Source Sans 3"/>
                    <a:buNone/>
                  </a:pPr>
                  <a:r>
                    <a:rPr b="0" i="0" lang="en-US" sz="1600" u="none" cap="none" strike="noStrike">
                      <a:solidFill>
                        <a:srgbClr val="F7F2E8"/>
                      </a:solidFill>
                      <a:latin typeface="Source Sans 3"/>
                      <a:ea typeface="Source Sans 3"/>
                      <a:cs typeface="Source Sans 3"/>
                      <a:sym typeface="Source Sans 3"/>
                    </a:rPr>
                    <a:t>Pounds per person a year, v</a:t>
                  </a:r>
                  <a:r>
                    <a:rPr b="0" i="0" lang="en-US" sz="1600" u="none" cap="none" strike="noStrike">
                      <a:solidFill>
                        <a:srgbClr val="F7F2E8"/>
                      </a:solidFill>
                      <a:latin typeface="Source Sans 3"/>
                      <a:ea typeface="Source Sans 3"/>
                      <a:cs typeface="Source Sans 3"/>
                      <a:sym typeface="Source Sans 3"/>
                    </a:rPr>
                    <a:t>ersu</a:t>
                  </a:r>
                  <a:r>
                    <a:rPr b="0" i="0" lang="en-US" sz="1600" u="none" cap="none" strike="noStrike">
                      <a:solidFill>
                        <a:srgbClr val="F7F2E8"/>
                      </a:solidFill>
                      <a:latin typeface="Source Sans 3"/>
                      <a:ea typeface="Source Sans 3"/>
                      <a:cs typeface="Source Sans 3"/>
                      <a:sym typeface="Source Sans 3"/>
                    </a:rPr>
                    <a:t>s 172 nearby.</a:t>
                  </a:r>
                  <a:endParaRPr b="0" i="0" sz="1600" u="none" cap="none" strike="noStrike">
                    <a:solidFill>
                      <a:srgbClr val="F7F2E8"/>
                    </a:solidFill>
                    <a:latin typeface="Source Sans 3"/>
                    <a:ea typeface="Source Sans 3"/>
                    <a:cs typeface="Source Sans 3"/>
                    <a:sym typeface="Source Sans 3"/>
                  </a:endParaRPr>
                </a:p>
              </p:txBody>
            </p:sp>
            <p:grpSp>
              <p:nvGrpSpPr>
                <p:cNvPr id="339" name="Google Shape;339;p8"/>
                <p:cNvGrpSpPr/>
                <p:nvPr/>
              </p:nvGrpSpPr>
              <p:grpSpPr>
                <a:xfrm>
                  <a:off x="764000" y="4685060"/>
                  <a:ext cx="2367600" cy="306050"/>
                  <a:chOff x="774700" y="4685060"/>
                  <a:chExt cx="2367600" cy="306050"/>
                </a:xfrm>
              </p:grpSpPr>
              <p:cxnSp>
                <p:nvCxnSpPr>
                  <p:cNvPr id="340" name="Google Shape;340;p8"/>
                  <p:cNvCxnSpPr/>
                  <p:nvPr/>
                </p:nvCxnSpPr>
                <p:spPr>
                  <a:xfrm>
                    <a:off x="774700" y="4685060"/>
                    <a:ext cx="2298600" cy="0"/>
                  </a:xfrm>
                  <a:prstGeom prst="straightConnector1">
                    <a:avLst/>
                  </a:prstGeom>
                  <a:noFill/>
                  <a:ln cap="flat" cmpd="sng" w="12700">
                    <a:solidFill>
                      <a:srgbClr val="FFFFFF">
                        <a:alpha val="20000"/>
                      </a:srgbClr>
                    </a:solidFill>
                    <a:prstDash val="solid"/>
                    <a:round/>
                    <a:headEnd len="sm" w="sm" type="none"/>
                    <a:tailEnd len="sm" w="sm" type="none"/>
                  </a:ln>
                </p:spPr>
              </p:cxnSp>
              <p:sp>
                <p:nvSpPr>
                  <p:cNvPr id="341" name="Google Shape;341;p8"/>
                  <p:cNvSpPr/>
                  <p:nvPr/>
                </p:nvSpPr>
                <p:spPr>
                  <a:xfrm>
                    <a:off x="774700" y="4767610"/>
                    <a:ext cx="23676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E0D5"/>
                      </a:buClr>
                      <a:buSzPts val="1200"/>
                      <a:buFont typeface="Source Sans 3"/>
                      <a:buNone/>
                    </a:pPr>
                    <a:r>
                      <a:rPr b="0" i="0" lang="en-US" sz="1200" u="none" cap="none" strike="noStrike">
                        <a:solidFill>
                          <a:srgbClr val="CFE0D5"/>
                        </a:solidFill>
                        <a:latin typeface="Source Sans 3"/>
                        <a:ea typeface="Source Sans 3"/>
                        <a:cs typeface="Source Sans 3"/>
                        <a:sym typeface="Source Sans 3"/>
                      </a:rPr>
                      <a:t>Uses the current allocation formula.</a:t>
                    </a:r>
                    <a:endParaRPr b="0" i="0" sz="1200" u="none" cap="none" strike="noStrike">
                      <a:solidFill>
                        <a:schemeClr val="dk1"/>
                      </a:solidFill>
                      <a:latin typeface="Source Sans 3"/>
                      <a:ea typeface="Source Sans 3"/>
                      <a:cs typeface="Source Sans 3"/>
                      <a:sym typeface="Source Sans 3"/>
                    </a:endParaRPr>
                  </a:p>
                </p:txBody>
              </p:sp>
            </p:grpSp>
          </p:grpSp>
        </p:grpSp>
      </p:grpSp>
      <p:sp>
        <p:nvSpPr>
          <p:cNvPr id="342" name="Google Shape;342;p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B2D"/>
        </a:solidFill>
      </p:bgPr>
    </p:bg>
    <p:spTree>
      <p:nvGrpSpPr>
        <p:cNvPr id="347" name="Shape 347"/>
        <p:cNvGrpSpPr/>
        <p:nvPr/>
      </p:nvGrpSpPr>
      <p:grpSpPr>
        <a:xfrm>
          <a:off x="0" y="0"/>
          <a:ext cx="0" cy="0"/>
          <a:chOff x="0" y="0"/>
          <a:chExt cx="0" cy="0"/>
        </a:xfrm>
      </p:grpSpPr>
      <p:sp>
        <p:nvSpPr>
          <p:cNvPr id="348" name="Google Shape;348;p9"/>
          <p:cNvSpPr/>
          <p:nvPr/>
        </p:nvSpPr>
        <p:spPr>
          <a:xfrm>
            <a:off x="0" y="0"/>
            <a:ext cx="12192000" cy="6858000"/>
          </a:xfrm>
          <a:prstGeom prst="rect">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9"/>
          <p:cNvSpPr/>
          <p:nvPr/>
        </p:nvSpPr>
        <p:spPr>
          <a:xfrm>
            <a:off x="812800" y="762000"/>
            <a:ext cx="98107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MINNEMUDAC 2026 · GRADUATE DIVISION</a:t>
            </a:r>
            <a:endParaRPr b="0" i="0" sz="1200" u="none" cap="none" strike="noStrike">
              <a:solidFill>
                <a:schemeClr val="dk1"/>
              </a:solidFill>
              <a:latin typeface="Source Sans 3"/>
              <a:ea typeface="Source Sans 3"/>
              <a:cs typeface="Source Sans 3"/>
              <a:sym typeface="Source Sans 3"/>
            </a:endParaRPr>
          </a:p>
        </p:txBody>
      </p:sp>
      <p:sp>
        <p:nvSpPr>
          <p:cNvPr id="350" name="Google Shape;350;p9"/>
          <p:cNvSpPr txBox="1"/>
          <p:nvPr>
            <p:ph type="title"/>
          </p:nvPr>
        </p:nvSpPr>
        <p:spPr>
          <a:xfrm>
            <a:off x="812800" y="1153120"/>
            <a:ext cx="9810750" cy="9779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FFFFFF"/>
              </a:buClr>
              <a:buSzPts val="7500"/>
              <a:buFont typeface="Source Serif 4"/>
              <a:buNone/>
            </a:pPr>
            <a:r>
              <a:rPr b="1" lang="en-US" sz="7500">
                <a:solidFill>
                  <a:srgbClr val="FFFFFF"/>
                </a:solidFill>
              </a:rPr>
              <a:t>Demand is not need.</a:t>
            </a:r>
            <a:endParaRPr sz="7500"/>
          </a:p>
        </p:txBody>
      </p:sp>
      <p:sp>
        <p:nvSpPr>
          <p:cNvPr id="351" name="Google Shape;351;p9"/>
          <p:cNvSpPr/>
          <p:nvPr/>
        </p:nvSpPr>
        <p:spPr>
          <a:xfrm>
            <a:off x="812800" y="2283420"/>
            <a:ext cx="9810750" cy="452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2400"/>
              <a:buFont typeface="Source Serif 4"/>
              <a:buNone/>
            </a:pPr>
            <a:r>
              <a:rPr b="1" lang="en-US" sz="2400">
                <a:solidFill>
                  <a:srgbClr val="F2B544"/>
                </a:solidFill>
                <a:latin typeface="Source Serif 4"/>
                <a:ea typeface="Source Serif 4"/>
                <a:cs typeface="Source Serif 4"/>
                <a:sym typeface="Source Serif 4"/>
              </a:rPr>
              <a:t>Thank you</a:t>
            </a:r>
            <a:r>
              <a:rPr b="1" i="0" lang="en-US" sz="2400" u="none" cap="none" strike="noStrike">
                <a:solidFill>
                  <a:srgbClr val="F2B544"/>
                </a:solidFill>
                <a:latin typeface="Source Serif 4"/>
                <a:ea typeface="Source Serif 4"/>
                <a:cs typeface="Source Serif 4"/>
                <a:sym typeface="Source Serif 4"/>
              </a:rPr>
              <a:t>. Questions?</a:t>
            </a:r>
            <a:endParaRPr b="0" i="0" sz="2400" u="none" cap="none" strike="noStrike">
              <a:solidFill>
                <a:schemeClr val="dk1"/>
              </a:solidFill>
              <a:latin typeface="Source Sans 3"/>
              <a:ea typeface="Source Sans 3"/>
              <a:cs typeface="Source Sans 3"/>
              <a:sym typeface="Source Sans 3"/>
            </a:endParaRPr>
          </a:p>
        </p:txBody>
      </p:sp>
      <p:sp>
        <p:nvSpPr>
          <p:cNvPr id="352" name="Google Shape;352;p9"/>
          <p:cNvSpPr/>
          <p:nvPr/>
        </p:nvSpPr>
        <p:spPr>
          <a:xfrm>
            <a:off x="812800" y="2887911"/>
            <a:ext cx="9810750" cy="292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Source Sans 3"/>
              <a:buNone/>
            </a:pPr>
            <a:r>
              <a:rPr lang="en-US" sz="1500">
                <a:solidFill>
                  <a:srgbClr val="FFFFFF"/>
                </a:solidFill>
                <a:latin typeface="Source Sans 3"/>
                <a:ea typeface="Source Sans 3"/>
                <a:cs typeface="Source Sans 3"/>
                <a:sym typeface="Source Sans 3"/>
              </a:rPr>
              <a:t>Team ID: G09</a:t>
            </a:r>
            <a:endParaRPr sz="1500">
              <a:solidFill>
                <a:srgbClr val="FFFFFF"/>
              </a:solidFill>
              <a:latin typeface="Source Sans 3"/>
              <a:ea typeface="Source Sans 3"/>
              <a:cs typeface="Source Sans 3"/>
              <a:sym typeface="Source Sans 3"/>
            </a:endParaRPr>
          </a:p>
          <a:p>
            <a:pPr indent="0" lvl="0" marL="0" marR="0" rtl="0" algn="l">
              <a:lnSpc>
                <a:spcPct val="100000"/>
              </a:lnSpc>
              <a:spcBef>
                <a:spcPts val="0"/>
              </a:spcBef>
              <a:spcAft>
                <a:spcPts val="0"/>
              </a:spcAft>
              <a:buClr>
                <a:srgbClr val="FFFFFF"/>
              </a:buClr>
              <a:buSzPts val="1500"/>
              <a:buFont typeface="Source Sans 3"/>
              <a:buNone/>
            </a:pPr>
            <a:r>
              <a:rPr lang="en-US" sz="1500">
                <a:solidFill>
                  <a:srgbClr val="FFFFFF"/>
                </a:solidFill>
                <a:latin typeface="Source Sans 3"/>
                <a:ea typeface="Source Sans 3"/>
                <a:cs typeface="Source Sans 3"/>
                <a:sym typeface="Source Sans 3"/>
              </a:rPr>
              <a:t>Akbar · Alex · Brian · Suji · Vishesh</a:t>
            </a:r>
            <a:endParaRPr sz="1500">
              <a:solidFill>
                <a:srgbClr val="FFFFFF"/>
              </a:solidFill>
              <a:latin typeface="Source Sans 3"/>
              <a:ea typeface="Source Sans 3"/>
              <a:cs typeface="Source Sans 3"/>
              <a:sym typeface="Source Sans 3"/>
            </a:endParaRPr>
          </a:p>
        </p:txBody>
      </p:sp>
      <p:sp>
        <p:nvSpPr>
          <p:cNvPr id="353" name="Google Shape;353;p9"/>
          <p:cNvSpPr/>
          <p:nvPr/>
        </p:nvSpPr>
        <p:spPr>
          <a:xfrm>
            <a:off x="812800" y="4572000"/>
            <a:ext cx="10566400" cy="1681361"/>
          </a:xfrm>
          <a:prstGeom prst="roundRect">
            <a:avLst>
              <a:gd fmla="val 6798" name="adj"/>
            </a:avLst>
          </a:prstGeom>
          <a:solidFill>
            <a:srgbClr val="FFFFFF">
              <a:alpha val="1215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9"/>
          <p:cNvSpPr/>
          <p:nvPr/>
        </p:nvSpPr>
        <p:spPr>
          <a:xfrm>
            <a:off x="990600" y="4711700"/>
            <a:ext cx="1051712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DATA CREDITS</a:t>
            </a:r>
            <a:endParaRPr b="0" i="0" sz="1200" u="none" cap="none" strike="noStrike">
              <a:solidFill>
                <a:schemeClr val="dk1"/>
              </a:solidFill>
              <a:latin typeface="Source Sans 3"/>
              <a:ea typeface="Source Sans 3"/>
              <a:cs typeface="Source Sans 3"/>
              <a:sym typeface="Source Sans 3"/>
            </a:endParaRPr>
          </a:p>
        </p:txBody>
      </p:sp>
      <p:sp>
        <p:nvSpPr>
          <p:cNvPr id="355" name="Google Shape;355;p9"/>
          <p:cNvSpPr/>
          <p:nvPr/>
        </p:nvSpPr>
        <p:spPr>
          <a:xfrm>
            <a:off x="990600" y="4962498"/>
            <a:ext cx="105171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200"/>
              <a:buFont typeface="Source Sans 3"/>
              <a:buNone/>
            </a:pPr>
            <a:r>
              <a:rPr b="0" i="0" lang="en-US" sz="1200" u="none" cap="none" strike="noStrike">
                <a:solidFill>
                  <a:srgbClr val="FFFFFF"/>
                </a:solidFill>
                <a:latin typeface="Source Sans 3"/>
                <a:ea typeface="Source Sans 3"/>
                <a:cs typeface="Source Sans 3"/>
                <a:sym typeface="Source Sans 3"/>
              </a:rPr>
              <a:t>The Food Group · Feeding America (Map the Meal Gap) · USDA Economic Research Service · USDA Food and Nutrition Service · U.S. Bureau of Labor Statistics · U.S. Census Bureau · Minnesota Department of Children, Youth, and Families</a:t>
            </a:r>
            <a:endParaRPr b="0" i="0" sz="1200" u="none" cap="none" strike="noStrike">
              <a:solidFill>
                <a:schemeClr val="dk1"/>
              </a:solidFill>
              <a:latin typeface="Source Sans 3"/>
              <a:ea typeface="Source Sans 3"/>
              <a:cs typeface="Source Sans 3"/>
              <a:sym typeface="Source Sans 3"/>
            </a:endParaRPr>
          </a:p>
        </p:txBody>
      </p:sp>
      <p:sp>
        <p:nvSpPr>
          <p:cNvPr id="356" name="Google Shape;356;p9"/>
          <p:cNvSpPr/>
          <p:nvPr/>
        </p:nvSpPr>
        <p:spPr>
          <a:xfrm>
            <a:off x="990600" y="5471384"/>
            <a:ext cx="10517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TEMPLATE SOURCES</a:t>
            </a:r>
            <a:endParaRPr b="0" i="0" sz="1200" u="none" cap="none" strike="noStrike">
              <a:solidFill>
                <a:schemeClr val="dk1"/>
              </a:solidFill>
              <a:latin typeface="Source Sans 3"/>
              <a:ea typeface="Source Sans 3"/>
              <a:cs typeface="Source Sans 3"/>
              <a:sym typeface="Source Sans 3"/>
            </a:endParaRPr>
          </a:p>
        </p:txBody>
      </p:sp>
      <p:sp>
        <p:nvSpPr>
          <p:cNvPr id="357" name="Google Shape;357;p9"/>
          <p:cNvSpPr/>
          <p:nvPr/>
        </p:nvSpPr>
        <p:spPr>
          <a:xfrm>
            <a:off x="990600" y="5702201"/>
            <a:ext cx="10517124"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200"/>
              <a:buFont typeface="Source Sans 3"/>
              <a:buNone/>
            </a:pPr>
            <a:r>
              <a:rPr b="0" i="0" lang="en-US" sz="1200" u="none" cap="none" strike="noStrike">
                <a:solidFill>
                  <a:srgbClr val="FFFFFF"/>
                </a:solidFill>
                <a:latin typeface="Source Sans 3"/>
                <a:ea typeface="Source Sans 3"/>
                <a:cs typeface="Source Sans 3"/>
                <a:sym typeface="Source Sans 3"/>
              </a:rPr>
              <a:t>Layout after "Business Proposal Ppt Template", Business Layout Lab (Pinterest, pin 1130685050261813191) · Built with Claude (Anthropic) · Fonts: Source Serif 4 and Source Sans 3 (Adobe, via Google Fonts, SIL Open Font License 1.1)</a:t>
            </a:r>
            <a:endParaRPr b="0" i="0" sz="1200" u="none" cap="none" strike="noStrike">
              <a:solidFill>
                <a:schemeClr val="dk1"/>
              </a:solidFill>
              <a:latin typeface="Source Sans 3"/>
              <a:ea typeface="Source Sans 3"/>
              <a:cs typeface="Source Sans 3"/>
              <a:sym typeface="Source Sans 3"/>
            </a:endParaRPr>
          </a:p>
        </p:txBody>
      </p:sp>
      <p:sp>
        <p:nvSpPr>
          <p:cNvPr id="358" name="Google Shape;358;p9"/>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9"/>
          <p:cNvSpPr/>
          <p:nvPr/>
        </p:nvSpPr>
        <p:spPr>
          <a:xfrm>
            <a:off x="0" y="6803136"/>
            <a:ext cx="12192000" cy="54864"/>
          </a:xfrm>
          <a:prstGeom prst="rect">
            <a:avLst/>
          </a:prstGeom>
          <a:solidFill>
            <a:srgbClr val="D9622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365" name="Shape 365"/>
        <p:cNvGrpSpPr/>
        <p:nvPr/>
      </p:nvGrpSpPr>
      <p:grpSpPr>
        <a:xfrm>
          <a:off x="0" y="0"/>
          <a:ext cx="0" cy="0"/>
          <a:chOff x="0" y="0"/>
          <a:chExt cx="0" cy="0"/>
        </a:xfrm>
      </p:grpSpPr>
      <p:sp>
        <p:nvSpPr>
          <p:cNvPr id="366" name="Google Shape;366;p1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0"/>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a:t>
            </a:r>
            <a:endParaRPr b="0" i="0" sz="1300" u="none" cap="none" strike="noStrike">
              <a:solidFill>
                <a:schemeClr val="dk1"/>
              </a:solidFill>
              <a:latin typeface="Source Sans 3"/>
              <a:ea typeface="Source Sans 3"/>
              <a:cs typeface="Source Sans 3"/>
              <a:sym typeface="Source Sans 3"/>
            </a:endParaRPr>
          </a:p>
        </p:txBody>
      </p:sp>
      <p:sp>
        <p:nvSpPr>
          <p:cNvPr id="368" name="Google Shape;368;p1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369" name="Google Shape;369;p1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370" name="Google Shape;370;p1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a:t>
            </a:r>
            <a:endParaRPr b="0" i="0" sz="1700" u="none" cap="none" strike="noStrike">
              <a:solidFill>
                <a:schemeClr val="dk1"/>
              </a:solidFill>
              <a:latin typeface="Source Sans 3"/>
              <a:ea typeface="Source Sans 3"/>
              <a:cs typeface="Source Sans 3"/>
              <a:sym typeface="Source Sans 3"/>
            </a:endParaRPr>
          </a:p>
        </p:txBody>
      </p:sp>
      <p:sp>
        <p:nvSpPr>
          <p:cNvPr id="371" name="Google Shape;371;p10"/>
          <p:cNvSpPr txBox="1"/>
          <p:nvPr>
            <p:ph type="title"/>
          </p:nvPr>
        </p:nvSpPr>
        <p:spPr>
          <a:xfrm>
            <a:off x="1320800" y="931565"/>
            <a:ext cx="10569448" cy="34667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300"/>
              <a:buFont typeface="Source Serif 4"/>
              <a:buNone/>
            </a:pPr>
            <a:r>
              <a:rPr b="1" i="0" lang="en-US" sz="2300">
                <a:solidFill>
                  <a:srgbClr val="1F3B2D"/>
                </a:solidFill>
                <a:latin typeface="Source Serif 4"/>
                <a:ea typeface="Source Serif 4"/>
                <a:cs typeface="Source Serif 4"/>
                <a:sym typeface="Source Serif 4"/>
              </a:rPr>
              <a:t>Appendix contents</a:t>
            </a:r>
            <a:endParaRPr sz="2300"/>
          </a:p>
        </p:txBody>
      </p:sp>
      <p:sp>
        <p:nvSpPr>
          <p:cNvPr id="372" name="Google Shape;372;p10">
            <a:hlinkClick action="ppaction://hlinksldjump" r:id="rId4"/>
          </p:cNvPr>
          <p:cNvSpPr/>
          <p:nvPr/>
        </p:nvSpPr>
        <p:spPr>
          <a:xfrm>
            <a:off x="6159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0">
            <a:hlinkClick action="ppaction://hlinksldjump" r:id="rId5"/>
          </p:cNvPr>
          <p:cNvSpPr/>
          <p:nvPr/>
        </p:nvSpPr>
        <p:spPr>
          <a:xfrm>
            <a:off x="7112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a:t>
            </a:r>
            <a:endParaRPr b="0" i="0" sz="1200" u="none" cap="none" strike="noStrike">
              <a:solidFill>
                <a:schemeClr val="dk1"/>
              </a:solidFill>
              <a:latin typeface="Source Sans 3"/>
              <a:ea typeface="Source Sans 3"/>
              <a:cs typeface="Source Sans 3"/>
              <a:sym typeface="Source Sans 3"/>
            </a:endParaRPr>
          </a:p>
        </p:txBody>
      </p:sp>
      <p:sp>
        <p:nvSpPr>
          <p:cNvPr id="374" name="Google Shape;374;p10">
            <a:hlinkClick action="ppaction://hlinksldjump" r:id="rId6"/>
          </p:cNvPr>
          <p:cNvSpPr/>
          <p:nvPr/>
        </p:nvSpPr>
        <p:spPr>
          <a:xfrm>
            <a:off x="11938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competition data</a:t>
            </a:r>
            <a:endParaRPr b="0" i="0" sz="1200" u="none" cap="none" strike="noStrike">
              <a:solidFill>
                <a:schemeClr val="dk1"/>
              </a:solidFill>
              <a:latin typeface="Source Sans 3"/>
              <a:ea typeface="Source Sans 3"/>
              <a:cs typeface="Source Sans 3"/>
              <a:sym typeface="Source Sans 3"/>
            </a:endParaRPr>
          </a:p>
        </p:txBody>
      </p:sp>
      <p:sp>
        <p:nvSpPr>
          <p:cNvPr id="375" name="Google Shape;375;p10">
            <a:hlinkClick action="ppaction://hlinksldjump" r:id="rId7"/>
          </p:cNvPr>
          <p:cNvSpPr/>
          <p:nvPr/>
        </p:nvSpPr>
        <p:spPr>
          <a:xfrm>
            <a:off x="6159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0">
            <a:hlinkClick action="ppaction://hlinksldjump" r:id="rId8"/>
          </p:cNvPr>
          <p:cNvSpPr/>
          <p:nvPr/>
        </p:nvSpPr>
        <p:spPr>
          <a:xfrm>
            <a:off x="7112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a:t>
            </a:r>
            <a:endParaRPr b="0" i="0" sz="1200" u="none" cap="none" strike="noStrike">
              <a:solidFill>
                <a:schemeClr val="dk1"/>
              </a:solidFill>
              <a:latin typeface="Source Sans 3"/>
              <a:ea typeface="Source Sans 3"/>
              <a:cs typeface="Source Sans 3"/>
              <a:sym typeface="Source Sans 3"/>
            </a:endParaRPr>
          </a:p>
        </p:txBody>
      </p:sp>
      <p:sp>
        <p:nvSpPr>
          <p:cNvPr id="377" name="Google Shape;377;p10">
            <a:hlinkClick action="ppaction://hlinksldjump" r:id="rId9"/>
          </p:cNvPr>
          <p:cNvSpPr/>
          <p:nvPr/>
        </p:nvSpPr>
        <p:spPr>
          <a:xfrm>
            <a:off x="11938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prices and SNAP</a:t>
            </a:r>
            <a:endParaRPr b="0" i="0" sz="1200" u="none" cap="none" strike="noStrike">
              <a:solidFill>
                <a:schemeClr val="dk1"/>
              </a:solidFill>
              <a:latin typeface="Source Sans 3"/>
              <a:ea typeface="Source Sans 3"/>
              <a:cs typeface="Source Sans 3"/>
              <a:sym typeface="Source Sans 3"/>
            </a:endParaRPr>
          </a:p>
        </p:txBody>
      </p:sp>
      <p:sp>
        <p:nvSpPr>
          <p:cNvPr id="378" name="Google Shape;378;p10">
            <a:hlinkClick action="ppaction://hlinksldjump" r:id="rId10"/>
          </p:cNvPr>
          <p:cNvSpPr/>
          <p:nvPr/>
        </p:nvSpPr>
        <p:spPr>
          <a:xfrm>
            <a:off x="6159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0">
            <a:hlinkClick action="ppaction://hlinksldjump" r:id="rId11"/>
          </p:cNvPr>
          <p:cNvSpPr/>
          <p:nvPr/>
        </p:nvSpPr>
        <p:spPr>
          <a:xfrm>
            <a:off x="7112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A3</a:t>
            </a:r>
            <a:endParaRPr b="0" i="0" sz="1200" u="none" cap="none" strike="noStrike">
              <a:solidFill>
                <a:schemeClr val="dk1"/>
              </a:solidFill>
              <a:latin typeface="Source Sans 3"/>
              <a:ea typeface="Source Sans 3"/>
              <a:cs typeface="Source Sans 3"/>
              <a:sym typeface="Source Sans 3"/>
            </a:endParaRPr>
          </a:p>
        </p:txBody>
      </p:sp>
      <p:sp>
        <p:nvSpPr>
          <p:cNvPr id="380" name="Google Shape;380;p10">
            <a:hlinkClick action="ppaction://hlinksldjump" r:id="rId12"/>
          </p:cNvPr>
          <p:cNvSpPr/>
          <p:nvPr/>
        </p:nvSpPr>
        <p:spPr>
          <a:xfrm>
            <a:off x="11938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population, jobs</a:t>
            </a:r>
            <a:endParaRPr b="0" i="0" sz="1200" u="none" cap="none" strike="noStrike">
              <a:solidFill>
                <a:schemeClr val="dk1"/>
              </a:solidFill>
              <a:latin typeface="Source Sans 3"/>
              <a:ea typeface="Source Sans 3"/>
              <a:cs typeface="Source Sans 3"/>
              <a:sym typeface="Source Sans 3"/>
            </a:endParaRPr>
          </a:p>
        </p:txBody>
      </p:sp>
      <p:sp>
        <p:nvSpPr>
          <p:cNvPr id="381" name="Google Shape;381;p10">
            <a:hlinkClick action="ppaction://hlinksldjump" r:id="rId13"/>
          </p:cNvPr>
          <p:cNvSpPr/>
          <p:nvPr/>
        </p:nvSpPr>
        <p:spPr>
          <a:xfrm>
            <a:off x="6159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10">
            <a:hlinkClick action="ppaction://hlinksldjump" r:id="rId14"/>
          </p:cNvPr>
          <p:cNvSpPr/>
          <p:nvPr/>
        </p:nvSpPr>
        <p:spPr>
          <a:xfrm>
            <a:off x="7112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A4</a:t>
            </a:r>
            <a:endParaRPr b="0" i="0" sz="1200" u="none" cap="none" strike="noStrike">
              <a:solidFill>
                <a:schemeClr val="dk1"/>
              </a:solidFill>
              <a:latin typeface="Source Sans 3"/>
              <a:ea typeface="Source Sans 3"/>
              <a:cs typeface="Source Sans 3"/>
              <a:sym typeface="Source Sans 3"/>
            </a:endParaRPr>
          </a:p>
        </p:txBody>
      </p:sp>
      <p:sp>
        <p:nvSpPr>
          <p:cNvPr id="383" name="Google Shape;383;p10">
            <a:hlinkClick action="ppaction://hlinksldjump" r:id="rId15"/>
          </p:cNvPr>
          <p:cNvSpPr/>
          <p:nvPr/>
        </p:nvSpPr>
        <p:spPr>
          <a:xfrm>
            <a:off x="11938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food access</a:t>
            </a:r>
            <a:endParaRPr b="0" i="0" sz="1200" u="none" cap="none" strike="noStrike">
              <a:solidFill>
                <a:schemeClr val="dk1"/>
              </a:solidFill>
              <a:latin typeface="Source Sans 3"/>
              <a:ea typeface="Source Sans 3"/>
              <a:cs typeface="Source Sans 3"/>
              <a:sym typeface="Source Sans 3"/>
            </a:endParaRPr>
          </a:p>
        </p:txBody>
      </p:sp>
      <p:sp>
        <p:nvSpPr>
          <p:cNvPr id="384" name="Google Shape;384;p10">
            <a:hlinkClick action="ppaction://hlinksldjump" r:id="rId16"/>
          </p:cNvPr>
          <p:cNvSpPr/>
          <p:nvPr/>
        </p:nvSpPr>
        <p:spPr>
          <a:xfrm>
            <a:off x="6159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0">
            <a:hlinkClick action="ppaction://hlinksldjump" r:id="rId17"/>
          </p:cNvPr>
          <p:cNvSpPr/>
          <p:nvPr/>
        </p:nvSpPr>
        <p:spPr>
          <a:xfrm>
            <a:off x="7112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A5</a:t>
            </a:r>
            <a:endParaRPr b="0" i="0" sz="1200" u="none" cap="none" strike="noStrike">
              <a:solidFill>
                <a:schemeClr val="dk1"/>
              </a:solidFill>
              <a:latin typeface="Source Sans 3"/>
              <a:ea typeface="Source Sans 3"/>
              <a:cs typeface="Source Sans 3"/>
              <a:sym typeface="Source Sans 3"/>
            </a:endParaRPr>
          </a:p>
        </p:txBody>
      </p:sp>
      <p:sp>
        <p:nvSpPr>
          <p:cNvPr id="386" name="Google Shape;386;p10">
            <a:hlinkClick action="ppaction://hlinksldjump" r:id="rId18"/>
          </p:cNvPr>
          <p:cNvSpPr/>
          <p:nvPr/>
        </p:nvSpPr>
        <p:spPr>
          <a:xfrm>
            <a:off x="11938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Sources: geography</a:t>
            </a:r>
            <a:endParaRPr b="0" i="0" sz="1200" u="none" cap="none" strike="noStrike">
              <a:solidFill>
                <a:schemeClr val="dk1"/>
              </a:solidFill>
              <a:latin typeface="Source Sans 3"/>
              <a:ea typeface="Source Sans 3"/>
              <a:cs typeface="Source Sans 3"/>
              <a:sym typeface="Source Sans 3"/>
            </a:endParaRPr>
          </a:p>
        </p:txBody>
      </p:sp>
      <p:sp>
        <p:nvSpPr>
          <p:cNvPr id="387" name="Google Shape;387;p10">
            <a:hlinkClick action="ppaction://hlinksldjump" r:id="rId19"/>
          </p:cNvPr>
          <p:cNvSpPr/>
          <p:nvPr/>
        </p:nvSpPr>
        <p:spPr>
          <a:xfrm>
            <a:off x="6159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0">
            <a:hlinkClick action="ppaction://hlinksldjump" r:id="rId20"/>
          </p:cNvPr>
          <p:cNvSpPr/>
          <p:nvPr/>
        </p:nvSpPr>
        <p:spPr>
          <a:xfrm>
            <a:off x="7112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A6</a:t>
            </a:r>
            <a:endParaRPr b="0" i="0" sz="1200" u="none" cap="none" strike="noStrike">
              <a:solidFill>
                <a:schemeClr val="dk1"/>
              </a:solidFill>
              <a:latin typeface="Source Sans 3"/>
              <a:ea typeface="Source Sans 3"/>
              <a:cs typeface="Source Sans 3"/>
              <a:sym typeface="Source Sans 3"/>
            </a:endParaRPr>
          </a:p>
        </p:txBody>
      </p:sp>
      <p:sp>
        <p:nvSpPr>
          <p:cNvPr id="389" name="Google Shape;389;p10">
            <a:hlinkClick action="ppaction://hlinksldjump" r:id="rId21"/>
          </p:cNvPr>
          <p:cNvSpPr/>
          <p:nvPr/>
        </p:nvSpPr>
        <p:spPr>
          <a:xfrm>
            <a:off x="11938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Data cleaning decisions</a:t>
            </a:r>
            <a:endParaRPr b="0" i="0" sz="1200" u="none" cap="none" strike="noStrike">
              <a:solidFill>
                <a:schemeClr val="dk1"/>
              </a:solidFill>
              <a:latin typeface="Source Sans 3"/>
              <a:ea typeface="Source Sans 3"/>
              <a:cs typeface="Source Sans 3"/>
              <a:sym typeface="Source Sans 3"/>
            </a:endParaRPr>
          </a:p>
        </p:txBody>
      </p:sp>
      <p:sp>
        <p:nvSpPr>
          <p:cNvPr id="390" name="Google Shape;390;p10">
            <a:hlinkClick action="ppaction://hlinksldjump" r:id="rId22"/>
          </p:cNvPr>
          <p:cNvSpPr/>
          <p:nvPr/>
        </p:nvSpPr>
        <p:spPr>
          <a:xfrm>
            <a:off x="615950" y="428347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0">
            <a:hlinkClick action="ppaction://hlinksldjump" r:id="rId23"/>
          </p:cNvPr>
          <p:cNvSpPr/>
          <p:nvPr/>
        </p:nvSpPr>
        <p:spPr>
          <a:xfrm>
            <a:off x="711200" y="434062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A7</a:t>
            </a:r>
            <a:endParaRPr b="0" i="0" sz="1200" u="none" cap="none" strike="noStrike">
              <a:solidFill>
                <a:schemeClr val="dk1"/>
              </a:solidFill>
              <a:latin typeface="Source Sans 3"/>
              <a:ea typeface="Source Sans 3"/>
              <a:cs typeface="Source Sans 3"/>
              <a:sym typeface="Source Sans 3"/>
            </a:endParaRPr>
          </a:p>
        </p:txBody>
      </p:sp>
      <p:sp>
        <p:nvSpPr>
          <p:cNvPr id="392" name="Google Shape;392;p10">
            <a:hlinkClick action="ppaction://hlinksldjump" r:id="rId24"/>
          </p:cNvPr>
          <p:cNvSpPr/>
          <p:nvPr/>
        </p:nvSpPr>
        <p:spPr>
          <a:xfrm>
            <a:off x="1193800" y="428347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Q1 correlations, outliers</a:t>
            </a:r>
            <a:endParaRPr b="0" i="0" sz="1200" u="none" cap="none" strike="noStrike">
              <a:solidFill>
                <a:schemeClr val="dk1"/>
              </a:solidFill>
              <a:latin typeface="Source Sans 3"/>
              <a:ea typeface="Source Sans 3"/>
              <a:cs typeface="Source Sans 3"/>
              <a:sym typeface="Source Sans 3"/>
            </a:endParaRPr>
          </a:p>
        </p:txBody>
      </p:sp>
      <p:sp>
        <p:nvSpPr>
          <p:cNvPr id="393" name="Google Shape;393;p10">
            <a:hlinkClick action="ppaction://hlinksldjump" r:id="rId25"/>
          </p:cNvPr>
          <p:cNvSpPr/>
          <p:nvPr/>
        </p:nvSpPr>
        <p:spPr>
          <a:xfrm>
            <a:off x="615950" y="473809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0">
            <a:hlinkClick action="ppaction://hlinksldjump" r:id="rId26"/>
          </p:cNvPr>
          <p:cNvSpPr/>
          <p:nvPr/>
        </p:nvSpPr>
        <p:spPr>
          <a:xfrm>
            <a:off x="711200" y="479524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A8</a:t>
            </a:r>
            <a:endParaRPr b="0" i="0" sz="1200" u="none" cap="none" strike="noStrike">
              <a:solidFill>
                <a:schemeClr val="dk1"/>
              </a:solidFill>
              <a:latin typeface="Source Sans 3"/>
              <a:ea typeface="Source Sans 3"/>
              <a:cs typeface="Source Sans 3"/>
              <a:sym typeface="Source Sans 3"/>
            </a:endParaRPr>
          </a:p>
        </p:txBody>
      </p:sp>
      <p:sp>
        <p:nvSpPr>
          <p:cNvPr id="395" name="Google Shape;395;p10">
            <a:hlinkClick action="ppaction://hlinksldjump" r:id="rId27"/>
          </p:cNvPr>
          <p:cNvSpPr/>
          <p:nvPr/>
        </p:nvSpPr>
        <p:spPr>
          <a:xfrm>
            <a:off x="1193800" y="473809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Q1 county characteristics</a:t>
            </a:r>
            <a:endParaRPr b="0" i="0" sz="1200" u="none" cap="none" strike="noStrike">
              <a:solidFill>
                <a:schemeClr val="dk1"/>
              </a:solidFill>
              <a:latin typeface="Source Sans 3"/>
              <a:ea typeface="Source Sans 3"/>
              <a:cs typeface="Source Sans 3"/>
              <a:sym typeface="Source Sans 3"/>
            </a:endParaRPr>
          </a:p>
        </p:txBody>
      </p:sp>
      <p:sp>
        <p:nvSpPr>
          <p:cNvPr id="396" name="Google Shape;396;p10">
            <a:hlinkClick action="ppaction://hlinksldjump" r:id="rId28"/>
          </p:cNvPr>
          <p:cNvSpPr/>
          <p:nvPr/>
        </p:nvSpPr>
        <p:spPr>
          <a:xfrm>
            <a:off x="43243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10">
            <a:hlinkClick action="ppaction://hlinksldjump" r:id="rId29"/>
          </p:cNvPr>
          <p:cNvSpPr/>
          <p:nvPr/>
        </p:nvSpPr>
        <p:spPr>
          <a:xfrm>
            <a:off x="44196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A9</a:t>
            </a:r>
            <a:endParaRPr b="0" i="0" sz="1200" u="none" cap="none" strike="noStrike">
              <a:solidFill>
                <a:schemeClr val="dk1"/>
              </a:solidFill>
              <a:latin typeface="Source Sans 3"/>
              <a:ea typeface="Source Sans 3"/>
              <a:cs typeface="Source Sans 3"/>
              <a:sym typeface="Source Sans 3"/>
            </a:endParaRPr>
          </a:p>
        </p:txBody>
      </p:sp>
      <p:sp>
        <p:nvSpPr>
          <p:cNvPr id="398" name="Google Shape;398;p10">
            <a:hlinkClick action="ppaction://hlinksldjump" r:id="rId30"/>
          </p:cNvPr>
          <p:cNvSpPr/>
          <p:nvPr/>
        </p:nvSpPr>
        <p:spPr>
          <a:xfrm>
            <a:off x="49022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need index, counties</a:t>
            </a:r>
            <a:endParaRPr b="0" i="0" sz="1200" u="none" cap="none" strike="noStrike">
              <a:solidFill>
                <a:schemeClr val="dk1"/>
              </a:solidFill>
              <a:latin typeface="Source Sans 3"/>
              <a:ea typeface="Source Sans 3"/>
              <a:cs typeface="Source Sans 3"/>
              <a:sym typeface="Source Sans 3"/>
            </a:endParaRPr>
          </a:p>
        </p:txBody>
      </p:sp>
      <p:sp>
        <p:nvSpPr>
          <p:cNvPr id="399" name="Google Shape;399;p10">
            <a:hlinkClick action="ppaction://hlinksldjump" r:id="rId31"/>
          </p:cNvPr>
          <p:cNvSpPr/>
          <p:nvPr/>
        </p:nvSpPr>
        <p:spPr>
          <a:xfrm>
            <a:off x="43243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10">
            <a:hlinkClick action="ppaction://hlinksldjump" r:id="rId32"/>
          </p:cNvPr>
          <p:cNvSpPr/>
          <p:nvPr/>
        </p:nvSpPr>
        <p:spPr>
          <a:xfrm>
            <a:off x="44196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A10</a:t>
            </a:r>
            <a:endParaRPr b="0" i="0" sz="1200" u="none" cap="none" strike="noStrike">
              <a:solidFill>
                <a:schemeClr val="dk1"/>
              </a:solidFill>
              <a:latin typeface="Source Sans 3"/>
              <a:ea typeface="Source Sans 3"/>
              <a:cs typeface="Source Sans 3"/>
              <a:sym typeface="Source Sans 3"/>
            </a:endParaRPr>
          </a:p>
        </p:txBody>
      </p:sp>
      <p:sp>
        <p:nvSpPr>
          <p:cNvPr id="401" name="Google Shape;401;p10">
            <a:hlinkClick action="ppaction://hlinksldjump" r:id="rId33"/>
          </p:cNvPr>
          <p:cNvSpPr/>
          <p:nvPr/>
        </p:nvSpPr>
        <p:spPr>
          <a:xfrm>
            <a:off x="49022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falsifiable definition</a:t>
            </a:r>
            <a:endParaRPr b="0" i="0" sz="1200" u="none" cap="none" strike="noStrike">
              <a:solidFill>
                <a:schemeClr val="dk1"/>
              </a:solidFill>
              <a:latin typeface="Source Sans 3"/>
              <a:ea typeface="Source Sans 3"/>
              <a:cs typeface="Source Sans 3"/>
              <a:sym typeface="Source Sans 3"/>
            </a:endParaRPr>
          </a:p>
        </p:txBody>
      </p:sp>
      <p:sp>
        <p:nvSpPr>
          <p:cNvPr id="402" name="Google Shape;402;p10">
            <a:hlinkClick action="ppaction://hlinksldjump" r:id="rId34"/>
          </p:cNvPr>
          <p:cNvSpPr/>
          <p:nvPr/>
        </p:nvSpPr>
        <p:spPr>
          <a:xfrm>
            <a:off x="43243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10">
            <a:hlinkClick action="ppaction://hlinksldjump" r:id="rId35"/>
          </p:cNvPr>
          <p:cNvSpPr/>
          <p:nvPr/>
        </p:nvSpPr>
        <p:spPr>
          <a:xfrm>
            <a:off x="44196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A11</a:t>
            </a:r>
            <a:endParaRPr b="0" i="0" sz="1200" u="none" cap="none" strike="noStrike">
              <a:solidFill>
                <a:schemeClr val="dk1"/>
              </a:solidFill>
              <a:latin typeface="Source Sans 3"/>
              <a:ea typeface="Source Sans 3"/>
              <a:cs typeface="Source Sans 3"/>
              <a:sym typeface="Source Sans 3"/>
            </a:endParaRPr>
          </a:p>
        </p:txBody>
      </p:sp>
      <p:sp>
        <p:nvSpPr>
          <p:cNvPr id="404" name="Google Shape;404;p10">
            <a:hlinkClick action="ppaction://hlinksldjump" r:id="rId36"/>
          </p:cNvPr>
          <p:cNvSpPr/>
          <p:nvPr/>
        </p:nvSpPr>
        <p:spPr>
          <a:xfrm>
            <a:off x="49022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Q6 drivers, robustness</a:t>
            </a:r>
            <a:endParaRPr b="0" i="0" sz="1200" u="none" cap="none" strike="noStrike">
              <a:solidFill>
                <a:schemeClr val="dk1"/>
              </a:solidFill>
              <a:latin typeface="Source Sans 3"/>
              <a:ea typeface="Source Sans 3"/>
              <a:cs typeface="Source Sans 3"/>
              <a:sym typeface="Source Sans 3"/>
            </a:endParaRPr>
          </a:p>
        </p:txBody>
      </p:sp>
      <p:sp>
        <p:nvSpPr>
          <p:cNvPr id="405" name="Google Shape;405;p10">
            <a:hlinkClick action="ppaction://hlinksldjump" r:id="rId37"/>
          </p:cNvPr>
          <p:cNvSpPr/>
          <p:nvPr/>
        </p:nvSpPr>
        <p:spPr>
          <a:xfrm>
            <a:off x="43243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0">
            <a:hlinkClick action="ppaction://hlinksldjump" r:id="rId38"/>
          </p:cNvPr>
          <p:cNvSpPr/>
          <p:nvPr/>
        </p:nvSpPr>
        <p:spPr>
          <a:xfrm>
            <a:off x="44196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A12</a:t>
            </a:r>
            <a:endParaRPr b="0" i="0" sz="1200" u="none" cap="none" strike="noStrike">
              <a:solidFill>
                <a:schemeClr val="dk1"/>
              </a:solidFill>
              <a:latin typeface="Source Sans 3"/>
              <a:ea typeface="Source Sans 3"/>
              <a:cs typeface="Source Sans 3"/>
              <a:sym typeface="Source Sans 3"/>
            </a:endParaRPr>
          </a:p>
        </p:txBody>
      </p:sp>
      <p:sp>
        <p:nvSpPr>
          <p:cNvPr id="407" name="Google Shape;407;p10">
            <a:hlinkClick action="ppaction://hlinksldjump" r:id="rId39"/>
          </p:cNvPr>
          <p:cNvSpPr/>
          <p:nvPr/>
        </p:nvSpPr>
        <p:spPr>
          <a:xfrm>
            <a:off x="49022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Q4 results</a:t>
            </a:r>
            <a:endParaRPr b="0" i="0" sz="1200" u="none" cap="none" strike="noStrike">
              <a:solidFill>
                <a:schemeClr val="dk1"/>
              </a:solidFill>
              <a:latin typeface="Source Sans 3"/>
              <a:ea typeface="Source Sans 3"/>
              <a:cs typeface="Source Sans 3"/>
              <a:sym typeface="Source Sans 3"/>
            </a:endParaRPr>
          </a:p>
        </p:txBody>
      </p:sp>
      <p:sp>
        <p:nvSpPr>
          <p:cNvPr id="408" name="Google Shape;408;p10">
            <a:hlinkClick action="ppaction://hlinksldjump" r:id="rId40"/>
          </p:cNvPr>
          <p:cNvSpPr/>
          <p:nvPr/>
        </p:nvSpPr>
        <p:spPr>
          <a:xfrm>
            <a:off x="43243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0">
            <a:hlinkClick action="ppaction://hlinksldjump" r:id="rId41"/>
          </p:cNvPr>
          <p:cNvSpPr/>
          <p:nvPr/>
        </p:nvSpPr>
        <p:spPr>
          <a:xfrm>
            <a:off x="44196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A13</a:t>
            </a:r>
            <a:endParaRPr b="0" i="0" sz="1200" u="none" cap="none" strike="noStrike">
              <a:solidFill>
                <a:schemeClr val="dk1"/>
              </a:solidFill>
              <a:latin typeface="Source Sans 3"/>
              <a:ea typeface="Source Sans 3"/>
              <a:cs typeface="Source Sans 3"/>
              <a:sym typeface="Source Sans 3"/>
            </a:endParaRPr>
          </a:p>
        </p:txBody>
      </p:sp>
      <p:sp>
        <p:nvSpPr>
          <p:cNvPr id="410" name="Google Shape;410;p10">
            <a:hlinkClick action="ppaction://hlinksldjump" r:id="rId42"/>
          </p:cNvPr>
          <p:cNvSpPr/>
          <p:nvPr/>
        </p:nvSpPr>
        <p:spPr>
          <a:xfrm>
            <a:off x="49022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Q4 method and checks</a:t>
            </a:r>
            <a:endParaRPr b="0" i="0" sz="1200" u="none" cap="none" strike="noStrike">
              <a:solidFill>
                <a:schemeClr val="dk1"/>
              </a:solidFill>
              <a:latin typeface="Source Sans 3"/>
              <a:ea typeface="Source Sans 3"/>
              <a:cs typeface="Source Sans 3"/>
              <a:sym typeface="Source Sans 3"/>
            </a:endParaRPr>
          </a:p>
        </p:txBody>
      </p:sp>
      <p:sp>
        <p:nvSpPr>
          <p:cNvPr id="411" name="Google Shape;411;p10">
            <a:hlinkClick action="ppaction://hlinksldjump" r:id="rId43"/>
          </p:cNvPr>
          <p:cNvSpPr/>
          <p:nvPr/>
        </p:nvSpPr>
        <p:spPr>
          <a:xfrm>
            <a:off x="43243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0">
            <a:hlinkClick action="ppaction://hlinksldjump" r:id="rId44"/>
          </p:cNvPr>
          <p:cNvSpPr/>
          <p:nvPr/>
        </p:nvSpPr>
        <p:spPr>
          <a:xfrm>
            <a:off x="44196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A14</a:t>
            </a:r>
            <a:endParaRPr b="0" i="0" sz="1200" u="none" cap="none" strike="noStrike">
              <a:solidFill>
                <a:schemeClr val="dk1"/>
              </a:solidFill>
              <a:latin typeface="Source Sans 3"/>
              <a:ea typeface="Source Sans 3"/>
              <a:cs typeface="Source Sans 3"/>
              <a:sym typeface="Source Sans 3"/>
            </a:endParaRPr>
          </a:p>
        </p:txBody>
      </p:sp>
      <p:sp>
        <p:nvSpPr>
          <p:cNvPr id="413" name="Google Shape;413;p10">
            <a:hlinkClick action="ppaction://hlinksldjump" r:id="rId45"/>
          </p:cNvPr>
          <p:cNvSpPr/>
          <p:nvPr/>
        </p:nvSpPr>
        <p:spPr>
          <a:xfrm>
            <a:off x="49022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results</a:t>
            </a:r>
            <a:endParaRPr b="0" i="0" sz="1200" u="none" cap="none" strike="noStrike">
              <a:solidFill>
                <a:schemeClr val="dk1"/>
              </a:solidFill>
              <a:latin typeface="Source Sans 3"/>
              <a:ea typeface="Source Sans 3"/>
              <a:cs typeface="Source Sans 3"/>
              <a:sym typeface="Source Sans 3"/>
            </a:endParaRPr>
          </a:p>
        </p:txBody>
      </p:sp>
      <p:sp>
        <p:nvSpPr>
          <p:cNvPr id="414" name="Google Shape;414;p10">
            <a:hlinkClick action="ppaction://hlinksldjump" r:id="rId46"/>
          </p:cNvPr>
          <p:cNvSpPr/>
          <p:nvPr/>
        </p:nvSpPr>
        <p:spPr>
          <a:xfrm>
            <a:off x="4324350" y="428347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0">
            <a:hlinkClick action="ppaction://hlinksldjump" r:id="rId47"/>
          </p:cNvPr>
          <p:cNvSpPr/>
          <p:nvPr/>
        </p:nvSpPr>
        <p:spPr>
          <a:xfrm>
            <a:off x="4419600" y="434062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A15</a:t>
            </a:r>
            <a:endParaRPr b="0" i="0" sz="1200" u="none" cap="none" strike="noStrike">
              <a:solidFill>
                <a:schemeClr val="dk1"/>
              </a:solidFill>
              <a:latin typeface="Source Sans 3"/>
              <a:ea typeface="Source Sans 3"/>
              <a:cs typeface="Source Sans 3"/>
              <a:sym typeface="Source Sans 3"/>
            </a:endParaRPr>
          </a:p>
        </p:txBody>
      </p:sp>
      <p:sp>
        <p:nvSpPr>
          <p:cNvPr id="416" name="Google Shape;416;p10">
            <a:hlinkClick action="ppaction://hlinksldjump" r:id="rId48"/>
          </p:cNvPr>
          <p:cNvSpPr/>
          <p:nvPr/>
        </p:nvSpPr>
        <p:spPr>
          <a:xfrm>
            <a:off x="4902200" y="428347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tests: together or replace</a:t>
            </a:r>
            <a:endParaRPr b="0" i="0" sz="1200" u="none" cap="none" strike="noStrike">
              <a:solidFill>
                <a:schemeClr val="dk1"/>
              </a:solidFill>
              <a:latin typeface="Source Sans 3"/>
              <a:ea typeface="Source Sans 3"/>
              <a:cs typeface="Source Sans 3"/>
              <a:sym typeface="Source Sans 3"/>
            </a:endParaRPr>
          </a:p>
        </p:txBody>
      </p:sp>
      <p:sp>
        <p:nvSpPr>
          <p:cNvPr id="417" name="Google Shape;417;p10">
            <a:hlinkClick action="ppaction://hlinksldjump" r:id="rId49"/>
          </p:cNvPr>
          <p:cNvSpPr/>
          <p:nvPr/>
        </p:nvSpPr>
        <p:spPr>
          <a:xfrm>
            <a:off x="4324350" y="473809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10">
            <a:hlinkClick action="ppaction://hlinksldjump" r:id="rId50"/>
          </p:cNvPr>
          <p:cNvSpPr/>
          <p:nvPr/>
        </p:nvSpPr>
        <p:spPr>
          <a:xfrm>
            <a:off x="4419600" y="479524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A16</a:t>
            </a:r>
            <a:endParaRPr b="0" i="0" sz="1200" u="none" cap="none" strike="noStrike">
              <a:solidFill>
                <a:schemeClr val="dk1"/>
              </a:solidFill>
              <a:latin typeface="Source Sans 3"/>
              <a:ea typeface="Source Sans 3"/>
              <a:cs typeface="Source Sans 3"/>
              <a:sym typeface="Source Sans 3"/>
            </a:endParaRPr>
          </a:p>
        </p:txBody>
      </p:sp>
      <p:sp>
        <p:nvSpPr>
          <p:cNvPr id="419" name="Google Shape;419;p10">
            <a:hlinkClick action="ppaction://hlinksldjump" r:id="rId51"/>
          </p:cNvPr>
          <p:cNvSpPr/>
          <p:nvPr/>
        </p:nvSpPr>
        <p:spPr>
          <a:xfrm>
            <a:off x="4902200" y="473809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Q5 tests: shock, locations</a:t>
            </a:r>
            <a:endParaRPr b="0" i="0" sz="1200" u="none" cap="none" strike="noStrike">
              <a:solidFill>
                <a:schemeClr val="dk1"/>
              </a:solidFill>
              <a:latin typeface="Source Sans 3"/>
              <a:ea typeface="Source Sans 3"/>
              <a:cs typeface="Source Sans 3"/>
              <a:sym typeface="Source Sans 3"/>
            </a:endParaRPr>
          </a:p>
        </p:txBody>
      </p:sp>
      <p:sp>
        <p:nvSpPr>
          <p:cNvPr id="420" name="Google Shape;420;p10">
            <a:hlinkClick action="ppaction://hlinksldjump" r:id="rId52"/>
          </p:cNvPr>
          <p:cNvSpPr/>
          <p:nvPr/>
        </p:nvSpPr>
        <p:spPr>
          <a:xfrm>
            <a:off x="8032750" y="155575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10">
            <a:hlinkClick action="ppaction://hlinksldjump" r:id="rId53"/>
          </p:cNvPr>
          <p:cNvSpPr/>
          <p:nvPr/>
        </p:nvSpPr>
        <p:spPr>
          <a:xfrm>
            <a:off x="8128000" y="161290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A17</a:t>
            </a:r>
            <a:endParaRPr b="0" i="0" sz="1200" u="none" cap="none" strike="noStrike">
              <a:solidFill>
                <a:schemeClr val="dk1"/>
              </a:solidFill>
              <a:latin typeface="Source Sans 3"/>
              <a:ea typeface="Source Sans 3"/>
              <a:cs typeface="Source Sans 3"/>
              <a:sym typeface="Source Sans 3"/>
            </a:endParaRPr>
          </a:p>
        </p:txBody>
      </p:sp>
      <p:sp>
        <p:nvSpPr>
          <p:cNvPr id="422" name="Google Shape;422;p10">
            <a:hlinkClick action="ppaction://hlinksldjump" r:id="rId54"/>
          </p:cNvPr>
          <p:cNvSpPr/>
          <p:nvPr/>
        </p:nvSpPr>
        <p:spPr>
          <a:xfrm>
            <a:off x="8610600" y="155575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Q7 model and holdout</a:t>
            </a:r>
            <a:endParaRPr b="0" i="0" sz="1200" u="none" cap="none" strike="noStrike">
              <a:solidFill>
                <a:schemeClr val="dk1"/>
              </a:solidFill>
              <a:latin typeface="Source Sans 3"/>
              <a:ea typeface="Source Sans 3"/>
              <a:cs typeface="Source Sans 3"/>
              <a:sym typeface="Source Sans 3"/>
            </a:endParaRPr>
          </a:p>
        </p:txBody>
      </p:sp>
      <p:sp>
        <p:nvSpPr>
          <p:cNvPr id="423" name="Google Shape;423;p10">
            <a:hlinkClick action="ppaction://hlinksldjump" r:id="rId55"/>
          </p:cNvPr>
          <p:cNvSpPr/>
          <p:nvPr/>
        </p:nvSpPr>
        <p:spPr>
          <a:xfrm>
            <a:off x="8032750" y="2010370"/>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0">
            <a:hlinkClick action="ppaction://hlinksldjump" r:id="rId56"/>
          </p:cNvPr>
          <p:cNvSpPr/>
          <p:nvPr/>
        </p:nvSpPr>
        <p:spPr>
          <a:xfrm>
            <a:off x="8128000" y="2067520"/>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A18</a:t>
            </a:r>
            <a:endParaRPr b="0" i="0" sz="1200" u="none" cap="none" strike="noStrike">
              <a:solidFill>
                <a:schemeClr val="dk1"/>
              </a:solidFill>
              <a:latin typeface="Source Sans 3"/>
              <a:ea typeface="Source Sans 3"/>
              <a:cs typeface="Source Sans 3"/>
              <a:sym typeface="Source Sans 3"/>
            </a:endParaRPr>
          </a:p>
        </p:txBody>
      </p:sp>
      <p:sp>
        <p:nvSpPr>
          <p:cNvPr id="425" name="Google Shape;425;p10">
            <a:hlinkClick action="ppaction://hlinksldjump" r:id="rId57"/>
          </p:cNvPr>
          <p:cNvSpPr/>
          <p:nvPr/>
        </p:nvSpPr>
        <p:spPr>
          <a:xfrm>
            <a:off x="8610600" y="2010370"/>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definition and method</a:t>
            </a:r>
            <a:endParaRPr b="0" i="0" sz="1200" u="none" cap="none" strike="noStrike">
              <a:solidFill>
                <a:schemeClr val="dk1"/>
              </a:solidFill>
              <a:latin typeface="Source Sans 3"/>
              <a:ea typeface="Source Sans 3"/>
              <a:cs typeface="Source Sans 3"/>
              <a:sym typeface="Source Sans 3"/>
            </a:endParaRPr>
          </a:p>
        </p:txBody>
      </p:sp>
      <p:sp>
        <p:nvSpPr>
          <p:cNvPr id="426" name="Google Shape;426;p10">
            <a:hlinkClick action="ppaction://hlinksldjump" r:id="rId58"/>
          </p:cNvPr>
          <p:cNvSpPr/>
          <p:nvPr/>
        </p:nvSpPr>
        <p:spPr>
          <a:xfrm>
            <a:off x="8032750" y="246499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0">
            <a:hlinkClick action="ppaction://hlinksldjump" r:id="rId59"/>
          </p:cNvPr>
          <p:cNvSpPr/>
          <p:nvPr/>
        </p:nvSpPr>
        <p:spPr>
          <a:xfrm>
            <a:off x="8128000" y="252214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A19</a:t>
            </a:r>
            <a:endParaRPr b="0" i="0" sz="1200" u="none" cap="none" strike="noStrike">
              <a:solidFill>
                <a:schemeClr val="dk1"/>
              </a:solidFill>
              <a:latin typeface="Source Sans 3"/>
              <a:ea typeface="Source Sans 3"/>
              <a:cs typeface="Source Sans 3"/>
              <a:sym typeface="Source Sans 3"/>
            </a:endParaRPr>
          </a:p>
        </p:txBody>
      </p:sp>
      <p:sp>
        <p:nvSpPr>
          <p:cNvPr id="428" name="Google Shape;428;p10">
            <a:hlinkClick action="ppaction://hlinksldjump" r:id="rId60"/>
          </p:cNvPr>
          <p:cNvSpPr/>
          <p:nvPr/>
        </p:nvSpPr>
        <p:spPr>
          <a:xfrm>
            <a:off x="8610600" y="246499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reach, fill or repeat</a:t>
            </a:r>
            <a:endParaRPr b="0" i="0" sz="1200" u="none" cap="none" strike="noStrike">
              <a:solidFill>
                <a:schemeClr val="dk1"/>
              </a:solidFill>
              <a:latin typeface="Source Sans 3"/>
              <a:ea typeface="Source Sans 3"/>
              <a:cs typeface="Source Sans 3"/>
              <a:sym typeface="Source Sans 3"/>
            </a:endParaRPr>
          </a:p>
        </p:txBody>
      </p:sp>
      <p:sp>
        <p:nvSpPr>
          <p:cNvPr id="429" name="Google Shape;429;p10">
            <a:hlinkClick action="ppaction://hlinksldjump" r:id="rId61"/>
          </p:cNvPr>
          <p:cNvSpPr/>
          <p:nvPr/>
        </p:nvSpPr>
        <p:spPr>
          <a:xfrm>
            <a:off x="8032750" y="291961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0">
            <a:hlinkClick action="ppaction://hlinksldjump" r:id="rId62"/>
          </p:cNvPr>
          <p:cNvSpPr/>
          <p:nvPr/>
        </p:nvSpPr>
        <p:spPr>
          <a:xfrm>
            <a:off x="8128000" y="297676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A20</a:t>
            </a:r>
            <a:endParaRPr b="0" i="0" sz="1200" u="none" cap="none" strike="noStrike">
              <a:solidFill>
                <a:schemeClr val="dk1"/>
              </a:solidFill>
              <a:latin typeface="Source Sans 3"/>
              <a:ea typeface="Source Sans 3"/>
              <a:cs typeface="Source Sans 3"/>
              <a:sym typeface="Source Sans 3"/>
            </a:endParaRPr>
          </a:p>
        </p:txBody>
      </p:sp>
      <p:sp>
        <p:nvSpPr>
          <p:cNvPr id="431" name="Google Shape;431;p10">
            <a:hlinkClick action="ppaction://hlinksldjump" r:id="rId63"/>
          </p:cNvPr>
          <p:cNvSpPr/>
          <p:nvPr/>
        </p:nvSpPr>
        <p:spPr>
          <a:xfrm>
            <a:off x="8610600" y="291961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gap tracts</a:t>
            </a:r>
            <a:endParaRPr b="0" i="0" sz="1200" u="none" cap="none" strike="noStrike">
              <a:solidFill>
                <a:schemeClr val="dk1"/>
              </a:solidFill>
              <a:latin typeface="Source Sans 3"/>
              <a:ea typeface="Source Sans 3"/>
              <a:cs typeface="Source Sans 3"/>
              <a:sym typeface="Source Sans 3"/>
            </a:endParaRPr>
          </a:p>
        </p:txBody>
      </p:sp>
      <p:sp>
        <p:nvSpPr>
          <p:cNvPr id="432" name="Google Shape;432;p10">
            <a:hlinkClick action="ppaction://hlinksldjump" r:id="rId64"/>
          </p:cNvPr>
          <p:cNvSpPr/>
          <p:nvPr/>
        </p:nvSpPr>
        <p:spPr>
          <a:xfrm>
            <a:off x="8032750" y="3374231"/>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0">
            <a:hlinkClick action="ppaction://hlinksldjump" r:id="rId65"/>
          </p:cNvPr>
          <p:cNvSpPr/>
          <p:nvPr/>
        </p:nvSpPr>
        <p:spPr>
          <a:xfrm>
            <a:off x="8128000" y="3431381"/>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A21</a:t>
            </a:r>
            <a:endParaRPr b="0" i="0" sz="1200" u="none" cap="none" strike="noStrike">
              <a:solidFill>
                <a:schemeClr val="dk1"/>
              </a:solidFill>
              <a:latin typeface="Source Sans 3"/>
              <a:ea typeface="Source Sans 3"/>
              <a:cs typeface="Source Sans 3"/>
              <a:sym typeface="Source Sans 3"/>
            </a:endParaRPr>
          </a:p>
        </p:txBody>
      </p:sp>
      <p:sp>
        <p:nvSpPr>
          <p:cNvPr id="434" name="Google Shape;434;p10">
            <a:hlinkClick action="ppaction://hlinksldjump" r:id="rId66"/>
          </p:cNvPr>
          <p:cNvSpPr/>
          <p:nvPr/>
        </p:nvSpPr>
        <p:spPr>
          <a:xfrm>
            <a:off x="8610600" y="3374231"/>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Q8 robustness</a:t>
            </a:r>
            <a:endParaRPr b="0" i="0" sz="1200" u="none" cap="none" strike="noStrike">
              <a:solidFill>
                <a:schemeClr val="dk1"/>
              </a:solidFill>
              <a:latin typeface="Source Sans 3"/>
              <a:ea typeface="Source Sans 3"/>
              <a:cs typeface="Source Sans 3"/>
              <a:sym typeface="Source Sans 3"/>
            </a:endParaRPr>
          </a:p>
        </p:txBody>
      </p:sp>
      <p:sp>
        <p:nvSpPr>
          <p:cNvPr id="435" name="Google Shape;435;p10">
            <a:hlinkClick action="ppaction://hlinksldjump" r:id="rId67"/>
          </p:cNvPr>
          <p:cNvSpPr/>
          <p:nvPr/>
        </p:nvSpPr>
        <p:spPr>
          <a:xfrm>
            <a:off x="8032750" y="3828852"/>
            <a:ext cx="3543300" cy="378420"/>
          </a:xfrm>
          <a:prstGeom prst="roundRect">
            <a:avLst>
              <a:gd fmla="val 1845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10">
            <a:hlinkClick action="ppaction://hlinksldjump" r:id="rId68"/>
          </p:cNvPr>
          <p:cNvSpPr/>
          <p:nvPr/>
        </p:nvSpPr>
        <p:spPr>
          <a:xfrm>
            <a:off x="8128000" y="3886002"/>
            <a:ext cx="393700" cy="264120"/>
          </a:xfrm>
          <a:custGeom>
            <a:rect b="b" l="l" r="r" t="t"/>
            <a:pathLst>
              <a:path extrusionOk="0" h="264120" w="393700">
                <a:moveTo>
                  <a:pt x="50800" y="0"/>
                </a:moveTo>
                <a:lnTo>
                  <a:pt x="342900" y="0"/>
                </a:lnTo>
                <a:cubicBezTo>
                  <a:pt x="356373" y="0"/>
                  <a:pt x="369294" y="5352"/>
                  <a:pt x="378821" y="14879"/>
                </a:cubicBezTo>
                <a:cubicBezTo>
                  <a:pt x="388348" y="24406"/>
                  <a:pt x="393700" y="37327"/>
                  <a:pt x="393700" y="50800"/>
                </a:cubicBezTo>
                <a:lnTo>
                  <a:pt x="393700" y="213320"/>
                </a:lnTo>
                <a:cubicBezTo>
                  <a:pt x="393700" y="241376"/>
                  <a:pt x="370956" y="264120"/>
                  <a:pt x="342900" y="264120"/>
                </a:cubicBezTo>
                <a:lnTo>
                  <a:pt x="50800" y="264120"/>
                </a:lnTo>
                <a:cubicBezTo>
                  <a:pt x="22744" y="264120"/>
                  <a:pt x="0" y="241376"/>
                  <a:pt x="0" y="213320"/>
                </a:cubicBezTo>
                <a:lnTo>
                  <a:pt x="0" y="50800"/>
                </a:lnTo>
                <a:cubicBezTo>
                  <a:pt x="0" y="22744"/>
                  <a:pt x="22744" y="0"/>
                  <a:pt x="50800" y="0"/>
                </a:cubicBezTo>
                <a:close/>
              </a:path>
            </a:pathLst>
          </a:custGeom>
          <a:solidFill>
            <a:srgbClr val="1F3B2D"/>
          </a:solidFill>
          <a:ln>
            <a:noFill/>
          </a:ln>
        </p:spPr>
        <p:txBody>
          <a:bodyPr anchorCtr="0" anchor="ctr" bIns="0" lIns="25400" spcFirstLastPara="1" rIns="25400" wrap="square" tIns="0">
            <a:noAutofit/>
          </a:bodyPr>
          <a:lstStyle/>
          <a:p>
            <a:pPr indent="0" lvl="0" marL="0" marR="0" rtl="0" algn="ctr">
              <a:lnSpc>
                <a:spcPct val="100000"/>
              </a:lnSpc>
              <a:spcBef>
                <a:spcPts val="0"/>
              </a:spcBef>
              <a:spcAft>
                <a:spcPts val="0"/>
              </a:spcAft>
              <a:buClr>
                <a:srgbClr val="FFFFFF"/>
              </a:buClr>
              <a:buSzPts val="1200"/>
              <a:buFont typeface="Source Serif 4"/>
              <a:buNone/>
            </a:pPr>
            <a:r>
              <a:rPr b="1" i="0" lang="en-US" sz="1200" u="none" cap="none" strike="noStrike">
                <a:solidFill>
                  <a:srgbClr val="FFFFFF"/>
                </a:solidFill>
                <a:latin typeface="Source Serif 4"/>
                <a:ea typeface="Source Serif 4"/>
                <a:cs typeface="Source Serif 4"/>
                <a:sym typeface="Source Serif 4"/>
              </a:rPr>
              <a:t>A22</a:t>
            </a:r>
            <a:endParaRPr b="0" i="0" sz="1200" u="none" cap="none" strike="noStrike">
              <a:solidFill>
                <a:schemeClr val="dk1"/>
              </a:solidFill>
              <a:latin typeface="Source Sans 3"/>
              <a:ea typeface="Source Sans 3"/>
              <a:cs typeface="Source Sans 3"/>
              <a:sym typeface="Source Sans 3"/>
            </a:endParaRPr>
          </a:p>
        </p:txBody>
      </p:sp>
      <p:sp>
        <p:nvSpPr>
          <p:cNvPr id="437" name="Google Shape;437;p10">
            <a:hlinkClick action="ppaction://hlinksldjump" r:id="rId69"/>
          </p:cNvPr>
          <p:cNvSpPr/>
          <p:nvPr/>
        </p:nvSpPr>
        <p:spPr>
          <a:xfrm>
            <a:off x="8610600" y="3828852"/>
            <a:ext cx="2708687" cy="3784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Limits and checks</a:t>
            </a:r>
            <a:endParaRPr b="0" i="0" sz="1200" u="none" cap="none" strike="noStrike">
              <a:solidFill>
                <a:schemeClr val="dk1"/>
              </a:solidFill>
              <a:latin typeface="Source Sans 3"/>
              <a:ea typeface="Source Sans 3"/>
              <a:cs typeface="Source Sans 3"/>
              <a:sym typeface="Source Sans 3"/>
            </a:endParaRPr>
          </a:p>
        </p:txBody>
      </p:sp>
      <p:sp>
        <p:nvSpPr>
          <p:cNvPr id="438" name="Google Shape;438;p1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Sources A1–A5 · Cleaning A6 · Q1 A7–A8 · Q6 A9–A11 · Q4 A12–A13 · Q5 A14–A16 · Q7 A17 · Q8 A18–A21</a:t>
            </a:r>
            <a:endParaRPr b="0" i="0" sz="1200" u="none" cap="none" strike="noStrike">
              <a:solidFill>
                <a:schemeClr val="dk1"/>
              </a:solidFill>
              <a:latin typeface="Source Sans 3"/>
              <a:ea typeface="Source Sans 3"/>
              <a:cs typeface="Source Sans 3"/>
              <a:sym typeface="Source Sans 3"/>
            </a:endParaRPr>
          </a:p>
        </p:txBody>
      </p:sp>
      <p:sp>
        <p:nvSpPr>
          <p:cNvPr id="439" name="Google Shape;439;p10"/>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10"/>
          <p:cNvSpPr/>
          <p:nvPr/>
        </p:nvSpPr>
        <p:spPr>
          <a:xfrm>
            <a:off x="0" y="6803136"/>
            <a:ext cx="530087"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1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46" name="Shape 446"/>
        <p:cNvGrpSpPr/>
        <p:nvPr/>
      </p:nvGrpSpPr>
      <p:grpSpPr>
        <a:xfrm>
          <a:off x="0" y="0"/>
          <a:ext cx="0" cy="0"/>
          <a:chOff x="0" y="0"/>
          <a:chExt cx="0" cy="0"/>
        </a:xfrm>
      </p:grpSpPr>
      <p:sp>
        <p:nvSpPr>
          <p:cNvPr id="447" name="Google Shape;447;p1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11"/>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 · Sources: competition data</a:t>
            </a:r>
            <a:endParaRPr b="0" i="0" sz="1300" u="none" cap="none" strike="noStrike">
              <a:solidFill>
                <a:schemeClr val="dk1"/>
              </a:solidFill>
              <a:latin typeface="Source Sans 3"/>
              <a:ea typeface="Source Sans 3"/>
              <a:cs typeface="Source Sans 3"/>
              <a:sym typeface="Source Sans 3"/>
            </a:endParaRPr>
          </a:p>
        </p:txBody>
      </p:sp>
      <p:sp>
        <p:nvSpPr>
          <p:cNvPr id="449" name="Google Shape;449;p1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450" name="Google Shape;450;p1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451" name="Google Shape;451;p1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A1</a:t>
            </a:r>
            <a:endParaRPr b="0" i="0" sz="1700" u="none" cap="none" strike="noStrike">
              <a:solidFill>
                <a:schemeClr val="dk1"/>
              </a:solidFill>
              <a:latin typeface="Source Sans 3"/>
              <a:ea typeface="Source Sans 3"/>
              <a:cs typeface="Source Sans 3"/>
              <a:sym typeface="Source Sans 3"/>
            </a:endParaRPr>
          </a:p>
        </p:txBody>
      </p:sp>
      <p:sp>
        <p:nvSpPr>
          <p:cNvPr id="452" name="Google Shape;452;p11"/>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Three competition files: site activity, partner list, Map the Meal Gap</a:t>
            </a:r>
            <a:endParaRPr sz="2100"/>
          </a:p>
        </p:txBody>
      </p:sp>
      <p:graphicFrame>
        <p:nvGraphicFramePr>
          <p:cNvPr id="453" name="Google Shape;453;p11"/>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 org_FSStats: HouseholdsReg (visits), IndividualsReg, PoundsReg, Children/Adults/SeniorsReg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Food shelf site →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January 2022 – July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Required data; the Reg fields the brief names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 Organization: partner type, status, county, 2020 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Site, 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Snapshot, September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Only source of site type and location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Q5 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Feeding America · Map the Meal Gap 2026 and 2025: food-insecure persons, rate, meal cost, % below SNAP limit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Annual, 2022–2024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Required; compared within a year, per its FAQ</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454" name="Google Shape;454;p11"/>
          <p:cNvSpPr/>
          <p:nvPr/>
        </p:nvSpPr>
        <p:spPr>
          <a:xfrm>
            <a:off x="609600" y="4555642"/>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1"/>
          <p:cNvSpPr/>
          <p:nvPr/>
        </p:nvSpPr>
        <p:spPr>
          <a:xfrm>
            <a:off x="774700" y="4682642"/>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CREDIT</a:t>
            </a:r>
            <a:endParaRPr b="0" i="0" sz="1200" u="none" cap="none" strike="noStrike">
              <a:solidFill>
                <a:schemeClr val="dk1"/>
              </a:solidFill>
              <a:latin typeface="Source Sans 3"/>
              <a:ea typeface="Source Sans 3"/>
              <a:cs typeface="Source Sans 3"/>
              <a:sym typeface="Source Sans 3"/>
            </a:endParaRPr>
          </a:p>
        </p:txBody>
      </p:sp>
      <p:sp>
        <p:nvSpPr>
          <p:cNvPr id="456" name="Google Shape;456;p11"/>
          <p:cNvSpPr/>
          <p:nvPr/>
        </p:nvSpPr>
        <p:spPr>
          <a:xfrm>
            <a:off x="774700" y="4934062"/>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Feeding America (2026). Map the Meal Gap 2026: county food insecurity and food cost in the United States in 2024.</a:t>
            </a:r>
            <a:endParaRPr b="0" i="0" sz="1200" u="none" cap="none" strike="noStrike">
              <a:solidFill>
                <a:schemeClr val="dk1"/>
              </a:solidFill>
              <a:latin typeface="Source Sans 3"/>
              <a:ea typeface="Source Sans 3"/>
              <a:cs typeface="Source Sans 3"/>
              <a:sym typeface="Source Sans 3"/>
            </a:endParaRPr>
          </a:p>
        </p:txBody>
      </p:sp>
      <p:sp>
        <p:nvSpPr>
          <p:cNvPr id="457" name="Google Shape;457;p1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Households served is the brief's visit field (about 28% of published visit totals)</a:t>
            </a:r>
            <a:endParaRPr b="0" i="0" sz="1200" u="none" cap="none" strike="noStrike">
              <a:solidFill>
                <a:schemeClr val="dk1"/>
              </a:solidFill>
              <a:latin typeface="Source Sans 3"/>
              <a:ea typeface="Source Sans 3"/>
              <a:cs typeface="Source Sans 3"/>
              <a:sym typeface="Source Sans 3"/>
            </a:endParaRPr>
          </a:p>
        </p:txBody>
      </p:sp>
      <p:sp>
        <p:nvSpPr>
          <p:cNvPr id="458" name="Google Shape;458;p11"/>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11"/>
          <p:cNvSpPr/>
          <p:nvPr/>
        </p:nvSpPr>
        <p:spPr>
          <a:xfrm>
            <a:off x="0" y="6803136"/>
            <a:ext cx="1060174"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1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65" name="Shape 465"/>
        <p:cNvGrpSpPr/>
        <p:nvPr/>
      </p:nvGrpSpPr>
      <p:grpSpPr>
        <a:xfrm>
          <a:off x="0" y="0"/>
          <a:ext cx="0" cy="0"/>
          <a:chOff x="0" y="0"/>
          <a:chExt cx="0" cy="0"/>
        </a:xfrm>
      </p:grpSpPr>
      <p:sp>
        <p:nvSpPr>
          <p:cNvPr id="466" name="Google Shape;466;p1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2"/>
          <p:cNvSpPr/>
          <p:nvPr/>
        </p:nvSpPr>
        <p:spPr>
          <a:xfrm>
            <a:off x="812800" y="228600"/>
            <a:ext cx="7194600" cy="223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 · Sources: prices and SNAP</a:t>
            </a:r>
            <a:endParaRPr b="0" i="0" sz="1300" u="none" cap="none" strike="noStrike">
              <a:solidFill>
                <a:schemeClr val="dk1"/>
              </a:solidFill>
              <a:latin typeface="Source Sans 3"/>
              <a:ea typeface="Source Sans 3"/>
              <a:cs typeface="Source Sans 3"/>
              <a:sym typeface="Source Sans 3"/>
            </a:endParaRPr>
          </a:p>
        </p:txBody>
      </p:sp>
      <p:sp>
        <p:nvSpPr>
          <p:cNvPr id="468" name="Google Shape;468;p1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469" name="Google Shape;469;p1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470" name="Google Shape;470;p1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A2</a:t>
            </a:r>
            <a:endParaRPr b="0" i="0" sz="1700" u="none" cap="none" strike="noStrike">
              <a:solidFill>
                <a:schemeClr val="dk1"/>
              </a:solidFill>
              <a:latin typeface="Source Sans 3"/>
              <a:ea typeface="Source Sans 3"/>
              <a:cs typeface="Source Sans 3"/>
              <a:sym typeface="Source Sans 3"/>
            </a:endParaRPr>
          </a:p>
        </p:txBody>
      </p:sp>
      <p:sp>
        <p:nvSpPr>
          <p:cNvPr id="471" name="Google Shape;471;p12"/>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Monthly Midwest food CPI and county SNAP data, trimmed to July 2026</a:t>
            </a:r>
            <a:endParaRPr sz="2100"/>
          </a:p>
        </p:txBody>
      </p:sp>
      <p:graphicFrame>
        <p:nvGraphicFramePr>
          <p:cNvPr id="472" name="Google Shape;472;p12"/>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Bureau of Labor Statistics via FRED · CPI-U Food at Home, Midwest Urban (CUUR0200SAF11), not seasonally adjusted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Census Midwest region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to July 2026; about a 2-week lag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Minneapolis CPI is only bimonthly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Q4 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Minnesota Department of Children, Youth, and Families · SNAP Food Assistance Dashboard: cases, persons, net benefits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or Tribal Nation (88)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2016 – July 2026; about a 1-month lag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and county-level; DHS reports are annual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Minnesota DCYF · Same dashboard, statewide totals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Statewide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2016 – July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Checks county sums; statewide time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473" name="Google Shape;473;p12"/>
          <p:cNvSpPr/>
          <p:nvPr/>
        </p:nvSpPr>
        <p:spPr>
          <a:xfrm>
            <a:off x="609600" y="4555642"/>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12"/>
          <p:cNvSpPr/>
          <p:nvPr/>
        </p:nvSpPr>
        <p:spPr>
          <a:xfrm>
            <a:off x="774700" y="4682642"/>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NO AUGUST DATA</a:t>
            </a:r>
            <a:endParaRPr b="0" i="0" sz="1200" u="none" cap="none" strike="noStrike">
              <a:solidFill>
                <a:schemeClr val="dk1"/>
              </a:solidFill>
              <a:latin typeface="Source Sans 3"/>
              <a:ea typeface="Source Sans 3"/>
              <a:cs typeface="Source Sans 3"/>
              <a:sym typeface="Source Sans 3"/>
            </a:endParaRPr>
          </a:p>
        </p:txBody>
      </p:sp>
      <p:sp>
        <p:nvSpPr>
          <p:cNvPr id="475" name="Google Shape;475;p12"/>
          <p:cNvSpPr/>
          <p:nvPr/>
        </p:nvSpPr>
        <p:spPr>
          <a:xfrm>
            <a:off x="774700" y="4934062"/>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Both downloads ran into August 2026 and were trimmed to July before loading (accessed 2026-09-28).</a:t>
            </a:r>
            <a:endParaRPr b="0" i="0" sz="1200" u="none" cap="none" strike="noStrike">
              <a:solidFill>
                <a:schemeClr val="dk1"/>
              </a:solidFill>
              <a:latin typeface="Source Sans 3"/>
              <a:ea typeface="Source Sans 3"/>
              <a:cs typeface="Source Sans 3"/>
              <a:sym typeface="Source Sans 3"/>
            </a:endParaRPr>
          </a:p>
        </p:txBody>
      </p:sp>
      <p:sp>
        <p:nvSpPr>
          <p:cNvPr id="476" name="Google Shape;476;p1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fred.stlouisfed.org/series/CUUR0200SAF11 · dcyf.mn.gov/snap-food-assistance-minnesota</a:t>
            </a:r>
            <a:endParaRPr b="0" i="0" sz="1200" u="none" cap="none" strike="noStrike">
              <a:solidFill>
                <a:schemeClr val="dk1"/>
              </a:solidFill>
              <a:latin typeface="Source Sans 3"/>
              <a:ea typeface="Source Sans 3"/>
              <a:cs typeface="Source Sans 3"/>
              <a:sym typeface="Source Sans 3"/>
            </a:endParaRPr>
          </a:p>
        </p:txBody>
      </p:sp>
      <p:sp>
        <p:nvSpPr>
          <p:cNvPr id="477" name="Google Shape;477;p12"/>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12"/>
          <p:cNvSpPr/>
          <p:nvPr/>
        </p:nvSpPr>
        <p:spPr>
          <a:xfrm>
            <a:off x="0" y="6803136"/>
            <a:ext cx="1590261"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9" name="Google Shape;479;p1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484" name="Shape 484"/>
        <p:cNvGrpSpPr/>
        <p:nvPr/>
      </p:nvGrpSpPr>
      <p:grpSpPr>
        <a:xfrm>
          <a:off x="0" y="0"/>
          <a:ext cx="0" cy="0"/>
          <a:chOff x="0" y="0"/>
          <a:chExt cx="0" cy="0"/>
        </a:xfrm>
      </p:grpSpPr>
      <p:sp>
        <p:nvSpPr>
          <p:cNvPr id="485" name="Google Shape;485;p1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13"/>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A3 · Sources: population, jobs</a:t>
            </a:r>
            <a:endParaRPr b="0" i="0" sz="1300" u="none" cap="none" strike="noStrike">
              <a:solidFill>
                <a:schemeClr val="dk1"/>
              </a:solidFill>
              <a:latin typeface="Source Sans 3"/>
              <a:ea typeface="Source Sans 3"/>
              <a:cs typeface="Source Sans 3"/>
              <a:sym typeface="Source Sans 3"/>
            </a:endParaRPr>
          </a:p>
        </p:txBody>
      </p:sp>
      <p:sp>
        <p:nvSpPr>
          <p:cNvPr id="487" name="Google Shape;487;p1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488" name="Google Shape;488;p1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489" name="Google Shape;489;p13"/>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A3</a:t>
            </a:r>
            <a:endParaRPr b="0" i="0" sz="1700" u="none" cap="none" strike="noStrike">
              <a:solidFill>
                <a:schemeClr val="dk1"/>
              </a:solidFill>
              <a:latin typeface="Source Sans 3"/>
              <a:ea typeface="Source Sans 3"/>
              <a:cs typeface="Source Sans 3"/>
              <a:sym typeface="Source Sans 3"/>
            </a:endParaRPr>
          </a:p>
        </p:txBody>
      </p:sp>
      <p:sp>
        <p:nvSpPr>
          <p:cNvPr id="490" name="Google Shape;490;p13"/>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Census population sets per-resident rates; BLS unemployment was rejected</a:t>
            </a:r>
            <a:endParaRPr sz="2100"/>
          </a:p>
        </p:txBody>
      </p:sp>
      <p:graphicFrame>
        <p:nvGraphicFramePr>
          <p:cNvPr id="491" name="Google Shape;491;p13"/>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Population Estimates Program · County Population Totals, Vintage 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Annual (July 1); released March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Latest official count each year; ACS 5-year lags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Q5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Bureau of Labor Statistics · Local Area Unemployment Statistics, county rate (LAUCN27…03)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Monthly, 2022 – July 2026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Only monthly county labor series; tested, then rejected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492" name="Google Shape;492;p13"/>
          <p:cNvSpPr/>
          <p:nvPr/>
        </p:nvSpPr>
        <p:spPr>
          <a:xfrm>
            <a:off x="609600" y="3645018"/>
            <a:ext cx="10972800" cy="71115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13"/>
          <p:cNvSpPr/>
          <p:nvPr/>
        </p:nvSpPr>
        <p:spPr>
          <a:xfrm>
            <a:off x="774700" y="3772018"/>
            <a:ext cx="10706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LINKS</a:t>
            </a:r>
            <a:endParaRPr b="0" i="0" sz="1200" u="none" cap="none" strike="noStrike">
              <a:solidFill>
                <a:schemeClr val="dk1"/>
              </a:solidFill>
              <a:latin typeface="Source Sans 3"/>
              <a:ea typeface="Source Sans 3"/>
              <a:cs typeface="Source Sans 3"/>
              <a:sym typeface="Source Sans 3"/>
            </a:endParaRPr>
          </a:p>
        </p:txBody>
      </p:sp>
      <p:sp>
        <p:nvSpPr>
          <p:cNvPr id="494" name="Google Shape;494;p13"/>
          <p:cNvSpPr/>
          <p:nvPr/>
        </p:nvSpPr>
        <p:spPr>
          <a:xfrm>
            <a:off x="774700" y="4023439"/>
            <a:ext cx="1070610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census.gov/data/tables/time-series/demo/popest/2020s-counties-total.html (accessed 2026-10-09) · api.bls.gov, LAUS (accessed 2026-10-11)</a:t>
            </a:r>
            <a:endParaRPr b="0" i="0" sz="1200" u="none" cap="none" strike="noStrike">
              <a:solidFill>
                <a:schemeClr val="dk1"/>
              </a:solidFill>
              <a:latin typeface="Source Sans 3"/>
              <a:ea typeface="Source Sans 3"/>
              <a:cs typeface="Source Sans 3"/>
              <a:sym typeface="Source Sans 3"/>
            </a:endParaRPr>
          </a:p>
        </p:txBody>
      </p:sp>
      <p:sp>
        <p:nvSpPr>
          <p:cNvPr id="495" name="Google Shape;495;p13"/>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Unemployment rows after July 2026 dropped before use</a:t>
            </a:r>
            <a:endParaRPr b="0" i="0" sz="1200" u="none" cap="none" strike="noStrike">
              <a:solidFill>
                <a:schemeClr val="dk1"/>
              </a:solidFill>
              <a:latin typeface="Source Sans 3"/>
              <a:ea typeface="Source Sans 3"/>
              <a:cs typeface="Source Sans 3"/>
              <a:sym typeface="Source Sans 3"/>
            </a:endParaRPr>
          </a:p>
        </p:txBody>
      </p:sp>
      <p:sp>
        <p:nvSpPr>
          <p:cNvPr id="496" name="Google Shape;496;p13"/>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13"/>
          <p:cNvSpPr/>
          <p:nvPr/>
        </p:nvSpPr>
        <p:spPr>
          <a:xfrm>
            <a:off x="0" y="6803136"/>
            <a:ext cx="2120348"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1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03" name="Shape 503"/>
        <p:cNvGrpSpPr/>
        <p:nvPr/>
      </p:nvGrpSpPr>
      <p:grpSpPr>
        <a:xfrm>
          <a:off x="0" y="0"/>
          <a:ext cx="0" cy="0"/>
          <a:chOff x="0" y="0"/>
          <a:chExt cx="0" cy="0"/>
        </a:xfrm>
      </p:grpSpPr>
      <p:sp>
        <p:nvSpPr>
          <p:cNvPr id="504" name="Google Shape;504;p1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14"/>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A4 · Sources: food access</a:t>
            </a:r>
            <a:endParaRPr b="0" i="0" sz="1300" u="none" cap="none" strike="noStrike">
              <a:solidFill>
                <a:schemeClr val="dk1"/>
              </a:solidFill>
              <a:latin typeface="Source Sans 3"/>
              <a:ea typeface="Source Sans 3"/>
              <a:cs typeface="Source Sans 3"/>
              <a:sym typeface="Source Sans 3"/>
            </a:endParaRPr>
          </a:p>
        </p:txBody>
      </p:sp>
      <p:sp>
        <p:nvSpPr>
          <p:cNvPr id="506" name="Google Shape;506;p1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07" name="Google Shape;507;p1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08" name="Google Shape;508;p14"/>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A4</a:t>
            </a:r>
            <a:endParaRPr b="0" i="0" sz="1700" u="none" cap="none" strike="noStrike">
              <a:solidFill>
                <a:schemeClr val="dk1"/>
              </a:solidFill>
              <a:latin typeface="Source Sans 3"/>
              <a:ea typeface="Source Sans 3"/>
              <a:cs typeface="Source Sans 3"/>
              <a:sym typeface="Source Sans 3"/>
            </a:endParaRPr>
          </a:p>
        </p:txBody>
      </p:sp>
      <p:sp>
        <p:nvSpPr>
          <p:cNvPr id="509" name="Google Shape;509;p14"/>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USDA's 2025 access map defines food deserts; the 2019 Atlas checks it</a:t>
            </a:r>
            <a:endParaRPr sz="2100"/>
          </a:p>
        </p:txBody>
      </p:sp>
      <p:graphicFrame>
        <p:nvGraphicFramePr>
          <p:cNvPr id="510" name="Google Shape;510;p14"/>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Economic Research Service · Food Access Research Atlas 2019: LILA flags (1 &amp; 10, ½ &amp; 10, 1 &amp; 20, vehicle)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tract → 2020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Census, ACS 2014–2018, 2019 stores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brief's named source; kept as a check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8089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ERS · SNAP-Authorized Retailer Access Map 2025: driving and straight-line LILA flags, tract traits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tract (1,502)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Census, ACS 2020–2024, 2025 stores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Current, 2020 tracts, driving distance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 Q1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Food and Nutrition Service · Historical SNAP Retailer Locator 2005–2025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Store point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Snapshot, 1 July 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Dated list matching 2024 activity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11" name="Google Shape;511;p14"/>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Definition and pipeline in Appendix A18</a:t>
            </a:r>
            <a:endParaRPr b="0" i="0" sz="1200" u="none" cap="none" strike="noStrike">
              <a:solidFill>
                <a:schemeClr val="dk1"/>
              </a:solidFill>
              <a:latin typeface="Source Sans 3"/>
              <a:ea typeface="Source Sans 3"/>
              <a:cs typeface="Source Sans 3"/>
              <a:sym typeface="Source Sans 3"/>
            </a:endParaRPr>
          </a:p>
        </p:txBody>
      </p:sp>
      <p:sp>
        <p:nvSpPr>
          <p:cNvPr id="512" name="Google Shape;512;p14"/>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14"/>
          <p:cNvSpPr/>
          <p:nvPr/>
        </p:nvSpPr>
        <p:spPr>
          <a:xfrm>
            <a:off x="0" y="6803136"/>
            <a:ext cx="2650435"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1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19" name="Shape 519"/>
        <p:cNvGrpSpPr/>
        <p:nvPr/>
      </p:nvGrpSpPr>
      <p:grpSpPr>
        <a:xfrm>
          <a:off x="0" y="0"/>
          <a:ext cx="0" cy="0"/>
          <a:chOff x="0" y="0"/>
          <a:chExt cx="0" cy="0"/>
        </a:xfrm>
      </p:grpSpPr>
      <p:sp>
        <p:nvSpPr>
          <p:cNvPr id="520" name="Google Shape;520;p15"/>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15"/>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A5 · Sources: geography</a:t>
            </a:r>
            <a:endParaRPr b="0" i="0" sz="1300" u="none" cap="none" strike="noStrike">
              <a:solidFill>
                <a:schemeClr val="dk1"/>
              </a:solidFill>
              <a:latin typeface="Source Sans 3"/>
              <a:ea typeface="Source Sans 3"/>
              <a:cs typeface="Source Sans 3"/>
              <a:sym typeface="Source Sans 3"/>
            </a:endParaRPr>
          </a:p>
        </p:txBody>
      </p:sp>
      <p:sp>
        <p:nvSpPr>
          <p:cNvPr id="522" name="Google Shape;522;p15"/>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23" name="Google Shape;523;p15"/>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24" name="Google Shape;524;p15"/>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A5</a:t>
            </a:r>
            <a:endParaRPr b="0" i="0" sz="1700" u="none" cap="none" strike="noStrike">
              <a:solidFill>
                <a:schemeClr val="dk1"/>
              </a:solidFill>
              <a:latin typeface="Source Sans 3"/>
              <a:ea typeface="Source Sans 3"/>
              <a:cs typeface="Source Sans 3"/>
              <a:sym typeface="Source Sans 3"/>
            </a:endParaRPr>
          </a:p>
        </p:txBody>
      </p:sp>
      <p:sp>
        <p:nvSpPr>
          <p:cNvPr id="525" name="Google Shape;525;p15"/>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Census population centers and block crosswalks place every tract and shelf</a:t>
            </a:r>
            <a:endParaRPr sz="2100"/>
          </a:p>
        </p:txBody>
      </p:sp>
      <p:graphicFrame>
        <p:nvGraphicFramePr>
          <p:cNvPr id="526" name="Google Shape;526;p15"/>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3726425"/>
                <a:gridCol w="1424825"/>
                <a:gridCol w="1863225"/>
                <a:gridCol w="2959225"/>
                <a:gridCol w="9864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Publisher · exact series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Geography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Time · vintage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Why this, not an alternative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2020 Centers of Population by tract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Tract point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2020 Census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Where people live, not a tract's middle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2010–2020 Tabulation Block Relationship File, Minnesota</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Census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2010 to 2020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Moves the 2019 Atlas to 2020 tracts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 Census Bureau · TIGER/Line 2024: tracts and 2020 tabulation blocks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Tract, block</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2024 release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Locates shelves; draws the maps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27" name="Google Shape;527;p15"/>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Crosswalk weighted by shared land area</a:t>
            </a:r>
            <a:endParaRPr b="0" i="0" sz="1200" u="none" cap="none" strike="noStrike">
              <a:solidFill>
                <a:schemeClr val="dk1"/>
              </a:solidFill>
              <a:latin typeface="Source Sans 3"/>
              <a:ea typeface="Source Sans 3"/>
              <a:cs typeface="Source Sans 3"/>
              <a:sym typeface="Source Sans 3"/>
            </a:endParaRPr>
          </a:p>
        </p:txBody>
      </p:sp>
      <p:sp>
        <p:nvSpPr>
          <p:cNvPr id="528" name="Google Shape;528;p15"/>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15"/>
          <p:cNvSpPr/>
          <p:nvPr/>
        </p:nvSpPr>
        <p:spPr>
          <a:xfrm>
            <a:off x="0" y="6803136"/>
            <a:ext cx="3180522"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1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35" name="Shape 535"/>
        <p:cNvGrpSpPr/>
        <p:nvPr/>
      </p:nvGrpSpPr>
      <p:grpSpPr>
        <a:xfrm>
          <a:off x="0" y="0"/>
          <a:ext cx="0" cy="0"/>
          <a:chOff x="0" y="0"/>
          <a:chExt cx="0" cy="0"/>
        </a:xfrm>
      </p:grpSpPr>
      <p:sp>
        <p:nvSpPr>
          <p:cNvPr id="536" name="Google Shape;536;p1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16"/>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A6 · Data cleaning decisions</a:t>
            </a:r>
            <a:endParaRPr b="0" i="0" sz="1300" u="none" cap="none" strike="noStrike">
              <a:solidFill>
                <a:schemeClr val="dk1"/>
              </a:solidFill>
              <a:latin typeface="Source Sans 3"/>
              <a:ea typeface="Source Sans 3"/>
              <a:cs typeface="Source Sans 3"/>
              <a:sym typeface="Source Sans 3"/>
            </a:endParaRPr>
          </a:p>
        </p:txBody>
      </p:sp>
      <p:sp>
        <p:nvSpPr>
          <p:cNvPr id="538" name="Google Shape;538;p1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39" name="Google Shape;539;p1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40" name="Google Shape;540;p16"/>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A6</a:t>
            </a:r>
            <a:endParaRPr b="0" i="0" sz="1700" u="none" cap="none" strike="noStrike">
              <a:solidFill>
                <a:schemeClr val="dk1"/>
              </a:solidFill>
              <a:latin typeface="Source Sans 3"/>
              <a:ea typeface="Source Sans 3"/>
              <a:cs typeface="Source Sans 3"/>
              <a:sym typeface="Source Sans 3"/>
            </a:endParaRPr>
          </a:p>
        </p:txBody>
      </p:sp>
      <p:sp>
        <p:nvSpPr>
          <p:cNvPr id="541" name="Google Shape;541;p16"/>
          <p:cNvSpPr txBox="1"/>
          <p:nvPr>
            <p:ph type="title"/>
          </p:nvPr>
        </p:nvSpPr>
        <p:spPr>
          <a:xfrm>
            <a:off x="1320800" y="945505"/>
            <a:ext cx="10261600" cy="31874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F3B2D"/>
              </a:buClr>
              <a:buSzPct val="100000"/>
              <a:buFont typeface="Source Serif 4"/>
              <a:buNone/>
            </a:pPr>
            <a:r>
              <a:rPr b="1" lang="en-US">
                <a:solidFill>
                  <a:srgbClr val="B5501F"/>
                </a:solidFill>
              </a:rPr>
              <a:t>9</a:t>
            </a:r>
            <a:r>
              <a:rPr b="1" lang="en-US" sz="2100">
                <a:solidFill>
                  <a:srgbClr val="B5501F"/>
                </a:solidFill>
              </a:rPr>
              <a:t> cleaning rules</a:t>
            </a:r>
            <a:r>
              <a:rPr b="1" lang="en-US" sz="2100">
                <a:solidFill>
                  <a:srgbClr val="1F3B2D"/>
                </a:solidFill>
              </a:rPr>
              <a:t>; one Waseca entry alone would have faked a statewide spike</a:t>
            </a:r>
            <a:endParaRPr sz="2100"/>
          </a:p>
        </p:txBody>
      </p:sp>
      <p:graphicFrame>
        <p:nvGraphicFramePr>
          <p:cNvPr id="542" name="Google Shape;542;p16"/>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2740025"/>
                <a:gridCol w="6904875"/>
                <a:gridCol w="13152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Issue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Decision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Affects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 of record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DateForSearch used; _Year/_Month disagree on 26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63 duplicate site-months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Keep the larger row, never sum (matches each site's normal month)</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Waseca, July 2023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273,385 households for 646 people → 311, midpoint of June and August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a:solidFill>
                            <a:srgbClr val="1F3B2D"/>
                          </a:solidFill>
                          <a:latin typeface="Source Sans 3"/>
                          <a:ea typeface="Source Sans 3"/>
                          <a:cs typeface="Source Sans 3"/>
                          <a:sym typeface="Source Sans 3"/>
                        </a:rPr>
                        <a:t>Q1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98 impossible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Households above individuals rebuilt from the site's ratio</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Split county labels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Hennepin and Ramsey sub-labels mapped to their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All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Unlocatable sites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39 sites flagged, not dropped; about 1% of activity has no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 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Coverage gaps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Becker, Beltrami under 35% coverage; Wilkin has no rows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Q1 Q6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USDA 2025 low-income count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BCAC6"/>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Fails a consistency check (r = −0.80 with poverty); not used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BCAC6"/>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Q8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BCAC6"/>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County label vs census block</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Sites 1066 and 1261 labeled Hennepin in Jan 2024; city and block FIPS disagree. 1066 Relabeled to Anoka and 1261 to Scott; Q7 keeps the reported field</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None/>
                      </a:pPr>
                      <a:r>
                        <a:rPr lang="en-US" sz="1300">
                          <a:solidFill>
                            <a:srgbClr val="1F3B2D"/>
                          </a:solidFill>
                          <a:latin typeface="Source Sans 3"/>
                          <a:ea typeface="Source Sans 3"/>
                          <a:cs typeface="Source Sans 3"/>
                          <a:sym typeface="Source Sans 3"/>
                        </a:rPr>
                        <a:t>Q1 Q6</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543" name="Google Shape;543;p16"/>
          <p:cNvSpPr/>
          <p:nvPr/>
        </p:nvSpPr>
        <p:spPr>
          <a:xfrm>
            <a:off x="609600" y="6294250"/>
            <a:ext cx="10598700" cy="208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lang="en-US" sz="1200">
                <a:solidFill>
                  <a:srgbClr val="4B5A50"/>
                </a:solidFill>
                <a:latin typeface="Source Sans 3"/>
                <a:ea typeface="Source Sans 3"/>
                <a:cs typeface="Source Sans 3"/>
                <a:sym typeface="Source Sans 3"/>
              </a:rPr>
              <a:t>Waseca entry, duplicates and the Wilkin gap to be flagged to The Food Group * Q4 rebuilds bad household rows from each site’s ratio; Q5 sets &gt;10× spikes to missing and keeps the latest duplicate; Q7 uses the reported field as received</a:t>
            </a:r>
            <a:endParaRPr b="0" i="0" sz="1200" u="none" cap="none" strike="noStrike">
              <a:solidFill>
                <a:schemeClr val="dk1"/>
              </a:solidFill>
              <a:latin typeface="Source Sans 3"/>
              <a:ea typeface="Source Sans 3"/>
              <a:cs typeface="Source Sans 3"/>
              <a:sym typeface="Source Sans 3"/>
            </a:endParaRPr>
          </a:p>
        </p:txBody>
      </p:sp>
      <p:sp>
        <p:nvSpPr>
          <p:cNvPr id="544" name="Google Shape;544;p16"/>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16"/>
          <p:cNvSpPr/>
          <p:nvPr/>
        </p:nvSpPr>
        <p:spPr>
          <a:xfrm>
            <a:off x="0" y="6803136"/>
            <a:ext cx="3710609"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6" name="Google Shape;546;p1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51" name="Shape 551"/>
        <p:cNvGrpSpPr/>
        <p:nvPr/>
      </p:nvGrpSpPr>
      <p:grpSpPr>
        <a:xfrm>
          <a:off x="0" y="0"/>
          <a:ext cx="0" cy="0"/>
          <a:chOff x="0" y="0"/>
          <a:chExt cx="0" cy="0"/>
        </a:xfrm>
      </p:grpSpPr>
      <p:sp>
        <p:nvSpPr>
          <p:cNvPr id="552" name="Google Shape;552;p17"/>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7"/>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A7 · Q1 correlations, outliers</a:t>
            </a:r>
            <a:endParaRPr b="0" i="0" sz="1300" u="none" cap="none" strike="noStrike">
              <a:solidFill>
                <a:schemeClr val="dk1"/>
              </a:solidFill>
              <a:latin typeface="Source Sans 3"/>
              <a:ea typeface="Source Sans 3"/>
              <a:cs typeface="Source Sans 3"/>
              <a:sym typeface="Source Sans 3"/>
            </a:endParaRPr>
          </a:p>
        </p:txBody>
      </p:sp>
      <p:sp>
        <p:nvSpPr>
          <p:cNvPr id="554" name="Google Shape;554;p17"/>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55" name="Google Shape;555;p17"/>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56" name="Google Shape;556;p17"/>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A7</a:t>
            </a:r>
            <a:endParaRPr b="0" i="0" sz="1700" u="none" cap="none" strike="noStrike">
              <a:solidFill>
                <a:schemeClr val="dk1"/>
              </a:solidFill>
              <a:latin typeface="Source Sans 3"/>
              <a:ea typeface="Source Sans 3"/>
              <a:cs typeface="Source Sans 3"/>
              <a:sym typeface="Source Sans 3"/>
            </a:endParaRPr>
          </a:p>
        </p:txBody>
      </p:sp>
      <p:sp>
        <p:nvSpPr>
          <p:cNvPr id="557" name="Google Shape;557;p17"/>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All 3 metrics correlate </a:t>
            </a:r>
            <a:r>
              <a:rPr b="1" i="0" lang="en-US" sz="2100">
                <a:solidFill>
                  <a:srgbClr val="B5501F"/>
                </a:solidFill>
                <a:latin typeface="Source Serif 4"/>
                <a:ea typeface="Source Serif 4"/>
                <a:cs typeface="Source Serif 4"/>
                <a:sym typeface="Source Serif 4"/>
              </a:rPr>
              <a:t>0.9</a:t>
            </a:r>
            <a:r>
              <a:rPr b="1" lang="en-US">
                <a:solidFill>
                  <a:srgbClr val="B5501F"/>
                </a:solidFill>
              </a:rPr>
              <a:t>3</a:t>
            </a:r>
            <a:r>
              <a:rPr b="1" i="0" lang="en-US" sz="2100">
                <a:solidFill>
                  <a:srgbClr val="B5501F"/>
                </a:solidFill>
                <a:latin typeface="Source Serif 4"/>
                <a:ea typeface="Source Serif 4"/>
                <a:cs typeface="Source Serif 4"/>
                <a:sym typeface="Source Serif 4"/>
              </a:rPr>
              <a:t>–0.9</a:t>
            </a:r>
            <a:r>
              <a:rPr b="1" lang="en-US">
                <a:solidFill>
                  <a:srgbClr val="B5501F"/>
                </a:solidFill>
              </a:rPr>
              <a:t>4</a:t>
            </a:r>
            <a:r>
              <a:rPr b="1" i="0" lang="en-US" sz="2100">
                <a:solidFill>
                  <a:srgbClr val="1F3B2D"/>
                </a:solidFill>
                <a:latin typeface="Source Serif 4"/>
                <a:ea typeface="Source Serif 4"/>
                <a:cs typeface="Source Serif 4"/>
                <a:sym typeface="Source Serif 4"/>
              </a:rPr>
              <a:t> with need in totals, but not per resident</a:t>
            </a:r>
            <a:endParaRPr sz="2100"/>
          </a:p>
        </p:txBody>
      </p:sp>
      <p:graphicFrame>
        <p:nvGraphicFramePr>
          <p:cNvPr id="558" name="Google Shape;558;p17"/>
          <p:cNvGraphicFramePr/>
          <p:nvPr/>
        </p:nvGraphicFramePr>
        <p:xfrm>
          <a:off x="622300" y="1568450"/>
          <a:ext cx="3000000" cy="3000000"/>
        </p:xfrm>
        <a:graphic>
          <a:graphicData uri="http://schemas.openxmlformats.org/drawingml/2006/table">
            <a:tbl>
              <a:tblPr>
                <a:noFill/>
                <a:tableStyleId>{3A549D05-5588-473D-A51F-5109B3858E67}</a:tableStyleId>
              </a:tblPr>
              <a:tblGrid>
                <a:gridCol w="3547100"/>
                <a:gridCol w="152020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Metric, 86 counties, 2024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 (log scale)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 distributed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a:t>
                      </a:r>
                      <a:r>
                        <a:rPr lang="en-US" sz="1300">
                          <a:solidFill>
                            <a:srgbClr val="1F3B2D"/>
                          </a:solidFill>
                          <a:latin typeface="Source Sans 3"/>
                          <a:ea typeface="Source Sans 3"/>
                          <a:cs typeface="Source Sans 3"/>
                          <a:sym typeface="Source Sans 3"/>
                        </a:rPr>
                        <a:t>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Individuals served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a:t>
                      </a:r>
                      <a:r>
                        <a:rPr lang="en-US" sz="1300">
                          <a:solidFill>
                            <a:srgbClr val="1F3B2D"/>
                          </a:solidFill>
                          <a:latin typeface="Source Sans 3"/>
                          <a:ea typeface="Source Sans 3"/>
                          <a:cs typeface="Source Sans 3"/>
                          <a:sym typeface="Source Sans 3"/>
                        </a:rPr>
                        <a:t>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 visits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0.9</a:t>
                      </a:r>
                      <a:r>
                        <a:rPr lang="en-US" sz="1300">
                          <a:solidFill>
                            <a:srgbClr val="1F3B2D"/>
                          </a:solidFill>
                          <a:latin typeface="Source Sans 3"/>
                          <a:ea typeface="Source Sans 3"/>
                          <a:cs typeface="Source Sans 3"/>
                          <a:sym typeface="Source Sans 3"/>
                        </a:rPr>
                        <a:t>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559" name="Google Shape;559;p17"/>
          <p:cNvSpPr/>
          <p:nvPr/>
        </p:nvSpPr>
        <p:spPr>
          <a:xfrm>
            <a:off x="609600" y="3243914"/>
            <a:ext cx="5080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17"/>
          <p:cNvSpPr/>
          <p:nvPr/>
        </p:nvSpPr>
        <p:spPr>
          <a:xfrm>
            <a:off x="774700" y="3370914"/>
            <a:ext cx="4813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READ IT CAREFULLY</a:t>
            </a:r>
            <a:endParaRPr b="0" i="0" sz="1200" u="none" cap="none" strike="noStrike">
              <a:solidFill>
                <a:schemeClr val="dk1"/>
              </a:solidFill>
              <a:latin typeface="Source Sans 3"/>
              <a:ea typeface="Source Sans 3"/>
              <a:cs typeface="Source Sans 3"/>
              <a:sym typeface="Source Sans 3"/>
            </a:endParaRPr>
          </a:p>
        </p:txBody>
      </p:sp>
      <p:sp>
        <p:nvSpPr>
          <p:cNvPr id="561" name="Google Shape;561;p17"/>
          <p:cNvSpPr/>
          <p:nvPr/>
        </p:nvSpPr>
        <p:spPr>
          <a:xfrm>
            <a:off x="774700" y="3622334"/>
            <a:ext cx="4813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Strong in all three years, but mostly county size: big counties have more of everything.</a:t>
            </a:r>
            <a:endParaRPr b="0" i="0" sz="1200" u="none" cap="none" strike="noStrike">
              <a:solidFill>
                <a:schemeClr val="dk1"/>
              </a:solidFill>
              <a:latin typeface="Source Sans 3"/>
              <a:ea typeface="Source Sans 3"/>
              <a:cs typeface="Source Sans 3"/>
              <a:sym typeface="Source Sans 3"/>
            </a:endParaRPr>
          </a:p>
        </p:txBody>
      </p:sp>
      <p:sp>
        <p:nvSpPr>
          <p:cNvPr id="562" name="Google Shape;562;p17"/>
          <p:cNvSpPr/>
          <p:nvPr/>
        </p:nvSpPr>
        <p:spPr>
          <a:xfrm>
            <a:off x="5943600" y="1555750"/>
            <a:ext cx="5638800" cy="1059111"/>
          </a:xfrm>
          <a:prstGeom prst="roundRect">
            <a:avLst>
              <a:gd fmla="val 10792"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17"/>
          <p:cNvSpPr/>
          <p:nvPr/>
        </p:nvSpPr>
        <p:spPr>
          <a:xfrm>
            <a:off x="6121400" y="1708150"/>
            <a:ext cx="5359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PER 1,000 RESIDENTS</a:t>
            </a:r>
            <a:endParaRPr b="0" i="0" sz="1200" u="none" cap="none" strike="noStrike">
              <a:solidFill>
                <a:schemeClr val="dk1"/>
              </a:solidFill>
              <a:latin typeface="Source Sans 3"/>
              <a:ea typeface="Source Sans 3"/>
              <a:cs typeface="Source Sans 3"/>
              <a:sym typeface="Source Sans 3"/>
            </a:endParaRPr>
          </a:p>
        </p:txBody>
      </p:sp>
      <p:sp>
        <p:nvSpPr>
          <p:cNvPr id="564" name="Google Shape;564;p17"/>
          <p:cNvSpPr/>
          <p:nvPr/>
        </p:nvSpPr>
        <p:spPr>
          <a:xfrm>
            <a:off x="6121400" y="1959570"/>
            <a:ext cx="5359400" cy="2921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2000"/>
              <a:buFont typeface="Source Serif 4"/>
              <a:buNone/>
            </a:pPr>
            <a:r>
              <a:rPr b="1" i="0" lang="en-US" sz="2000" u="none" cap="none" strike="noStrike">
                <a:solidFill>
                  <a:srgbClr val="F7F2E8"/>
                </a:solidFill>
                <a:latin typeface="Source Serif 4"/>
                <a:ea typeface="Source Serif 4"/>
                <a:cs typeface="Source Serif 4"/>
                <a:sym typeface="Source Serif 4"/>
              </a:rPr>
              <a:t>The link disappears</a:t>
            </a:r>
            <a:endParaRPr b="0" i="0" sz="2000" u="none" cap="none" strike="noStrike">
              <a:solidFill>
                <a:schemeClr val="dk1"/>
              </a:solidFill>
              <a:latin typeface="Source Sans 3"/>
              <a:ea typeface="Source Sans 3"/>
              <a:cs typeface="Source Sans 3"/>
              <a:sym typeface="Source Sans 3"/>
            </a:endParaRPr>
          </a:p>
        </p:txBody>
      </p:sp>
      <p:sp>
        <p:nvSpPr>
          <p:cNvPr id="565" name="Google Shape;565;p17"/>
          <p:cNvSpPr/>
          <p:nvPr/>
        </p:nvSpPr>
        <p:spPr>
          <a:xfrm>
            <a:off x="6121400" y="2264370"/>
            <a:ext cx="53594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Higher food-insecurity rates do not bring higher visit rates.</a:t>
            </a:r>
            <a:endParaRPr b="0" i="0" sz="1200" u="none" cap="none" strike="noStrike">
              <a:solidFill>
                <a:schemeClr val="dk1"/>
              </a:solidFill>
              <a:latin typeface="Source Sans 3"/>
              <a:ea typeface="Source Sans 3"/>
              <a:cs typeface="Source Sans 3"/>
              <a:sym typeface="Source Sans 3"/>
            </a:endParaRPr>
          </a:p>
        </p:txBody>
      </p:sp>
      <p:sp>
        <p:nvSpPr>
          <p:cNvPr id="566" name="Google Shape;566;p17"/>
          <p:cNvSpPr/>
          <p:nvPr/>
        </p:nvSpPr>
        <p:spPr>
          <a:xfrm>
            <a:off x="5949950" y="2767261"/>
            <a:ext cx="56261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17"/>
          <p:cNvSpPr/>
          <p:nvPr/>
        </p:nvSpPr>
        <p:spPr>
          <a:xfrm>
            <a:off x="6121400" y="2900611"/>
            <a:ext cx="53530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Steele County</a:t>
            </a:r>
            <a:endParaRPr b="0" i="0" sz="1300" u="none" cap="none" strike="noStrike">
              <a:solidFill>
                <a:schemeClr val="dk1"/>
              </a:solidFill>
              <a:latin typeface="Source Sans 3"/>
              <a:ea typeface="Source Sans 3"/>
              <a:cs typeface="Source Sans 3"/>
              <a:sym typeface="Source Sans 3"/>
            </a:endParaRPr>
          </a:p>
        </p:txBody>
      </p:sp>
      <p:sp>
        <p:nvSpPr>
          <p:cNvPr id="568" name="Google Shape;568;p17"/>
          <p:cNvSpPr/>
          <p:nvPr/>
        </p:nvSpPr>
        <p:spPr>
          <a:xfrm>
            <a:off x="6121400" y="3182541"/>
            <a:ext cx="53530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Actual 1,588 versus predicted 358 visits per 1,000 (t = 6.1); one hub provides 95%.</a:t>
            </a:r>
            <a:endParaRPr b="0" i="0" sz="1200" u="none" cap="none" strike="noStrike">
              <a:solidFill>
                <a:schemeClr val="dk1"/>
              </a:solidFill>
              <a:latin typeface="Source Sans 3"/>
              <a:ea typeface="Source Sans 3"/>
              <a:cs typeface="Source Sans 3"/>
              <a:sym typeface="Source Sans 3"/>
            </a:endParaRPr>
          </a:p>
        </p:txBody>
      </p:sp>
      <p:sp>
        <p:nvSpPr>
          <p:cNvPr id="569" name="Google Shape;569;p17"/>
          <p:cNvSpPr/>
          <p:nvPr/>
        </p:nvSpPr>
        <p:spPr>
          <a:xfrm>
            <a:off x="5949950" y="3879751"/>
            <a:ext cx="56261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7"/>
          <p:cNvSpPr/>
          <p:nvPr/>
        </p:nvSpPr>
        <p:spPr>
          <a:xfrm>
            <a:off x="6121400" y="4013101"/>
            <a:ext cx="53530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Wilkin County</a:t>
            </a:r>
            <a:endParaRPr b="0" i="0" sz="1300" u="none" cap="none" strike="noStrike">
              <a:solidFill>
                <a:schemeClr val="dk1"/>
              </a:solidFill>
              <a:latin typeface="Source Sans 3"/>
              <a:ea typeface="Source Sans 3"/>
              <a:cs typeface="Source Sans 3"/>
              <a:sym typeface="Source Sans 3"/>
            </a:endParaRPr>
          </a:p>
        </p:txBody>
      </p:sp>
      <p:sp>
        <p:nvSpPr>
          <p:cNvPr id="571" name="Google Shape;571;p17"/>
          <p:cNvSpPr/>
          <p:nvPr/>
        </p:nvSpPr>
        <p:spPr>
          <a:xfrm>
            <a:off x="6121400" y="4295031"/>
            <a:ext cx="53530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810 food-insecure residents and no food shelf records at all.</a:t>
            </a:r>
            <a:endParaRPr b="0" i="0" sz="1200" u="none" cap="none" strike="noStrike">
              <a:solidFill>
                <a:schemeClr val="dk1"/>
              </a:solidFill>
              <a:latin typeface="Source Sans 3"/>
              <a:ea typeface="Source Sans 3"/>
              <a:cs typeface="Source Sans 3"/>
              <a:sym typeface="Source Sans 3"/>
            </a:endParaRPr>
          </a:p>
        </p:txBody>
      </p:sp>
      <p:sp>
        <p:nvSpPr>
          <p:cNvPr id="572" name="Google Shape;572;p17"/>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Feeding America, Map the Meal Gap 2025–2026; The Food Group 2022–2024 · Team notebook Q1_clean_and_analysis</a:t>
            </a:r>
            <a:endParaRPr b="0" i="0" sz="1200" u="none" cap="none" strike="noStrike">
              <a:solidFill>
                <a:schemeClr val="dk1"/>
              </a:solidFill>
              <a:latin typeface="Source Sans 3"/>
              <a:ea typeface="Source Sans 3"/>
              <a:cs typeface="Source Sans 3"/>
              <a:sym typeface="Source Sans 3"/>
            </a:endParaRPr>
          </a:p>
        </p:txBody>
      </p:sp>
      <p:sp>
        <p:nvSpPr>
          <p:cNvPr id="573" name="Google Shape;573;p17"/>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4" name="Google Shape;574;p17"/>
          <p:cNvSpPr/>
          <p:nvPr/>
        </p:nvSpPr>
        <p:spPr>
          <a:xfrm>
            <a:off x="0" y="6803136"/>
            <a:ext cx="4240696"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5" name="Google Shape;575;p1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580" name="Shape 580"/>
        <p:cNvGrpSpPr/>
        <p:nvPr/>
      </p:nvGrpSpPr>
      <p:grpSpPr>
        <a:xfrm>
          <a:off x="0" y="0"/>
          <a:ext cx="0" cy="0"/>
          <a:chOff x="0" y="0"/>
          <a:chExt cx="0" cy="0"/>
        </a:xfrm>
      </p:grpSpPr>
      <p:sp>
        <p:nvSpPr>
          <p:cNvPr id="581" name="Google Shape;581;p1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18"/>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A8 · Q1 county characteristics</a:t>
            </a:r>
            <a:endParaRPr b="0" i="0" sz="1300" u="none" cap="none" strike="noStrike">
              <a:solidFill>
                <a:schemeClr val="dk1"/>
              </a:solidFill>
              <a:latin typeface="Source Sans 3"/>
              <a:ea typeface="Source Sans 3"/>
              <a:cs typeface="Source Sans 3"/>
              <a:sym typeface="Source Sans 3"/>
            </a:endParaRPr>
          </a:p>
        </p:txBody>
      </p:sp>
      <p:sp>
        <p:nvSpPr>
          <p:cNvPr id="583" name="Google Shape;583;p1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584" name="Google Shape;584;p1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585" name="Google Shape;585;p18"/>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A8</a:t>
            </a:r>
            <a:endParaRPr b="0" i="0" sz="1700" u="none" cap="none" strike="noStrike">
              <a:solidFill>
                <a:schemeClr val="dk1"/>
              </a:solidFill>
              <a:latin typeface="Source Sans 3"/>
              <a:ea typeface="Source Sans 3"/>
              <a:cs typeface="Source Sans 3"/>
              <a:sym typeface="Source Sans 3"/>
            </a:endParaRPr>
          </a:p>
        </p:txBody>
      </p:sp>
      <p:sp>
        <p:nvSpPr>
          <p:cNvPr id="586" name="Google Shape;586;p18"/>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Only distance matters: </a:t>
            </a:r>
            <a:r>
              <a:rPr b="1" i="0" lang="en-US" sz="2100">
                <a:solidFill>
                  <a:srgbClr val="B5501F"/>
                </a:solidFill>
                <a:latin typeface="Source Serif 4"/>
                <a:ea typeface="Source Serif 4"/>
                <a:cs typeface="Source Serif 4"/>
                <a:sym typeface="Source Serif 4"/>
              </a:rPr>
              <a:t>2.2 more miles</a:t>
            </a:r>
            <a:r>
              <a:rPr b="1" i="0" lang="en-US" sz="2100">
                <a:solidFill>
                  <a:srgbClr val="1F3B2D"/>
                </a:solidFill>
                <a:latin typeface="Source Serif 4"/>
                <a:ea typeface="Source Serif 4"/>
                <a:cs typeface="Source Serif 4"/>
                <a:sym typeface="Source Serif 4"/>
              </a:rPr>
              <a:t> to a shelf, </a:t>
            </a:r>
            <a:r>
              <a:rPr b="1" i="0" lang="en-US" sz="2100">
                <a:solidFill>
                  <a:srgbClr val="B5501F"/>
                </a:solidFill>
                <a:latin typeface="Source Serif 4"/>
                <a:ea typeface="Source Serif 4"/>
                <a:cs typeface="Source Serif 4"/>
                <a:sym typeface="Source Serif 4"/>
              </a:rPr>
              <a:t>1</a:t>
            </a:r>
            <a:r>
              <a:rPr b="1" lang="en-US">
                <a:solidFill>
                  <a:srgbClr val="B5501F"/>
                </a:solidFill>
              </a:rPr>
              <a:t>7</a:t>
            </a:r>
            <a:r>
              <a:rPr b="1" i="0" lang="en-US" sz="2100">
                <a:solidFill>
                  <a:srgbClr val="B5501F"/>
                </a:solidFill>
                <a:latin typeface="Source Serif 4"/>
                <a:ea typeface="Source Serif 4"/>
                <a:cs typeface="Source Serif 4"/>
                <a:sym typeface="Source Serif 4"/>
              </a:rPr>
              <a:t>% fewer</a:t>
            </a:r>
            <a:r>
              <a:rPr b="1" i="0" lang="en-US" sz="2100">
                <a:solidFill>
                  <a:srgbClr val="1F3B2D"/>
                </a:solidFill>
                <a:latin typeface="Source Serif 4"/>
                <a:ea typeface="Source Serif 4"/>
                <a:cs typeface="Source Serif 4"/>
                <a:sym typeface="Source Serif 4"/>
              </a:rPr>
              <a:t> served than need</a:t>
            </a:r>
            <a:endParaRPr sz="2100"/>
          </a:p>
        </p:txBody>
      </p:sp>
      <p:sp>
        <p:nvSpPr>
          <p:cNvPr id="587" name="Google Shape;587;p18"/>
          <p:cNvSpPr/>
          <p:nvPr/>
        </p:nvSpPr>
        <p:spPr>
          <a:xfrm>
            <a:off x="615950" y="1562100"/>
            <a:ext cx="6286500" cy="3549650"/>
          </a:xfrm>
          <a:prstGeom prst="roundRect">
            <a:avLst>
              <a:gd fmla="val 3041"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Coefficient plot: of six county traits, only miles to the nearest food shelf significantly lowers people served relative to need (p = 0.02)." id="588" name="Google Shape;588;p18"/>
          <p:cNvPicPr preferRelativeResize="0"/>
          <p:nvPr/>
        </p:nvPicPr>
        <p:blipFill rotWithShape="1">
          <a:blip r:embed="rId4">
            <a:alphaModFix/>
          </a:blip>
          <a:srcRect b="0" l="-813" r="-813" t="0"/>
          <a:stretch/>
        </p:blipFill>
        <p:spPr>
          <a:xfrm>
            <a:off x="711200" y="1657350"/>
            <a:ext cx="6096000" cy="3359150"/>
          </a:xfrm>
          <a:prstGeom prst="rect">
            <a:avLst/>
          </a:prstGeom>
          <a:noFill/>
          <a:ln>
            <a:noFill/>
          </a:ln>
        </p:spPr>
      </p:pic>
      <p:sp>
        <p:nvSpPr>
          <p:cNvPr id="589" name="Google Shape;589;p18"/>
          <p:cNvSpPr/>
          <p:nvPr/>
        </p:nvSpPr>
        <p:spPr>
          <a:xfrm>
            <a:off x="7162800" y="1555750"/>
            <a:ext cx="4419600" cy="1192461"/>
          </a:xfrm>
          <a:prstGeom prst="roundRect">
            <a:avLst>
              <a:gd fmla="val 958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18"/>
          <p:cNvSpPr/>
          <p:nvPr/>
        </p:nvSpPr>
        <p:spPr>
          <a:xfrm>
            <a:off x="7340600" y="1708150"/>
            <a:ext cx="4140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PER 2.2 MORE MILES (1 STANDARD DEVIATION)</a:t>
            </a:r>
            <a:endParaRPr b="0" i="0" sz="1200" u="none" cap="none" strike="noStrike">
              <a:solidFill>
                <a:schemeClr val="dk1"/>
              </a:solidFill>
              <a:latin typeface="Source Sans 3"/>
              <a:ea typeface="Source Sans 3"/>
              <a:cs typeface="Source Sans 3"/>
              <a:sym typeface="Source Sans 3"/>
            </a:endParaRPr>
          </a:p>
        </p:txBody>
      </p:sp>
      <p:sp>
        <p:nvSpPr>
          <p:cNvPr id="591" name="Google Shape;591;p18"/>
          <p:cNvSpPr/>
          <p:nvPr/>
        </p:nvSpPr>
        <p:spPr>
          <a:xfrm>
            <a:off x="7340600" y="1959570"/>
            <a:ext cx="41402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3000"/>
              <a:buFont typeface="Source Serif 4"/>
              <a:buNone/>
            </a:pPr>
            <a:r>
              <a:rPr b="1" i="0" lang="en-US" sz="3000" u="none" cap="none" strike="noStrike">
                <a:solidFill>
                  <a:srgbClr val="F7F2E8"/>
                </a:solidFill>
                <a:latin typeface="Source Serif 4"/>
                <a:ea typeface="Source Serif 4"/>
                <a:cs typeface="Source Serif 4"/>
                <a:sym typeface="Source Serif 4"/>
              </a:rPr>
              <a:t>−1</a:t>
            </a:r>
            <a:r>
              <a:rPr b="1" lang="en-US" sz="3000">
                <a:solidFill>
                  <a:srgbClr val="F7F2E8"/>
                </a:solidFill>
                <a:latin typeface="Source Serif 4"/>
                <a:ea typeface="Source Serif 4"/>
                <a:cs typeface="Source Serif 4"/>
                <a:sym typeface="Source Serif 4"/>
              </a:rPr>
              <a:t>7</a:t>
            </a:r>
            <a:r>
              <a:rPr b="1" i="0" lang="en-US" sz="3000" u="none" cap="none" strike="noStrike">
                <a:solidFill>
                  <a:srgbClr val="F7F2E8"/>
                </a:solidFill>
                <a:latin typeface="Source Serif 4"/>
                <a:ea typeface="Source Serif 4"/>
                <a:cs typeface="Source Serif 4"/>
                <a:sym typeface="Source Serif 4"/>
              </a:rPr>
              <a:t>%</a:t>
            </a:r>
            <a:endParaRPr b="0" i="0" sz="3000" u="none" cap="none" strike="noStrike">
              <a:solidFill>
                <a:schemeClr val="dk1"/>
              </a:solidFill>
              <a:latin typeface="Source Sans 3"/>
              <a:ea typeface="Source Sans 3"/>
              <a:cs typeface="Source Sans 3"/>
              <a:sym typeface="Source Sans 3"/>
            </a:endParaRPr>
          </a:p>
        </p:txBody>
      </p:sp>
      <p:sp>
        <p:nvSpPr>
          <p:cNvPr id="592" name="Google Shape;592;p18"/>
          <p:cNvSpPr/>
          <p:nvPr/>
        </p:nvSpPr>
        <p:spPr>
          <a:xfrm>
            <a:off x="7340600" y="2397720"/>
            <a:ext cx="41402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People served versus need, p = 0.0</a:t>
            </a:r>
            <a:r>
              <a:rPr lang="en-US" sz="1200">
                <a:solidFill>
                  <a:srgbClr val="F7F2E8"/>
                </a:solidFill>
                <a:latin typeface="Source Sans 3"/>
                <a:ea typeface="Source Sans 3"/>
                <a:cs typeface="Source Sans 3"/>
                <a:sym typeface="Source Sans 3"/>
              </a:rPr>
              <a:t>3</a:t>
            </a:r>
            <a:endParaRPr b="0" i="0" sz="1200" u="none" cap="none" strike="noStrike">
              <a:solidFill>
                <a:schemeClr val="dk1"/>
              </a:solidFill>
              <a:latin typeface="Source Sans 3"/>
              <a:ea typeface="Source Sans 3"/>
              <a:cs typeface="Source Sans 3"/>
              <a:sym typeface="Source Sans 3"/>
            </a:endParaRPr>
          </a:p>
        </p:txBody>
      </p:sp>
      <p:sp>
        <p:nvSpPr>
          <p:cNvPr id="593" name="Google Shape;593;p18"/>
          <p:cNvSpPr/>
          <p:nvPr/>
        </p:nvSpPr>
        <p:spPr>
          <a:xfrm>
            <a:off x="7162800" y="2900611"/>
            <a:ext cx="44196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18"/>
          <p:cNvSpPr/>
          <p:nvPr/>
        </p:nvSpPr>
        <p:spPr>
          <a:xfrm>
            <a:off x="7327900" y="3027611"/>
            <a:ext cx="4152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METHOD</a:t>
            </a:r>
            <a:endParaRPr b="0" i="0" sz="1200" u="none" cap="none" strike="noStrike">
              <a:solidFill>
                <a:schemeClr val="dk1"/>
              </a:solidFill>
              <a:latin typeface="Source Sans 3"/>
              <a:ea typeface="Source Sans 3"/>
              <a:cs typeface="Source Sans 3"/>
              <a:sym typeface="Source Sans 3"/>
            </a:endParaRPr>
          </a:p>
        </p:txBody>
      </p:sp>
      <p:sp>
        <p:nvSpPr>
          <p:cNvPr id="595" name="Google Shape;595;p18"/>
          <p:cNvSpPr/>
          <p:nvPr/>
        </p:nvSpPr>
        <p:spPr>
          <a:xfrm>
            <a:off x="7327900" y="3279031"/>
            <a:ext cx="41529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Residual of log people served on log food-insecure persons, on six z-scored traits; robust standard errors; 86 counties, 2024</a:t>
            </a:r>
            <a:endParaRPr b="0" i="0" sz="1200" u="none" cap="none" strike="noStrike">
              <a:solidFill>
                <a:schemeClr val="dk1"/>
              </a:solidFill>
              <a:latin typeface="Source Sans 3"/>
              <a:ea typeface="Source Sans 3"/>
              <a:cs typeface="Source Sans 3"/>
              <a:sym typeface="Source Sans 3"/>
            </a:endParaRPr>
          </a:p>
        </p:txBody>
      </p:sp>
      <p:sp>
        <p:nvSpPr>
          <p:cNvPr id="596" name="Google Shape;596;p18"/>
          <p:cNvSpPr/>
          <p:nvPr/>
        </p:nvSpPr>
        <p:spPr>
          <a:xfrm>
            <a:off x="7162800" y="3969891"/>
            <a:ext cx="44196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18"/>
          <p:cNvSpPr/>
          <p:nvPr/>
        </p:nvSpPr>
        <p:spPr>
          <a:xfrm>
            <a:off x="7327900" y="4096891"/>
            <a:ext cx="4152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READING</a:t>
            </a:r>
            <a:endParaRPr b="0" i="0" sz="1200" u="none" cap="none" strike="noStrike">
              <a:solidFill>
                <a:schemeClr val="dk1"/>
              </a:solidFill>
              <a:latin typeface="Source Sans 3"/>
              <a:ea typeface="Source Sans 3"/>
              <a:cs typeface="Source Sans 3"/>
              <a:sym typeface="Source Sans 3"/>
            </a:endParaRPr>
          </a:p>
        </p:txBody>
      </p:sp>
      <p:sp>
        <p:nvSpPr>
          <p:cNvPr id="598" name="Google Shape;598;p18"/>
          <p:cNvSpPr/>
          <p:nvPr/>
        </p:nvSpPr>
        <p:spPr>
          <a:xfrm>
            <a:off x="7327900" y="4348311"/>
            <a:ext cx="41529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R² = 0.</a:t>
            </a:r>
            <a:r>
              <a:rPr lang="en-US" sz="1200">
                <a:solidFill>
                  <a:srgbClr val="1F3B2D"/>
                </a:solidFill>
                <a:latin typeface="Source Sans 3"/>
                <a:ea typeface="Source Sans 3"/>
                <a:cs typeface="Source Sans 3"/>
                <a:sym typeface="Source Sans 3"/>
              </a:rPr>
              <a:t>10</a:t>
            </a:r>
            <a:r>
              <a:rPr b="0" i="0" lang="en-US" sz="1200" u="none" cap="none" strike="noStrike">
                <a:solidFill>
                  <a:srgbClr val="1F3B2D"/>
                </a:solidFill>
                <a:latin typeface="Source Sans 3"/>
                <a:ea typeface="Source Sans 3"/>
                <a:cs typeface="Source Sans 3"/>
                <a:sym typeface="Source Sans 3"/>
              </a:rPr>
              <a:t>: county traits explain little; most mismatch is site-level (hubs, coverage)</a:t>
            </a:r>
            <a:endParaRPr b="0" i="0" sz="1200" u="none" cap="none" strike="noStrike">
              <a:solidFill>
                <a:schemeClr val="dk1"/>
              </a:solidFill>
              <a:latin typeface="Source Sans 3"/>
              <a:ea typeface="Source Sans 3"/>
              <a:cs typeface="Source Sans 3"/>
              <a:sym typeface="Source Sans 3"/>
            </a:endParaRPr>
          </a:p>
        </p:txBody>
      </p:sp>
      <p:sp>
        <p:nvSpPr>
          <p:cNvPr id="599" name="Google Shape;599;p18"/>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USDA ERS Retailer Access Map 2025 tract traits (population-weighted); Q8 distances; Map the Meal Gap 2026</a:t>
            </a:r>
            <a:endParaRPr b="0" i="0" sz="1200" u="none" cap="none" strike="noStrike">
              <a:solidFill>
                <a:schemeClr val="dk1"/>
              </a:solidFill>
              <a:latin typeface="Source Sans 3"/>
              <a:ea typeface="Source Sans 3"/>
              <a:cs typeface="Source Sans 3"/>
              <a:sym typeface="Source Sans 3"/>
            </a:endParaRPr>
          </a:p>
        </p:txBody>
      </p:sp>
      <p:sp>
        <p:nvSpPr>
          <p:cNvPr id="600" name="Google Shape;600;p18"/>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1" name="Google Shape;601;p18"/>
          <p:cNvSpPr/>
          <p:nvPr/>
        </p:nvSpPr>
        <p:spPr>
          <a:xfrm>
            <a:off x="0" y="6803136"/>
            <a:ext cx="4770783"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2" name="Google Shape;602;p18"/>
          <p:cNvSpPr/>
          <p:nvPr/>
        </p:nvSpPr>
        <p:spPr>
          <a:xfrm>
            <a:off x="819952" y="4236697"/>
            <a:ext cx="5863499" cy="269932"/>
          </a:xfrm>
          <a:prstGeom prst="roundRect">
            <a:avLst>
              <a:gd fmla="val 16667" name="adj"/>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3" name="Google Shape;603;p18"/>
          <p:cNvSpPr txBox="1"/>
          <p:nvPr/>
        </p:nvSpPr>
        <p:spPr>
          <a:xfrm>
            <a:off x="4330019" y="3988906"/>
            <a:ext cx="2353432" cy="231648"/>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r">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The only significant trait.</a:t>
            </a:r>
            <a:endParaRPr/>
          </a:p>
        </p:txBody>
      </p:sp>
      <p:sp>
        <p:nvSpPr>
          <p:cNvPr id="604" name="Google Shape;604;p1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09" name="Shape 609"/>
        <p:cNvGrpSpPr/>
        <p:nvPr/>
      </p:nvGrpSpPr>
      <p:grpSpPr>
        <a:xfrm>
          <a:off x="0" y="0"/>
          <a:ext cx="0" cy="0"/>
          <a:chOff x="0" y="0"/>
          <a:chExt cx="0" cy="0"/>
        </a:xfrm>
      </p:grpSpPr>
      <p:sp>
        <p:nvSpPr>
          <p:cNvPr id="610" name="Google Shape;610;p19"/>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19"/>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A9 · Q6 need index, counties</a:t>
            </a:r>
            <a:endParaRPr b="0" i="0" sz="1300" u="none" cap="none" strike="noStrike">
              <a:solidFill>
                <a:schemeClr val="dk1"/>
              </a:solidFill>
              <a:latin typeface="Source Sans 3"/>
              <a:ea typeface="Source Sans 3"/>
              <a:cs typeface="Source Sans 3"/>
              <a:sym typeface="Source Sans 3"/>
            </a:endParaRPr>
          </a:p>
        </p:txBody>
      </p:sp>
      <p:sp>
        <p:nvSpPr>
          <p:cNvPr id="612" name="Google Shape;612;p19"/>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13" name="Google Shape;613;p19"/>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14" name="Google Shape;614;p19"/>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Source Serif 4"/>
              <a:buNone/>
            </a:pPr>
            <a:r>
              <a:rPr b="1" i="0" lang="en-US" sz="1700" u="none" cap="none" strike="noStrike">
                <a:solidFill>
                  <a:srgbClr val="FFFFFF"/>
                </a:solidFill>
                <a:latin typeface="Source Serif 4"/>
                <a:ea typeface="Source Serif 4"/>
                <a:cs typeface="Source Serif 4"/>
                <a:sym typeface="Source Serif 4"/>
              </a:rPr>
              <a:t>A9</a:t>
            </a:r>
            <a:endParaRPr b="0" i="0" sz="1700" u="none" cap="none" strike="noStrike">
              <a:solidFill>
                <a:schemeClr val="dk1"/>
              </a:solidFill>
              <a:latin typeface="Source Sans 3"/>
              <a:ea typeface="Source Sans 3"/>
              <a:cs typeface="Source Sans 3"/>
              <a:sym typeface="Source Sans 3"/>
            </a:endParaRPr>
          </a:p>
        </p:txBody>
      </p:sp>
      <p:sp>
        <p:nvSpPr>
          <p:cNvPr id="615" name="Google Shape;615;p19"/>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Need index flags </a:t>
            </a:r>
            <a:r>
              <a:rPr b="1" i="0" lang="en-US" sz="2100">
                <a:solidFill>
                  <a:srgbClr val="B5501F"/>
                </a:solidFill>
                <a:latin typeface="Source Serif 4"/>
                <a:ea typeface="Source Serif 4"/>
                <a:cs typeface="Source Serif 4"/>
                <a:sym typeface="Source Serif 4"/>
              </a:rPr>
              <a:t>7 counties</a:t>
            </a:r>
            <a:r>
              <a:rPr b="1" i="0" lang="en-US" sz="2100">
                <a:solidFill>
                  <a:srgbClr val="1F3B2D"/>
                </a:solidFill>
                <a:latin typeface="Source Serif 4"/>
                <a:ea typeface="Source Serif 4"/>
                <a:cs typeface="Source Serif 4"/>
                <a:sym typeface="Source Serif 4"/>
              </a:rPr>
              <a:t> under-served and </a:t>
            </a:r>
            <a:r>
              <a:rPr b="1" i="0" lang="en-US" sz="2100">
                <a:solidFill>
                  <a:srgbClr val="B5501F"/>
                </a:solidFill>
                <a:latin typeface="Source Serif 4"/>
                <a:ea typeface="Source Serif 4"/>
                <a:cs typeface="Source Serif 4"/>
                <a:sym typeface="Source Serif 4"/>
              </a:rPr>
              <a:t>3 </a:t>
            </a:r>
            <a:r>
              <a:rPr b="1" lang="en-US">
                <a:solidFill>
                  <a:srgbClr val="B5501F"/>
                </a:solidFill>
              </a:rPr>
              <a:t>counties</a:t>
            </a:r>
            <a:r>
              <a:rPr b="1" i="0" lang="en-US" sz="2100">
                <a:solidFill>
                  <a:srgbClr val="1F3B2D"/>
                </a:solidFill>
                <a:latin typeface="Source Serif 4"/>
                <a:ea typeface="Source Serif 4"/>
                <a:cs typeface="Source Serif 4"/>
                <a:sym typeface="Source Serif 4"/>
              </a:rPr>
              <a:t> over-served</a:t>
            </a:r>
            <a:endParaRPr sz="2100"/>
          </a:p>
        </p:txBody>
      </p:sp>
      <p:sp>
        <p:nvSpPr>
          <p:cNvPr id="616" name="Google Shape;616;p19"/>
          <p:cNvSpPr/>
          <p:nvPr/>
        </p:nvSpPr>
        <p:spPr>
          <a:xfrm>
            <a:off x="615950" y="1555750"/>
            <a:ext cx="53975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9"/>
          <p:cNvSpPr/>
          <p:nvPr/>
        </p:nvSpPr>
        <p:spPr>
          <a:xfrm>
            <a:off x="787400" y="1689100"/>
            <a:ext cx="51244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Need index</a:t>
            </a:r>
            <a:endParaRPr b="0" i="0" sz="1300" u="none" cap="none" strike="noStrike">
              <a:solidFill>
                <a:schemeClr val="dk1"/>
              </a:solidFill>
              <a:latin typeface="Source Sans 3"/>
              <a:ea typeface="Source Sans 3"/>
              <a:cs typeface="Source Sans 3"/>
              <a:sym typeface="Source Sans 3"/>
            </a:endParaRPr>
          </a:p>
        </p:txBody>
      </p:sp>
      <p:sp>
        <p:nvSpPr>
          <p:cNvPr id="618" name="Google Shape;618;p19"/>
          <p:cNvSpPr/>
          <p:nvPr/>
        </p:nvSpPr>
        <p:spPr>
          <a:xfrm>
            <a:off x="787400" y="1971030"/>
            <a:ext cx="51244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Average of three within-year z-scores from Map the Meal Gap: food-insecurity rate, cost per meal, share of food-insecure people below the SNAP limit</a:t>
            </a:r>
            <a:endParaRPr b="0" i="0" sz="1200" u="none" cap="none" strike="noStrike">
              <a:solidFill>
                <a:schemeClr val="dk1"/>
              </a:solidFill>
              <a:latin typeface="Source Sans 3"/>
              <a:ea typeface="Source Sans 3"/>
              <a:cs typeface="Source Sans 3"/>
              <a:sym typeface="Source Sans 3"/>
            </a:endParaRPr>
          </a:p>
        </p:txBody>
      </p:sp>
      <p:sp>
        <p:nvSpPr>
          <p:cNvPr id="619" name="Google Shape;619;p19"/>
          <p:cNvSpPr/>
          <p:nvPr/>
        </p:nvSpPr>
        <p:spPr>
          <a:xfrm>
            <a:off x="6178550" y="1555750"/>
            <a:ext cx="5397500" cy="96009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9"/>
          <p:cNvSpPr/>
          <p:nvPr/>
        </p:nvSpPr>
        <p:spPr>
          <a:xfrm>
            <a:off x="6350000" y="1689100"/>
            <a:ext cx="51244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Divergence</a:t>
            </a:r>
            <a:endParaRPr b="0" i="0" sz="1300" u="none" cap="none" strike="noStrike">
              <a:solidFill>
                <a:schemeClr val="dk1"/>
              </a:solidFill>
              <a:latin typeface="Source Sans 3"/>
              <a:ea typeface="Source Sans 3"/>
              <a:cs typeface="Source Sans 3"/>
              <a:sym typeface="Source Sans 3"/>
            </a:endParaRPr>
          </a:p>
        </p:txBody>
      </p:sp>
      <p:sp>
        <p:nvSpPr>
          <p:cNvPr id="621" name="Google Shape;621;p19"/>
          <p:cNvSpPr/>
          <p:nvPr/>
        </p:nvSpPr>
        <p:spPr>
          <a:xfrm>
            <a:off x="6350000" y="1971030"/>
            <a:ext cx="512445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Demand index (visits, people, pounds per 1,000) minus need index, for every county in 2022, 2023 and 2024</a:t>
            </a:r>
            <a:endParaRPr b="0" i="0" sz="1200" u="none" cap="none" strike="noStrike">
              <a:solidFill>
                <a:schemeClr val="dk1"/>
              </a:solidFill>
              <a:latin typeface="Source Sans 3"/>
              <a:ea typeface="Source Sans 3"/>
              <a:cs typeface="Source Sans 3"/>
              <a:sym typeface="Source Sans 3"/>
            </a:endParaRPr>
          </a:p>
        </p:txBody>
      </p:sp>
      <p:sp>
        <p:nvSpPr>
          <p:cNvPr id="622" name="Google Shape;622;p19"/>
          <p:cNvSpPr/>
          <p:nvPr/>
        </p:nvSpPr>
        <p:spPr>
          <a:xfrm>
            <a:off x="609600" y="2700000"/>
            <a:ext cx="6750000" cy="1502100"/>
          </a:xfrm>
          <a:prstGeom prst="roundRect">
            <a:avLst>
              <a:gd fmla="val 11071"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19"/>
          <p:cNvSpPr/>
          <p:nvPr/>
        </p:nvSpPr>
        <p:spPr>
          <a:xfrm>
            <a:off x="787400" y="2852390"/>
            <a:ext cx="63944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NEED ABOVE ACTIVITY, ALL 3 YEARS</a:t>
            </a:r>
            <a:endParaRPr b="0" i="0" sz="1200" u="none" cap="none" strike="noStrike">
              <a:solidFill>
                <a:schemeClr val="dk1"/>
              </a:solidFill>
              <a:latin typeface="Source Sans 3"/>
              <a:ea typeface="Source Sans 3"/>
              <a:cs typeface="Source Sans 3"/>
              <a:sym typeface="Source Sans 3"/>
            </a:endParaRPr>
          </a:p>
        </p:txBody>
      </p:sp>
      <p:sp>
        <p:nvSpPr>
          <p:cNvPr id="624" name="Google Shape;624;p19"/>
          <p:cNvSpPr/>
          <p:nvPr/>
        </p:nvSpPr>
        <p:spPr>
          <a:xfrm>
            <a:off x="787400" y="3103810"/>
            <a:ext cx="6394400" cy="26541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1800"/>
              <a:buFont typeface="Source Serif 4"/>
              <a:buNone/>
            </a:pPr>
            <a:r>
              <a:rPr b="1" i="0" lang="en-US" sz="1600" u="none" cap="none" strike="noStrike">
                <a:solidFill>
                  <a:srgbClr val="F7F2E8"/>
                </a:solidFill>
                <a:latin typeface="Source Serif 4"/>
                <a:ea typeface="Source Serif 4"/>
                <a:cs typeface="Source Serif 4"/>
                <a:sym typeface="Source Serif 4"/>
              </a:rPr>
              <a:t>Swift, Grant, Todd, Benton, Aitkin, Norman and Nicollet</a:t>
            </a:r>
            <a:endParaRPr b="0" i="0" sz="1800" u="none" cap="none" strike="noStrike">
              <a:solidFill>
                <a:schemeClr val="dk1"/>
              </a:solidFill>
              <a:latin typeface="Source Sans 3"/>
              <a:ea typeface="Source Sans 3"/>
              <a:cs typeface="Source Sans 3"/>
              <a:sym typeface="Source Sans 3"/>
            </a:endParaRPr>
          </a:p>
        </p:txBody>
      </p:sp>
      <p:sp>
        <p:nvSpPr>
          <p:cNvPr id="625" name="Google Shape;625;p19"/>
          <p:cNvSpPr/>
          <p:nvPr/>
        </p:nvSpPr>
        <p:spPr>
          <a:xfrm>
            <a:off x="787400" y="3381920"/>
            <a:ext cx="63944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Swift has one food shelf and the most rural code in the state.</a:t>
            </a:r>
            <a:endParaRPr b="0" i="0" sz="1200" u="none" cap="none" strike="noStrike">
              <a:solidFill>
                <a:schemeClr val="dk1"/>
              </a:solidFill>
              <a:latin typeface="Source Sans 3"/>
              <a:ea typeface="Source Sans 3"/>
              <a:cs typeface="Source Sans 3"/>
              <a:sym typeface="Source Sans 3"/>
            </a:endParaRPr>
          </a:p>
        </p:txBody>
      </p:sp>
      <p:sp>
        <p:nvSpPr>
          <p:cNvPr id="626" name="Google Shape;626;p19"/>
          <p:cNvSpPr/>
          <p:nvPr/>
        </p:nvSpPr>
        <p:spPr>
          <a:xfrm>
            <a:off x="7512000" y="2700000"/>
            <a:ext cx="4070400" cy="1502100"/>
          </a:xfrm>
          <a:prstGeom prst="roundRect">
            <a:avLst>
              <a:gd fmla="val 11071"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9"/>
          <p:cNvSpPr/>
          <p:nvPr/>
        </p:nvSpPr>
        <p:spPr>
          <a:xfrm>
            <a:off x="7689800" y="2852390"/>
            <a:ext cx="37148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ACTIVITY ABOVE NEED</a:t>
            </a:r>
            <a:endParaRPr b="0" i="0" sz="1200" u="none" cap="none" strike="noStrike">
              <a:solidFill>
                <a:schemeClr val="dk1"/>
              </a:solidFill>
              <a:latin typeface="Source Sans 3"/>
              <a:ea typeface="Source Sans 3"/>
              <a:cs typeface="Source Sans 3"/>
              <a:sym typeface="Source Sans 3"/>
            </a:endParaRPr>
          </a:p>
        </p:txBody>
      </p:sp>
      <p:sp>
        <p:nvSpPr>
          <p:cNvPr id="628" name="Google Shape;628;p19"/>
          <p:cNvSpPr/>
          <p:nvPr/>
        </p:nvSpPr>
        <p:spPr>
          <a:xfrm>
            <a:off x="7689800" y="3092493"/>
            <a:ext cx="3714900" cy="2655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1800"/>
              <a:buFont typeface="Source Serif 4"/>
              <a:buNone/>
            </a:pPr>
            <a:r>
              <a:rPr b="1" i="0" lang="en-US" sz="1600" u="none" cap="none" strike="noStrike">
                <a:solidFill>
                  <a:srgbClr val="1F1A14"/>
                </a:solidFill>
                <a:latin typeface="Source Serif 4"/>
                <a:ea typeface="Source Serif 4"/>
                <a:cs typeface="Source Serif 4"/>
                <a:sym typeface="Source Serif 4"/>
              </a:rPr>
              <a:t>Rice, Steele and Washington</a:t>
            </a:r>
            <a:endParaRPr b="0" i="0" sz="1800" u="none" cap="none" strike="noStrike">
              <a:solidFill>
                <a:schemeClr val="dk1"/>
              </a:solidFill>
              <a:latin typeface="Source Sans 3"/>
              <a:ea typeface="Source Sans 3"/>
              <a:cs typeface="Source Sans 3"/>
              <a:sym typeface="Source Sans 3"/>
            </a:endParaRPr>
          </a:p>
        </p:txBody>
      </p:sp>
      <p:sp>
        <p:nvSpPr>
          <p:cNvPr id="629" name="Google Shape;629;p19"/>
          <p:cNvSpPr/>
          <p:nvPr/>
        </p:nvSpPr>
        <p:spPr>
          <a:xfrm>
            <a:off x="7689800" y="3381920"/>
            <a:ext cx="3714900" cy="223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lang="en-US" sz="1200">
                <a:solidFill>
                  <a:srgbClr val="1F1A14"/>
                </a:solidFill>
                <a:latin typeface="Source Sans 3"/>
                <a:ea typeface="Source Sans 3"/>
                <a:cs typeface="Source Sans 3"/>
                <a:sym typeface="Source Sans 3"/>
              </a:rPr>
              <a:t>Steele and Washington are single-hub counties (95% and 77%). Rice’s 2023-2024 jump is two sites that opened mid-2023 and closed in August 2024– a </a:t>
            </a:r>
            <a:r>
              <a:rPr lang="en-US" sz="1200">
                <a:solidFill>
                  <a:srgbClr val="1F1A14"/>
                </a:solidFill>
                <a:latin typeface="Source Sans 3"/>
                <a:ea typeface="Source Sans 3"/>
                <a:cs typeface="Source Sans 3"/>
                <a:sym typeface="Source Sans 3"/>
              </a:rPr>
              <a:t>third of its activity.</a:t>
            </a:r>
            <a:endParaRPr b="0" i="0" sz="1200" u="none" cap="none" strike="noStrike">
              <a:solidFill>
                <a:schemeClr val="dk1"/>
              </a:solidFill>
              <a:latin typeface="Source Sans 3"/>
              <a:ea typeface="Source Sans 3"/>
              <a:cs typeface="Source Sans 3"/>
              <a:sym typeface="Source Sans 3"/>
            </a:endParaRPr>
          </a:p>
        </p:txBody>
      </p:sp>
      <p:sp>
        <p:nvSpPr>
          <p:cNvPr id="630" name="Google Shape;630;p19"/>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Feeding America, Map the Meal Gap 2022–2024; Census population · Team notebook Q6_need_divergence</a:t>
            </a:r>
            <a:endParaRPr b="0" i="0" sz="1200" u="none" cap="none" strike="noStrike">
              <a:solidFill>
                <a:schemeClr val="dk1"/>
              </a:solidFill>
              <a:latin typeface="Source Sans 3"/>
              <a:ea typeface="Source Sans 3"/>
              <a:cs typeface="Source Sans 3"/>
              <a:sym typeface="Source Sans 3"/>
            </a:endParaRPr>
          </a:p>
        </p:txBody>
      </p:sp>
      <p:sp>
        <p:nvSpPr>
          <p:cNvPr id="631" name="Google Shape;631;p19"/>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2" name="Google Shape;632;p19"/>
          <p:cNvSpPr/>
          <p:nvPr/>
        </p:nvSpPr>
        <p:spPr>
          <a:xfrm>
            <a:off x="0" y="6803136"/>
            <a:ext cx="5300870"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3" name="Google Shape;633;p1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38" name="Shape 638"/>
        <p:cNvGrpSpPr/>
        <p:nvPr/>
      </p:nvGrpSpPr>
      <p:grpSpPr>
        <a:xfrm>
          <a:off x="0" y="0"/>
          <a:ext cx="0" cy="0"/>
          <a:chOff x="0" y="0"/>
          <a:chExt cx="0" cy="0"/>
        </a:xfrm>
      </p:grpSpPr>
      <p:sp>
        <p:nvSpPr>
          <p:cNvPr id="639" name="Google Shape;639;p2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20"/>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A10 · Q6 falsifiable definition</a:t>
            </a:r>
            <a:endParaRPr b="0" i="0" sz="1300" u="none" cap="none" strike="noStrike">
              <a:solidFill>
                <a:schemeClr val="dk1"/>
              </a:solidFill>
              <a:latin typeface="Source Sans 3"/>
              <a:ea typeface="Source Sans 3"/>
              <a:cs typeface="Source Sans 3"/>
              <a:sym typeface="Source Sans 3"/>
            </a:endParaRPr>
          </a:p>
        </p:txBody>
      </p:sp>
      <p:sp>
        <p:nvSpPr>
          <p:cNvPr id="641" name="Google Shape;641;p2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42" name="Google Shape;642;p2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43" name="Google Shape;643;p2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A10</a:t>
            </a:r>
            <a:endParaRPr b="0" i="0" sz="1400" u="none" cap="none" strike="noStrike">
              <a:solidFill>
                <a:schemeClr val="dk1"/>
              </a:solidFill>
              <a:latin typeface="Source Sans 3"/>
              <a:ea typeface="Source Sans 3"/>
              <a:cs typeface="Source Sans 3"/>
              <a:sym typeface="Source Sans 3"/>
            </a:endParaRPr>
          </a:p>
        </p:txBody>
      </p:sp>
      <p:sp>
        <p:nvSpPr>
          <p:cNvPr id="644" name="Google Shape;644;p20"/>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Need index passes its own test: the food-insecurity rate explains only </a:t>
            </a:r>
            <a:r>
              <a:rPr b="1" i="0" lang="en-US" sz="2100">
                <a:solidFill>
                  <a:srgbClr val="B5501F"/>
                </a:solidFill>
                <a:latin typeface="Source Serif 4"/>
                <a:ea typeface="Source Serif 4"/>
                <a:cs typeface="Source Serif 4"/>
                <a:sym typeface="Source Serif 4"/>
              </a:rPr>
              <a:t>52%</a:t>
            </a:r>
            <a:endParaRPr sz="2100"/>
          </a:p>
        </p:txBody>
      </p:sp>
      <p:graphicFrame>
        <p:nvGraphicFramePr>
          <p:cNvPr id="645" name="Google Shape;645;p20"/>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2411225"/>
                <a:gridCol w="854887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Addendum item</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Our answer</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 · Definition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Need = average of within-year z-scores of three Map the Meal Gap county measures: food-insecurity rate, cost per meal, and share of food-insecure people below the SNAP income limit.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 · Need, not demand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No input comes from food shelf activity; Map the Meal Gap models need from Census survey data and county economics. Demand enters only at the comparison.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 · Reject it if</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It adds nothing beyond the food-insecurity rate. Tested, not rejected: the rate explains 52% (r = 0.72); meal cost and poverty depth add the rest.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 · Revise it if</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The Food Group defines need to include access, or an outside source moves counties a lot. Rurality and shelf density act as explanations, so they stay outside.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646" name="Google Shape;646;p2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Team notebook Q6_need_divergence, section 6</a:t>
            </a:r>
            <a:endParaRPr b="0" i="0" sz="1200" u="none" cap="none" strike="noStrike">
              <a:solidFill>
                <a:schemeClr val="dk1"/>
              </a:solidFill>
              <a:latin typeface="Source Sans 3"/>
              <a:ea typeface="Source Sans 3"/>
              <a:cs typeface="Source Sans 3"/>
              <a:sym typeface="Source Sans 3"/>
            </a:endParaRPr>
          </a:p>
        </p:txBody>
      </p:sp>
      <p:sp>
        <p:nvSpPr>
          <p:cNvPr id="647" name="Google Shape;647;p20"/>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8" name="Google Shape;648;p20"/>
          <p:cNvSpPr/>
          <p:nvPr/>
        </p:nvSpPr>
        <p:spPr>
          <a:xfrm>
            <a:off x="0" y="6803136"/>
            <a:ext cx="5830957"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9" name="Google Shape;649;p2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54" name="Shape 654"/>
        <p:cNvGrpSpPr/>
        <p:nvPr/>
      </p:nvGrpSpPr>
      <p:grpSpPr>
        <a:xfrm>
          <a:off x="0" y="0"/>
          <a:ext cx="0" cy="0"/>
          <a:chOff x="0" y="0"/>
          <a:chExt cx="0" cy="0"/>
        </a:xfrm>
      </p:grpSpPr>
      <p:sp>
        <p:nvSpPr>
          <p:cNvPr id="655" name="Google Shape;655;p2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21"/>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A11 · Q6 drivers, robustness</a:t>
            </a:r>
            <a:endParaRPr b="0" i="0" sz="1300" u="none" cap="none" strike="noStrike">
              <a:solidFill>
                <a:schemeClr val="dk1"/>
              </a:solidFill>
              <a:latin typeface="Source Sans 3"/>
              <a:ea typeface="Source Sans 3"/>
              <a:cs typeface="Source Sans 3"/>
              <a:sym typeface="Source Sans 3"/>
            </a:endParaRPr>
          </a:p>
        </p:txBody>
      </p:sp>
      <p:sp>
        <p:nvSpPr>
          <p:cNvPr id="657" name="Google Shape;657;p2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58" name="Google Shape;658;p2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59" name="Google Shape;659;p2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A11</a:t>
            </a:r>
            <a:endParaRPr b="0" i="0" sz="1400" u="none" cap="none" strike="noStrike">
              <a:solidFill>
                <a:schemeClr val="dk1"/>
              </a:solidFill>
              <a:latin typeface="Source Sans 3"/>
              <a:ea typeface="Source Sans 3"/>
              <a:cs typeface="Source Sans 3"/>
              <a:sym typeface="Source Sans 3"/>
            </a:endParaRPr>
          </a:p>
        </p:txBody>
      </p:sp>
      <p:sp>
        <p:nvSpPr>
          <p:cNvPr id="660" name="Google Shape;660;p21"/>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lang="en-US"/>
              <a:t>Rurality best predicts hidden need;</a:t>
            </a:r>
            <a:r>
              <a:rPr b="1" i="0" lang="en-US" sz="2100">
                <a:solidFill>
                  <a:srgbClr val="1F3B2D"/>
                </a:solidFill>
                <a:latin typeface="Source Serif 4"/>
                <a:ea typeface="Source Serif 4"/>
                <a:cs typeface="Source Serif 4"/>
                <a:sym typeface="Source Serif 4"/>
              </a:rPr>
              <a:t> ranks hold (</a:t>
            </a:r>
            <a:r>
              <a:rPr b="1" i="0" lang="en-US" sz="2100">
                <a:solidFill>
                  <a:srgbClr val="B5501F"/>
                </a:solidFill>
                <a:latin typeface="Source Serif 4"/>
                <a:ea typeface="Source Serif 4"/>
                <a:cs typeface="Source Serif 4"/>
                <a:sym typeface="Source Serif 4"/>
              </a:rPr>
              <a:t>r ≥ 0.81</a:t>
            </a:r>
            <a:r>
              <a:rPr b="1" i="0" lang="en-US" sz="2100">
                <a:solidFill>
                  <a:srgbClr val="1F3B2D"/>
                </a:solidFill>
                <a:latin typeface="Source Serif 4"/>
                <a:ea typeface="Source Serif 4"/>
                <a:cs typeface="Source Serif 4"/>
                <a:sym typeface="Source Serif 4"/>
              </a:rPr>
              <a:t>) across 5 weightings</a:t>
            </a:r>
            <a:endParaRPr sz="2100"/>
          </a:p>
        </p:txBody>
      </p:sp>
      <p:sp>
        <p:nvSpPr>
          <p:cNvPr id="661" name="Google Shape;661;p21"/>
          <p:cNvSpPr/>
          <p:nvPr/>
        </p:nvSpPr>
        <p:spPr>
          <a:xfrm>
            <a:off x="609600" y="1555750"/>
            <a:ext cx="5410200" cy="2117700"/>
          </a:xfrm>
          <a:prstGeom prst="roundRect">
            <a:avLst>
              <a:gd fmla="val 890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21"/>
          <p:cNvSpPr/>
          <p:nvPr/>
        </p:nvSpPr>
        <p:spPr>
          <a:xfrm>
            <a:off x="787400" y="1790245"/>
            <a:ext cx="5130900" cy="36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DRIVERS · 258 COUNTY-YEARS</a:t>
            </a:r>
            <a:endParaRPr b="0" i="0" sz="1200" u="none" cap="none" strike="noStrike">
              <a:solidFill>
                <a:schemeClr val="dk1"/>
              </a:solidFill>
              <a:latin typeface="Source Sans 3"/>
              <a:ea typeface="Source Sans 3"/>
              <a:cs typeface="Source Sans 3"/>
              <a:sym typeface="Source Sans 3"/>
            </a:endParaRPr>
          </a:p>
        </p:txBody>
      </p:sp>
      <p:sp>
        <p:nvSpPr>
          <p:cNvPr id="663" name="Google Shape;663;p21"/>
          <p:cNvSpPr/>
          <p:nvPr/>
        </p:nvSpPr>
        <p:spPr>
          <a:xfrm>
            <a:off x="787400" y="2177101"/>
            <a:ext cx="5130900" cy="4905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2200"/>
              <a:buFont typeface="Source Serif 4"/>
              <a:buNone/>
            </a:pPr>
            <a:r>
              <a:rPr b="1" i="0" lang="en-US" sz="2200" u="none" cap="none" strike="noStrike">
                <a:solidFill>
                  <a:srgbClr val="F7F2E8"/>
                </a:solidFill>
                <a:latin typeface="Source Serif 4"/>
                <a:ea typeface="Source Serif 4"/>
                <a:cs typeface="Source Serif 4"/>
                <a:sym typeface="Source Serif 4"/>
              </a:rPr>
              <a:t>Rurality</a:t>
            </a:r>
            <a:endParaRPr b="0" i="0" sz="2200" u="none" cap="none" strike="noStrike">
              <a:solidFill>
                <a:schemeClr val="dk1"/>
              </a:solidFill>
              <a:latin typeface="Source Sans 3"/>
              <a:ea typeface="Source Sans 3"/>
              <a:cs typeface="Source Sans 3"/>
              <a:sym typeface="Source Sans 3"/>
            </a:endParaRPr>
          </a:p>
        </p:txBody>
      </p:sp>
      <p:sp>
        <p:nvSpPr>
          <p:cNvPr id="664" name="Google Shape;664;p21"/>
          <p:cNvSpPr/>
          <p:nvPr/>
        </p:nvSpPr>
        <p:spPr>
          <a:xfrm>
            <a:off x="787400" y="2687080"/>
            <a:ext cx="5130900" cy="648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−0.14</a:t>
            </a:r>
            <a:r>
              <a:rPr lang="en-US" sz="1200">
                <a:solidFill>
                  <a:srgbClr val="F7F2E8"/>
                </a:solidFill>
                <a:latin typeface="Source Sans 3"/>
                <a:ea typeface="Source Sans 3"/>
                <a:cs typeface="Source Sans 3"/>
                <a:sym typeface="Source Sans 3"/>
              </a:rPr>
              <a:t>0</a:t>
            </a:r>
            <a:r>
              <a:rPr b="0" i="0" lang="en-US" sz="1200" u="none" cap="none" strike="noStrike">
                <a:solidFill>
                  <a:srgbClr val="F7F2E8"/>
                </a:solidFill>
                <a:latin typeface="Source Sans 3"/>
                <a:ea typeface="Source Sans 3"/>
                <a:cs typeface="Source Sans 3"/>
                <a:sym typeface="Source Sans 3"/>
              </a:rPr>
              <a:t> per step on the 1–9 scale (p &lt; .001); </a:t>
            </a:r>
            <a:endParaRPr b="0" i="0" sz="1200" u="none" cap="none" strike="noStrike">
              <a:solidFill>
                <a:srgbClr val="F7F2E8"/>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shelves per 10,000 food-insecure + 0.01</a:t>
            </a:r>
            <a:r>
              <a:rPr lang="en-US" sz="1200">
                <a:solidFill>
                  <a:srgbClr val="F7F2E8"/>
                </a:solidFill>
                <a:latin typeface="Source Sans 3"/>
                <a:ea typeface="Source Sans 3"/>
                <a:cs typeface="Source Sans 3"/>
                <a:sym typeface="Source Sans 3"/>
              </a:rPr>
              <a:t>3</a:t>
            </a:r>
            <a:r>
              <a:rPr b="0" i="0" lang="en-US" sz="1200" u="none" cap="none" strike="noStrike">
                <a:solidFill>
                  <a:srgbClr val="F7F2E8"/>
                </a:solidFill>
                <a:latin typeface="Source Sans 3"/>
                <a:ea typeface="Source Sans 3"/>
                <a:cs typeface="Source Sans 3"/>
                <a:sym typeface="Source Sans 3"/>
              </a:rPr>
              <a:t> (p = .04); R² = 0.1</a:t>
            </a:r>
            <a:r>
              <a:rPr lang="en-US" sz="1200">
                <a:solidFill>
                  <a:srgbClr val="F7F2E8"/>
                </a:solidFill>
                <a:latin typeface="Source Sans 3"/>
                <a:ea typeface="Source Sans 3"/>
                <a:cs typeface="Source Sans 3"/>
                <a:sym typeface="Source Sans 3"/>
              </a:rPr>
              <a:t>3</a:t>
            </a:r>
            <a:endParaRPr b="0" i="0" sz="1200" u="none" cap="none" strike="noStrike">
              <a:solidFill>
                <a:schemeClr val="dk1"/>
              </a:solidFill>
              <a:latin typeface="Source Sans 3"/>
              <a:ea typeface="Source Sans 3"/>
              <a:cs typeface="Source Sans 3"/>
              <a:sym typeface="Source Sans 3"/>
            </a:endParaRPr>
          </a:p>
        </p:txBody>
      </p:sp>
      <p:sp>
        <p:nvSpPr>
          <p:cNvPr id="665" name="Google Shape;665;p21"/>
          <p:cNvSpPr/>
          <p:nvPr/>
        </p:nvSpPr>
        <p:spPr>
          <a:xfrm>
            <a:off x="6172200" y="1555750"/>
            <a:ext cx="5410200" cy="2117700"/>
          </a:xfrm>
          <a:prstGeom prst="roundRect">
            <a:avLst>
              <a:gd fmla="val 8903"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21"/>
          <p:cNvSpPr/>
          <p:nvPr/>
        </p:nvSpPr>
        <p:spPr>
          <a:xfrm>
            <a:off x="6350000" y="1790245"/>
            <a:ext cx="5130900" cy="36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WEIGHTING CHECK · 5 VERSIONS</a:t>
            </a:r>
            <a:endParaRPr b="0" i="0" sz="1200" u="none" cap="none" strike="noStrike">
              <a:solidFill>
                <a:schemeClr val="dk1"/>
              </a:solidFill>
              <a:latin typeface="Source Sans 3"/>
              <a:ea typeface="Source Sans 3"/>
              <a:cs typeface="Source Sans 3"/>
              <a:sym typeface="Source Sans 3"/>
            </a:endParaRPr>
          </a:p>
        </p:txBody>
      </p:sp>
      <p:sp>
        <p:nvSpPr>
          <p:cNvPr id="667" name="Google Shape;667;p21"/>
          <p:cNvSpPr/>
          <p:nvPr/>
        </p:nvSpPr>
        <p:spPr>
          <a:xfrm>
            <a:off x="6350000" y="2177101"/>
            <a:ext cx="5130900" cy="4905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2200"/>
              <a:buFont typeface="Source Serif 4"/>
              <a:buNone/>
            </a:pPr>
            <a:r>
              <a:rPr b="1" lang="en-US" sz="2200">
                <a:solidFill>
                  <a:srgbClr val="1F1A14"/>
                </a:solidFill>
                <a:latin typeface="Source Serif 4"/>
                <a:ea typeface="Source Serif 4"/>
                <a:cs typeface="Source Serif 4"/>
                <a:sym typeface="Source Serif 4"/>
              </a:rPr>
              <a:t>Mostly Stable</a:t>
            </a:r>
            <a:endParaRPr b="0" i="0" sz="2200" u="none" cap="none" strike="noStrike">
              <a:solidFill>
                <a:schemeClr val="dk1"/>
              </a:solidFill>
              <a:latin typeface="Source Sans 3"/>
              <a:ea typeface="Source Sans 3"/>
              <a:cs typeface="Source Sans 3"/>
              <a:sym typeface="Source Sans 3"/>
            </a:endParaRPr>
          </a:p>
        </p:txBody>
      </p:sp>
      <p:sp>
        <p:nvSpPr>
          <p:cNvPr id="668" name="Google Shape;668;p21"/>
          <p:cNvSpPr/>
          <p:nvPr/>
        </p:nvSpPr>
        <p:spPr>
          <a:xfrm>
            <a:off x="6350000" y="2687080"/>
            <a:ext cx="5130900" cy="648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b="0" i="0" lang="en-US" sz="1200" u="none" cap="none" strike="noStrike">
                <a:solidFill>
                  <a:srgbClr val="1F1A14"/>
                </a:solidFill>
                <a:latin typeface="Source Sans 3"/>
                <a:ea typeface="Source Sans 3"/>
                <a:cs typeface="Source Sans 3"/>
                <a:sym typeface="Source Sans 3"/>
              </a:rPr>
              <a:t>Rank correlation 0.81–0.98; the rural cluster keeps 6–9 of 9 counties when a part is dropped, 4 of 9 on the rate alone</a:t>
            </a:r>
            <a:endParaRPr b="0" i="0" sz="1200" u="none" cap="none" strike="noStrike">
              <a:solidFill>
                <a:srgbClr val="1F1A14"/>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1F1A14"/>
              </a:buClr>
              <a:buSzPts val="1200"/>
              <a:buFont typeface="Source Sans 3"/>
              <a:buNone/>
            </a:pPr>
            <a:r>
              <a:rPr b="1" lang="en-US" sz="1200">
                <a:solidFill>
                  <a:srgbClr val="1F1A14"/>
                </a:solidFill>
                <a:latin typeface="Source Sans 3"/>
                <a:ea typeface="Source Sans 3"/>
                <a:cs typeface="Source Sans 3"/>
                <a:sym typeface="Source Sans 3"/>
              </a:rPr>
              <a:t>Swift and Aitkin stay under-served under every weighting; five of the nine drop out on FI rate alone</a:t>
            </a:r>
            <a:endParaRPr b="1" sz="1200">
              <a:solidFill>
                <a:srgbClr val="1F1A14"/>
              </a:solidFill>
              <a:latin typeface="Source Sans 3"/>
              <a:ea typeface="Source Sans 3"/>
              <a:cs typeface="Source Sans 3"/>
              <a:sym typeface="Source Sans 3"/>
            </a:endParaRPr>
          </a:p>
        </p:txBody>
      </p:sp>
      <p:sp>
        <p:nvSpPr>
          <p:cNvPr id="669" name="Google Shape;669;p21"/>
          <p:cNvSpPr/>
          <p:nvPr/>
        </p:nvSpPr>
        <p:spPr>
          <a:xfrm>
            <a:off x="609600" y="4121404"/>
            <a:ext cx="10972800" cy="711300"/>
          </a:xfrm>
          <a:prstGeom prst="roundRect">
            <a:avLst>
              <a:gd fmla="val 16073"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21"/>
          <p:cNvSpPr/>
          <p:nvPr/>
        </p:nvSpPr>
        <p:spPr>
          <a:xfrm>
            <a:off x="774700" y="4248404"/>
            <a:ext cx="10706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NEED VS EACH ACTIVITY METRIC, PER 1,000 RESIDENTS</a:t>
            </a:r>
            <a:endParaRPr b="0" i="0" sz="1200" u="none" cap="none" strike="noStrike">
              <a:solidFill>
                <a:schemeClr val="dk1"/>
              </a:solidFill>
              <a:latin typeface="Source Sans 3"/>
              <a:ea typeface="Source Sans 3"/>
              <a:cs typeface="Source Sans 3"/>
              <a:sym typeface="Source Sans 3"/>
            </a:endParaRPr>
          </a:p>
        </p:txBody>
      </p:sp>
      <p:sp>
        <p:nvSpPr>
          <p:cNvPr id="671" name="Google Shape;671;p21"/>
          <p:cNvSpPr/>
          <p:nvPr/>
        </p:nvSpPr>
        <p:spPr>
          <a:xfrm>
            <a:off x="774700" y="4499825"/>
            <a:ext cx="107061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Correlations run from </a:t>
            </a:r>
            <a:r>
              <a:rPr lang="en-US" sz="1200">
                <a:solidFill>
                  <a:srgbClr val="1F3B2D"/>
                </a:solidFill>
                <a:latin typeface="Source Sans 3"/>
                <a:ea typeface="Source Sans 3"/>
                <a:cs typeface="Source Sans 3"/>
                <a:sym typeface="Source Sans 3"/>
              </a:rPr>
              <a:t>−0.12  to 0.29</a:t>
            </a:r>
            <a:r>
              <a:rPr b="0" i="0" lang="en-US" sz="1200" u="none" cap="none" strike="noStrike">
                <a:solidFill>
                  <a:srgbClr val="1F3B2D"/>
                </a:solidFill>
                <a:latin typeface="Source Sans 3"/>
                <a:ea typeface="Source Sans 3"/>
                <a:cs typeface="Source Sans 3"/>
                <a:sym typeface="Source Sans 3"/>
              </a:rPr>
              <a:t> across 2022–2024, while the three activity metrics agree with each other (0.85–0.96). Activity is consistent; it just does not follow need.</a:t>
            </a:r>
            <a:endParaRPr b="0" i="0" sz="1200" u="none" cap="none" strike="noStrike">
              <a:solidFill>
                <a:schemeClr val="dk1"/>
              </a:solidFill>
              <a:latin typeface="Source Sans 3"/>
              <a:ea typeface="Source Sans 3"/>
              <a:cs typeface="Source Sans 3"/>
              <a:sym typeface="Source Sans 3"/>
            </a:endParaRPr>
          </a:p>
        </p:txBody>
      </p:sp>
      <p:sp>
        <p:nvSpPr>
          <p:cNvPr id="672" name="Google Shape;672;p2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Standard errors clustered by county · Team notebook Q6_need_divergence, sections 2b, 4b, 4c</a:t>
            </a:r>
            <a:endParaRPr b="0" i="0" sz="1200" u="none" cap="none" strike="noStrike">
              <a:solidFill>
                <a:schemeClr val="dk1"/>
              </a:solidFill>
              <a:latin typeface="Source Sans 3"/>
              <a:ea typeface="Source Sans 3"/>
              <a:cs typeface="Source Sans 3"/>
              <a:sym typeface="Source Sans 3"/>
            </a:endParaRPr>
          </a:p>
        </p:txBody>
      </p:sp>
      <p:sp>
        <p:nvSpPr>
          <p:cNvPr id="673" name="Google Shape;673;p21"/>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4" name="Google Shape;674;p21"/>
          <p:cNvSpPr/>
          <p:nvPr/>
        </p:nvSpPr>
        <p:spPr>
          <a:xfrm>
            <a:off x="0" y="6803136"/>
            <a:ext cx="6361043"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5" name="Google Shape;675;p2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680" name="Shape 680"/>
        <p:cNvGrpSpPr/>
        <p:nvPr/>
      </p:nvGrpSpPr>
      <p:grpSpPr>
        <a:xfrm>
          <a:off x="0" y="0"/>
          <a:ext cx="0" cy="0"/>
          <a:chOff x="0" y="0"/>
          <a:chExt cx="0" cy="0"/>
        </a:xfrm>
      </p:grpSpPr>
      <p:sp>
        <p:nvSpPr>
          <p:cNvPr id="681" name="Google Shape;681;p2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22"/>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A12 · Q4 results</a:t>
            </a:r>
            <a:endParaRPr b="0" i="0" sz="1300" u="none" cap="none" strike="noStrike">
              <a:solidFill>
                <a:schemeClr val="dk1"/>
              </a:solidFill>
              <a:latin typeface="Source Sans 3"/>
              <a:ea typeface="Source Sans 3"/>
              <a:cs typeface="Source Sans 3"/>
              <a:sym typeface="Source Sans 3"/>
            </a:endParaRPr>
          </a:p>
        </p:txBody>
      </p:sp>
      <p:sp>
        <p:nvSpPr>
          <p:cNvPr id="683" name="Google Shape;683;p2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684" name="Google Shape;684;p2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685" name="Google Shape;685;p2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A12</a:t>
            </a:r>
            <a:endParaRPr b="0" i="0" sz="1400" u="none" cap="none" strike="noStrike">
              <a:solidFill>
                <a:schemeClr val="dk1"/>
              </a:solidFill>
              <a:latin typeface="Source Sans 3"/>
              <a:ea typeface="Source Sans 3"/>
              <a:cs typeface="Source Sans 3"/>
              <a:sym typeface="Source Sans 3"/>
            </a:endParaRPr>
          </a:p>
        </p:txBody>
      </p:sp>
      <p:sp>
        <p:nvSpPr>
          <p:cNvPr id="686" name="Google Shape;686;p22"/>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Prices add </a:t>
            </a:r>
            <a:r>
              <a:rPr b="1" i="0" lang="en-US" sz="2100">
                <a:solidFill>
                  <a:srgbClr val="B5501F"/>
                </a:solidFill>
                <a:latin typeface="Source Serif 4"/>
                <a:ea typeface="Source Serif 4"/>
                <a:cs typeface="Source Serif 4"/>
                <a:sym typeface="Source Serif 4"/>
              </a:rPr>
              <a:t>1 point</a:t>
            </a:r>
            <a:r>
              <a:rPr b="1" i="0" lang="en-US" sz="2100">
                <a:solidFill>
                  <a:srgbClr val="1F3B2D"/>
                </a:solidFill>
                <a:latin typeface="Source Serif 4"/>
                <a:ea typeface="Source Serif 4"/>
                <a:cs typeface="Source Serif 4"/>
                <a:sym typeface="Source Serif 4"/>
              </a:rPr>
              <a:t>, seasons </a:t>
            </a:r>
            <a:r>
              <a:rPr b="1" i="0" lang="en-US" sz="2100">
                <a:solidFill>
                  <a:srgbClr val="B5501F"/>
                </a:solidFill>
                <a:latin typeface="Source Serif 4"/>
                <a:ea typeface="Source Serif 4"/>
                <a:cs typeface="Source Serif 4"/>
                <a:sym typeface="Source Serif 4"/>
              </a:rPr>
              <a:t>5–</a:t>
            </a:r>
            <a:r>
              <a:rPr b="1" lang="en-US">
                <a:solidFill>
                  <a:srgbClr val="B5501F"/>
                </a:solidFill>
              </a:rPr>
              <a:t>8</a:t>
            </a:r>
            <a:r>
              <a:rPr b="1" i="0" lang="en-US" sz="2100">
                <a:solidFill>
                  <a:srgbClr val="B5501F"/>
                </a:solidFill>
                <a:latin typeface="Source Serif 4"/>
                <a:ea typeface="Source Serif 4"/>
                <a:cs typeface="Source Serif 4"/>
                <a:sym typeface="Source Serif 4"/>
              </a:rPr>
              <a:t> points</a:t>
            </a:r>
            <a:r>
              <a:rPr b="1" lang="en-US"/>
              <a:t>;</a:t>
            </a:r>
            <a:r>
              <a:rPr b="1" i="0" lang="en-US" sz="2100">
                <a:solidFill>
                  <a:srgbClr val="1F3B2D"/>
                </a:solidFill>
                <a:latin typeface="Source Serif 4"/>
                <a:ea typeface="Source Serif 4"/>
                <a:cs typeface="Source Serif 4"/>
                <a:sym typeface="Source Serif 4"/>
              </a:rPr>
              <a:t> the SNAP cut </a:t>
            </a:r>
            <a:r>
              <a:rPr b="1" i="0" lang="en-US" sz="2100">
                <a:solidFill>
                  <a:srgbClr val="B5501F"/>
                </a:solidFill>
                <a:latin typeface="Source Serif 4"/>
                <a:ea typeface="Source Serif 4"/>
                <a:cs typeface="Source Serif 4"/>
                <a:sym typeface="Source Serif 4"/>
              </a:rPr>
              <a:t>16–19 points over tre</a:t>
            </a:r>
            <a:r>
              <a:rPr b="1" lang="en-US">
                <a:solidFill>
                  <a:srgbClr val="B5501F"/>
                </a:solidFill>
              </a:rPr>
              <a:t>nd</a:t>
            </a:r>
            <a:endParaRPr sz="2100"/>
          </a:p>
        </p:txBody>
      </p:sp>
      <p:sp>
        <p:nvSpPr>
          <p:cNvPr id="687" name="Google Shape;687;p22"/>
          <p:cNvSpPr/>
          <p:nvPr/>
        </p:nvSpPr>
        <p:spPr>
          <a:xfrm>
            <a:off x="615950" y="1555750"/>
            <a:ext cx="10960100" cy="1638300"/>
          </a:xfrm>
          <a:prstGeom prst="roundRect">
            <a:avLst>
              <a:gd fmla="val 6589" name="adj"/>
            </a:avLst>
          </a:prstGeom>
          <a:solidFill>
            <a:srgbClr val="FFFFFF"/>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22"/>
          <p:cNvSpPr/>
          <p:nvPr/>
        </p:nvSpPr>
        <p:spPr>
          <a:xfrm>
            <a:off x="812800" y="17894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Typical monthly price rise (+0.22%)</a:t>
            </a:r>
            <a:endParaRPr b="0" i="0" sz="1300" u="none" cap="none" strike="noStrike">
              <a:solidFill>
                <a:schemeClr val="dk1"/>
              </a:solidFill>
              <a:latin typeface="Source Sans 3"/>
              <a:ea typeface="Source Sans 3"/>
              <a:cs typeface="Source Sans 3"/>
              <a:sym typeface="Source Sans 3"/>
            </a:endParaRPr>
          </a:p>
        </p:txBody>
      </p:sp>
      <p:sp>
        <p:nvSpPr>
          <p:cNvPr id="689" name="Google Shape;689;p22"/>
          <p:cNvSpPr/>
          <p:nvPr/>
        </p:nvSpPr>
        <p:spPr>
          <a:xfrm>
            <a:off x="4521200" y="1752600"/>
            <a:ext cx="254000" cy="304800"/>
          </a:xfrm>
          <a:prstGeom prst="roundRect">
            <a:avLst>
              <a:gd fmla="val 25000"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22"/>
          <p:cNvSpPr/>
          <p:nvPr/>
        </p:nvSpPr>
        <p:spPr>
          <a:xfrm>
            <a:off x="4927600" y="1771650"/>
            <a:ext cx="115000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 +1 point</a:t>
            </a:r>
            <a:endParaRPr b="0" i="0" sz="1500" u="none" cap="none" strike="noStrike">
              <a:solidFill>
                <a:schemeClr val="dk1"/>
              </a:solidFill>
              <a:latin typeface="Source Sans 3"/>
              <a:ea typeface="Source Sans 3"/>
              <a:cs typeface="Source Sans 3"/>
              <a:sym typeface="Source Sans 3"/>
            </a:endParaRPr>
          </a:p>
        </p:txBody>
      </p:sp>
      <p:sp>
        <p:nvSpPr>
          <p:cNvPr id="691" name="Google Shape;691;p22"/>
          <p:cNvSpPr/>
          <p:nvPr/>
        </p:nvSpPr>
        <p:spPr>
          <a:xfrm>
            <a:off x="6150000" y="1798340"/>
            <a:ext cx="52500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Per month</a:t>
            </a:r>
            <a:endParaRPr b="0" i="0" sz="1200" u="none" cap="none" strike="noStrike">
              <a:solidFill>
                <a:schemeClr val="dk1"/>
              </a:solidFill>
              <a:latin typeface="Source Sans 3"/>
              <a:ea typeface="Source Sans 3"/>
              <a:cs typeface="Source Sans 3"/>
              <a:sym typeface="Source Sans 3"/>
            </a:endParaRPr>
          </a:p>
        </p:txBody>
      </p:sp>
      <p:sp>
        <p:nvSpPr>
          <p:cNvPr id="692" name="Google Shape;692;p22"/>
          <p:cNvSpPr/>
          <p:nvPr/>
        </p:nvSpPr>
        <p:spPr>
          <a:xfrm>
            <a:off x="812800" y="22593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Seasonal swing (August and fall peaks)</a:t>
            </a:r>
            <a:endParaRPr b="0" i="0" sz="1300" u="none" cap="none" strike="noStrike">
              <a:solidFill>
                <a:schemeClr val="dk1"/>
              </a:solidFill>
              <a:latin typeface="Source Sans 3"/>
              <a:ea typeface="Source Sans 3"/>
              <a:cs typeface="Source Sans 3"/>
              <a:sym typeface="Source Sans 3"/>
            </a:endParaRPr>
          </a:p>
        </p:txBody>
      </p:sp>
      <p:sp>
        <p:nvSpPr>
          <p:cNvPr id="693" name="Google Shape;693;p22"/>
          <p:cNvSpPr/>
          <p:nvPr/>
        </p:nvSpPr>
        <p:spPr>
          <a:xfrm>
            <a:off x="4521200" y="2222500"/>
            <a:ext cx="1651000" cy="304800"/>
          </a:xfrm>
          <a:prstGeom prst="roundRect">
            <a:avLst>
              <a:gd fmla="val 2083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22"/>
          <p:cNvSpPr/>
          <p:nvPr/>
        </p:nvSpPr>
        <p:spPr>
          <a:xfrm>
            <a:off x="6324600" y="2241550"/>
            <a:ext cx="145000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±5 to </a:t>
            </a:r>
            <a:r>
              <a:rPr b="1" lang="en-US" sz="1500">
                <a:solidFill>
                  <a:srgbClr val="1F3B2D"/>
                </a:solidFill>
                <a:latin typeface="Source Serif 4"/>
                <a:ea typeface="Source Serif 4"/>
                <a:cs typeface="Source Serif 4"/>
                <a:sym typeface="Source Serif 4"/>
              </a:rPr>
              <a:t>8</a:t>
            </a:r>
            <a:r>
              <a:rPr b="1" i="0" lang="en-US" sz="1500" u="none" cap="none" strike="noStrike">
                <a:solidFill>
                  <a:srgbClr val="1F3B2D"/>
                </a:solidFill>
                <a:latin typeface="Source Serif 4"/>
                <a:ea typeface="Source Serif 4"/>
                <a:cs typeface="Source Serif 4"/>
                <a:sym typeface="Source Serif 4"/>
              </a:rPr>
              <a:t> points</a:t>
            </a:r>
            <a:endParaRPr b="0" i="0" sz="1500" u="none" cap="none" strike="noStrike">
              <a:solidFill>
                <a:schemeClr val="dk1"/>
              </a:solidFill>
              <a:latin typeface="Source Sans 3"/>
              <a:ea typeface="Source Sans 3"/>
              <a:cs typeface="Source Sans 3"/>
              <a:sym typeface="Source Sans 3"/>
            </a:endParaRPr>
          </a:p>
        </p:txBody>
      </p:sp>
      <p:sp>
        <p:nvSpPr>
          <p:cNvPr id="695" name="Google Shape;695;p22"/>
          <p:cNvSpPr/>
          <p:nvPr/>
        </p:nvSpPr>
        <p:spPr>
          <a:xfrm>
            <a:off x="812800" y="2729210"/>
            <a:ext cx="366268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SNAP allotments end</a:t>
            </a:r>
            <a:r>
              <a:rPr b="1" lang="en-US" sz="1300">
                <a:solidFill>
                  <a:srgbClr val="1F3B2D"/>
                </a:solidFill>
                <a:latin typeface="Source Sans 3"/>
                <a:ea typeface="Source Sans 3"/>
                <a:cs typeface="Source Sans 3"/>
                <a:sym typeface="Source Sans 3"/>
              </a:rPr>
              <a:t> (Spring 2023)</a:t>
            </a:r>
            <a:endParaRPr b="0" i="0" sz="1300" u="none" cap="none" strike="noStrike">
              <a:solidFill>
                <a:schemeClr val="dk1"/>
              </a:solidFill>
              <a:latin typeface="Source Sans 3"/>
              <a:ea typeface="Source Sans 3"/>
              <a:cs typeface="Source Sans 3"/>
              <a:sym typeface="Source Sans 3"/>
            </a:endParaRPr>
          </a:p>
        </p:txBody>
      </p:sp>
      <p:sp>
        <p:nvSpPr>
          <p:cNvPr id="696" name="Google Shape;696;p22"/>
          <p:cNvSpPr/>
          <p:nvPr/>
        </p:nvSpPr>
        <p:spPr>
          <a:xfrm>
            <a:off x="4521200" y="2692400"/>
            <a:ext cx="4572000" cy="304800"/>
          </a:xfrm>
          <a:prstGeom prst="roundRect">
            <a:avLst>
              <a:gd fmla="val 20833"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22"/>
          <p:cNvSpPr/>
          <p:nvPr/>
        </p:nvSpPr>
        <p:spPr>
          <a:xfrm>
            <a:off x="9245600" y="2711450"/>
            <a:ext cx="170000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+16 to 19 points</a:t>
            </a:r>
            <a:endParaRPr b="0" i="0" sz="1500" u="none" cap="none" strike="noStrike">
              <a:solidFill>
                <a:schemeClr val="dk1"/>
              </a:solidFill>
              <a:latin typeface="Source Sans 3"/>
              <a:ea typeface="Source Sans 3"/>
              <a:cs typeface="Source Sans 3"/>
              <a:sym typeface="Source Sans 3"/>
            </a:endParaRPr>
          </a:p>
        </p:txBody>
      </p:sp>
      <p:sp>
        <p:nvSpPr>
          <p:cNvPr id="698" name="Google Shape;698;p22"/>
          <p:cNvSpPr/>
          <p:nvPr/>
        </p:nvSpPr>
        <p:spPr>
          <a:xfrm>
            <a:off x="615950" y="3280370"/>
            <a:ext cx="3543300" cy="96000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22"/>
          <p:cNvSpPr/>
          <p:nvPr/>
        </p:nvSpPr>
        <p:spPr>
          <a:xfrm>
            <a:off x="787400" y="3413720"/>
            <a:ext cx="32703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lang="en-US" sz="1300">
                <a:solidFill>
                  <a:srgbClr val="1F3B2D"/>
                </a:solidFill>
                <a:latin typeface="Source Serif 4"/>
                <a:ea typeface="Source Serif 4"/>
                <a:cs typeface="Source Serif 4"/>
                <a:sym typeface="Source Serif 4"/>
              </a:rPr>
              <a:t>Same month</a:t>
            </a:r>
            <a:endParaRPr b="0" i="0" sz="1300" u="none" cap="none" strike="noStrike">
              <a:solidFill>
                <a:schemeClr val="dk1"/>
              </a:solidFill>
              <a:latin typeface="Source Sans 3"/>
              <a:ea typeface="Source Sans 3"/>
              <a:cs typeface="Source Sans 3"/>
              <a:sym typeface="Source Sans 3"/>
            </a:endParaRPr>
          </a:p>
        </p:txBody>
      </p:sp>
      <p:sp>
        <p:nvSpPr>
          <p:cNvPr id="700" name="Google Shape;700;p22"/>
          <p:cNvSpPr/>
          <p:nvPr/>
        </p:nvSpPr>
        <p:spPr>
          <a:xfrm>
            <a:off x="787400" y="3695650"/>
            <a:ext cx="32703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No effect: r ≈ 0 once the shared trend is removed</a:t>
            </a:r>
            <a:endParaRPr b="0" i="0" sz="1200" u="none" cap="none" strike="noStrike">
              <a:solidFill>
                <a:schemeClr val="dk1"/>
              </a:solidFill>
              <a:latin typeface="Source Sans 3"/>
              <a:ea typeface="Source Sans 3"/>
              <a:cs typeface="Source Sans 3"/>
              <a:sym typeface="Source Sans 3"/>
            </a:endParaRPr>
          </a:p>
        </p:txBody>
      </p:sp>
      <p:sp>
        <p:nvSpPr>
          <p:cNvPr id="701" name="Google Shape;701;p22"/>
          <p:cNvSpPr/>
          <p:nvPr/>
        </p:nvSpPr>
        <p:spPr>
          <a:xfrm>
            <a:off x="4324350" y="3280370"/>
            <a:ext cx="3543300" cy="96000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22"/>
          <p:cNvSpPr/>
          <p:nvPr/>
        </p:nvSpPr>
        <p:spPr>
          <a:xfrm>
            <a:off x="4495800" y="3413720"/>
            <a:ext cx="32703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Over a year</a:t>
            </a:r>
            <a:endParaRPr b="0" i="0" sz="1300" u="none" cap="none" strike="noStrike">
              <a:solidFill>
                <a:schemeClr val="dk1"/>
              </a:solidFill>
              <a:latin typeface="Source Sans 3"/>
              <a:ea typeface="Source Sans 3"/>
              <a:cs typeface="Source Sans 3"/>
              <a:sym typeface="Source Sans 3"/>
            </a:endParaRPr>
          </a:p>
        </p:txBody>
      </p:sp>
      <p:sp>
        <p:nvSpPr>
          <p:cNvPr id="703" name="Google Shape;703;p22"/>
          <p:cNvSpPr/>
          <p:nvPr/>
        </p:nvSpPr>
        <p:spPr>
          <a:xfrm>
            <a:off x="4495800" y="3695650"/>
            <a:ext cx="32703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Move together (r 0.33–0.55); no precise lag survives the falsification test</a:t>
            </a:r>
            <a:endParaRPr b="0" i="0" sz="1200" u="none" cap="none" strike="noStrike">
              <a:solidFill>
                <a:schemeClr val="dk1"/>
              </a:solidFill>
              <a:latin typeface="Source Sans 3"/>
              <a:ea typeface="Source Sans 3"/>
              <a:cs typeface="Source Sans 3"/>
              <a:sym typeface="Source Sans 3"/>
            </a:endParaRPr>
          </a:p>
        </p:txBody>
      </p:sp>
      <p:sp>
        <p:nvSpPr>
          <p:cNvPr id="704" name="Google Shape;704;p22"/>
          <p:cNvSpPr/>
          <p:nvPr/>
        </p:nvSpPr>
        <p:spPr>
          <a:xfrm>
            <a:off x="8032750" y="3280370"/>
            <a:ext cx="3543300" cy="960000"/>
          </a:xfrm>
          <a:prstGeom prst="roundRect">
            <a:avLst>
              <a:gd fmla="val 112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22"/>
          <p:cNvSpPr/>
          <p:nvPr/>
        </p:nvSpPr>
        <p:spPr>
          <a:xfrm>
            <a:off x="8204200" y="3413720"/>
            <a:ext cx="32703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Donor number</a:t>
            </a:r>
            <a:endParaRPr b="0" i="0" sz="1300" u="none" cap="none" strike="noStrike">
              <a:solidFill>
                <a:schemeClr val="dk1"/>
              </a:solidFill>
              <a:latin typeface="Source Sans 3"/>
              <a:ea typeface="Source Sans 3"/>
              <a:cs typeface="Source Sans 3"/>
              <a:sym typeface="Source Sans 3"/>
            </a:endParaRPr>
          </a:p>
        </p:txBody>
      </p:sp>
      <p:sp>
        <p:nvSpPr>
          <p:cNvPr id="706" name="Google Shape;706;p22"/>
          <p:cNvSpPr/>
          <p:nvPr/>
        </p:nvSpPr>
        <p:spPr>
          <a:xfrm>
            <a:off x="8204200" y="3695650"/>
            <a:ext cx="3270300" cy="4368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One point of food inflation ≈ 3.4 points faster growth in people served (95% interval 2.2–4.6)</a:t>
            </a:r>
            <a:endParaRPr b="0" i="0" sz="1200" u="none" cap="none" strike="noStrike">
              <a:solidFill>
                <a:schemeClr val="dk1"/>
              </a:solidFill>
              <a:latin typeface="Source Sans 3"/>
              <a:ea typeface="Source Sans 3"/>
              <a:cs typeface="Source Sans 3"/>
              <a:sym typeface="Source Sans 3"/>
            </a:endParaRPr>
          </a:p>
        </p:txBody>
      </p:sp>
      <p:sp>
        <p:nvSpPr>
          <p:cNvPr id="707" name="Google Shape;707;p2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BLS CPI-U Food at Home, Midwest Urban, via FRED; The Food Group · Team notebook Q4_FINAL</a:t>
            </a:r>
            <a:endParaRPr b="0" i="0" sz="1200" u="none" cap="none" strike="noStrike">
              <a:solidFill>
                <a:schemeClr val="dk1"/>
              </a:solidFill>
              <a:latin typeface="Source Sans 3"/>
              <a:ea typeface="Source Sans 3"/>
              <a:cs typeface="Source Sans 3"/>
              <a:sym typeface="Source Sans 3"/>
            </a:endParaRPr>
          </a:p>
        </p:txBody>
      </p:sp>
      <p:sp>
        <p:nvSpPr>
          <p:cNvPr id="708" name="Google Shape;708;p22"/>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9" name="Google Shape;709;p22"/>
          <p:cNvSpPr/>
          <p:nvPr/>
        </p:nvSpPr>
        <p:spPr>
          <a:xfrm>
            <a:off x="0" y="6803136"/>
            <a:ext cx="6891130"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0" name="Google Shape;710;p22"/>
          <p:cNvSpPr/>
          <p:nvPr/>
        </p:nvSpPr>
        <p:spPr>
          <a:xfrm>
            <a:off x="4440000" y="1700000"/>
            <a:ext cx="2710000" cy="410000"/>
          </a:xfrm>
          <a:prstGeom prst="roundRect">
            <a:avLst>
              <a:gd fmla="val 16667" name="adj"/>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1" name="Google Shape;711;p22"/>
          <p:cNvSpPr txBox="1"/>
          <p:nvPr/>
        </p:nvSpPr>
        <p:spPr>
          <a:xfrm>
            <a:off x="7280000" y="1794176"/>
            <a:ext cx="2764912" cy="231648"/>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200" u="none" cap="none" strike="noStrike">
                <a:solidFill>
                  <a:srgbClr val="C2410C"/>
                </a:solidFill>
                <a:latin typeface="Source Sans 3"/>
                <a:ea typeface="Source Sans 3"/>
                <a:cs typeface="Source Sans 3"/>
                <a:sym typeface="Source Sans 3"/>
              </a:rPr>
              <a:t>Prices have the smallest effect.</a:t>
            </a:r>
            <a:endParaRPr/>
          </a:p>
        </p:txBody>
      </p:sp>
      <p:pic>
        <p:nvPicPr>
          <p:cNvPr id="712" name="Google Shape;712;p22"/>
          <p:cNvPicPr preferRelativeResize="0"/>
          <p:nvPr/>
        </p:nvPicPr>
        <p:blipFill>
          <a:blip r:embed="rId4">
            <a:alphaModFix/>
          </a:blip>
          <a:stretch>
            <a:fillRect/>
          </a:stretch>
        </p:blipFill>
        <p:spPr>
          <a:xfrm>
            <a:off x="615950" y="4319259"/>
            <a:ext cx="4824159" cy="1900425"/>
          </a:xfrm>
          <a:prstGeom prst="rect">
            <a:avLst/>
          </a:prstGeom>
          <a:noFill/>
          <a:ln>
            <a:noFill/>
          </a:ln>
        </p:spPr>
      </p:pic>
      <p:graphicFrame>
        <p:nvGraphicFramePr>
          <p:cNvPr id="713" name="Google Shape;713;p22"/>
          <p:cNvGraphicFramePr/>
          <p:nvPr/>
        </p:nvGraphicFramePr>
        <p:xfrm>
          <a:off x="5584725" y="4317275"/>
          <a:ext cx="3000000" cy="3000000"/>
        </p:xfrm>
        <a:graphic>
          <a:graphicData uri="http://schemas.openxmlformats.org/drawingml/2006/table">
            <a:tbl>
              <a:tblPr>
                <a:noFill/>
                <a:tableStyleId>{0CA31FF4-67A7-4FF6-983C-CC8DA9553499}</a:tableStyleId>
              </a:tblPr>
              <a:tblGrid>
                <a:gridCol w="652250"/>
                <a:gridCol w="652250"/>
                <a:gridCol w="652250"/>
              </a:tblGrid>
              <a:tr h="472600">
                <a:tc>
                  <a:txBody>
                    <a:bodyPr/>
                    <a:lstStyle/>
                    <a:p>
                      <a:pPr indent="0" lvl="0" marL="0" rtl="0" algn="l">
                        <a:spcBef>
                          <a:spcPts val="0"/>
                        </a:spcBef>
                        <a:spcAft>
                          <a:spcPts val="0"/>
                        </a:spcAft>
                        <a:buNone/>
                      </a:pPr>
                      <a:r>
                        <a:rPr b="1" lang="en-US" sz="1000">
                          <a:solidFill>
                            <a:srgbClr val="FFFFFF"/>
                          </a:solidFill>
                        </a:rPr>
                        <a:t>month / year</a:t>
                      </a:r>
                      <a:endParaRPr b="1" sz="1000">
                        <a:solidFill>
                          <a:srgbClr val="FFFFFF"/>
                        </a:solidFill>
                      </a:endParaRPr>
                    </a:p>
                  </a:txBody>
                  <a:tcPr marT="91425" marB="91425" marR="91425" marL="91425">
                    <a:solidFill>
                      <a:schemeClr val="accent5"/>
                    </a:solidFill>
                  </a:tcPr>
                </a:tc>
                <a:tc>
                  <a:txBody>
                    <a:bodyPr/>
                    <a:lstStyle/>
                    <a:p>
                      <a:pPr indent="0" lvl="0" marL="0" rtl="0" algn="l">
                        <a:spcBef>
                          <a:spcPts val="0"/>
                        </a:spcBef>
                        <a:spcAft>
                          <a:spcPts val="0"/>
                        </a:spcAft>
                        <a:buNone/>
                      </a:pPr>
                      <a:r>
                        <a:rPr b="1" lang="en-US" sz="1000">
                          <a:solidFill>
                            <a:srgbClr val="FFFFFF"/>
                          </a:solidFill>
                        </a:rPr>
                        <a:t>Oct</a:t>
                      </a:r>
                      <a:endParaRPr b="1" sz="1000">
                        <a:solidFill>
                          <a:srgbClr val="FFFFFF"/>
                        </a:solidFill>
                      </a:endParaRPr>
                    </a:p>
                  </a:txBody>
                  <a:tcPr marT="91425" marB="91425" marR="91425" marL="91425">
                    <a:solidFill>
                      <a:schemeClr val="accent5"/>
                    </a:solidFill>
                  </a:tcPr>
                </a:tc>
                <a:tc>
                  <a:txBody>
                    <a:bodyPr/>
                    <a:lstStyle/>
                    <a:p>
                      <a:pPr indent="0" lvl="0" marL="0" rtl="0" algn="l">
                        <a:spcBef>
                          <a:spcPts val="0"/>
                        </a:spcBef>
                        <a:spcAft>
                          <a:spcPts val="0"/>
                        </a:spcAft>
                        <a:buNone/>
                      </a:pPr>
                      <a:r>
                        <a:rPr b="1" lang="en-US" sz="1000">
                          <a:solidFill>
                            <a:srgbClr val="FFFFFF"/>
                          </a:solidFill>
                        </a:rPr>
                        <a:t>Dec</a:t>
                      </a:r>
                      <a:endParaRPr b="1" sz="1000">
                        <a:solidFill>
                          <a:srgbClr val="FFFFFF"/>
                        </a:solidFill>
                      </a:endParaRPr>
                    </a:p>
                  </a:txBody>
                  <a:tcPr marT="91425" marB="91425" marR="91425" marL="91425">
                    <a:solidFill>
                      <a:schemeClr val="accent5"/>
                    </a:solidFill>
                  </a:tcPr>
                </a:tc>
              </a:tr>
              <a:tr h="356950">
                <a:tc>
                  <a:txBody>
                    <a:bodyPr/>
                    <a:lstStyle/>
                    <a:p>
                      <a:pPr indent="0" lvl="0" marL="0" rtl="0" algn="l">
                        <a:spcBef>
                          <a:spcPts val="0"/>
                        </a:spcBef>
                        <a:spcAft>
                          <a:spcPts val="0"/>
                        </a:spcAft>
                        <a:buNone/>
                      </a:pPr>
                      <a:r>
                        <a:rPr lang="en-US" sz="1000"/>
                        <a:t>2022</a:t>
                      </a:r>
                      <a:endParaRPr sz="1000"/>
                    </a:p>
                  </a:txBody>
                  <a:tcPr marT="91425" marB="91425" marR="91425" marL="91425">
                    <a:solidFill>
                      <a:schemeClr val="lt2"/>
                    </a:solidFill>
                  </a:tcPr>
                </a:tc>
                <a:tc>
                  <a:txBody>
                    <a:bodyPr/>
                    <a:lstStyle/>
                    <a:p>
                      <a:pPr indent="0" lvl="0" marL="0" rtl="0" algn="l">
                        <a:spcBef>
                          <a:spcPts val="0"/>
                        </a:spcBef>
                        <a:spcAft>
                          <a:spcPts val="0"/>
                        </a:spcAft>
                        <a:buNone/>
                      </a:pPr>
                      <a:r>
                        <a:rPr lang="en-US" sz="1000"/>
                        <a:t>-3.0</a:t>
                      </a:r>
                      <a:endParaRPr sz="1000"/>
                    </a:p>
                  </a:txBody>
                  <a:tcPr marT="91425" marB="91425" marR="91425" marL="91425">
                    <a:solidFill>
                      <a:schemeClr val="lt2"/>
                    </a:solidFill>
                  </a:tcPr>
                </a:tc>
                <a:tc>
                  <a:txBody>
                    <a:bodyPr/>
                    <a:lstStyle/>
                    <a:p>
                      <a:pPr indent="0" lvl="0" marL="0" rtl="0" algn="l">
                        <a:spcBef>
                          <a:spcPts val="0"/>
                        </a:spcBef>
                        <a:spcAft>
                          <a:spcPts val="0"/>
                        </a:spcAft>
                        <a:buNone/>
                      </a:pPr>
                      <a:r>
                        <a:rPr lang="en-US" sz="1000"/>
                        <a:t>-10.8</a:t>
                      </a:r>
                      <a:endParaRPr sz="1000"/>
                    </a:p>
                  </a:txBody>
                  <a:tcPr marT="91425" marB="91425" marR="91425" marL="91425">
                    <a:solidFill>
                      <a:schemeClr val="lt2"/>
                    </a:solidFill>
                  </a:tcPr>
                </a:tc>
              </a:tr>
              <a:tr h="356950">
                <a:tc>
                  <a:txBody>
                    <a:bodyPr/>
                    <a:lstStyle/>
                    <a:p>
                      <a:pPr indent="0" lvl="0" marL="0" rtl="0" algn="l">
                        <a:spcBef>
                          <a:spcPts val="0"/>
                        </a:spcBef>
                        <a:spcAft>
                          <a:spcPts val="0"/>
                        </a:spcAft>
                        <a:buNone/>
                      </a:pPr>
                      <a:r>
                        <a:rPr lang="en-US" sz="1000"/>
                        <a:t>2023</a:t>
                      </a:r>
                      <a:endParaRPr sz="1000"/>
                    </a:p>
                  </a:txBody>
                  <a:tcPr marT="91425" marB="91425" marR="91425" marL="91425"/>
                </a:tc>
                <a:tc>
                  <a:txBody>
                    <a:bodyPr/>
                    <a:lstStyle/>
                    <a:p>
                      <a:pPr indent="0" lvl="0" marL="0" rtl="0" algn="l">
                        <a:spcBef>
                          <a:spcPts val="0"/>
                        </a:spcBef>
                        <a:spcAft>
                          <a:spcPts val="0"/>
                        </a:spcAft>
                        <a:buNone/>
                      </a:pPr>
                      <a:r>
                        <a:rPr lang="en-US" sz="1000"/>
                        <a:t>6.9</a:t>
                      </a:r>
                      <a:endParaRPr sz="1000"/>
                    </a:p>
                  </a:txBody>
                  <a:tcPr marT="91425" marB="91425" marR="91425" marL="91425"/>
                </a:tc>
                <a:tc>
                  <a:txBody>
                    <a:bodyPr/>
                    <a:lstStyle/>
                    <a:p>
                      <a:pPr indent="0" lvl="0" marL="0" rtl="0" algn="l">
                        <a:spcBef>
                          <a:spcPts val="0"/>
                        </a:spcBef>
                        <a:spcAft>
                          <a:spcPts val="0"/>
                        </a:spcAft>
                        <a:buNone/>
                      </a:pPr>
                      <a:r>
                        <a:rPr lang="en-US" sz="1000"/>
                        <a:t>-7.9</a:t>
                      </a:r>
                      <a:endParaRPr sz="1000"/>
                    </a:p>
                  </a:txBody>
                  <a:tcPr marT="91425" marB="91425" marR="91425" marL="91425"/>
                </a:tc>
              </a:tr>
              <a:tr h="356950">
                <a:tc>
                  <a:txBody>
                    <a:bodyPr/>
                    <a:lstStyle/>
                    <a:p>
                      <a:pPr indent="0" lvl="0" marL="0" rtl="0" algn="l">
                        <a:spcBef>
                          <a:spcPts val="0"/>
                        </a:spcBef>
                        <a:spcAft>
                          <a:spcPts val="0"/>
                        </a:spcAft>
                        <a:buNone/>
                      </a:pPr>
                      <a:r>
                        <a:rPr lang="en-US" sz="1000"/>
                        <a:t>2024</a:t>
                      </a:r>
                      <a:endParaRPr sz="1000"/>
                    </a:p>
                  </a:txBody>
                  <a:tcPr marT="91425" marB="91425" marR="91425" marL="91425">
                    <a:solidFill>
                      <a:schemeClr val="lt2"/>
                    </a:solidFill>
                  </a:tcPr>
                </a:tc>
                <a:tc>
                  <a:txBody>
                    <a:bodyPr/>
                    <a:lstStyle/>
                    <a:p>
                      <a:pPr indent="0" lvl="0" marL="0" rtl="0" algn="l">
                        <a:spcBef>
                          <a:spcPts val="0"/>
                        </a:spcBef>
                        <a:spcAft>
                          <a:spcPts val="0"/>
                        </a:spcAft>
                        <a:buNone/>
                      </a:pPr>
                      <a:r>
                        <a:rPr lang="en-US" sz="1000"/>
                        <a:t>8.0</a:t>
                      </a:r>
                      <a:endParaRPr sz="1000"/>
                    </a:p>
                  </a:txBody>
                  <a:tcPr marT="91425" marB="91425" marR="91425" marL="91425">
                    <a:solidFill>
                      <a:schemeClr val="lt2"/>
                    </a:solidFill>
                  </a:tcPr>
                </a:tc>
                <a:tc>
                  <a:txBody>
                    <a:bodyPr/>
                    <a:lstStyle/>
                    <a:p>
                      <a:pPr indent="0" lvl="0" marL="0" rtl="0" algn="l">
                        <a:spcBef>
                          <a:spcPts val="0"/>
                        </a:spcBef>
                        <a:spcAft>
                          <a:spcPts val="0"/>
                        </a:spcAft>
                        <a:buNone/>
                      </a:pPr>
                      <a:r>
                        <a:rPr lang="en-US" sz="1000"/>
                        <a:t>-7.0</a:t>
                      </a:r>
                      <a:endParaRPr sz="1000"/>
                    </a:p>
                  </a:txBody>
                  <a:tcPr marT="91425" marB="91425" marR="91425" marL="91425">
                    <a:solidFill>
                      <a:schemeClr val="lt2"/>
                    </a:solidFill>
                  </a:tcPr>
                </a:tc>
              </a:tr>
              <a:tr h="356950">
                <a:tc>
                  <a:txBody>
                    <a:bodyPr/>
                    <a:lstStyle/>
                    <a:p>
                      <a:pPr indent="0" lvl="0" marL="0" rtl="0" algn="l">
                        <a:spcBef>
                          <a:spcPts val="0"/>
                        </a:spcBef>
                        <a:spcAft>
                          <a:spcPts val="0"/>
                        </a:spcAft>
                        <a:buNone/>
                      </a:pPr>
                      <a:r>
                        <a:rPr lang="en-US" sz="1000"/>
                        <a:t>2025</a:t>
                      </a:r>
                      <a:endParaRPr sz="1000"/>
                    </a:p>
                  </a:txBody>
                  <a:tcPr marT="91425" marB="91425" marR="91425" marL="91425"/>
                </a:tc>
                <a:tc>
                  <a:txBody>
                    <a:bodyPr/>
                    <a:lstStyle/>
                    <a:p>
                      <a:pPr indent="0" lvl="0" marL="0" rtl="0" algn="l">
                        <a:spcBef>
                          <a:spcPts val="0"/>
                        </a:spcBef>
                        <a:spcAft>
                          <a:spcPts val="0"/>
                        </a:spcAft>
                        <a:buNone/>
                      </a:pPr>
                      <a:r>
                        <a:rPr lang="en-US" sz="1000"/>
                        <a:t>10.0</a:t>
                      </a:r>
                      <a:endParaRPr sz="1000"/>
                    </a:p>
                  </a:txBody>
                  <a:tcPr marT="91425" marB="91425" marR="91425" marL="91425"/>
                </a:tc>
                <a:tc>
                  <a:txBody>
                    <a:bodyPr/>
                    <a:lstStyle/>
                    <a:p>
                      <a:pPr indent="0" lvl="0" marL="0" rtl="0" algn="l">
                        <a:spcBef>
                          <a:spcPts val="0"/>
                        </a:spcBef>
                        <a:spcAft>
                          <a:spcPts val="0"/>
                        </a:spcAft>
                        <a:buNone/>
                      </a:pPr>
                      <a:r>
                        <a:rPr lang="en-US" sz="1000"/>
                        <a:t>-8.1</a:t>
                      </a:r>
                      <a:endParaRPr sz="1000"/>
                    </a:p>
                  </a:txBody>
                  <a:tcPr marT="91425" marB="91425" marR="91425" marL="91425"/>
                </a:tc>
              </a:tr>
            </a:tbl>
          </a:graphicData>
        </a:graphic>
      </p:graphicFrame>
      <p:sp>
        <p:nvSpPr>
          <p:cNvPr id="714" name="Google Shape;714;p22"/>
          <p:cNvSpPr/>
          <p:nvPr/>
        </p:nvSpPr>
        <p:spPr>
          <a:xfrm>
            <a:off x="7686100" y="4326700"/>
            <a:ext cx="3890100" cy="436800"/>
          </a:xfrm>
          <a:prstGeom prst="rect">
            <a:avLst/>
          </a:prstGeom>
          <a:noFill/>
          <a:ln>
            <a:noFill/>
          </a:ln>
        </p:spPr>
        <p:txBody>
          <a:bodyPr anchorCtr="0" anchor="t" bIns="0" lIns="0" spcFirstLastPara="1" rIns="0" wrap="square" tIns="0">
            <a:noAutofit/>
          </a:bodyPr>
          <a:lstStyle/>
          <a:p>
            <a:pPr indent="-298450" lvl="0" marL="457200" marR="0" rtl="0" algn="l">
              <a:lnSpc>
                <a:spcPct val="135000"/>
              </a:lnSpc>
              <a:spcBef>
                <a:spcPts val="0"/>
              </a:spcBef>
              <a:spcAft>
                <a:spcPts val="0"/>
              </a:spcAft>
              <a:buClr>
                <a:srgbClr val="1F3B2D"/>
              </a:buClr>
              <a:buSzPts val="1100"/>
              <a:buFont typeface="Source Sans 3"/>
              <a:buChar char="●"/>
            </a:pPr>
            <a:r>
              <a:rPr b="1" lang="en-US" sz="1100">
                <a:solidFill>
                  <a:srgbClr val="1F3B2D"/>
                </a:solidFill>
                <a:latin typeface="Source Sans 3"/>
                <a:ea typeface="Source Sans 3"/>
                <a:cs typeface="Source Sans 3"/>
                <a:sym typeface="Source Sans 3"/>
              </a:rPr>
              <a:t>+1.1:</a:t>
            </a:r>
            <a:r>
              <a:rPr lang="en-US" sz="1100">
                <a:solidFill>
                  <a:srgbClr val="1F3B2D"/>
                </a:solidFill>
                <a:latin typeface="Source Sans 3"/>
                <a:ea typeface="Source Sans 3"/>
                <a:cs typeface="Source Sans 3"/>
                <a:sym typeface="Source Sans 3"/>
              </a:rPr>
              <a:t> result of multiplying the CPI lag-1 coefficient (4.95) by the typical monthly CPI growth rate (median 0.224%). 4.95 × 0.224 = 1.11 pp.</a:t>
            </a:r>
            <a:endParaRPr sz="1100">
              <a:solidFill>
                <a:srgbClr val="1F3B2D"/>
              </a:solidFill>
              <a:latin typeface="Source Sans 3"/>
              <a:ea typeface="Source Sans 3"/>
              <a:cs typeface="Source Sans 3"/>
              <a:sym typeface="Source Sans 3"/>
            </a:endParaRPr>
          </a:p>
          <a:p>
            <a:pPr indent="-298450" lvl="0" marL="457200" marR="0" rtl="0" algn="l">
              <a:lnSpc>
                <a:spcPct val="135000"/>
              </a:lnSpc>
              <a:spcBef>
                <a:spcPts val="0"/>
              </a:spcBef>
              <a:spcAft>
                <a:spcPts val="0"/>
              </a:spcAft>
              <a:buClr>
                <a:srgbClr val="1F3B2D"/>
              </a:buClr>
              <a:buSzPts val="1100"/>
              <a:buFont typeface="Source Sans 3"/>
              <a:buChar char="●"/>
            </a:pPr>
            <a:r>
              <a:rPr b="1" lang="en-US" sz="1100">
                <a:solidFill>
                  <a:srgbClr val="1F3B2D"/>
                </a:solidFill>
                <a:latin typeface="Source Sans 3"/>
                <a:ea typeface="Source Sans 3"/>
                <a:cs typeface="Source Sans 3"/>
                <a:sym typeface="Source Sans 3"/>
              </a:rPr>
              <a:t>+5.5 / −8.4: </a:t>
            </a:r>
            <a:r>
              <a:rPr lang="en-US" sz="1100">
                <a:solidFill>
                  <a:srgbClr val="1F3B2D"/>
                </a:solidFill>
                <a:latin typeface="Source Sans 3"/>
                <a:ea typeface="Source Sans 3"/>
                <a:cs typeface="Source Sans 3"/>
                <a:sym typeface="Source Sans 3"/>
              </a:rPr>
              <a:t>averaged residuals from the same model for Oct and Dec, respectively. Specifically, they are +5.46 and −8.43. A residual represents the movement remaining after accounting for price and quarterly factors.</a:t>
            </a:r>
            <a:endParaRPr sz="1100">
              <a:solidFill>
                <a:srgbClr val="1F3B2D"/>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lang="en-US" sz="1100">
                <a:solidFill>
                  <a:srgbClr val="1F3B2D"/>
                </a:solidFill>
                <a:latin typeface="Source Sans 3"/>
                <a:ea typeface="Source Sans 3"/>
                <a:cs typeface="Source Sans 3"/>
                <a:sym typeface="Source Sans 3"/>
              </a:rPr>
              <a:t>(All units are expressed in percentage points (pp) of the monthly growth rate.)</a:t>
            </a:r>
            <a:endParaRPr sz="1100">
              <a:solidFill>
                <a:srgbClr val="1F3B2D"/>
              </a:solidFill>
              <a:latin typeface="Source Sans 3"/>
              <a:ea typeface="Source Sans 3"/>
              <a:cs typeface="Source Sans 3"/>
              <a:sym typeface="Source Sans 3"/>
            </a:endParaRPr>
          </a:p>
        </p:txBody>
      </p:sp>
      <p:sp>
        <p:nvSpPr>
          <p:cNvPr id="715" name="Google Shape;715;p2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20" name="Shape 720"/>
        <p:cNvGrpSpPr/>
        <p:nvPr/>
      </p:nvGrpSpPr>
      <p:grpSpPr>
        <a:xfrm>
          <a:off x="0" y="0"/>
          <a:ext cx="0" cy="0"/>
          <a:chOff x="0" y="0"/>
          <a:chExt cx="0" cy="0"/>
        </a:xfrm>
      </p:grpSpPr>
      <p:sp>
        <p:nvSpPr>
          <p:cNvPr id="721" name="Google Shape;721;p23"/>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23"/>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A13 · Q4 method and checks</a:t>
            </a:r>
            <a:endParaRPr b="0" i="0" sz="1300" u="none" cap="none" strike="noStrike">
              <a:solidFill>
                <a:schemeClr val="dk1"/>
              </a:solidFill>
              <a:latin typeface="Source Sans 3"/>
              <a:ea typeface="Source Sans 3"/>
              <a:cs typeface="Source Sans 3"/>
              <a:sym typeface="Source Sans 3"/>
            </a:endParaRPr>
          </a:p>
        </p:txBody>
      </p:sp>
      <p:sp>
        <p:nvSpPr>
          <p:cNvPr id="723" name="Google Shape;723;p23"/>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24" name="Google Shape;724;p23"/>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25" name="Google Shape;725;p23"/>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A13</a:t>
            </a:r>
            <a:endParaRPr b="0" i="0" sz="1400" u="none" cap="none" strike="noStrike">
              <a:solidFill>
                <a:schemeClr val="dk1"/>
              </a:solidFill>
              <a:latin typeface="Source Sans 3"/>
              <a:ea typeface="Source Sans 3"/>
              <a:cs typeface="Source Sans 3"/>
              <a:sym typeface="Source Sans 3"/>
            </a:endParaRPr>
          </a:p>
        </p:txBody>
      </p:sp>
      <p:sp>
        <p:nvSpPr>
          <p:cNvPr id="726" name="Google Shape;726;p23"/>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People served responds to prices most reliably; pounds least</a:t>
            </a:r>
            <a:endParaRPr sz="2100"/>
          </a:p>
        </p:txBody>
      </p:sp>
      <p:sp>
        <p:nvSpPr>
          <p:cNvPr id="727" name="Google Shape;727;p23"/>
          <p:cNvSpPr/>
          <p:nvPr/>
        </p:nvSpPr>
        <p:spPr>
          <a:xfrm>
            <a:off x="6096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23"/>
          <p:cNvSpPr/>
          <p:nvPr/>
        </p:nvSpPr>
        <p:spPr>
          <a:xfrm>
            <a:off x="7747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DATA</a:t>
            </a:r>
            <a:endParaRPr b="0" i="0" sz="1200" u="none" cap="none" strike="noStrike">
              <a:solidFill>
                <a:schemeClr val="dk1"/>
              </a:solidFill>
              <a:latin typeface="Source Sans 3"/>
              <a:ea typeface="Source Sans 3"/>
              <a:cs typeface="Source Sans 3"/>
              <a:sym typeface="Source Sans 3"/>
            </a:endParaRPr>
          </a:p>
        </p:txBody>
      </p:sp>
      <p:sp>
        <p:nvSpPr>
          <p:cNvPr id="729" name="Google Shape;729;p23"/>
          <p:cNvSpPr/>
          <p:nvPr/>
        </p:nvSpPr>
        <p:spPr>
          <a:xfrm>
            <a:off x="7747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Statewide monthly totals, January 2022 – July 2026 (55 months), versus Midwest food-at-home CPI</a:t>
            </a:r>
            <a:endParaRPr b="0" i="0" sz="1200" u="none" cap="none" strike="noStrike">
              <a:solidFill>
                <a:schemeClr val="dk1"/>
              </a:solidFill>
              <a:latin typeface="Source Sans 3"/>
              <a:ea typeface="Source Sans 3"/>
              <a:cs typeface="Source Sans 3"/>
              <a:sym typeface="Source Sans 3"/>
            </a:endParaRPr>
          </a:p>
        </p:txBody>
      </p:sp>
      <p:sp>
        <p:nvSpPr>
          <p:cNvPr id="730" name="Google Shape;730;p23"/>
          <p:cNvSpPr/>
          <p:nvPr/>
        </p:nvSpPr>
        <p:spPr>
          <a:xfrm>
            <a:off x="43180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23"/>
          <p:cNvSpPr/>
          <p:nvPr/>
        </p:nvSpPr>
        <p:spPr>
          <a:xfrm>
            <a:off x="44831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METHOD</a:t>
            </a:r>
            <a:endParaRPr b="0" i="0" sz="1200" u="none" cap="none" strike="noStrike">
              <a:solidFill>
                <a:schemeClr val="dk1"/>
              </a:solidFill>
              <a:latin typeface="Source Sans 3"/>
              <a:ea typeface="Source Sans 3"/>
              <a:cs typeface="Source Sans 3"/>
              <a:sym typeface="Source Sans 3"/>
            </a:endParaRPr>
          </a:p>
        </p:txBody>
      </p:sp>
      <p:sp>
        <p:nvSpPr>
          <p:cNvPr id="732" name="Google Shape;732;p23"/>
          <p:cNvSpPr/>
          <p:nvPr/>
        </p:nvSpPr>
        <p:spPr>
          <a:xfrm>
            <a:off x="44831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Detrended monthly changes; lag correlations −3 to +3 months; yearly growth; calendar effects</a:t>
            </a:r>
            <a:endParaRPr b="0" i="0" sz="1200" u="none" cap="none" strike="noStrike">
              <a:solidFill>
                <a:schemeClr val="dk1"/>
              </a:solidFill>
              <a:latin typeface="Source Sans 3"/>
              <a:ea typeface="Source Sans 3"/>
              <a:cs typeface="Source Sans 3"/>
              <a:sym typeface="Source Sans 3"/>
            </a:endParaRPr>
          </a:p>
        </p:txBody>
      </p:sp>
      <p:sp>
        <p:nvSpPr>
          <p:cNvPr id="733" name="Google Shape;733;p23"/>
          <p:cNvSpPr/>
          <p:nvPr/>
        </p:nvSpPr>
        <p:spPr>
          <a:xfrm>
            <a:off x="8026400" y="1555750"/>
            <a:ext cx="3556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23"/>
          <p:cNvSpPr/>
          <p:nvPr/>
        </p:nvSpPr>
        <p:spPr>
          <a:xfrm>
            <a:off x="8191500" y="1682750"/>
            <a:ext cx="3289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FALSIFICATION</a:t>
            </a:r>
            <a:endParaRPr b="0" i="0" sz="1200" u="none" cap="none" strike="noStrike">
              <a:solidFill>
                <a:schemeClr val="dk1"/>
              </a:solidFill>
              <a:latin typeface="Source Sans 3"/>
              <a:ea typeface="Source Sans 3"/>
              <a:cs typeface="Source Sans 3"/>
              <a:sym typeface="Source Sans 3"/>
            </a:endParaRPr>
          </a:p>
        </p:txBody>
      </p:sp>
      <p:sp>
        <p:nvSpPr>
          <p:cNvPr id="735" name="Google Shape;735;p23"/>
          <p:cNvSpPr/>
          <p:nvPr/>
        </p:nvSpPr>
        <p:spPr>
          <a:xfrm>
            <a:off x="8191500" y="1934171"/>
            <a:ext cx="3289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Activity leading CPI by 2 months correlates as strongly, so no fixed delay is claimed</a:t>
            </a:r>
            <a:endParaRPr b="0" i="0" sz="1200" u="none" cap="none" strike="noStrike">
              <a:solidFill>
                <a:schemeClr val="dk1"/>
              </a:solidFill>
              <a:latin typeface="Source Sans 3"/>
              <a:ea typeface="Source Sans 3"/>
              <a:cs typeface="Source Sans 3"/>
              <a:sym typeface="Source Sans 3"/>
            </a:endParaRPr>
          </a:p>
        </p:txBody>
      </p:sp>
      <p:graphicFrame>
        <p:nvGraphicFramePr>
          <p:cNvPr id="736" name="Google Shape;736;p23"/>
          <p:cNvGraphicFramePr/>
          <p:nvPr/>
        </p:nvGraphicFramePr>
        <p:xfrm>
          <a:off x="622300" y="2663131"/>
          <a:ext cx="3000000" cy="3000000"/>
        </p:xfrm>
        <a:graphic>
          <a:graphicData uri="http://schemas.openxmlformats.org/drawingml/2006/table">
            <a:tbl>
              <a:tblPr>
                <a:noFill/>
                <a:tableStyleId>{3A549D05-5588-473D-A51F-5109B3858E67}</a:tableStyleId>
              </a:tblPr>
              <a:tblGrid>
                <a:gridCol w="2630425"/>
                <a:gridCol w="832967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Metric</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Response to prices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Individuals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Strongest: one-month lag significant in every check, including the fixed-site panel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Households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Present in full data; weakens in the fixed-site panel</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Weakest: pounds is also supply, and prices cut what shelves can buy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737" name="Google Shape;737;p23"/>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Checks: fixed sites; mobile, Tribal, campus sites added; missing pounds imputed; late reporting</a:t>
            </a:r>
            <a:endParaRPr b="0" i="0" sz="1200" u="none" cap="none" strike="noStrike">
              <a:solidFill>
                <a:schemeClr val="dk1"/>
              </a:solidFill>
              <a:latin typeface="Source Sans 3"/>
              <a:ea typeface="Source Sans 3"/>
              <a:cs typeface="Source Sans 3"/>
              <a:sym typeface="Source Sans 3"/>
            </a:endParaRPr>
          </a:p>
        </p:txBody>
      </p:sp>
      <p:sp>
        <p:nvSpPr>
          <p:cNvPr id="738" name="Google Shape;738;p23"/>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9" name="Google Shape;739;p23"/>
          <p:cNvSpPr/>
          <p:nvPr/>
        </p:nvSpPr>
        <p:spPr>
          <a:xfrm>
            <a:off x="0" y="6803136"/>
            <a:ext cx="7421217"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0" name="Google Shape;740;p2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45" name="Shape 745"/>
        <p:cNvGrpSpPr/>
        <p:nvPr/>
      </p:nvGrpSpPr>
      <p:grpSpPr>
        <a:xfrm>
          <a:off x="0" y="0"/>
          <a:ext cx="0" cy="0"/>
          <a:chOff x="0" y="0"/>
          <a:chExt cx="0" cy="0"/>
        </a:xfrm>
      </p:grpSpPr>
      <p:sp>
        <p:nvSpPr>
          <p:cNvPr id="746" name="Google Shape;746;p24"/>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24"/>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A14 · Q5 results</a:t>
            </a:r>
            <a:endParaRPr b="0" i="0" sz="1300" u="none" cap="none" strike="noStrike">
              <a:solidFill>
                <a:schemeClr val="dk1"/>
              </a:solidFill>
              <a:latin typeface="Source Sans 3"/>
              <a:ea typeface="Source Sans 3"/>
              <a:cs typeface="Source Sans 3"/>
              <a:sym typeface="Source Sans 3"/>
            </a:endParaRPr>
          </a:p>
        </p:txBody>
      </p:sp>
      <p:sp>
        <p:nvSpPr>
          <p:cNvPr id="748" name="Google Shape;748;p24"/>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49" name="Google Shape;749;p24"/>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50" name="Google Shape;750;p24"/>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A14</a:t>
            </a:r>
            <a:endParaRPr b="0" i="0" sz="1400" u="none" cap="none" strike="noStrike">
              <a:solidFill>
                <a:schemeClr val="dk1"/>
              </a:solidFill>
              <a:latin typeface="Source Sans 3"/>
              <a:ea typeface="Source Sans 3"/>
              <a:cs typeface="Source Sans 3"/>
              <a:sym typeface="Source Sans 3"/>
            </a:endParaRPr>
          </a:p>
        </p:txBody>
      </p:sp>
      <p:sp>
        <p:nvSpPr>
          <p:cNvPr id="751" name="Google Shape;751;p24"/>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SNAP fell </a:t>
            </a:r>
            <a:r>
              <a:rPr b="1" i="0" lang="en-US" sz="2100">
                <a:solidFill>
                  <a:srgbClr val="B5501F"/>
                </a:solidFill>
                <a:latin typeface="Source Serif 4"/>
                <a:ea typeface="Source Serif 4"/>
                <a:cs typeface="Source Serif 4"/>
                <a:sym typeface="Source Serif 4"/>
              </a:rPr>
              <a:t>$49M a month</a:t>
            </a:r>
            <a:r>
              <a:rPr b="1" i="0" lang="en-US" sz="2100">
                <a:solidFill>
                  <a:srgbClr val="1F3B2D"/>
                </a:solidFill>
                <a:latin typeface="Source Serif 4"/>
                <a:ea typeface="Source Serif 4"/>
                <a:cs typeface="Source Serif 4"/>
                <a:sym typeface="Source Serif 4"/>
              </a:rPr>
              <a:t>; visits ran </a:t>
            </a:r>
            <a:r>
              <a:rPr b="1" i="0" lang="en-US" sz="2100">
                <a:solidFill>
                  <a:srgbClr val="B5501F"/>
                </a:solidFill>
                <a:latin typeface="Source Serif 4"/>
                <a:ea typeface="Source Serif 4"/>
                <a:cs typeface="Source Serif 4"/>
                <a:sym typeface="Source Serif 4"/>
              </a:rPr>
              <a:t>18–26%</a:t>
            </a:r>
            <a:r>
              <a:rPr b="1" i="0" lang="en-US" sz="2100">
                <a:solidFill>
                  <a:srgbClr val="1F3B2D"/>
                </a:solidFill>
                <a:latin typeface="Source Serif 4"/>
                <a:ea typeface="Source Serif 4"/>
                <a:cs typeface="Source Serif 4"/>
                <a:sym typeface="Source Serif 4"/>
              </a:rPr>
              <a:t> over trend, ¼ less food each</a:t>
            </a:r>
            <a:endParaRPr sz="2100"/>
          </a:p>
        </p:txBody>
      </p:sp>
      <p:sp>
        <p:nvSpPr>
          <p:cNvPr id="752" name="Google Shape;752;p24"/>
          <p:cNvSpPr/>
          <p:nvPr/>
        </p:nvSpPr>
        <p:spPr>
          <a:xfrm>
            <a:off x="609600" y="1555750"/>
            <a:ext cx="3096300" cy="1430400"/>
          </a:xfrm>
          <a:prstGeom prst="roundRect">
            <a:avLst>
              <a:gd fmla="val 6285" name="adj"/>
            </a:avLst>
          </a:prstGeom>
          <a:gradFill>
            <a:gsLst>
              <a:gs pos="0">
                <a:srgbClr val="1F3B2D"/>
              </a:gs>
              <a:gs pos="100000">
                <a:srgbClr val="2C5240"/>
              </a:gs>
            </a:gsLst>
            <a:lin ang="2700000" scaled="0"/>
          </a:gradFill>
          <a:ln>
            <a:noFill/>
          </a:ln>
        </p:spPr>
        <p:txBody>
          <a:bodyPr anchorCtr="0" anchor="ctr" bIns="71900" lIns="71900" spcFirstLastPara="1" rIns="71900" wrap="square" tIns="71900">
            <a:noAutofit/>
          </a:bodyPr>
          <a:lstStyle/>
          <a:p>
            <a:pPr indent="0" lvl="0" marL="0" marR="0" rtl="0" algn="l">
              <a:lnSpc>
                <a:spcPct val="100000"/>
              </a:lnSpc>
              <a:spcBef>
                <a:spcPts val="0"/>
              </a:spcBef>
              <a:spcAft>
                <a:spcPts val="0"/>
              </a:spcAft>
              <a:buClr>
                <a:srgbClr val="000000"/>
              </a:buClr>
              <a:buSzPts val="1101"/>
              <a:buFont typeface="Arial"/>
              <a:buNone/>
            </a:pPr>
            <a:r>
              <a:t/>
            </a:r>
            <a:endParaRPr b="0" i="0" sz="1101" u="none" cap="none" strike="noStrike">
              <a:solidFill>
                <a:srgbClr val="000000"/>
              </a:solidFill>
              <a:latin typeface="Arial"/>
              <a:ea typeface="Arial"/>
              <a:cs typeface="Arial"/>
              <a:sym typeface="Arial"/>
            </a:endParaRPr>
          </a:p>
        </p:txBody>
      </p:sp>
      <p:sp>
        <p:nvSpPr>
          <p:cNvPr id="753" name="Google Shape;753;p24"/>
          <p:cNvSpPr/>
          <p:nvPr/>
        </p:nvSpPr>
        <p:spPr>
          <a:xfrm>
            <a:off x="749443" y="1809569"/>
            <a:ext cx="2876700" cy="187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944"/>
              <a:buFont typeface="Source Sans 3"/>
              <a:buNone/>
            </a:pPr>
            <a:r>
              <a:rPr b="1" i="0" lang="en-US" sz="1244" u="none" cap="none" strike="noStrike">
                <a:solidFill>
                  <a:srgbClr val="F2B544"/>
                </a:solidFill>
                <a:latin typeface="Source Sans 3"/>
                <a:ea typeface="Source Sans 3"/>
                <a:cs typeface="Source Sans 3"/>
                <a:sym typeface="Source Sans 3"/>
              </a:rPr>
              <a:t>EMERGENCY ALLOTMENTS END</a:t>
            </a:r>
            <a:endParaRPr b="0" i="0" sz="1244" u="none" cap="none" strike="noStrike">
              <a:solidFill>
                <a:schemeClr val="dk1"/>
              </a:solidFill>
              <a:latin typeface="Source Sans 3"/>
              <a:ea typeface="Source Sans 3"/>
              <a:cs typeface="Source Sans 3"/>
              <a:sym typeface="Source Sans 3"/>
            </a:endParaRPr>
          </a:p>
        </p:txBody>
      </p:sp>
      <p:sp>
        <p:nvSpPr>
          <p:cNvPr id="754" name="Google Shape;754;p24"/>
          <p:cNvSpPr/>
          <p:nvPr/>
        </p:nvSpPr>
        <p:spPr>
          <a:xfrm>
            <a:off x="749443" y="2007314"/>
            <a:ext cx="2876700" cy="3558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2517"/>
              <a:buFont typeface="Source Serif 4"/>
              <a:buNone/>
            </a:pPr>
            <a:r>
              <a:rPr b="1" i="0" lang="en-US" sz="2817" u="none" cap="none" strike="noStrike">
                <a:solidFill>
                  <a:srgbClr val="F7F2E8"/>
                </a:solidFill>
                <a:latin typeface="Source Serif 4"/>
                <a:ea typeface="Source Serif 4"/>
                <a:cs typeface="Source Serif 4"/>
                <a:sym typeface="Source Serif 4"/>
              </a:rPr>
              <a:t>$49M a month</a:t>
            </a:r>
            <a:endParaRPr b="0" i="0" sz="2817" u="none" cap="none" strike="noStrike">
              <a:solidFill>
                <a:schemeClr val="dk1"/>
              </a:solidFill>
              <a:latin typeface="Source Sans 3"/>
              <a:ea typeface="Source Sans 3"/>
              <a:cs typeface="Source Sans 3"/>
              <a:sym typeface="Source Sans 3"/>
            </a:endParaRPr>
          </a:p>
        </p:txBody>
      </p:sp>
      <p:sp>
        <p:nvSpPr>
          <p:cNvPr id="755" name="Google Shape;755;p24"/>
          <p:cNvSpPr/>
          <p:nvPr/>
        </p:nvSpPr>
        <p:spPr>
          <a:xfrm>
            <a:off x="749443" y="2372878"/>
            <a:ext cx="2876700" cy="175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944"/>
              <a:buFont typeface="Source Sans 3"/>
              <a:buNone/>
            </a:pPr>
            <a:r>
              <a:rPr b="0" i="0" lang="en-US" sz="1244" u="none" cap="none" strike="noStrike">
                <a:solidFill>
                  <a:srgbClr val="F7F2E8"/>
                </a:solidFill>
                <a:latin typeface="Source Sans 3"/>
                <a:ea typeface="Source Sans 3"/>
                <a:cs typeface="Source Sans 3"/>
                <a:sym typeface="Source Sans 3"/>
              </a:rPr>
              <a:t>Lost (−41%); benefit per person fell from $260 to $160</a:t>
            </a:r>
            <a:endParaRPr b="0" i="0" sz="1244" u="none" cap="none" strike="noStrike">
              <a:solidFill>
                <a:schemeClr val="dk1"/>
              </a:solidFill>
              <a:latin typeface="Source Sans 3"/>
              <a:ea typeface="Source Sans 3"/>
              <a:cs typeface="Source Sans 3"/>
              <a:sym typeface="Source Sans 3"/>
            </a:endParaRPr>
          </a:p>
        </p:txBody>
      </p:sp>
      <p:sp>
        <p:nvSpPr>
          <p:cNvPr id="756" name="Google Shape;756;p24"/>
          <p:cNvSpPr/>
          <p:nvPr/>
        </p:nvSpPr>
        <p:spPr>
          <a:xfrm>
            <a:off x="3910876" y="1560750"/>
            <a:ext cx="3096300" cy="655500"/>
          </a:xfrm>
          <a:prstGeom prst="roundRect">
            <a:avLst>
              <a:gd fmla="val 11433" name="adj"/>
            </a:avLst>
          </a:prstGeom>
          <a:solidFill>
            <a:srgbClr val="FFFDF8"/>
          </a:solidFill>
          <a:ln cap="flat" cmpd="sng" w="9975">
            <a:solidFill>
              <a:srgbClr val="E3D9C6"/>
            </a:solidFill>
            <a:prstDash val="solid"/>
            <a:round/>
            <a:headEnd len="sm" w="sm" type="none"/>
            <a:tailEnd len="sm" w="sm" type="none"/>
          </a:ln>
        </p:spPr>
        <p:txBody>
          <a:bodyPr anchorCtr="0" anchor="ctr" bIns="71900" lIns="71900" spcFirstLastPara="1" rIns="71900" wrap="square" tIns="71900">
            <a:noAutofit/>
          </a:bodyPr>
          <a:lstStyle/>
          <a:p>
            <a:pPr indent="0" lvl="0" marL="0" marR="0" rtl="0" algn="l">
              <a:lnSpc>
                <a:spcPct val="100000"/>
              </a:lnSpc>
              <a:spcBef>
                <a:spcPts val="0"/>
              </a:spcBef>
              <a:spcAft>
                <a:spcPts val="0"/>
              </a:spcAft>
              <a:buClr>
                <a:srgbClr val="000000"/>
              </a:buClr>
              <a:buSzPts val="1101"/>
              <a:buFont typeface="Arial"/>
              <a:buNone/>
            </a:pPr>
            <a:r>
              <a:t/>
            </a:r>
            <a:endParaRPr b="0" i="0" sz="1101" u="none" cap="none" strike="noStrike">
              <a:solidFill>
                <a:srgbClr val="000000"/>
              </a:solidFill>
              <a:latin typeface="Arial"/>
              <a:ea typeface="Arial"/>
              <a:cs typeface="Arial"/>
              <a:sym typeface="Arial"/>
            </a:endParaRPr>
          </a:p>
        </p:txBody>
      </p:sp>
      <p:sp>
        <p:nvSpPr>
          <p:cNvPr id="757" name="Google Shape;757;p24"/>
          <p:cNvSpPr/>
          <p:nvPr/>
        </p:nvSpPr>
        <p:spPr>
          <a:xfrm>
            <a:off x="4045729" y="1655625"/>
            <a:ext cx="2821800" cy="3030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124"/>
              <a:buFont typeface="Source Serif 4"/>
              <a:buNone/>
            </a:pPr>
            <a:r>
              <a:rPr b="1" i="0" lang="en-US" sz="2124" u="none" cap="none" strike="noStrike">
                <a:solidFill>
                  <a:srgbClr val="1F3B2D"/>
                </a:solidFill>
                <a:latin typeface="Source Serif 4"/>
                <a:ea typeface="Source Serif 4"/>
                <a:cs typeface="Source Serif 4"/>
                <a:sym typeface="Source Serif 4"/>
              </a:rPr>
              <a:t>+18–26%</a:t>
            </a:r>
            <a:endParaRPr b="0" i="0" sz="2124" u="none" cap="none" strike="noStrike">
              <a:solidFill>
                <a:schemeClr val="dk1"/>
              </a:solidFill>
              <a:latin typeface="Source Sans 3"/>
              <a:ea typeface="Source Sans 3"/>
              <a:cs typeface="Source Sans 3"/>
              <a:sym typeface="Source Sans 3"/>
            </a:endParaRPr>
          </a:p>
        </p:txBody>
      </p:sp>
      <p:sp>
        <p:nvSpPr>
          <p:cNvPr id="758" name="Google Shape;758;p24"/>
          <p:cNvSpPr/>
          <p:nvPr/>
        </p:nvSpPr>
        <p:spPr>
          <a:xfrm>
            <a:off x="4045729" y="1958769"/>
            <a:ext cx="2821800" cy="182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022"/>
              <a:buFont typeface="Source Sans 3"/>
              <a:buNone/>
            </a:pPr>
            <a:r>
              <a:rPr b="0" i="0" lang="en-US" sz="1022" u="none" cap="none" strike="noStrike">
                <a:solidFill>
                  <a:srgbClr val="4B5A50"/>
                </a:solidFill>
                <a:latin typeface="Source Sans 3"/>
                <a:ea typeface="Source Sans 3"/>
                <a:cs typeface="Source Sans 3"/>
                <a:sym typeface="Source Sans 3"/>
              </a:rPr>
              <a:t>Visits above prediction</a:t>
            </a:r>
            <a:endParaRPr b="0" i="0" sz="1022" u="none" cap="none" strike="noStrike">
              <a:solidFill>
                <a:schemeClr val="dk1"/>
              </a:solidFill>
              <a:latin typeface="Source Sans 3"/>
              <a:ea typeface="Source Sans 3"/>
              <a:cs typeface="Source Sans 3"/>
              <a:sym typeface="Source Sans 3"/>
            </a:endParaRPr>
          </a:p>
        </p:txBody>
      </p:sp>
      <p:sp>
        <p:nvSpPr>
          <p:cNvPr id="759" name="Google Shape;759;p24"/>
          <p:cNvSpPr/>
          <p:nvPr/>
        </p:nvSpPr>
        <p:spPr>
          <a:xfrm>
            <a:off x="3910880" y="2335850"/>
            <a:ext cx="3096300" cy="655500"/>
          </a:xfrm>
          <a:prstGeom prst="roundRect">
            <a:avLst>
              <a:gd fmla="val 11433" name="adj"/>
            </a:avLst>
          </a:prstGeom>
          <a:solidFill>
            <a:srgbClr val="FFFDF8"/>
          </a:solidFill>
          <a:ln cap="flat" cmpd="sng" w="9975">
            <a:solidFill>
              <a:srgbClr val="E3D9C6"/>
            </a:solidFill>
            <a:prstDash val="solid"/>
            <a:round/>
            <a:headEnd len="sm" w="sm" type="none"/>
            <a:tailEnd len="sm" w="sm" type="none"/>
          </a:ln>
        </p:spPr>
        <p:txBody>
          <a:bodyPr anchorCtr="0" anchor="ctr" bIns="71900" lIns="71900" spcFirstLastPara="1" rIns="71900" wrap="square" tIns="71900">
            <a:noAutofit/>
          </a:bodyPr>
          <a:lstStyle/>
          <a:p>
            <a:pPr indent="0" lvl="0" marL="0" marR="0" rtl="0" algn="l">
              <a:lnSpc>
                <a:spcPct val="100000"/>
              </a:lnSpc>
              <a:spcBef>
                <a:spcPts val="0"/>
              </a:spcBef>
              <a:spcAft>
                <a:spcPts val="0"/>
              </a:spcAft>
              <a:buClr>
                <a:srgbClr val="000000"/>
              </a:buClr>
              <a:buSzPts val="1101"/>
              <a:buFont typeface="Arial"/>
              <a:buNone/>
            </a:pPr>
            <a:r>
              <a:t/>
            </a:r>
            <a:endParaRPr b="0" i="0" sz="1101" u="none" cap="none" strike="noStrike">
              <a:solidFill>
                <a:srgbClr val="000000"/>
              </a:solidFill>
              <a:latin typeface="Arial"/>
              <a:ea typeface="Arial"/>
              <a:cs typeface="Arial"/>
              <a:sym typeface="Arial"/>
            </a:endParaRPr>
          </a:p>
        </p:txBody>
      </p:sp>
      <p:sp>
        <p:nvSpPr>
          <p:cNvPr id="760" name="Google Shape;760;p24"/>
          <p:cNvSpPr/>
          <p:nvPr/>
        </p:nvSpPr>
        <p:spPr>
          <a:xfrm>
            <a:off x="4045725" y="2430750"/>
            <a:ext cx="2876700" cy="2964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3B2D"/>
              </a:buClr>
              <a:buSzPts val="2078"/>
              <a:buFont typeface="Source Serif 4"/>
              <a:buNone/>
            </a:pPr>
            <a:r>
              <a:rPr b="1" i="0" lang="en-US" sz="2078" u="none" cap="none" strike="noStrike">
                <a:solidFill>
                  <a:srgbClr val="1F3B2D"/>
                </a:solidFill>
                <a:latin typeface="Source Serif 4"/>
                <a:ea typeface="Source Serif 4"/>
                <a:cs typeface="Source Serif 4"/>
                <a:sym typeface="Source Serif 4"/>
              </a:rPr>
              <a:t>−10% → +5%</a:t>
            </a:r>
            <a:endParaRPr b="0" i="0" sz="2078" u="none" cap="none" strike="noStrike">
              <a:solidFill>
                <a:schemeClr val="dk1"/>
              </a:solidFill>
              <a:latin typeface="Source Sans 3"/>
              <a:ea typeface="Source Sans 3"/>
              <a:cs typeface="Source Sans 3"/>
              <a:sym typeface="Source Sans 3"/>
            </a:endParaRPr>
          </a:p>
        </p:txBody>
      </p:sp>
      <p:sp>
        <p:nvSpPr>
          <p:cNvPr id="761" name="Google Shape;761;p24"/>
          <p:cNvSpPr/>
          <p:nvPr/>
        </p:nvSpPr>
        <p:spPr>
          <a:xfrm>
            <a:off x="4045725" y="2727426"/>
            <a:ext cx="2876700" cy="178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001"/>
              <a:buFont typeface="Source Sans 3"/>
              <a:buNone/>
            </a:pPr>
            <a:r>
              <a:rPr b="0" i="0" lang="en-US" sz="1001" u="none" cap="none" strike="noStrike">
                <a:solidFill>
                  <a:srgbClr val="4B5A50"/>
                </a:solidFill>
                <a:latin typeface="Source Sans 3"/>
                <a:ea typeface="Source Sans 3"/>
                <a:cs typeface="Source Sans 3"/>
                <a:sym typeface="Source Sans 3"/>
              </a:rPr>
              <a:t>Less SNAP per person, more visits</a:t>
            </a:r>
            <a:endParaRPr b="0" i="0" sz="1001" u="none" cap="none" strike="noStrike">
              <a:solidFill>
                <a:schemeClr val="dk1"/>
              </a:solidFill>
              <a:latin typeface="Source Sans 3"/>
              <a:ea typeface="Source Sans 3"/>
              <a:cs typeface="Source Sans 3"/>
              <a:sym typeface="Source Sans 3"/>
            </a:endParaRPr>
          </a:p>
        </p:txBody>
      </p:sp>
      <p:sp>
        <p:nvSpPr>
          <p:cNvPr id="762" name="Google Shape;762;p24"/>
          <p:cNvSpPr/>
          <p:nvPr/>
        </p:nvSpPr>
        <p:spPr>
          <a:xfrm>
            <a:off x="7291900" y="1560750"/>
            <a:ext cx="4168500" cy="596400"/>
          </a:xfrm>
          <a:prstGeom prst="roundRect">
            <a:avLst>
              <a:gd fmla="val 12466" name="adj"/>
            </a:avLst>
          </a:prstGeom>
          <a:solidFill>
            <a:srgbClr val="EFE6D4"/>
          </a:solidFill>
          <a:ln>
            <a:noFill/>
          </a:ln>
        </p:spPr>
        <p:txBody>
          <a:bodyPr anchorCtr="0" anchor="ctr" bIns="59450" lIns="59450" spcFirstLastPara="1" rIns="59450" wrap="square" tIns="59450">
            <a:noAutofit/>
          </a:bodyPr>
          <a:lstStyle/>
          <a:p>
            <a:pPr indent="0" lvl="0" marL="0" marR="0" rtl="0" algn="l">
              <a:lnSpc>
                <a:spcPct val="100000"/>
              </a:lnSpc>
              <a:spcBef>
                <a:spcPts val="0"/>
              </a:spcBef>
              <a:spcAft>
                <a:spcPts val="0"/>
              </a:spcAft>
              <a:buClr>
                <a:srgbClr val="000000"/>
              </a:buClr>
              <a:buSzPts val="910"/>
              <a:buFont typeface="Arial"/>
              <a:buNone/>
            </a:pPr>
            <a:r>
              <a:t/>
            </a:r>
            <a:endParaRPr b="0" i="0" sz="1183" u="none" cap="none" strike="noStrike">
              <a:solidFill>
                <a:srgbClr val="000000"/>
              </a:solidFill>
              <a:latin typeface="Arial"/>
              <a:ea typeface="Arial"/>
              <a:cs typeface="Arial"/>
              <a:sym typeface="Arial"/>
            </a:endParaRPr>
          </a:p>
        </p:txBody>
      </p:sp>
      <p:sp>
        <p:nvSpPr>
          <p:cNvPr id="763" name="Google Shape;763;p24"/>
          <p:cNvSpPr/>
          <p:nvPr/>
        </p:nvSpPr>
        <p:spPr>
          <a:xfrm>
            <a:off x="7504699" y="1651550"/>
            <a:ext cx="3924300" cy="15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794"/>
              <a:buFont typeface="Source Sans 3"/>
              <a:buNone/>
            </a:pPr>
            <a:r>
              <a:rPr b="1" i="0" lang="en-US" sz="1072" u="none" cap="none" strike="noStrike">
                <a:solidFill>
                  <a:srgbClr val="B5501F"/>
                </a:solidFill>
                <a:latin typeface="Source Sans 3"/>
                <a:ea typeface="Source Sans 3"/>
                <a:cs typeface="Source Sans 3"/>
                <a:sym typeface="Source Sans 3"/>
              </a:rPr>
              <a:t>ACROSS COUNTIES</a:t>
            </a:r>
            <a:endParaRPr b="0" i="0" sz="1072" u="none" cap="none" strike="noStrike">
              <a:solidFill>
                <a:schemeClr val="dk1"/>
              </a:solidFill>
              <a:latin typeface="Source Sans 3"/>
              <a:ea typeface="Source Sans 3"/>
              <a:cs typeface="Source Sans 3"/>
              <a:sym typeface="Source Sans 3"/>
            </a:endParaRPr>
          </a:p>
        </p:txBody>
      </p:sp>
      <p:sp>
        <p:nvSpPr>
          <p:cNvPr id="764" name="Google Shape;764;p24"/>
          <p:cNvSpPr/>
          <p:nvPr/>
        </p:nvSpPr>
        <p:spPr>
          <a:xfrm>
            <a:off x="7504699" y="1817928"/>
            <a:ext cx="3924300" cy="28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794"/>
              <a:buFont typeface="Source Sans 3"/>
              <a:buNone/>
            </a:pPr>
            <a:r>
              <a:rPr b="0" i="0" lang="en-US" sz="1072" u="none" cap="none" strike="noStrike">
                <a:solidFill>
                  <a:srgbClr val="1F3B2D"/>
                </a:solidFill>
                <a:latin typeface="Source Sans 3"/>
                <a:ea typeface="Source Sans 3"/>
                <a:cs typeface="Source Sans 3"/>
                <a:sym typeface="Source Sans 3"/>
              </a:rPr>
              <a:t>+1% SNAP participation → +0.30% visits (p = .01): both follow need</a:t>
            </a:r>
            <a:endParaRPr b="0" i="0" sz="1072" u="none" cap="none" strike="noStrike">
              <a:solidFill>
                <a:schemeClr val="dk1"/>
              </a:solidFill>
              <a:latin typeface="Source Sans 3"/>
              <a:ea typeface="Source Sans 3"/>
              <a:cs typeface="Source Sans 3"/>
              <a:sym typeface="Source Sans 3"/>
            </a:endParaRPr>
          </a:p>
        </p:txBody>
      </p:sp>
      <p:sp>
        <p:nvSpPr>
          <p:cNvPr id="765" name="Google Shape;765;p24"/>
          <p:cNvSpPr/>
          <p:nvPr/>
        </p:nvSpPr>
        <p:spPr>
          <a:xfrm>
            <a:off x="7291900" y="2261330"/>
            <a:ext cx="4168500" cy="596400"/>
          </a:xfrm>
          <a:prstGeom prst="roundRect">
            <a:avLst>
              <a:gd fmla="val 12466" name="adj"/>
            </a:avLst>
          </a:prstGeom>
          <a:solidFill>
            <a:srgbClr val="EFE6D4"/>
          </a:solidFill>
          <a:ln>
            <a:noFill/>
          </a:ln>
        </p:spPr>
        <p:txBody>
          <a:bodyPr anchorCtr="0" anchor="ctr" bIns="59450" lIns="59450" spcFirstLastPara="1" rIns="59450" wrap="square" tIns="59450">
            <a:noAutofit/>
          </a:bodyPr>
          <a:lstStyle/>
          <a:p>
            <a:pPr indent="0" lvl="0" marL="0" marR="0" rtl="0" algn="l">
              <a:lnSpc>
                <a:spcPct val="100000"/>
              </a:lnSpc>
              <a:spcBef>
                <a:spcPts val="0"/>
              </a:spcBef>
              <a:spcAft>
                <a:spcPts val="0"/>
              </a:spcAft>
              <a:buClr>
                <a:srgbClr val="000000"/>
              </a:buClr>
              <a:buSzPts val="910"/>
              <a:buFont typeface="Arial"/>
              <a:buNone/>
            </a:pPr>
            <a:r>
              <a:t/>
            </a:r>
            <a:endParaRPr b="0" i="0" sz="1183" u="none" cap="none" strike="noStrike">
              <a:solidFill>
                <a:srgbClr val="000000"/>
              </a:solidFill>
              <a:latin typeface="Arial"/>
              <a:ea typeface="Arial"/>
              <a:cs typeface="Arial"/>
              <a:sym typeface="Arial"/>
            </a:endParaRPr>
          </a:p>
        </p:txBody>
      </p:sp>
      <p:sp>
        <p:nvSpPr>
          <p:cNvPr id="766" name="Google Shape;766;p24"/>
          <p:cNvSpPr/>
          <p:nvPr/>
        </p:nvSpPr>
        <p:spPr>
          <a:xfrm>
            <a:off x="7504699" y="2364518"/>
            <a:ext cx="3924300" cy="15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794"/>
              <a:buFont typeface="Source Sans 3"/>
              <a:buNone/>
            </a:pPr>
            <a:r>
              <a:rPr b="1" i="0" lang="en-US" sz="1072" u="none" cap="none" strike="noStrike">
                <a:solidFill>
                  <a:srgbClr val="B5501F"/>
                </a:solidFill>
                <a:latin typeface="Source Sans 3"/>
                <a:ea typeface="Source Sans 3"/>
                <a:cs typeface="Source Sans 3"/>
                <a:sym typeface="Source Sans 3"/>
              </a:rPr>
              <a:t>FOOD PER VISIT</a:t>
            </a:r>
            <a:endParaRPr b="0" i="0" sz="1072" u="none" cap="none" strike="noStrike">
              <a:solidFill>
                <a:schemeClr val="dk1"/>
              </a:solidFill>
              <a:latin typeface="Source Sans 3"/>
              <a:ea typeface="Source Sans 3"/>
              <a:cs typeface="Source Sans 3"/>
              <a:sym typeface="Source Sans 3"/>
            </a:endParaRPr>
          </a:p>
        </p:txBody>
      </p:sp>
      <p:sp>
        <p:nvSpPr>
          <p:cNvPr id="767" name="Google Shape;767;p24"/>
          <p:cNvSpPr/>
          <p:nvPr/>
        </p:nvSpPr>
        <p:spPr>
          <a:xfrm>
            <a:off x="7504699" y="2530896"/>
            <a:ext cx="3924300" cy="28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794"/>
              <a:buFont typeface="Source Sans 3"/>
              <a:buNone/>
            </a:pPr>
            <a:r>
              <a:rPr b="0" i="0" lang="en-US" sz="1072" u="none" cap="none" strike="noStrike">
                <a:solidFill>
                  <a:srgbClr val="1F3B2D"/>
                </a:solidFill>
                <a:latin typeface="Source Sans 3"/>
                <a:ea typeface="Source Sans 3"/>
                <a:cs typeface="Source Sans 3"/>
                <a:sym typeface="Source Sans 3"/>
              </a:rPr>
              <a:t>Visits doubled, pounds +50%: about ¼ less food each</a:t>
            </a:r>
            <a:endParaRPr b="0" i="0" sz="1072" u="none" cap="none" strike="noStrike">
              <a:solidFill>
                <a:schemeClr val="dk1"/>
              </a:solidFill>
              <a:latin typeface="Source Sans 3"/>
              <a:ea typeface="Source Sans 3"/>
              <a:cs typeface="Source Sans 3"/>
              <a:sym typeface="Source Sans 3"/>
            </a:endParaRPr>
          </a:p>
        </p:txBody>
      </p:sp>
      <p:sp>
        <p:nvSpPr>
          <p:cNvPr id="768" name="Google Shape;768;p24"/>
          <p:cNvSpPr/>
          <p:nvPr/>
        </p:nvSpPr>
        <p:spPr>
          <a:xfrm>
            <a:off x="7291900" y="2961910"/>
            <a:ext cx="4168500" cy="596400"/>
          </a:xfrm>
          <a:prstGeom prst="roundRect">
            <a:avLst>
              <a:gd fmla="val 12466" name="adj"/>
            </a:avLst>
          </a:prstGeom>
          <a:solidFill>
            <a:srgbClr val="EFE6D4"/>
          </a:solidFill>
          <a:ln>
            <a:noFill/>
          </a:ln>
        </p:spPr>
        <p:txBody>
          <a:bodyPr anchorCtr="0" anchor="ctr" bIns="59450" lIns="59450" spcFirstLastPara="1" rIns="59450" wrap="square" tIns="59450">
            <a:noAutofit/>
          </a:bodyPr>
          <a:lstStyle/>
          <a:p>
            <a:pPr indent="0" lvl="0" marL="0" marR="0" rtl="0" algn="l">
              <a:lnSpc>
                <a:spcPct val="100000"/>
              </a:lnSpc>
              <a:spcBef>
                <a:spcPts val="0"/>
              </a:spcBef>
              <a:spcAft>
                <a:spcPts val="0"/>
              </a:spcAft>
              <a:buClr>
                <a:srgbClr val="000000"/>
              </a:buClr>
              <a:buSzPts val="910"/>
              <a:buFont typeface="Arial"/>
              <a:buNone/>
            </a:pPr>
            <a:r>
              <a:t/>
            </a:r>
            <a:endParaRPr b="0" i="0" sz="1183" u="none" cap="none" strike="noStrike">
              <a:solidFill>
                <a:srgbClr val="000000"/>
              </a:solidFill>
              <a:latin typeface="Arial"/>
              <a:ea typeface="Arial"/>
              <a:cs typeface="Arial"/>
              <a:sym typeface="Arial"/>
            </a:endParaRPr>
          </a:p>
        </p:txBody>
      </p:sp>
      <p:sp>
        <p:nvSpPr>
          <p:cNvPr id="769" name="Google Shape;769;p24"/>
          <p:cNvSpPr/>
          <p:nvPr/>
        </p:nvSpPr>
        <p:spPr>
          <a:xfrm>
            <a:off x="7504700" y="3077485"/>
            <a:ext cx="3924300" cy="158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794"/>
              <a:buFont typeface="Source Sans 3"/>
              <a:buNone/>
            </a:pPr>
            <a:r>
              <a:rPr b="1" i="0" lang="en-US" sz="1072" u="none" cap="none" strike="noStrike">
                <a:solidFill>
                  <a:srgbClr val="B5501F"/>
                </a:solidFill>
                <a:latin typeface="Source Sans 3"/>
                <a:ea typeface="Source Sans 3"/>
                <a:cs typeface="Source Sans 3"/>
                <a:sym typeface="Source Sans 3"/>
              </a:rPr>
              <a:t>LOCATIONS</a:t>
            </a:r>
            <a:endParaRPr b="0" i="0" sz="1072" u="none" cap="none" strike="noStrike">
              <a:solidFill>
                <a:schemeClr val="dk1"/>
              </a:solidFill>
              <a:latin typeface="Source Sans 3"/>
              <a:ea typeface="Source Sans 3"/>
              <a:cs typeface="Source Sans 3"/>
              <a:sym typeface="Source Sans 3"/>
            </a:endParaRPr>
          </a:p>
        </p:txBody>
      </p:sp>
      <p:sp>
        <p:nvSpPr>
          <p:cNvPr id="770" name="Google Shape;770;p24"/>
          <p:cNvSpPr/>
          <p:nvPr/>
        </p:nvSpPr>
        <p:spPr>
          <a:xfrm>
            <a:off x="7504700" y="3243864"/>
            <a:ext cx="3924300" cy="289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794"/>
              <a:buFont typeface="Source Sans 3"/>
              <a:buNone/>
            </a:pPr>
            <a:r>
              <a:rPr b="0" i="0" lang="en-US" sz="1072" u="none" cap="none" strike="noStrike">
                <a:solidFill>
                  <a:srgbClr val="1F3B2D"/>
                </a:solidFill>
                <a:latin typeface="Source Sans 3"/>
                <a:ea typeface="Source Sans 3"/>
                <a:cs typeface="Source Sans 3"/>
                <a:sym typeface="Source Sans 3"/>
              </a:rPr>
              <a:t>No metro difference; small counties lost most per resident</a:t>
            </a:r>
            <a:endParaRPr b="0" i="0" sz="1072" u="none" cap="none" strike="noStrike">
              <a:solidFill>
                <a:schemeClr val="dk1"/>
              </a:solidFill>
              <a:latin typeface="Source Sans 3"/>
              <a:ea typeface="Source Sans 3"/>
              <a:cs typeface="Source Sans 3"/>
              <a:sym typeface="Source Sans 3"/>
            </a:endParaRPr>
          </a:p>
        </p:txBody>
      </p:sp>
      <p:sp>
        <p:nvSpPr>
          <p:cNvPr id="771" name="Google Shape;771;p24"/>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Minnesota DCYF SNAP dashboard; BLS CPI; Census Vintage 2025; The Food Group 2022–2026 · Team notebook Q5_FINAL</a:t>
            </a:r>
            <a:endParaRPr b="0" i="0" sz="1200" u="none" cap="none" strike="noStrike">
              <a:solidFill>
                <a:schemeClr val="dk1"/>
              </a:solidFill>
              <a:latin typeface="Source Sans 3"/>
              <a:ea typeface="Source Sans 3"/>
              <a:cs typeface="Source Sans 3"/>
              <a:sym typeface="Source Sans 3"/>
            </a:endParaRPr>
          </a:p>
        </p:txBody>
      </p:sp>
      <p:sp>
        <p:nvSpPr>
          <p:cNvPr id="772" name="Google Shape;772;p24"/>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3" name="Google Shape;773;p24"/>
          <p:cNvSpPr/>
          <p:nvPr/>
        </p:nvSpPr>
        <p:spPr>
          <a:xfrm>
            <a:off x="0" y="6803136"/>
            <a:ext cx="7951304"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774" name="Google Shape;774;p24"/>
          <p:cNvPicPr preferRelativeResize="0"/>
          <p:nvPr/>
        </p:nvPicPr>
        <p:blipFill>
          <a:blip r:embed="rId4">
            <a:alphaModFix/>
          </a:blip>
          <a:stretch>
            <a:fillRect/>
          </a:stretch>
        </p:blipFill>
        <p:spPr>
          <a:xfrm>
            <a:off x="6867525" y="3784590"/>
            <a:ext cx="4583099" cy="2054659"/>
          </a:xfrm>
          <a:prstGeom prst="rect">
            <a:avLst/>
          </a:prstGeom>
          <a:noFill/>
          <a:ln>
            <a:noFill/>
          </a:ln>
        </p:spPr>
      </p:pic>
      <p:graphicFrame>
        <p:nvGraphicFramePr>
          <p:cNvPr id="775" name="Google Shape;775;p24"/>
          <p:cNvGraphicFramePr/>
          <p:nvPr/>
        </p:nvGraphicFramePr>
        <p:xfrm>
          <a:off x="609600" y="3399725"/>
          <a:ext cx="3000000" cy="3000000"/>
        </p:xfrm>
        <a:graphic>
          <a:graphicData uri="http://schemas.openxmlformats.org/drawingml/2006/table">
            <a:tbl>
              <a:tblPr>
                <a:noFill/>
                <a:tableStyleId>{0CA31FF4-67A7-4FF6-983C-CC8DA9553499}</a:tableStyleId>
              </a:tblPr>
              <a:tblGrid>
                <a:gridCol w="1318300"/>
                <a:gridCol w="1318300"/>
                <a:gridCol w="1318300"/>
                <a:gridCol w="1318300"/>
              </a:tblGrid>
              <a:tr h="389125">
                <a:tc>
                  <a:txBody>
                    <a:bodyPr/>
                    <a:lstStyle/>
                    <a:p>
                      <a:pPr indent="0" lvl="0" marL="0" rtl="0" algn="l">
                        <a:spcBef>
                          <a:spcPts val="0"/>
                        </a:spcBef>
                        <a:spcAft>
                          <a:spcPts val="0"/>
                        </a:spcAft>
                        <a:buNone/>
                      </a:pPr>
                      <a:r>
                        <a:t/>
                      </a:r>
                      <a:endParaRPr b="1" sz="1100">
                        <a:solidFill>
                          <a:srgbClr val="FFFFFF"/>
                        </a:solidFill>
                      </a:endParaRPr>
                    </a:p>
                  </a:txBody>
                  <a:tcPr marT="91425" marB="91425" marR="91425" marL="91425">
                    <a:solidFill>
                      <a:schemeClr val="dk2"/>
                    </a:solidFill>
                  </a:tcPr>
                </a:tc>
                <a:tc>
                  <a:txBody>
                    <a:bodyPr/>
                    <a:lstStyle/>
                    <a:p>
                      <a:pPr indent="0" lvl="0" marL="0" rtl="0" algn="l">
                        <a:lnSpc>
                          <a:spcPct val="115000"/>
                        </a:lnSpc>
                        <a:spcBef>
                          <a:spcPts val="0"/>
                        </a:spcBef>
                        <a:spcAft>
                          <a:spcPts val="0"/>
                        </a:spcAft>
                        <a:buNone/>
                      </a:pPr>
                      <a:r>
                        <a:rPr b="1" lang="en-US" sz="1100">
                          <a:solidFill>
                            <a:srgbClr val="FFFFFF"/>
                          </a:solidFill>
                        </a:rPr>
                        <a:t>Visits</a:t>
                      </a:r>
                      <a:endParaRPr b="1" sz="1100">
                        <a:solidFill>
                          <a:srgbClr val="FFFFFF"/>
                        </a:solidFill>
                      </a:endParaRPr>
                    </a:p>
                  </a:txBody>
                  <a:tcPr marT="91425" marB="91425" marR="91425" marL="91425">
                    <a:solidFill>
                      <a:schemeClr val="dk2"/>
                    </a:solidFill>
                  </a:tcPr>
                </a:tc>
                <a:tc>
                  <a:txBody>
                    <a:bodyPr/>
                    <a:lstStyle/>
                    <a:p>
                      <a:pPr indent="0" lvl="0" marL="0" rtl="0" algn="l">
                        <a:lnSpc>
                          <a:spcPct val="115000"/>
                        </a:lnSpc>
                        <a:spcBef>
                          <a:spcPts val="0"/>
                        </a:spcBef>
                        <a:spcAft>
                          <a:spcPts val="0"/>
                        </a:spcAft>
                        <a:buNone/>
                      </a:pPr>
                      <a:r>
                        <a:rPr b="1" lang="en-US" sz="1100">
                          <a:solidFill>
                            <a:srgbClr val="FFFFFF"/>
                          </a:solidFill>
                        </a:rPr>
                        <a:t>Individuals</a:t>
                      </a:r>
                      <a:endParaRPr b="1" sz="1100">
                        <a:solidFill>
                          <a:srgbClr val="FFFFFF"/>
                        </a:solidFill>
                      </a:endParaRPr>
                    </a:p>
                  </a:txBody>
                  <a:tcPr marT="91425" marB="91425" marR="91425" marL="91425">
                    <a:solidFill>
                      <a:schemeClr val="dk2"/>
                    </a:solidFill>
                  </a:tcPr>
                </a:tc>
                <a:tc>
                  <a:txBody>
                    <a:bodyPr/>
                    <a:lstStyle/>
                    <a:p>
                      <a:pPr indent="0" lvl="0" marL="0" rtl="0" algn="l">
                        <a:lnSpc>
                          <a:spcPct val="115000"/>
                        </a:lnSpc>
                        <a:spcBef>
                          <a:spcPts val="0"/>
                        </a:spcBef>
                        <a:spcAft>
                          <a:spcPts val="0"/>
                        </a:spcAft>
                        <a:buNone/>
                      </a:pPr>
                      <a:r>
                        <a:rPr b="1" lang="en-US" sz="1100">
                          <a:solidFill>
                            <a:srgbClr val="FFFFFF"/>
                          </a:solidFill>
                        </a:rPr>
                        <a:t>Pounds</a:t>
                      </a:r>
                      <a:endParaRPr b="1" sz="1100">
                        <a:solidFill>
                          <a:srgbClr val="FFFFFF"/>
                        </a:solidFill>
                      </a:endParaRPr>
                    </a:p>
                  </a:txBody>
                  <a:tcPr marT="91425" marB="91425" marR="91425" marL="91425">
                    <a:solidFill>
                      <a:schemeClr val="dk2"/>
                    </a:solidFill>
                  </a:tcPr>
                </a:tc>
              </a:tr>
              <a:tr h="520300">
                <a:tc>
                  <a:txBody>
                    <a:bodyPr/>
                    <a:lstStyle/>
                    <a:p>
                      <a:pPr indent="0" lvl="0" marL="0" rtl="0" algn="l">
                        <a:spcBef>
                          <a:spcPts val="0"/>
                        </a:spcBef>
                        <a:spcAft>
                          <a:spcPts val="0"/>
                        </a:spcAft>
                        <a:buNone/>
                      </a:pPr>
                      <a:r>
                        <a:rPr lang="en-US" sz="1100"/>
                        <a:t>Spec A: step, permanent</a:t>
                      </a:r>
                      <a:endParaRPr sz="1100"/>
                    </a:p>
                  </a:txBody>
                  <a:tcPr marT="91425" marB="91425" marR="91425" marL="91425">
                    <a:solidFill>
                      <a:schemeClr val="lt2"/>
                    </a:solidFill>
                  </a:tcPr>
                </a:tc>
                <a:tc>
                  <a:txBody>
                    <a:bodyPr/>
                    <a:lstStyle/>
                    <a:p>
                      <a:pPr indent="0" lvl="0" marL="0" rtl="0" algn="l">
                        <a:lnSpc>
                          <a:spcPct val="115000"/>
                        </a:lnSpc>
                        <a:spcBef>
                          <a:spcPts val="0"/>
                        </a:spcBef>
                        <a:spcAft>
                          <a:spcPts val="0"/>
                        </a:spcAft>
                        <a:buNone/>
                      </a:pPr>
                      <a:r>
                        <a:rPr lang="en-US" sz="1100"/>
                        <a:t>+25.7% (p&lt;.001)</a:t>
                      </a:r>
                      <a:endParaRPr sz="1100"/>
                    </a:p>
                  </a:txBody>
                  <a:tcPr marT="91425" marB="91425" marR="91425" marL="91425">
                    <a:solidFill>
                      <a:schemeClr val="lt2"/>
                    </a:solidFill>
                  </a:tcPr>
                </a:tc>
                <a:tc>
                  <a:txBody>
                    <a:bodyPr/>
                    <a:lstStyle/>
                    <a:p>
                      <a:pPr indent="0" lvl="0" marL="0" rtl="0" algn="l">
                        <a:lnSpc>
                          <a:spcPct val="115000"/>
                        </a:lnSpc>
                        <a:spcBef>
                          <a:spcPts val="0"/>
                        </a:spcBef>
                        <a:spcAft>
                          <a:spcPts val="0"/>
                        </a:spcAft>
                        <a:buNone/>
                      </a:pPr>
                      <a:r>
                        <a:rPr lang="en-US" sz="1100"/>
                        <a:t>+30.0% (p&lt;.001)</a:t>
                      </a:r>
                      <a:endParaRPr sz="1100"/>
                    </a:p>
                  </a:txBody>
                  <a:tcPr marT="91425" marB="91425" marR="91425" marL="91425">
                    <a:solidFill>
                      <a:schemeClr val="lt2"/>
                    </a:solidFill>
                  </a:tcPr>
                </a:tc>
                <a:tc>
                  <a:txBody>
                    <a:bodyPr/>
                    <a:lstStyle/>
                    <a:p>
                      <a:pPr indent="0" lvl="0" marL="0" rtl="0" algn="l">
                        <a:lnSpc>
                          <a:spcPct val="115000"/>
                        </a:lnSpc>
                        <a:spcBef>
                          <a:spcPts val="0"/>
                        </a:spcBef>
                        <a:spcAft>
                          <a:spcPts val="0"/>
                        </a:spcAft>
                        <a:buNone/>
                      </a:pPr>
                      <a:r>
                        <a:rPr lang="en-US" sz="1100"/>
                        <a:t>+17.5% (p&lt;.001)</a:t>
                      </a:r>
                      <a:endParaRPr sz="1100"/>
                    </a:p>
                  </a:txBody>
                  <a:tcPr marT="91425" marB="91425" marR="91425" marL="91425">
                    <a:solidFill>
                      <a:schemeClr val="lt2"/>
                    </a:solidFill>
                  </a:tcPr>
                </a:tc>
              </a:tr>
              <a:tr h="520300">
                <a:tc>
                  <a:txBody>
                    <a:bodyPr/>
                    <a:lstStyle/>
                    <a:p>
                      <a:pPr indent="0" lvl="0" marL="0" rtl="0" algn="l">
                        <a:spcBef>
                          <a:spcPts val="0"/>
                        </a:spcBef>
                        <a:spcAft>
                          <a:spcPts val="0"/>
                        </a:spcAft>
                        <a:buNone/>
                      </a:pPr>
                      <a:r>
                        <a:rPr lang="en-US" sz="1100"/>
                        <a:t>Segmented: step, trend may bend</a:t>
                      </a:r>
                      <a:endParaRPr sz="1100"/>
                    </a:p>
                  </a:txBody>
                  <a:tcPr marT="91425" marB="91425" marR="91425" marL="91425"/>
                </a:tc>
                <a:tc>
                  <a:txBody>
                    <a:bodyPr/>
                    <a:lstStyle/>
                    <a:p>
                      <a:pPr indent="0" lvl="0" marL="0" rtl="0" algn="l">
                        <a:lnSpc>
                          <a:spcPct val="115000"/>
                        </a:lnSpc>
                        <a:spcBef>
                          <a:spcPts val="0"/>
                        </a:spcBef>
                        <a:spcAft>
                          <a:spcPts val="0"/>
                        </a:spcAft>
                        <a:buNone/>
                      </a:pPr>
                      <a:r>
                        <a:rPr lang="en-US" sz="1100"/>
                        <a:t>+17.6% (p=.009)</a:t>
                      </a:r>
                      <a:endParaRPr sz="1100"/>
                    </a:p>
                  </a:txBody>
                  <a:tcPr marT="91425" marB="91425" marR="91425" marL="91425"/>
                </a:tc>
                <a:tc>
                  <a:txBody>
                    <a:bodyPr/>
                    <a:lstStyle/>
                    <a:p>
                      <a:pPr indent="0" lvl="0" marL="0" rtl="0" algn="l">
                        <a:lnSpc>
                          <a:spcPct val="115000"/>
                        </a:lnSpc>
                        <a:spcBef>
                          <a:spcPts val="0"/>
                        </a:spcBef>
                        <a:spcAft>
                          <a:spcPts val="0"/>
                        </a:spcAft>
                        <a:buNone/>
                      </a:pPr>
                      <a:r>
                        <a:rPr lang="en-US" sz="1100"/>
                        <a:t>+25.9% (p=.003)</a:t>
                      </a:r>
                      <a:endParaRPr sz="1100"/>
                    </a:p>
                  </a:txBody>
                  <a:tcPr marT="91425" marB="91425" marR="91425" marL="91425"/>
                </a:tc>
                <a:tc>
                  <a:txBody>
                    <a:bodyPr/>
                    <a:lstStyle/>
                    <a:p>
                      <a:pPr indent="0" lvl="0" marL="0" rtl="0" algn="l">
                        <a:lnSpc>
                          <a:spcPct val="115000"/>
                        </a:lnSpc>
                        <a:spcBef>
                          <a:spcPts val="0"/>
                        </a:spcBef>
                        <a:spcAft>
                          <a:spcPts val="0"/>
                        </a:spcAft>
                        <a:buNone/>
                      </a:pPr>
                      <a:r>
                        <a:rPr lang="en-US" sz="1100"/>
                        <a:t>+14.1% (p=.012)</a:t>
                      </a:r>
                      <a:endParaRPr sz="1100"/>
                    </a:p>
                  </a:txBody>
                  <a:tcPr marT="91425" marB="91425" marR="91425" marL="91425"/>
                </a:tc>
              </a:tr>
              <a:tr h="520300">
                <a:tc>
                  <a:txBody>
                    <a:bodyPr/>
                    <a:lstStyle/>
                    <a:p>
                      <a:pPr indent="0" lvl="0" marL="0" rtl="0" algn="l">
                        <a:spcBef>
                          <a:spcPts val="0"/>
                        </a:spcBef>
                        <a:spcAft>
                          <a:spcPts val="0"/>
                        </a:spcAft>
                        <a:buNone/>
                      </a:pPr>
                      <a:r>
                        <a:rPr lang="en-US" sz="1100"/>
                        <a:t>Post-cut slope (per month)</a:t>
                      </a:r>
                      <a:endParaRPr sz="1100"/>
                    </a:p>
                  </a:txBody>
                  <a:tcPr marT="91425" marB="91425" marR="91425" marL="91425">
                    <a:solidFill>
                      <a:schemeClr val="lt2"/>
                    </a:solidFill>
                  </a:tcPr>
                </a:tc>
                <a:tc>
                  <a:txBody>
                    <a:bodyPr/>
                    <a:lstStyle/>
                    <a:p>
                      <a:pPr indent="0" lvl="0" marL="0" rtl="0" algn="l">
                        <a:lnSpc>
                          <a:spcPct val="115000"/>
                        </a:lnSpc>
                        <a:spcBef>
                          <a:spcPts val="0"/>
                        </a:spcBef>
                        <a:spcAft>
                          <a:spcPts val="0"/>
                        </a:spcAft>
                        <a:buNone/>
                      </a:pPr>
                      <a:r>
                        <a:rPr lang="en-US" sz="1100"/>
                        <a:t>-1.3% (p=.16)</a:t>
                      </a:r>
                      <a:endParaRPr sz="1100"/>
                    </a:p>
                  </a:txBody>
                  <a:tcPr marT="91425" marB="91425" marR="91425" marL="91425">
                    <a:solidFill>
                      <a:schemeClr val="lt2"/>
                    </a:solidFill>
                  </a:tcPr>
                </a:tc>
                <a:tc>
                  <a:txBody>
                    <a:bodyPr/>
                    <a:lstStyle/>
                    <a:p>
                      <a:pPr indent="0" lvl="0" marL="0" rtl="0" algn="l">
                        <a:lnSpc>
                          <a:spcPct val="115000"/>
                        </a:lnSpc>
                        <a:spcBef>
                          <a:spcPts val="0"/>
                        </a:spcBef>
                        <a:spcAft>
                          <a:spcPts val="0"/>
                        </a:spcAft>
                        <a:buNone/>
                      </a:pPr>
                      <a:r>
                        <a:rPr lang="en-US" sz="1100"/>
                        <a:t>-0.6% (p=.60)</a:t>
                      </a:r>
                      <a:endParaRPr sz="1100"/>
                    </a:p>
                  </a:txBody>
                  <a:tcPr marT="91425" marB="91425" marR="91425" marL="91425">
                    <a:solidFill>
                      <a:schemeClr val="lt2"/>
                    </a:solidFill>
                  </a:tcPr>
                </a:tc>
                <a:tc>
                  <a:txBody>
                    <a:bodyPr/>
                    <a:lstStyle/>
                    <a:p>
                      <a:pPr indent="0" lvl="0" marL="0" rtl="0" algn="l">
                        <a:lnSpc>
                          <a:spcPct val="115000"/>
                        </a:lnSpc>
                        <a:spcBef>
                          <a:spcPts val="0"/>
                        </a:spcBef>
                        <a:spcAft>
                          <a:spcPts val="0"/>
                        </a:spcAft>
                        <a:buNone/>
                      </a:pPr>
                      <a:r>
                        <a:rPr lang="en-US" sz="1100"/>
                        <a:t>-0.6% (p=.54)</a:t>
                      </a:r>
                      <a:endParaRPr sz="1100"/>
                    </a:p>
                  </a:txBody>
                  <a:tcPr marT="91425" marB="91425" marR="91425" marL="91425">
                    <a:solidFill>
                      <a:schemeClr val="lt2"/>
                    </a:solidFill>
                  </a:tcPr>
                </a:tc>
              </a:tr>
              <a:tr h="520300">
                <a:tc>
                  <a:txBody>
                    <a:bodyPr/>
                    <a:lstStyle/>
                    <a:p>
                      <a:pPr indent="0" lvl="0" marL="0" rtl="0" algn="l">
                        <a:spcBef>
                          <a:spcPts val="0"/>
                        </a:spcBef>
                        <a:spcAft>
                          <a:spcPts val="0"/>
                        </a:spcAft>
                        <a:buNone/>
                      </a:pPr>
                      <a:r>
                        <a:rPr lang="en-US" sz="1100"/>
                        <a:t>Spec B: elasticity to benefit/person</a:t>
                      </a:r>
                      <a:endParaRPr sz="1100"/>
                    </a:p>
                  </a:txBody>
                  <a:tcPr marT="91425" marB="91425" marR="91425" marL="91425"/>
                </a:tc>
                <a:tc>
                  <a:txBody>
                    <a:bodyPr/>
                    <a:lstStyle/>
                    <a:p>
                      <a:pPr indent="0" lvl="0" marL="0" rtl="0" algn="l">
                        <a:lnSpc>
                          <a:spcPct val="115000"/>
                        </a:lnSpc>
                        <a:spcBef>
                          <a:spcPts val="0"/>
                        </a:spcBef>
                        <a:spcAft>
                          <a:spcPts val="0"/>
                        </a:spcAft>
                        <a:buNone/>
                      </a:pPr>
                      <a:r>
                        <a:rPr lang="en-US" sz="1100"/>
                        <a:t>-0.50</a:t>
                      </a:r>
                      <a:endParaRPr sz="1100"/>
                    </a:p>
                  </a:txBody>
                  <a:tcPr marT="91425" marB="91425" marR="91425" marL="91425"/>
                </a:tc>
                <a:tc>
                  <a:txBody>
                    <a:bodyPr/>
                    <a:lstStyle/>
                    <a:p>
                      <a:pPr indent="0" lvl="0" marL="0" rtl="0" algn="l">
                        <a:lnSpc>
                          <a:spcPct val="115000"/>
                        </a:lnSpc>
                        <a:spcBef>
                          <a:spcPts val="0"/>
                        </a:spcBef>
                        <a:spcAft>
                          <a:spcPts val="0"/>
                        </a:spcAft>
                        <a:buNone/>
                      </a:pPr>
                      <a:r>
                        <a:rPr lang="en-US" sz="1100"/>
                        <a:t>-0.58</a:t>
                      </a:r>
                      <a:endParaRPr sz="1100"/>
                    </a:p>
                  </a:txBody>
                  <a:tcPr marT="91425" marB="91425" marR="91425" marL="91425"/>
                </a:tc>
                <a:tc>
                  <a:txBody>
                    <a:bodyPr/>
                    <a:lstStyle/>
                    <a:p>
                      <a:pPr indent="0" lvl="0" marL="0" rtl="0" algn="l">
                        <a:lnSpc>
                          <a:spcPct val="115000"/>
                        </a:lnSpc>
                        <a:spcBef>
                          <a:spcPts val="0"/>
                        </a:spcBef>
                        <a:spcAft>
                          <a:spcPts val="0"/>
                        </a:spcAft>
                        <a:buNone/>
                      </a:pPr>
                      <a:r>
                        <a:rPr lang="en-US" sz="1100"/>
                        <a:t>-0.35</a:t>
                      </a:r>
                      <a:endParaRPr sz="1100"/>
                    </a:p>
                  </a:txBody>
                  <a:tcPr marT="91425" marB="91425" marR="91425" marL="91425"/>
                </a:tc>
              </a:tr>
            </a:tbl>
          </a:graphicData>
        </a:graphic>
      </p:graphicFrame>
      <p:sp>
        <p:nvSpPr>
          <p:cNvPr id="776" name="Google Shape;776;p24"/>
          <p:cNvSpPr/>
          <p:nvPr/>
        </p:nvSpPr>
        <p:spPr>
          <a:xfrm>
            <a:off x="609600" y="5926025"/>
            <a:ext cx="5273100" cy="1707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4B5A50"/>
              </a:buClr>
              <a:buSzPts val="1200"/>
              <a:buFont typeface="Source Sans 3"/>
              <a:buNone/>
            </a:pPr>
            <a:r>
              <a:rPr lang="en-US" sz="1000">
                <a:solidFill>
                  <a:srgbClr val="4B5A50"/>
                </a:solidFill>
                <a:latin typeface="Source Sans 3"/>
                <a:ea typeface="Source Sans 3"/>
                <a:cs typeface="Source Sans 3"/>
                <a:sym typeface="Source Sans 3"/>
              </a:rPr>
              <a:t>All models: log outcome ~ trend + log food CPI + month dummies; HAC SE; 54 months</a:t>
            </a:r>
            <a:endParaRPr b="0" i="0" sz="1000" u="none" cap="none" strike="noStrike">
              <a:solidFill>
                <a:schemeClr val="dk1"/>
              </a:solidFill>
              <a:latin typeface="Source Sans 3"/>
              <a:ea typeface="Source Sans 3"/>
              <a:cs typeface="Source Sans 3"/>
              <a:sym typeface="Source Sans 3"/>
            </a:endParaRPr>
          </a:p>
        </p:txBody>
      </p:sp>
      <p:sp>
        <p:nvSpPr>
          <p:cNvPr id="777" name="Google Shape;777;p24"/>
          <p:cNvSpPr/>
          <p:nvPr/>
        </p:nvSpPr>
        <p:spPr>
          <a:xfrm>
            <a:off x="609597" y="3170300"/>
            <a:ext cx="4639500" cy="187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lang="en-US" sz="1300">
                <a:solidFill>
                  <a:srgbClr val="4B5A50"/>
                </a:solidFill>
                <a:latin typeface="Source Sans 3"/>
                <a:ea typeface="Source Sans 3"/>
                <a:cs typeface="Source Sans 3"/>
                <a:sym typeface="Source Sans 3"/>
              </a:rPr>
              <a:t>26% from Spec A / 18% from Segmented Model</a:t>
            </a:r>
            <a:endParaRPr b="1" i="0" sz="1300" u="none" cap="none" strike="noStrike">
              <a:solidFill>
                <a:schemeClr val="dk1"/>
              </a:solidFill>
              <a:latin typeface="Source Sans 3"/>
              <a:ea typeface="Source Sans 3"/>
              <a:cs typeface="Source Sans 3"/>
              <a:sym typeface="Source Sans 3"/>
            </a:endParaRPr>
          </a:p>
        </p:txBody>
      </p:sp>
      <p:sp>
        <p:nvSpPr>
          <p:cNvPr id="778" name="Google Shape;778;p24"/>
          <p:cNvSpPr/>
          <p:nvPr/>
        </p:nvSpPr>
        <p:spPr>
          <a:xfrm>
            <a:off x="6867525" y="5891890"/>
            <a:ext cx="4583100" cy="223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4B5A50"/>
              </a:buClr>
              <a:buSzPts val="1200"/>
              <a:buFont typeface="Source Sans 3"/>
              <a:buNone/>
            </a:pPr>
            <a:r>
              <a:rPr lang="en-US" sz="1200">
                <a:solidFill>
                  <a:srgbClr val="4B5A50"/>
                </a:solidFill>
                <a:latin typeface="Source Sans 3"/>
                <a:ea typeface="Source Sans 3"/>
                <a:cs typeface="Source Sans 3"/>
                <a:sym typeface="Source Sans 3"/>
              </a:rPr>
              <a:t>High- and low-cut counties rose together: the response was statewide.</a:t>
            </a:r>
            <a:endParaRPr b="0" i="0" sz="1200" u="none" cap="none" strike="noStrike">
              <a:solidFill>
                <a:schemeClr val="dk1"/>
              </a:solidFill>
              <a:latin typeface="Source Sans 3"/>
              <a:ea typeface="Source Sans 3"/>
              <a:cs typeface="Source Sans 3"/>
              <a:sym typeface="Source Sans 3"/>
            </a:endParaRPr>
          </a:p>
        </p:txBody>
      </p:sp>
      <p:sp>
        <p:nvSpPr>
          <p:cNvPr id="779" name="Google Shape;779;p24"/>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784" name="Shape 784"/>
        <p:cNvGrpSpPr/>
        <p:nvPr/>
      </p:nvGrpSpPr>
      <p:grpSpPr>
        <a:xfrm>
          <a:off x="0" y="0"/>
          <a:ext cx="0" cy="0"/>
          <a:chOff x="0" y="0"/>
          <a:chExt cx="0" cy="0"/>
        </a:xfrm>
      </p:grpSpPr>
      <p:sp>
        <p:nvSpPr>
          <p:cNvPr id="785" name="Google Shape;785;p25"/>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25"/>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A15 · Q5 tests: together or replace</a:t>
            </a:r>
            <a:endParaRPr b="0" i="0" sz="1300" u="none" cap="none" strike="noStrike">
              <a:solidFill>
                <a:schemeClr val="dk1"/>
              </a:solidFill>
              <a:latin typeface="Source Sans 3"/>
              <a:ea typeface="Source Sans 3"/>
              <a:cs typeface="Source Sans 3"/>
              <a:sym typeface="Source Sans 3"/>
            </a:endParaRPr>
          </a:p>
        </p:txBody>
      </p:sp>
      <p:sp>
        <p:nvSpPr>
          <p:cNvPr id="787" name="Google Shape;787;p25"/>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788" name="Google Shape;788;p25"/>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789" name="Google Shape;789;p25"/>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A15</a:t>
            </a:r>
            <a:endParaRPr b="0" i="0" sz="1400" u="none" cap="none" strike="noStrike">
              <a:solidFill>
                <a:schemeClr val="dk1"/>
              </a:solidFill>
              <a:latin typeface="Source Sans 3"/>
              <a:ea typeface="Source Sans 3"/>
              <a:cs typeface="Source Sans 3"/>
              <a:sym typeface="Source Sans 3"/>
            </a:endParaRPr>
          </a:p>
        </p:txBody>
      </p:sp>
      <p:sp>
        <p:nvSpPr>
          <p:cNvPr id="790" name="Google Shape;790;p25"/>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Across counties SNAP and shelves rise together; over time they substitute</a:t>
            </a:r>
            <a:endParaRPr sz="2100"/>
          </a:p>
        </p:txBody>
      </p:sp>
      <p:graphicFrame>
        <p:nvGraphicFramePr>
          <p:cNvPr id="791" name="Google Shape;791;p25"/>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2411225"/>
                <a:gridCol w="3945625"/>
                <a:gridCol w="460325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Specification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Result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Across counties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Log SNAP participation versus shelf rates per 1,000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 → +0.30% visits (p = .01), +0.30% individuals, +0.22% 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Over time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Statewide benefit per person; trend, CPI, season controlled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 lower benefit → +5% visits, +6% individuals, +3.5% 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Within county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County fixed effects, balanced versus all sites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Sign flips between samples: not interpreted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792" name="Google Shape;792;p25"/>
          <p:cNvSpPr/>
          <p:nvPr/>
        </p:nvSpPr>
        <p:spPr>
          <a:xfrm>
            <a:off x="609600" y="6286500"/>
            <a:ext cx="11301900" cy="216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Team notebook Q5_FINAL, sections 5–6 and 8</a:t>
            </a:r>
            <a:endParaRPr b="0" i="0" sz="1200" u="none" cap="none" strike="noStrike">
              <a:solidFill>
                <a:schemeClr val="dk1"/>
              </a:solidFill>
              <a:latin typeface="Source Sans 3"/>
              <a:ea typeface="Source Sans 3"/>
              <a:cs typeface="Source Sans 3"/>
              <a:sym typeface="Source Sans 3"/>
            </a:endParaRPr>
          </a:p>
        </p:txBody>
      </p:sp>
      <p:sp>
        <p:nvSpPr>
          <p:cNvPr id="793" name="Google Shape;793;p25"/>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4" name="Google Shape;794;p25"/>
          <p:cNvSpPr/>
          <p:nvPr/>
        </p:nvSpPr>
        <p:spPr>
          <a:xfrm>
            <a:off x="0" y="6803136"/>
            <a:ext cx="8481391"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795" name="Google Shape;795;p25"/>
          <p:cNvPicPr preferRelativeResize="0"/>
          <p:nvPr/>
        </p:nvPicPr>
        <p:blipFill>
          <a:blip r:embed="rId4">
            <a:alphaModFix/>
          </a:blip>
          <a:stretch>
            <a:fillRect/>
          </a:stretch>
        </p:blipFill>
        <p:spPr>
          <a:xfrm>
            <a:off x="7858527" y="3686323"/>
            <a:ext cx="3723874" cy="2548775"/>
          </a:xfrm>
          <a:prstGeom prst="rect">
            <a:avLst/>
          </a:prstGeom>
          <a:noFill/>
          <a:ln>
            <a:noFill/>
          </a:ln>
        </p:spPr>
      </p:pic>
      <p:graphicFrame>
        <p:nvGraphicFramePr>
          <p:cNvPr id="796" name="Google Shape;796;p25"/>
          <p:cNvGraphicFramePr/>
          <p:nvPr/>
        </p:nvGraphicFramePr>
        <p:xfrm>
          <a:off x="609600" y="3793715"/>
          <a:ext cx="3000000" cy="3000000"/>
        </p:xfrm>
        <a:graphic>
          <a:graphicData uri="http://schemas.openxmlformats.org/drawingml/2006/table">
            <a:tbl>
              <a:tblPr>
                <a:noFill/>
                <a:tableStyleId>{0CA31FF4-67A7-4FF6-983C-CC8DA9553499}</a:tableStyleId>
              </a:tblPr>
              <a:tblGrid>
                <a:gridCol w="1674350"/>
                <a:gridCol w="1674350"/>
              </a:tblGrid>
              <a:tr h="365175">
                <a:tc>
                  <a:txBody>
                    <a:bodyPr/>
                    <a:lstStyle/>
                    <a:p>
                      <a:pPr indent="0" lvl="0" marL="0" rtl="0" algn="l">
                        <a:spcBef>
                          <a:spcPts val="0"/>
                        </a:spcBef>
                        <a:spcAft>
                          <a:spcPts val="0"/>
                        </a:spcAft>
                        <a:buNone/>
                      </a:pPr>
                      <a:r>
                        <a:rPr b="1" lang="en-US" sz="1100">
                          <a:solidFill>
                            <a:srgbClr val="FFFFFF"/>
                          </a:solidFill>
                        </a:rPr>
                        <a:t>Test</a:t>
                      </a:r>
                      <a:endParaRPr b="1" sz="1100">
                        <a:solidFill>
                          <a:srgbClr val="FFFFFF"/>
                        </a:solidFill>
                      </a:endParaRPr>
                    </a:p>
                  </a:txBody>
                  <a:tcPr marT="91425" marB="91425" marR="91425" marL="91425">
                    <a:solidFill>
                      <a:schemeClr val="accent5"/>
                    </a:solidFill>
                  </a:tcPr>
                </a:tc>
                <a:tc>
                  <a:txBody>
                    <a:bodyPr/>
                    <a:lstStyle/>
                    <a:p>
                      <a:pPr indent="0" lvl="0" marL="0" rtl="0" algn="l">
                        <a:spcBef>
                          <a:spcPts val="0"/>
                        </a:spcBef>
                        <a:spcAft>
                          <a:spcPts val="0"/>
                        </a:spcAft>
                        <a:buNone/>
                      </a:pPr>
                      <a:r>
                        <a:rPr b="1" lang="en-US" sz="1100">
                          <a:solidFill>
                            <a:srgbClr val="FFFFFF"/>
                          </a:solidFill>
                        </a:rPr>
                        <a:t>Result</a:t>
                      </a:r>
                      <a:endParaRPr b="1" sz="1100">
                        <a:solidFill>
                          <a:srgbClr val="FFFFFF"/>
                        </a:solidFill>
                      </a:endParaRPr>
                    </a:p>
                  </a:txBody>
                  <a:tcPr marT="91425" marB="91425" marR="91425" marL="91425">
                    <a:solidFill>
                      <a:schemeClr val="accent5"/>
                    </a:solidFill>
                  </a:tcPr>
                </a:tc>
              </a:tr>
              <a:tr h="592325">
                <a:tc>
                  <a:txBody>
                    <a:bodyPr/>
                    <a:lstStyle/>
                    <a:p>
                      <a:pPr indent="0" lvl="0" marL="0" rtl="0" algn="l">
                        <a:spcBef>
                          <a:spcPts val="0"/>
                        </a:spcBef>
                        <a:spcAft>
                          <a:spcPts val="0"/>
                        </a:spcAft>
                        <a:buNone/>
                      </a:pPr>
                      <a:r>
                        <a:rPr lang="en-US" sz="1100"/>
                        <a:t>Metro vs. Greater MN interaction</a:t>
                      </a:r>
                      <a:endParaRPr sz="1100"/>
                    </a:p>
                  </a:txBody>
                  <a:tcPr marT="91425" marB="91425" marR="91425" marL="91425">
                    <a:solidFill>
                      <a:schemeClr val="lt2"/>
                    </a:solidFill>
                  </a:tcPr>
                </a:tc>
                <a:tc>
                  <a:txBody>
                    <a:bodyPr/>
                    <a:lstStyle/>
                    <a:p>
                      <a:pPr indent="0" lvl="0" marL="0" rtl="0" algn="l">
                        <a:spcBef>
                          <a:spcPts val="0"/>
                        </a:spcBef>
                        <a:spcAft>
                          <a:spcPts val="0"/>
                        </a:spcAft>
                        <a:buNone/>
                      </a:pPr>
                      <a:r>
                        <a:rPr lang="en-US" sz="1100"/>
                        <a:t>Not significant (p = 0.15 - 0.74)</a:t>
                      </a:r>
                      <a:endParaRPr sz="1100"/>
                    </a:p>
                  </a:txBody>
                  <a:tcPr marT="91425" marB="91425" marR="91425" marL="91425">
                    <a:solidFill>
                      <a:schemeClr val="lt2"/>
                    </a:solidFill>
                  </a:tcPr>
                </a:tc>
              </a:tr>
              <a:tr h="879175">
                <a:tc>
                  <a:txBody>
                    <a:bodyPr/>
                    <a:lstStyle/>
                    <a:p>
                      <a:pPr indent="0" lvl="0" marL="0" rtl="0" algn="l">
                        <a:spcBef>
                          <a:spcPts val="0"/>
                        </a:spcBef>
                        <a:spcAft>
                          <a:spcPts val="0"/>
                        </a:spcAft>
                        <a:buNone/>
                      </a:pPr>
                      <a:r>
                        <a:rPr lang="en-US" sz="1100"/>
                        <a:t>Dose-response: EA loss per resident ($3–$18)</a:t>
                      </a:r>
                      <a:endParaRPr sz="1100"/>
                    </a:p>
                  </a:txBody>
                  <a:tcPr marT="91425" marB="91425" marR="91425" marL="91425">
                    <a:solidFill>
                      <a:schemeClr val="lt1"/>
                    </a:solidFill>
                  </a:tcPr>
                </a:tc>
                <a:tc>
                  <a:txBody>
                    <a:bodyPr/>
                    <a:lstStyle/>
                    <a:p>
                      <a:pPr indent="0" lvl="0" marL="0" rtl="0" algn="l">
                        <a:spcBef>
                          <a:spcPts val="0"/>
                        </a:spcBef>
                        <a:spcAft>
                          <a:spcPts val="0"/>
                        </a:spcAft>
                        <a:buNone/>
                      </a:pPr>
                      <a:r>
                        <a:rPr lang="en-US" sz="1100"/>
                        <a:t>Coefficient ≈ 0 (+0.03 per $5, p = 0.71)</a:t>
                      </a:r>
                      <a:endParaRPr sz="1100"/>
                    </a:p>
                  </a:txBody>
                  <a:tcPr marT="91425" marB="91425" marR="91425" marL="91425">
                    <a:solidFill>
                      <a:schemeClr val="lt1"/>
                    </a:solidFill>
                  </a:tcPr>
                </a:tc>
              </a:tr>
              <a:tr h="592325">
                <a:tc>
                  <a:txBody>
                    <a:bodyPr/>
                    <a:lstStyle/>
                    <a:p>
                      <a:pPr indent="0" lvl="0" marL="0" rtl="0" algn="l">
                        <a:spcBef>
                          <a:spcPts val="0"/>
                        </a:spcBef>
                        <a:spcAft>
                          <a:spcPts val="0"/>
                        </a:spcAft>
                        <a:buNone/>
                      </a:pPr>
                      <a:r>
                        <a:rPr lang="en-US" sz="1100"/>
                        <a:t>Difference in slope by county size</a:t>
                      </a:r>
                      <a:endParaRPr sz="1100"/>
                    </a:p>
                  </a:txBody>
                  <a:tcPr marT="91425" marB="91425" marR="91425" marL="91425">
                    <a:solidFill>
                      <a:schemeClr val="lt2"/>
                    </a:solidFill>
                  </a:tcPr>
                </a:tc>
                <a:tc>
                  <a:txBody>
                    <a:bodyPr/>
                    <a:lstStyle/>
                    <a:p>
                      <a:pPr indent="0" lvl="0" marL="0" rtl="0" algn="l">
                        <a:spcBef>
                          <a:spcPts val="0"/>
                        </a:spcBef>
                        <a:spcAft>
                          <a:spcPts val="0"/>
                        </a:spcAft>
                        <a:buNone/>
                      </a:pPr>
                      <a:r>
                        <a:rPr lang="en-US" sz="1100"/>
                        <a:t>Not significant (p = 0.24 - 0.30)</a:t>
                      </a:r>
                      <a:endParaRPr sz="1100"/>
                    </a:p>
                  </a:txBody>
                  <a:tcPr marT="91425" marB="91425" marR="91425" marL="91425">
                    <a:solidFill>
                      <a:schemeClr val="lt2"/>
                    </a:solidFill>
                  </a:tcPr>
                </a:tc>
              </a:tr>
            </a:tbl>
          </a:graphicData>
        </a:graphic>
      </p:graphicFrame>
      <p:sp>
        <p:nvSpPr>
          <p:cNvPr id="797" name="Google Shape;797;p25"/>
          <p:cNvSpPr/>
          <p:nvPr/>
        </p:nvSpPr>
        <p:spPr>
          <a:xfrm>
            <a:off x="609604" y="3552975"/>
            <a:ext cx="2592300" cy="216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lang="en-US" sz="1300">
                <a:solidFill>
                  <a:srgbClr val="4B5A50"/>
                </a:solidFill>
                <a:latin typeface="Source Sans 3"/>
                <a:ea typeface="Source Sans 3"/>
                <a:cs typeface="Source Sans 3"/>
                <a:sym typeface="Source Sans 3"/>
              </a:rPr>
              <a:t>Same Response Statewide</a:t>
            </a:r>
            <a:endParaRPr b="1" i="0" sz="1300" u="none" cap="none" strike="noStrike">
              <a:solidFill>
                <a:schemeClr val="dk1"/>
              </a:solidFill>
              <a:latin typeface="Source Sans 3"/>
              <a:ea typeface="Source Sans 3"/>
              <a:cs typeface="Source Sans 3"/>
              <a:sym typeface="Source Sans 3"/>
            </a:endParaRPr>
          </a:p>
        </p:txBody>
      </p:sp>
      <p:graphicFrame>
        <p:nvGraphicFramePr>
          <p:cNvPr id="798" name="Google Shape;798;p25"/>
          <p:cNvGraphicFramePr/>
          <p:nvPr/>
        </p:nvGraphicFramePr>
        <p:xfrm>
          <a:off x="4130791" y="3806135"/>
          <a:ext cx="3000000" cy="3000000"/>
        </p:xfrm>
        <a:graphic>
          <a:graphicData uri="http://schemas.openxmlformats.org/drawingml/2006/table">
            <a:tbl>
              <a:tblPr>
                <a:noFill/>
                <a:tableStyleId>{0CA31FF4-67A7-4FF6-983C-CC8DA9553499}</a:tableStyleId>
              </a:tblPr>
              <a:tblGrid>
                <a:gridCol w="1175775"/>
                <a:gridCol w="1175775"/>
                <a:gridCol w="1175775"/>
              </a:tblGrid>
              <a:tr h="560550">
                <a:tc>
                  <a:txBody>
                    <a:bodyPr/>
                    <a:lstStyle/>
                    <a:p>
                      <a:pPr indent="0" lvl="0" marL="0" rtl="0" algn="l">
                        <a:spcBef>
                          <a:spcPts val="0"/>
                        </a:spcBef>
                        <a:spcAft>
                          <a:spcPts val="0"/>
                        </a:spcAft>
                        <a:buNone/>
                      </a:pPr>
                      <a:r>
                        <a:rPr b="1" lang="en-US" sz="1000">
                          <a:solidFill>
                            <a:srgbClr val="FFFFFF"/>
                          </a:solidFill>
                        </a:rPr>
                        <a:t>County Size</a:t>
                      </a:r>
                      <a:endParaRPr b="1" sz="1000">
                        <a:solidFill>
                          <a:srgbClr val="FFFFFF"/>
                        </a:solidFill>
                      </a:endParaRPr>
                    </a:p>
                  </a:txBody>
                  <a:tcPr marT="91425" marB="91425" marR="91425" marL="91425">
                    <a:solidFill>
                      <a:schemeClr val="accent5"/>
                    </a:solidFill>
                  </a:tcPr>
                </a:tc>
                <a:tc>
                  <a:txBody>
                    <a:bodyPr/>
                    <a:lstStyle/>
                    <a:p>
                      <a:pPr indent="0" lvl="0" marL="0" rtl="0" algn="l">
                        <a:spcBef>
                          <a:spcPts val="0"/>
                        </a:spcBef>
                        <a:spcAft>
                          <a:spcPts val="0"/>
                        </a:spcAft>
                        <a:buNone/>
                      </a:pPr>
                      <a:r>
                        <a:rPr b="1" lang="en-US" sz="1000">
                          <a:solidFill>
                            <a:srgbClr val="FFFFFF"/>
                          </a:solidFill>
                        </a:rPr>
                        <a:t>Loss per Capita (median/month)</a:t>
                      </a:r>
                      <a:endParaRPr b="1" sz="1000">
                        <a:solidFill>
                          <a:srgbClr val="FFFFFF"/>
                        </a:solidFill>
                      </a:endParaRPr>
                    </a:p>
                  </a:txBody>
                  <a:tcPr marT="91425" marB="91425" marR="91425" marL="91425">
                    <a:solidFill>
                      <a:schemeClr val="accent5"/>
                    </a:solidFill>
                  </a:tcPr>
                </a:tc>
                <a:tc>
                  <a:txBody>
                    <a:bodyPr/>
                    <a:lstStyle/>
                    <a:p>
                      <a:pPr indent="0" lvl="0" marL="0" rtl="0" algn="l">
                        <a:spcBef>
                          <a:spcPts val="0"/>
                        </a:spcBef>
                        <a:spcAft>
                          <a:spcPts val="0"/>
                        </a:spcAft>
                        <a:buNone/>
                      </a:pPr>
                      <a:r>
                        <a:rPr b="1" lang="en-US" sz="1000">
                          <a:solidFill>
                            <a:srgbClr val="FFFFFF"/>
                          </a:solidFill>
                        </a:rPr>
                        <a:t>Change in Visit Growth Rate</a:t>
                      </a:r>
                      <a:endParaRPr b="1" sz="1000">
                        <a:solidFill>
                          <a:srgbClr val="FFFFFF"/>
                        </a:solidFill>
                      </a:endParaRPr>
                    </a:p>
                  </a:txBody>
                  <a:tcPr marT="91425" marB="91425" marR="91425" marL="91425">
                    <a:solidFill>
                      <a:schemeClr val="accent5"/>
                    </a:solidFill>
                  </a:tcPr>
                </a:tc>
              </a:tr>
              <a:tr h="618675">
                <a:tc>
                  <a:txBody>
                    <a:bodyPr/>
                    <a:lstStyle/>
                    <a:p>
                      <a:pPr indent="0" lvl="0" marL="0" rtl="0" algn="l">
                        <a:spcBef>
                          <a:spcPts val="0"/>
                        </a:spcBef>
                        <a:spcAft>
                          <a:spcPts val="0"/>
                        </a:spcAft>
                        <a:buNone/>
                      </a:pPr>
                      <a:r>
                        <a:rPr lang="en-US" sz="1100"/>
                        <a:t>Small (&lt;20k)</a:t>
                      </a:r>
                      <a:endParaRPr sz="1100"/>
                    </a:p>
                  </a:txBody>
                  <a:tcPr marT="91425" marB="91425" marR="91425" marL="91425">
                    <a:solidFill>
                      <a:schemeClr val="lt2"/>
                    </a:solidFill>
                  </a:tcPr>
                </a:tc>
                <a:tc>
                  <a:txBody>
                    <a:bodyPr/>
                    <a:lstStyle/>
                    <a:p>
                      <a:pPr indent="0" lvl="0" marL="0" rtl="0" algn="l">
                        <a:spcBef>
                          <a:spcPts val="0"/>
                        </a:spcBef>
                        <a:spcAft>
                          <a:spcPts val="0"/>
                        </a:spcAft>
                        <a:buNone/>
                      </a:pPr>
                      <a:r>
                        <a:rPr lang="en-US" sz="1100"/>
                        <a:t>$9.90</a:t>
                      </a:r>
                      <a:endParaRPr sz="1100"/>
                    </a:p>
                  </a:txBody>
                  <a:tcPr marT="91425" marB="91425" marR="91425" marL="91425">
                    <a:solidFill>
                      <a:schemeClr val="lt2"/>
                    </a:solidFill>
                  </a:tcPr>
                </a:tc>
                <a:tc>
                  <a:txBody>
                    <a:bodyPr/>
                    <a:lstStyle/>
                    <a:p>
                      <a:pPr indent="0" lvl="0" marL="0" rtl="0" algn="l">
                        <a:spcBef>
                          <a:spcPts val="0"/>
                        </a:spcBef>
                        <a:spcAft>
                          <a:spcPts val="0"/>
                        </a:spcAft>
                        <a:buNone/>
                      </a:pPr>
                      <a:r>
                        <a:rPr lang="en-US" sz="1100"/>
                        <a:t>+16.5pp</a:t>
                      </a:r>
                      <a:endParaRPr sz="1100"/>
                    </a:p>
                  </a:txBody>
                  <a:tcPr marT="91425" marB="91425" marR="91425" marL="91425">
                    <a:solidFill>
                      <a:schemeClr val="lt2"/>
                    </a:solidFill>
                  </a:tcPr>
                </a:tc>
              </a:tr>
              <a:tr h="618675">
                <a:tc>
                  <a:txBody>
                    <a:bodyPr/>
                    <a:lstStyle/>
                    <a:p>
                      <a:pPr indent="0" lvl="0" marL="0" rtl="0" algn="l">
                        <a:spcBef>
                          <a:spcPts val="0"/>
                        </a:spcBef>
                        <a:spcAft>
                          <a:spcPts val="0"/>
                        </a:spcAft>
                        <a:buNone/>
                      </a:pPr>
                      <a:r>
                        <a:rPr lang="en-US" sz="1100"/>
                        <a:t>Mid (20k–100k)</a:t>
                      </a:r>
                      <a:endParaRPr sz="1100"/>
                    </a:p>
                  </a:txBody>
                  <a:tcPr marT="91425" marB="91425" marR="91425" marL="91425"/>
                </a:tc>
                <a:tc>
                  <a:txBody>
                    <a:bodyPr/>
                    <a:lstStyle/>
                    <a:p>
                      <a:pPr indent="0" lvl="0" marL="0" rtl="0" algn="l">
                        <a:spcBef>
                          <a:spcPts val="0"/>
                        </a:spcBef>
                        <a:spcAft>
                          <a:spcPts val="0"/>
                        </a:spcAft>
                        <a:buNone/>
                      </a:pPr>
                      <a:r>
                        <a:rPr lang="en-US" sz="1100"/>
                        <a:t>$8.93</a:t>
                      </a:r>
                      <a:endParaRPr sz="1100"/>
                    </a:p>
                  </a:txBody>
                  <a:tcPr marT="91425" marB="91425" marR="91425" marL="91425"/>
                </a:tc>
                <a:tc>
                  <a:txBody>
                    <a:bodyPr/>
                    <a:lstStyle/>
                    <a:p>
                      <a:pPr indent="0" lvl="0" marL="0" rtl="0" algn="l">
                        <a:spcBef>
                          <a:spcPts val="0"/>
                        </a:spcBef>
                        <a:spcAft>
                          <a:spcPts val="0"/>
                        </a:spcAft>
                        <a:buNone/>
                      </a:pPr>
                      <a:r>
                        <a:rPr lang="en-US" sz="1100"/>
                        <a:t>+7.3pp</a:t>
                      </a:r>
                      <a:endParaRPr sz="1100"/>
                    </a:p>
                  </a:txBody>
                  <a:tcPr marT="91425" marB="91425" marR="91425" marL="91425"/>
                </a:tc>
              </a:tr>
              <a:tr h="618675">
                <a:tc>
                  <a:txBody>
                    <a:bodyPr/>
                    <a:lstStyle/>
                    <a:p>
                      <a:pPr indent="0" lvl="0" marL="0" rtl="0" algn="l">
                        <a:spcBef>
                          <a:spcPts val="0"/>
                        </a:spcBef>
                        <a:spcAft>
                          <a:spcPts val="0"/>
                        </a:spcAft>
                        <a:buNone/>
                      </a:pPr>
                      <a:r>
                        <a:rPr lang="en-US" sz="1100"/>
                        <a:t>Large (≥100k)</a:t>
                      </a:r>
                      <a:endParaRPr sz="1100"/>
                    </a:p>
                  </a:txBody>
                  <a:tcPr marT="91425" marB="91425" marR="91425" marL="91425">
                    <a:solidFill>
                      <a:schemeClr val="lt2"/>
                    </a:solidFill>
                  </a:tcPr>
                </a:tc>
                <a:tc>
                  <a:txBody>
                    <a:bodyPr/>
                    <a:lstStyle/>
                    <a:p>
                      <a:pPr indent="0" lvl="0" marL="0" rtl="0" algn="l">
                        <a:spcBef>
                          <a:spcPts val="0"/>
                        </a:spcBef>
                        <a:spcAft>
                          <a:spcPts val="0"/>
                        </a:spcAft>
                        <a:buNone/>
                      </a:pPr>
                      <a:r>
                        <a:rPr lang="en-US" sz="1100"/>
                        <a:t>$6.19</a:t>
                      </a:r>
                      <a:endParaRPr sz="1100"/>
                    </a:p>
                  </a:txBody>
                  <a:tcPr marT="91425" marB="91425" marR="91425" marL="91425">
                    <a:solidFill>
                      <a:schemeClr val="lt2"/>
                    </a:solidFill>
                  </a:tcPr>
                </a:tc>
                <a:tc>
                  <a:txBody>
                    <a:bodyPr/>
                    <a:lstStyle/>
                    <a:p>
                      <a:pPr indent="0" lvl="0" marL="0" rtl="0" algn="l">
                        <a:spcBef>
                          <a:spcPts val="0"/>
                        </a:spcBef>
                        <a:spcAft>
                          <a:spcPts val="0"/>
                        </a:spcAft>
                        <a:buNone/>
                      </a:pPr>
                      <a:r>
                        <a:rPr lang="en-US" sz="1100"/>
                        <a:t>+10.3pp</a:t>
                      </a:r>
                      <a:endParaRPr sz="1100"/>
                    </a:p>
                  </a:txBody>
                  <a:tcPr marT="91425" marB="91425" marR="91425" marL="91425">
                    <a:solidFill>
                      <a:schemeClr val="lt2"/>
                    </a:solidFill>
                  </a:tcPr>
                </a:tc>
              </a:tr>
            </a:tbl>
          </a:graphicData>
        </a:graphic>
      </p:graphicFrame>
      <p:sp>
        <p:nvSpPr>
          <p:cNvPr id="799" name="Google Shape;799;p25"/>
          <p:cNvSpPr/>
          <p:nvPr/>
        </p:nvSpPr>
        <p:spPr>
          <a:xfrm>
            <a:off x="4130790" y="3565400"/>
            <a:ext cx="2977200" cy="223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lang="en-US" sz="1300">
                <a:solidFill>
                  <a:srgbClr val="4B5A50"/>
                </a:solidFill>
                <a:latin typeface="Source Sans 3"/>
                <a:ea typeface="Source Sans 3"/>
                <a:cs typeface="Source Sans 3"/>
                <a:sym typeface="Source Sans 3"/>
              </a:rPr>
              <a:t>Rural Counties Lose Most per Resident</a:t>
            </a:r>
            <a:endParaRPr b="1" i="0" sz="1300" u="none" cap="none" strike="noStrike">
              <a:solidFill>
                <a:schemeClr val="dk1"/>
              </a:solidFill>
              <a:latin typeface="Source Sans 3"/>
              <a:ea typeface="Source Sans 3"/>
              <a:cs typeface="Source Sans 3"/>
              <a:sym typeface="Source Sans 3"/>
            </a:endParaRPr>
          </a:p>
        </p:txBody>
      </p:sp>
      <p:sp>
        <p:nvSpPr>
          <p:cNvPr id="800" name="Google Shape;800;p25"/>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05" name="Shape 805"/>
        <p:cNvGrpSpPr/>
        <p:nvPr/>
      </p:nvGrpSpPr>
      <p:grpSpPr>
        <a:xfrm>
          <a:off x="0" y="0"/>
          <a:ext cx="0" cy="0"/>
          <a:chOff x="0" y="0"/>
          <a:chExt cx="0" cy="0"/>
        </a:xfrm>
      </p:grpSpPr>
      <p:sp>
        <p:nvSpPr>
          <p:cNvPr id="806" name="Google Shape;806;p26"/>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26"/>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A16 · Q5 tests: shock, locations</a:t>
            </a:r>
            <a:endParaRPr b="0" i="0" sz="1300" u="none" cap="none" strike="noStrike">
              <a:solidFill>
                <a:schemeClr val="dk1"/>
              </a:solidFill>
              <a:latin typeface="Source Sans 3"/>
              <a:ea typeface="Source Sans 3"/>
              <a:cs typeface="Source Sans 3"/>
              <a:sym typeface="Source Sans 3"/>
            </a:endParaRPr>
          </a:p>
        </p:txBody>
      </p:sp>
      <p:sp>
        <p:nvSpPr>
          <p:cNvPr id="808" name="Google Shape;808;p26"/>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09" name="Google Shape;809;p26"/>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10" name="Google Shape;810;p26"/>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A16</a:t>
            </a:r>
            <a:endParaRPr b="0" i="0" sz="1400" u="none" cap="none" strike="noStrike">
              <a:solidFill>
                <a:schemeClr val="dk1"/>
              </a:solidFill>
              <a:latin typeface="Source Sans 3"/>
              <a:ea typeface="Source Sans 3"/>
              <a:cs typeface="Source Sans 3"/>
              <a:sym typeface="Source Sans 3"/>
            </a:endParaRPr>
          </a:p>
        </p:txBody>
      </p:sp>
      <p:sp>
        <p:nvSpPr>
          <p:cNvPr id="811" name="Google Shape;811;p26"/>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Placebo picks </a:t>
            </a:r>
            <a:r>
              <a:rPr b="1" i="0" lang="en-US" sz="2100">
                <a:solidFill>
                  <a:srgbClr val="B5501F"/>
                </a:solidFill>
                <a:latin typeface="Source Serif 4"/>
                <a:ea typeface="Source Serif 4"/>
                <a:cs typeface="Source Serif 4"/>
                <a:sym typeface="Source Serif 4"/>
              </a:rPr>
              <a:t>spring 2023</a:t>
            </a:r>
            <a:r>
              <a:rPr b="1" i="0" lang="en-US" sz="2100">
                <a:solidFill>
                  <a:srgbClr val="1F3B2D"/>
                </a:solidFill>
                <a:latin typeface="Source Serif 4"/>
                <a:ea typeface="Source Serif 4"/>
                <a:cs typeface="Source Serif 4"/>
                <a:sym typeface="Source Serif 4"/>
              </a:rPr>
              <a:t> as the break; </a:t>
            </a:r>
            <a:r>
              <a:rPr b="1" i="0" lang="en-US" sz="2100">
                <a:solidFill>
                  <a:srgbClr val="1F3B2D"/>
                </a:solidFill>
                <a:latin typeface="Source Serif 4"/>
                <a:ea typeface="Source Serif 4"/>
                <a:cs typeface="Source Serif 4"/>
                <a:sym typeface="Source Serif 4"/>
              </a:rPr>
              <a:t>small counties </a:t>
            </a:r>
            <a:r>
              <a:rPr b="1" lang="en-US"/>
              <a:t>lose most per resident</a:t>
            </a:r>
            <a:endParaRPr sz="2100"/>
          </a:p>
        </p:txBody>
      </p:sp>
      <p:graphicFrame>
        <p:nvGraphicFramePr>
          <p:cNvPr id="812" name="Google Shape;812;p26"/>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2411225"/>
                <a:gridCol w="3945625"/>
                <a:gridCol w="4603250"/>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Specification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Result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5943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Benefit change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Interrupted time series at the April 2023 end of emergency allotments, CPI-controlled</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Visits +18–26%, individuals +26–30%, pounds +14–18%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Placebo</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Try a break at every month, mid-2022 to mid-2025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Best four fits: March–June 2023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Dose-response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Emergency-allotment dollars lost per resident ($3 to $18)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About 0 (p = .71): the rise was statewide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Locations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Metro interactions; small, mid, large counties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No metro gap (p .15–.74); small counties hit hardest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813" name="Google Shape;813;p26"/>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Minnesota DCYF SNAP dashboard (county × month, lag ≈ 1 month) · Team notebook Q5_FINAL</a:t>
            </a:r>
            <a:endParaRPr b="0" i="0" sz="1200" u="none" cap="none" strike="noStrike">
              <a:solidFill>
                <a:schemeClr val="dk1"/>
              </a:solidFill>
              <a:latin typeface="Source Sans 3"/>
              <a:ea typeface="Source Sans 3"/>
              <a:cs typeface="Source Sans 3"/>
              <a:sym typeface="Source Sans 3"/>
            </a:endParaRPr>
          </a:p>
        </p:txBody>
      </p:sp>
      <p:sp>
        <p:nvSpPr>
          <p:cNvPr id="814" name="Google Shape;814;p26"/>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5" name="Google Shape;815;p26"/>
          <p:cNvSpPr/>
          <p:nvPr/>
        </p:nvSpPr>
        <p:spPr>
          <a:xfrm>
            <a:off x="0" y="6803136"/>
            <a:ext cx="9011478"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6" name="Google Shape;816;p26"/>
          <p:cNvSpPr/>
          <p:nvPr/>
        </p:nvSpPr>
        <p:spPr>
          <a:xfrm>
            <a:off x="609675" y="3943888"/>
            <a:ext cx="6992100" cy="2133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1" lang="en-US" sz="1200">
                <a:solidFill>
                  <a:srgbClr val="4B5A50"/>
                </a:solidFill>
                <a:latin typeface="Source Sans 3"/>
                <a:ea typeface="Source Sans 3"/>
                <a:cs typeface="Source Sans 3"/>
                <a:sym typeface="Source Sans 3"/>
              </a:rPr>
              <a:t>&lt;Prediction vs. Actual Chart&gt;</a:t>
            </a:r>
            <a:endParaRPr b="1" sz="1200">
              <a:solidFill>
                <a:srgbClr val="4B5A50"/>
              </a:solidFill>
              <a:latin typeface="Source Sans 3"/>
              <a:ea typeface="Source Sans 3"/>
              <a:cs typeface="Source Sans 3"/>
              <a:sym typeface="Source Sans 3"/>
            </a:endParaRPr>
          </a:p>
          <a:p>
            <a:pPr indent="0" lvl="0" marL="0" marR="0" rtl="0" algn="l">
              <a:lnSpc>
                <a:spcPct val="125000"/>
              </a:lnSpc>
              <a:spcBef>
                <a:spcPts val="0"/>
              </a:spcBef>
              <a:spcAft>
                <a:spcPts val="0"/>
              </a:spcAft>
              <a:buClr>
                <a:srgbClr val="4B5A50"/>
              </a:buClr>
              <a:buSzPts val="1200"/>
              <a:buFont typeface="Source Sans 3"/>
              <a:buNone/>
            </a:pPr>
            <a:r>
              <a:rPr b="1" lang="en-US" sz="1200">
                <a:solidFill>
                  <a:srgbClr val="4B5A50"/>
                </a:solidFill>
                <a:latin typeface="Source Sans 3"/>
                <a:ea typeface="Source Sans 3"/>
                <a:cs typeface="Source Sans 3"/>
                <a:sym typeface="Source Sans 3"/>
              </a:rPr>
              <a:t>Monthly visits</a:t>
            </a:r>
            <a:r>
              <a:rPr lang="en-US" sz="1200">
                <a:solidFill>
                  <a:srgbClr val="4B5A50"/>
                </a:solidFill>
                <a:latin typeface="Source Sans 3"/>
                <a:ea typeface="Source Sans 3"/>
                <a:cs typeface="Source Sans 3"/>
                <a:sym typeface="Source Sans 3"/>
              </a:rPr>
              <a:t> from a balanced panel of 361 sites (reporting in over 90% of months) were aggregated statewide </a:t>
            </a:r>
            <a:r>
              <a:rPr b="1" lang="en-US" sz="1200">
                <a:solidFill>
                  <a:srgbClr val="4B5A50"/>
                </a:solidFill>
                <a:latin typeface="Source Sans 3"/>
                <a:ea typeface="Source Sans 3"/>
                <a:cs typeface="Source Sans 3"/>
                <a:sym typeface="Source Sans 3"/>
              </a:rPr>
              <a:t>+</a:t>
            </a:r>
            <a:r>
              <a:rPr lang="en-US" sz="1200">
                <a:solidFill>
                  <a:srgbClr val="4B5A50"/>
                </a:solidFill>
                <a:latin typeface="Source Sans 3"/>
                <a:ea typeface="Source Sans 3"/>
                <a:cs typeface="Source Sans 3"/>
                <a:sym typeface="Source Sans 3"/>
              </a:rPr>
              <a:t> The Midwest food-at-home </a:t>
            </a:r>
            <a:r>
              <a:rPr b="1" lang="en-US" sz="1200">
                <a:solidFill>
                  <a:srgbClr val="4B5A50"/>
                </a:solidFill>
                <a:latin typeface="Source Sans 3"/>
                <a:ea typeface="Source Sans 3"/>
                <a:cs typeface="Source Sans 3"/>
                <a:sym typeface="Source Sans 3"/>
              </a:rPr>
              <a:t>CPI</a:t>
            </a:r>
            <a:r>
              <a:rPr lang="en-US" sz="1200">
                <a:solidFill>
                  <a:srgbClr val="4B5A50"/>
                </a:solidFill>
                <a:latin typeface="Source Sans 3"/>
                <a:ea typeface="Source Sans 3"/>
                <a:cs typeface="Source Sans 3"/>
                <a:sym typeface="Source Sans 3"/>
              </a:rPr>
              <a:t> was added; Period: Jan 2022 – July 2026</a:t>
            </a:r>
            <a:endParaRPr sz="1200">
              <a:solidFill>
                <a:srgbClr val="4B5A50"/>
              </a:solidFill>
              <a:latin typeface="Source Sans 3"/>
              <a:ea typeface="Source Sans 3"/>
              <a:cs typeface="Source Sans 3"/>
              <a:sym typeface="Source Sans 3"/>
            </a:endParaRPr>
          </a:p>
          <a:p>
            <a:pPr indent="0" lvl="0" marL="0" marR="0" rtl="0" algn="l">
              <a:lnSpc>
                <a:spcPct val="125000"/>
              </a:lnSpc>
              <a:spcBef>
                <a:spcPts val="0"/>
              </a:spcBef>
              <a:spcAft>
                <a:spcPts val="0"/>
              </a:spcAft>
              <a:buClr>
                <a:srgbClr val="4B5A50"/>
              </a:buClr>
              <a:buSzPts val="1200"/>
              <a:buFont typeface="Source Sans 3"/>
              <a:buNone/>
            </a:pPr>
            <a:r>
              <a:rPr b="1" lang="en-US" sz="1200">
                <a:solidFill>
                  <a:srgbClr val="4B5A50"/>
                </a:solidFill>
                <a:latin typeface="Source Sans 3"/>
                <a:ea typeface="Source Sans 3"/>
                <a:cs typeface="Source Sans 3"/>
                <a:sym typeface="Source Sans 3"/>
              </a:rPr>
              <a:t>Model (Interrupted Time Series):</a:t>
            </a:r>
            <a:r>
              <a:rPr lang="en-US" sz="1200">
                <a:solidFill>
                  <a:srgbClr val="4B5A50"/>
                </a:solidFill>
                <a:latin typeface="Source Sans 3"/>
                <a:ea typeface="Source Sans 3"/>
                <a:cs typeface="Source Sans 3"/>
                <a:sym typeface="Source Sans 3"/>
              </a:rPr>
              <a:t> ln(visits) = trend(t) + EA termination dummy (1 for April 2023 onwards) + ln(CPI) + month dummies (seasonality); HAC standard errors.</a:t>
            </a:r>
            <a:endParaRPr sz="1200">
              <a:solidFill>
                <a:srgbClr val="4B5A50"/>
              </a:solidFill>
              <a:latin typeface="Source Sans 3"/>
              <a:ea typeface="Source Sans 3"/>
              <a:cs typeface="Source Sans 3"/>
              <a:sym typeface="Source Sans 3"/>
            </a:endParaRPr>
          </a:p>
          <a:p>
            <a:pPr indent="-304800" lvl="0" marL="457200" marR="0" rtl="0" algn="l">
              <a:lnSpc>
                <a:spcPct val="125000"/>
              </a:lnSpc>
              <a:spcBef>
                <a:spcPts val="0"/>
              </a:spcBef>
              <a:spcAft>
                <a:spcPts val="0"/>
              </a:spcAft>
              <a:buClr>
                <a:srgbClr val="4B5A50"/>
              </a:buClr>
              <a:buSzPts val="1200"/>
              <a:buFont typeface="Source Sans 3"/>
              <a:buChar char="●"/>
            </a:pPr>
            <a:r>
              <a:rPr b="1" lang="en-US" sz="1200">
                <a:solidFill>
                  <a:srgbClr val="4B5A50"/>
                </a:solidFill>
                <a:latin typeface="Source Sans 3"/>
                <a:ea typeface="Source Sans 3"/>
                <a:cs typeface="Source Sans 3"/>
                <a:sym typeface="Source Sans 3"/>
              </a:rPr>
              <a:t>Solid line:</a:t>
            </a:r>
            <a:r>
              <a:rPr lang="en-US" sz="1200">
                <a:solidFill>
                  <a:srgbClr val="4B5A50"/>
                </a:solidFill>
                <a:latin typeface="Source Sans 3"/>
                <a:ea typeface="Source Sans 3"/>
                <a:cs typeface="Source Sans 3"/>
                <a:sym typeface="Source Sans 3"/>
              </a:rPr>
              <a:t> Actual visits.</a:t>
            </a:r>
            <a:endParaRPr sz="1200">
              <a:solidFill>
                <a:srgbClr val="4B5A50"/>
              </a:solidFill>
              <a:latin typeface="Source Sans 3"/>
              <a:ea typeface="Source Sans 3"/>
              <a:cs typeface="Source Sans 3"/>
              <a:sym typeface="Source Sans 3"/>
            </a:endParaRPr>
          </a:p>
          <a:p>
            <a:pPr indent="-304800" lvl="0" marL="457200" marR="0" rtl="0" algn="l">
              <a:lnSpc>
                <a:spcPct val="125000"/>
              </a:lnSpc>
              <a:spcBef>
                <a:spcPts val="0"/>
              </a:spcBef>
              <a:spcAft>
                <a:spcPts val="0"/>
              </a:spcAft>
              <a:buClr>
                <a:srgbClr val="4B5A50"/>
              </a:buClr>
              <a:buSzPts val="1200"/>
              <a:buFont typeface="Source Sans 3"/>
              <a:buChar char="●"/>
            </a:pPr>
            <a:r>
              <a:rPr b="1" lang="en-US" sz="1200">
                <a:solidFill>
                  <a:srgbClr val="4B5A50"/>
                </a:solidFill>
                <a:latin typeface="Source Sans 3"/>
                <a:ea typeface="Source Sans 3"/>
                <a:cs typeface="Source Sans 3"/>
                <a:sym typeface="Source Sans 3"/>
              </a:rPr>
              <a:t>Dashed line:</a:t>
            </a:r>
            <a:r>
              <a:rPr lang="en-US" sz="1200">
                <a:solidFill>
                  <a:srgbClr val="4B5A50"/>
                </a:solidFill>
                <a:latin typeface="Source Sans 3"/>
                <a:ea typeface="Source Sans 3"/>
                <a:cs typeface="Source Sans 3"/>
                <a:sym typeface="Source Sans 3"/>
              </a:rPr>
              <a:t> Predicted values ​​from the same model with the EA dummy set to 0 (while retaining the trend, actual price levels, and seasonality). → the trajectory "had there been no SNAP reduction."</a:t>
            </a:r>
            <a:endParaRPr sz="1200">
              <a:solidFill>
                <a:srgbClr val="4B5A50"/>
              </a:solidFill>
              <a:latin typeface="Source Sans 3"/>
              <a:ea typeface="Source Sans 3"/>
              <a:cs typeface="Source Sans 3"/>
              <a:sym typeface="Source Sans 3"/>
            </a:endParaRPr>
          </a:p>
          <a:p>
            <a:pPr indent="-304800" lvl="0" marL="457200" marR="0" rtl="0" algn="l">
              <a:lnSpc>
                <a:spcPct val="125000"/>
              </a:lnSpc>
              <a:spcBef>
                <a:spcPts val="0"/>
              </a:spcBef>
              <a:spcAft>
                <a:spcPts val="0"/>
              </a:spcAft>
              <a:buClr>
                <a:srgbClr val="4B5A50"/>
              </a:buClr>
              <a:buSzPts val="1200"/>
              <a:buFont typeface="Source Sans 3"/>
              <a:buChar char="●"/>
            </a:pPr>
            <a:r>
              <a:rPr b="1" lang="en-US" sz="1200">
                <a:solidFill>
                  <a:srgbClr val="4B5A50"/>
                </a:solidFill>
                <a:latin typeface="Source Sans 3"/>
                <a:ea typeface="Source Sans 3"/>
                <a:cs typeface="Source Sans 3"/>
                <a:sym typeface="Source Sans 3"/>
              </a:rPr>
              <a:t>Index:</a:t>
            </a:r>
            <a:r>
              <a:rPr lang="en-US" sz="1200">
                <a:solidFill>
                  <a:srgbClr val="4B5A50"/>
                </a:solidFill>
                <a:latin typeface="Source Sans 3"/>
                <a:ea typeface="Source Sans 3"/>
                <a:cs typeface="Source Sans 3"/>
                <a:sym typeface="Source Sans 3"/>
              </a:rPr>
              <a:t> each month ÷ 2022 monthly average × 100; households ≈ 28% of published visits </a:t>
            </a:r>
            <a:br>
              <a:rPr lang="en-US" sz="1200">
                <a:solidFill>
                  <a:srgbClr val="4B5A50"/>
                </a:solidFill>
                <a:latin typeface="Source Sans 3"/>
                <a:ea typeface="Source Sans 3"/>
                <a:cs typeface="Source Sans 3"/>
                <a:sym typeface="Source Sans 3"/>
              </a:rPr>
            </a:br>
            <a:r>
              <a:rPr lang="en-US" sz="1000">
                <a:solidFill>
                  <a:srgbClr val="4B5A50"/>
                </a:solidFill>
                <a:latin typeface="Source Sans 3"/>
                <a:ea typeface="Source Sans 3"/>
                <a:cs typeface="Source Sans 3"/>
                <a:sym typeface="Source Sans 3"/>
              </a:rPr>
              <a:t>(show change, not levels)</a:t>
            </a:r>
            <a:endParaRPr sz="1000">
              <a:solidFill>
                <a:srgbClr val="4B5A50"/>
              </a:solidFill>
              <a:latin typeface="Source Sans 3"/>
              <a:ea typeface="Source Sans 3"/>
              <a:cs typeface="Source Sans 3"/>
              <a:sym typeface="Source Sans 3"/>
            </a:endParaRPr>
          </a:p>
        </p:txBody>
      </p:sp>
      <p:pic>
        <p:nvPicPr>
          <p:cNvPr id="817" name="Google Shape;817;p26"/>
          <p:cNvPicPr preferRelativeResize="0"/>
          <p:nvPr/>
        </p:nvPicPr>
        <p:blipFill>
          <a:blip r:embed="rId4">
            <a:alphaModFix/>
          </a:blip>
          <a:stretch>
            <a:fillRect/>
          </a:stretch>
        </p:blipFill>
        <p:spPr>
          <a:xfrm>
            <a:off x="7658102" y="3906100"/>
            <a:ext cx="3924299" cy="2551040"/>
          </a:xfrm>
          <a:prstGeom prst="rect">
            <a:avLst/>
          </a:prstGeom>
          <a:noFill/>
          <a:ln>
            <a:noFill/>
          </a:ln>
        </p:spPr>
      </p:pic>
      <p:sp>
        <p:nvSpPr>
          <p:cNvPr id="818" name="Google Shape;818;p26"/>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23" name="Shape 823"/>
        <p:cNvGrpSpPr/>
        <p:nvPr/>
      </p:nvGrpSpPr>
      <p:grpSpPr>
        <a:xfrm>
          <a:off x="0" y="0"/>
          <a:ext cx="0" cy="0"/>
          <a:chOff x="0" y="0"/>
          <a:chExt cx="0" cy="0"/>
        </a:xfrm>
      </p:grpSpPr>
      <p:sp>
        <p:nvSpPr>
          <p:cNvPr id="824" name="Google Shape;824;p27"/>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27"/>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A17 · Q7 model and holdout</a:t>
            </a:r>
            <a:endParaRPr b="0" i="0" sz="1300" u="none" cap="none" strike="noStrike">
              <a:solidFill>
                <a:schemeClr val="dk1"/>
              </a:solidFill>
              <a:latin typeface="Source Sans 3"/>
              <a:ea typeface="Source Sans 3"/>
              <a:cs typeface="Source Sans 3"/>
              <a:sym typeface="Source Sans 3"/>
            </a:endParaRPr>
          </a:p>
        </p:txBody>
      </p:sp>
      <p:sp>
        <p:nvSpPr>
          <p:cNvPr id="826" name="Google Shape;826;p27"/>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27" name="Google Shape;827;p27"/>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28" name="Google Shape;828;p27"/>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A17</a:t>
            </a:r>
            <a:endParaRPr b="0" i="0" sz="1400" u="none" cap="none" strike="noStrike">
              <a:solidFill>
                <a:schemeClr val="dk1"/>
              </a:solidFill>
              <a:latin typeface="Source Sans 3"/>
              <a:ea typeface="Source Sans 3"/>
              <a:cs typeface="Source Sans 3"/>
              <a:sym typeface="Source Sans 3"/>
            </a:endParaRPr>
          </a:p>
        </p:txBody>
      </p:sp>
      <p:sp>
        <p:nvSpPr>
          <p:cNvPr id="829" name="Google Shape;829;p27"/>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Unemployment model won selection, then lost the holdout (</a:t>
            </a:r>
            <a:r>
              <a:rPr b="1" i="0" lang="en-US" sz="2100">
                <a:solidFill>
                  <a:srgbClr val="B5501F"/>
                </a:solidFill>
                <a:latin typeface="Source Serif 4"/>
                <a:ea typeface="Source Serif 4"/>
                <a:cs typeface="Source Serif 4"/>
                <a:sym typeface="Source Serif 4"/>
              </a:rPr>
              <a:t>824 versus 500</a:t>
            </a:r>
            <a:r>
              <a:rPr b="1" i="0" lang="en-US" sz="2100">
                <a:solidFill>
                  <a:srgbClr val="1F3B2D"/>
                </a:solidFill>
                <a:latin typeface="Source Serif 4"/>
                <a:ea typeface="Source Serif 4"/>
                <a:cs typeface="Source Serif 4"/>
                <a:sym typeface="Source Serif 4"/>
              </a:rPr>
              <a:t>)</a:t>
            </a:r>
            <a:endParaRPr sz="2100"/>
          </a:p>
        </p:txBody>
      </p:sp>
      <p:graphicFrame>
        <p:nvGraphicFramePr>
          <p:cNvPr id="830" name="Google Shape;830;p27"/>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1424825"/>
                <a:gridCol w="2192025"/>
                <a:gridCol w="2192025"/>
                <a:gridCol w="1096000"/>
                <a:gridCol w="1205600"/>
                <a:gridCol w="2849625"/>
              </a:tblGrid>
              <a:tr h="362425">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Target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Selection error</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2025 holdout error</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000" u="none" cap="none" strike="noStrike">
                          <a:solidFill>
                            <a:srgbClr val="FFFFFF"/>
                          </a:solidFill>
                          <a:latin typeface="Source Sans 3"/>
                          <a:ea typeface="Source Sans 3"/>
                          <a:cs typeface="Source Sans 3"/>
                          <a:sym typeface="Source Sans 3"/>
                        </a:rPr>
                        <a:t>% error</a:t>
                      </a:r>
                      <a:endParaRPr sz="10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ctr">
                        <a:lnSpc>
                          <a:spcPct val="115000"/>
                        </a:lnSpc>
                        <a:spcBef>
                          <a:spcPts val="0"/>
                        </a:spcBef>
                        <a:spcAft>
                          <a:spcPts val="0"/>
                        </a:spcAft>
                        <a:buClr>
                          <a:srgbClr val="FFFFFF"/>
                        </a:buClr>
                        <a:buSzPts val="1300"/>
                        <a:buFont typeface="Source Sans 3"/>
                        <a:buNone/>
                      </a:pPr>
                      <a:r>
                        <a:rPr b="1" lang="en-US" sz="1200" u="none" cap="none" strike="noStrike">
                          <a:solidFill>
                            <a:srgbClr val="FFFFFF"/>
                          </a:solidFill>
                          <a:latin typeface="Source Sans 3"/>
                          <a:ea typeface="Source Sans 3"/>
                          <a:cs typeface="Source Sans 3"/>
                          <a:sym typeface="Source Sans 3"/>
                        </a:rPr>
                        <a:t>Range hit</a:t>
                      </a:r>
                      <a:endParaRPr sz="12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100" u="none" cap="none" strike="noStrike">
                          <a:solidFill>
                            <a:srgbClr val="FFFFFF"/>
                          </a:solidFill>
                          <a:latin typeface="Source Sans 3"/>
                          <a:ea typeface="Source Sans 3"/>
                          <a:cs typeface="Source Sans 3"/>
                          <a:sym typeface="Source Sans 3"/>
                        </a:rPr>
                        <a:t>August 2026 forecast (past range)</a:t>
                      </a:r>
                      <a:endParaRPr sz="11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Visits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902 / 676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500 / 824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88%</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236,148 (229,000–263,000)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Pounds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46,950 / 47,299</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61,245 / 59,372</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11.1%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12.26 million (12.47–13.70 million)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Children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1,331 / 1,093</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269 / 615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77%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258,020 (260,000–294,000)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Adults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1,584 / 1,320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525 / 1,095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4.5%</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386,891 (377,000–434,000)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62425">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Seniors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257 / 214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392 / 340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8.7%</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85,216 (85,000–94,000)</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2BCB1"/>
                      </a:solidFill>
                      <a:prstDash val="solid"/>
                      <a:round/>
                      <a:headEnd len="sm" w="sm" type="none"/>
                      <a:tailEnd len="sm" w="sm" type="none"/>
                    </a:lnB>
                    <a:solidFill>
                      <a:srgbClr val="FFFDF8"/>
                    </a:solidFill>
                  </a:tcPr>
                </a:tc>
              </a:tr>
              <a:tr h="362425">
                <a:tc>
                  <a:txBody>
                    <a:bodyPr/>
                    <a:lstStyle/>
                    <a:p>
                      <a:pPr indent="0" lvl="0" marL="0" marR="0" rtl="0" algn="l">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Individuals</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3,030 / 2,462</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575 / 1,541</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3.3%</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81%</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000000"/>
                        </a:buClr>
                        <a:buSzPts val="1300"/>
                        <a:buFont typeface="Arial"/>
                        <a:buNone/>
                      </a:pPr>
                      <a:r>
                        <a:rPr lang="en-US" sz="1300" u="none" cap="none" strike="noStrike">
                          <a:solidFill>
                            <a:srgbClr val="1F3B2D"/>
                          </a:solidFill>
                          <a:latin typeface="Source Sans 3"/>
                          <a:ea typeface="Source Sans 3"/>
                          <a:cs typeface="Source Sans 3"/>
                          <a:sym typeface="Source Sans 3"/>
                        </a:rPr>
                        <a:t>730,121 (723,000–822,000)</a:t>
                      </a:r>
                      <a:endParaRPr sz="1300" u="none" cap="none" strike="noStrike">
                        <a:solidFill>
                          <a:srgbClr val="1F3B2D"/>
                        </a:solidFill>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bl>
          </a:graphicData>
        </a:graphic>
      </p:graphicFrame>
      <p:sp>
        <p:nvSpPr>
          <p:cNvPr id="831" name="Google Shape;831;p27"/>
          <p:cNvSpPr/>
          <p:nvPr/>
        </p:nvSpPr>
        <p:spPr>
          <a:xfrm>
            <a:off x="609600" y="4458716"/>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27"/>
          <p:cNvSpPr/>
          <p:nvPr/>
        </p:nvSpPr>
        <p:spPr>
          <a:xfrm>
            <a:off x="774700" y="4585701"/>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MODEL</a:t>
            </a:r>
            <a:endParaRPr b="0" i="0" sz="1200" u="none" cap="none" strike="noStrike">
              <a:solidFill>
                <a:schemeClr val="dk1"/>
              </a:solidFill>
              <a:latin typeface="Source Sans 3"/>
              <a:ea typeface="Source Sans 3"/>
              <a:cs typeface="Source Sans 3"/>
              <a:sym typeface="Source Sans 3"/>
            </a:endParaRPr>
          </a:p>
        </p:txBody>
      </p:sp>
      <p:sp>
        <p:nvSpPr>
          <p:cNvPr id="833" name="Google Shape;833;p27"/>
          <p:cNvSpPr/>
          <p:nvPr/>
        </p:nvSpPr>
        <p:spPr>
          <a:xfrm>
            <a:off x="774700" y="4837122"/>
            <a:ext cx="32892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Each county's May–July 2026 average; Wilkin, with no site, forecast at 0</a:t>
            </a:r>
            <a:endParaRPr b="0" i="0" sz="1200" u="none" cap="none" strike="noStrike">
              <a:solidFill>
                <a:schemeClr val="dk1"/>
              </a:solidFill>
              <a:latin typeface="Source Sans 3"/>
              <a:ea typeface="Source Sans 3"/>
              <a:cs typeface="Source Sans 3"/>
              <a:sym typeface="Source Sans 3"/>
            </a:endParaRPr>
          </a:p>
        </p:txBody>
      </p:sp>
      <p:sp>
        <p:nvSpPr>
          <p:cNvPr id="834" name="Google Shape;834;p27"/>
          <p:cNvSpPr/>
          <p:nvPr/>
        </p:nvSpPr>
        <p:spPr>
          <a:xfrm>
            <a:off x="4318000" y="4458716"/>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27"/>
          <p:cNvSpPr/>
          <p:nvPr/>
        </p:nvSpPr>
        <p:spPr>
          <a:xfrm>
            <a:off x="4483100" y="4585701"/>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DECISION RULE</a:t>
            </a:r>
            <a:endParaRPr b="0" i="0" sz="1200" u="none" cap="none" strike="noStrike">
              <a:solidFill>
                <a:schemeClr val="dk1"/>
              </a:solidFill>
              <a:latin typeface="Source Sans 3"/>
              <a:ea typeface="Source Sans 3"/>
              <a:cs typeface="Source Sans 3"/>
              <a:sym typeface="Source Sans 3"/>
            </a:endParaRPr>
          </a:p>
        </p:txBody>
      </p:sp>
      <p:sp>
        <p:nvSpPr>
          <p:cNvPr id="836" name="Google Shape;836;p27"/>
          <p:cNvSpPr/>
          <p:nvPr/>
        </p:nvSpPr>
        <p:spPr>
          <a:xfrm>
            <a:off x="4483100" y="4837122"/>
            <a:ext cx="32892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Unemployment won </a:t>
            </a:r>
            <a:r>
              <a:rPr lang="en-US" sz="1200">
                <a:solidFill>
                  <a:srgbClr val="1F3B2D"/>
                </a:solidFill>
                <a:latin typeface="Source Sans 3"/>
                <a:ea typeface="Source Sans 3"/>
                <a:cs typeface="Source Sans 3"/>
                <a:sym typeface="Source Sans 3"/>
              </a:rPr>
              <a:t>5 out of 6</a:t>
            </a:r>
            <a:r>
              <a:rPr b="0" i="0" lang="en-US" sz="1200" u="none" cap="none" strike="noStrike">
                <a:solidFill>
                  <a:srgbClr val="1F3B2D"/>
                </a:solidFill>
                <a:latin typeface="Source Sans 3"/>
                <a:ea typeface="Source Sans 3"/>
                <a:cs typeface="Source Sans 3"/>
                <a:sym typeface="Source Sans 3"/>
              </a:rPr>
              <a:t> picks, then lost </a:t>
            </a:r>
            <a:r>
              <a:rPr lang="en-US" sz="1200">
                <a:solidFill>
                  <a:srgbClr val="1F3B2D"/>
                </a:solidFill>
                <a:latin typeface="Source Sans 3"/>
                <a:ea typeface="Source Sans 3"/>
                <a:cs typeface="Source Sans 3"/>
                <a:sym typeface="Source Sans 3"/>
              </a:rPr>
              <a:t>4</a:t>
            </a:r>
            <a:r>
              <a:rPr b="0" i="0" lang="en-US" sz="1200" u="none" cap="none" strike="noStrike">
                <a:solidFill>
                  <a:srgbClr val="1F3B2D"/>
                </a:solidFill>
                <a:latin typeface="Source Sans 3"/>
                <a:ea typeface="Source Sans 3"/>
                <a:cs typeface="Source Sans 3"/>
                <a:sym typeface="Source Sans 3"/>
              </a:rPr>
              <a:t> on the holdout, so it was rejected.</a:t>
            </a:r>
            <a:endParaRPr b="0" i="0" sz="1200" u="none" cap="none" strike="noStrike">
              <a:solidFill>
                <a:schemeClr val="dk1"/>
              </a:solidFill>
              <a:latin typeface="Source Sans 3"/>
              <a:ea typeface="Source Sans 3"/>
              <a:cs typeface="Source Sans 3"/>
              <a:sym typeface="Source Sans 3"/>
            </a:endParaRPr>
          </a:p>
        </p:txBody>
      </p:sp>
      <p:sp>
        <p:nvSpPr>
          <p:cNvPr id="837" name="Google Shape;837;p27"/>
          <p:cNvSpPr/>
          <p:nvPr/>
        </p:nvSpPr>
        <p:spPr>
          <a:xfrm>
            <a:off x="8026400" y="4458716"/>
            <a:ext cx="3555900" cy="162000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27"/>
          <p:cNvSpPr/>
          <p:nvPr/>
        </p:nvSpPr>
        <p:spPr>
          <a:xfrm>
            <a:off x="8191500" y="4585701"/>
            <a:ext cx="32892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ALSO CHECKED</a:t>
            </a:r>
            <a:endParaRPr b="0" i="0" sz="1200" u="none" cap="none" strike="noStrike">
              <a:solidFill>
                <a:schemeClr val="dk1"/>
              </a:solidFill>
              <a:latin typeface="Source Sans 3"/>
              <a:ea typeface="Source Sans 3"/>
              <a:cs typeface="Source Sans 3"/>
              <a:sym typeface="Source Sans 3"/>
            </a:endParaRPr>
          </a:p>
        </p:txBody>
      </p:sp>
      <p:sp>
        <p:nvSpPr>
          <p:cNvPr id="839" name="Google Shape;839;p27"/>
          <p:cNvSpPr/>
          <p:nvPr/>
        </p:nvSpPr>
        <p:spPr>
          <a:xfrm>
            <a:off x="8191500" y="4837122"/>
            <a:ext cx="3289200" cy="980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100" u="none" cap="none" strike="noStrike">
                <a:solidFill>
                  <a:srgbClr val="1F3B2D"/>
                </a:solidFill>
                <a:latin typeface="Source Sans 3"/>
                <a:ea typeface="Source Sans 3"/>
                <a:cs typeface="Source Sans 3"/>
                <a:sym typeface="Source Sans 3"/>
              </a:rPr>
              <a:t>An August seasonal factor made 4 of 6 targets worse. A uniform August multiplier, fit on prior years, made county RMSE worse in 10 of 12 backtests. Both were trying to model one event: 88% of our 2025 pounds error is one Ramsey site’s single month.</a:t>
            </a:r>
            <a:endParaRPr b="0" i="0" sz="1000" u="none" cap="none" strike="noStrike">
              <a:solidFill>
                <a:srgbClr val="1F3B2D"/>
              </a:solidFill>
              <a:latin typeface="Source Sans 3"/>
              <a:ea typeface="Source Sans 3"/>
              <a:cs typeface="Source Sans 3"/>
              <a:sym typeface="Source Sans 3"/>
            </a:endParaRPr>
          </a:p>
        </p:txBody>
      </p:sp>
      <p:sp>
        <p:nvSpPr>
          <p:cNvPr id="840" name="Google Shape;840;p27"/>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Errors are county root-mean-square error (RMSE) · Team script forecast_august.py; backtest_metrics.csv; summary.json</a:t>
            </a:r>
            <a:endParaRPr b="0" i="0" sz="1200" u="none" cap="none" strike="noStrike">
              <a:solidFill>
                <a:schemeClr val="dk1"/>
              </a:solidFill>
              <a:latin typeface="Source Sans 3"/>
              <a:ea typeface="Source Sans 3"/>
              <a:cs typeface="Source Sans 3"/>
              <a:sym typeface="Source Sans 3"/>
            </a:endParaRPr>
          </a:p>
        </p:txBody>
      </p:sp>
      <p:sp>
        <p:nvSpPr>
          <p:cNvPr id="841" name="Google Shape;841;p27"/>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2" name="Google Shape;842;p27"/>
          <p:cNvSpPr/>
          <p:nvPr/>
        </p:nvSpPr>
        <p:spPr>
          <a:xfrm>
            <a:off x="0" y="6803136"/>
            <a:ext cx="9541565"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3" name="Google Shape;843;p27"/>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48" name="Shape 848"/>
        <p:cNvGrpSpPr/>
        <p:nvPr/>
      </p:nvGrpSpPr>
      <p:grpSpPr>
        <a:xfrm>
          <a:off x="0" y="0"/>
          <a:ext cx="0" cy="0"/>
          <a:chOff x="0" y="0"/>
          <a:chExt cx="0" cy="0"/>
        </a:xfrm>
      </p:grpSpPr>
      <p:sp>
        <p:nvSpPr>
          <p:cNvPr id="849" name="Google Shape;849;p28"/>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28"/>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A18 · Q8 definition and method</a:t>
            </a:r>
            <a:endParaRPr b="0" i="0" sz="1300" u="none" cap="none" strike="noStrike">
              <a:solidFill>
                <a:schemeClr val="dk1"/>
              </a:solidFill>
              <a:latin typeface="Source Sans 3"/>
              <a:ea typeface="Source Sans 3"/>
              <a:cs typeface="Source Sans 3"/>
              <a:sym typeface="Source Sans 3"/>
            </a:endParaRPr>
          </a:p>
        </p:txBody>
      </p:sp>
      <p:sp>
        <p:nvSpPr>
          <p:cNvPr id="851" name="Google Shape;851;p28"/>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52" name="Google Shape;852;p28"/>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53" name="Google Shape;853;p28"/>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A18</a:t>
            </a:r>
            <a:endParaRPr b="0" i="0" sz="1400" u="none" cap="none" strike="noStrike">
              <a:solidFill>
                <a:schemeClr val="dk1"/>
              </a:solidFill>
              <a:latin typeface="Source Sans 3"/>
              <a:ea typeface="Source Sans 3"/>
              <a:cs typeface="Source Sans 3"/>
              <a:sym typeface="Source Sans 3"/>
            </a:endParaRPr>
          </a:p>
        </p:txBody>
      </p:sp>
      <p:sp>
        <p:nvSpPr>
          <p:cNvPr id="854" name="Google Shape;854;p28"/>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B5501F"/>
                </a:solidFill>
                <a:latin typeface="Source Serif 4"/>
                <a:ea typeface="Source Serif 4"/>
                <a:cs typeface="Source Serif 4"/>
                <a:sym typeface="Source Serif 4"/>
              </a:rPr>
              <a:t>141</a:t>
            </a:r>
            <a:r>
              <a:rPr b="1" i="0" lang="en-US" sz="2100">
                <a:solidFill>
                  <a:srgbClr val="1F3B2D"/>
                </a:solidFill>
                <a:latin typeface="Source Serif 4"/>
                <a:ea typeface="Source Serif 4"/>
                <a:cs typeface="Source Serif 4"/>
                <a:sym typeface="Source Serif 4"/>
              </a:rPr>
              <a:t> food-desert tracts, tested for reach, food supply and fill-or-repeat</a:t>
            </a:r>
            <a:endParaRPr sz="2100"/>
          </a:p>
        </p:txBody>
      </p:sp>
      <p:sp>
        <p:nvSpPr>
          <p:cNvPr id="855" name="Google Shape;855;p28"/>
          <p:cNvSpPr/>
          <p:nvPr/>
        </p:nvSpPr>
        <p:spPr>
          <a:xfrm>
            <a:off x="609600" y="1555750"/>
            <a:ext cx="4953000" cy="1300000"/>
          </a:xfrm>
          <a:prstGeom prst="roundRect">
            <a:avLst>
              <a:gd fmla="val 993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28"/>
          <p:cNvSpPr/>
          <p:nvPr/>
        </p:nvSpPr>
        <p:spPr>
          <a:xfrm>
            <a:off x="787400" y="1708150"/>
            <a:ext cx="46736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USDA LILA DEFINITION</a:t>
            </a:r>
            <a:endParaRPr b="0" i="0" sz="1200" u="none" cap="none" strike="noStrike">
              <a:solidFill>
                <a:schemeClr val="dk1"/>
              </a:solidFill>
              <a:latin typeface="Source Sans 3"/>
              <a:ea typeface="Source Sans 3"/>
              <a:cs typeface="Source Sans 3"/>
              <a:sym typeface="Source Sans 3"/>
            </a:endParaRPr>
          </a:p>
        </p:txBody>
      </p:sp>
      <p:sp>
        <p:nvSpPr>
          <p:cNvPr id="857" name="Google Shape;857;p28"/>
          <p:cNvSpPr/>
          <p:nvPr/>
        </p:nvSpPr>
        <p:spPr>
          <a:xfrm>
            <a:off x="787400" y="1959571"/>
            <a:ext cx="4673600" cy="78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1" i="0" lang="en-US" sz="1200" u="none" cap="none" strike="noStrike">
                <a:solidFill>
                  <a:srgbClr val="F7F2E8"/>
                </a:solidFill>
                <a:latin typeface="Source Sans 3"/>
                <a:ea typeface="Source Sans 3"/>
                <a:cs typeface="Source Sans 3"/>
                <a:sym typeface="Source Sans 3"/>
              </a:rPr>
              <a:t>Low income:</a:t>
            </a:r>
            <a:r>
              <a:rPr b="0" i="0" lang="en-US" sz="1200" u="none" cap="none" strike="noStrike">
                <a:solidFill>
                  <a:srgbClr val="F7F2E8"/>
                </a:solidFill>
                <a:latin typeface="Source Sans 3"/>
                <a:ea typeface="Source Sans 3"/>
                <a:cs typeface="Source Sans 3"/>
                <a:sym typeface="Source Sans 3"/>
              </a:rPr>
              <a:t> poverty ≥ 20%, or family income ≤ 80% of the area median. </a:t>
            </a:r>
            <a:r>
              <a:rPr b="1" i="0" lang="en-US" sz="1200" u="none" cap="none" strike="noStrike">
                <a:solidFill>
                  <a:srgbClr val="F7F2E8"/>
                </a:solidFill>
                <a:latin typeface="Source Sans 3"/>
                <a:ea typeface="Source Sans 3"/>
                <a:cs typeface="Source Sans 3"/>
                <a:sym typeface="Source Sans 3"/>
              </a:rPr>
              <a:t>Low access:</a:t>
            </a:r>
            <a:r>
              <a:rPr b="0" i="0" lang="en-US" sz="1200" u="none" cap="none" strike="noStrike">
                <a:solidFill>
                  <a:srgbClr val="F7F2E8"/>
                </a:solidFill>
                <a:latin typeface="Source Sans 3"/>
                <a:ea typeface="Source Sans 3"/>
                <a:cs typeface="Source Sans 3"/>
                <a:sym typeface="Source Sans 3"/>
              </a:rPr>
              <a:t> 500+ people or 33% live over 1 mile (urban) or 10 miles (rural) from a supermarket.</a:t>
            </a:r>
            <a:endParaRPr b="0" i="0" sz="1200" u="none" cap="none" strike="noStrike">
              <a:solidFill>
                <a:schemeClr val="dk1"/>
              </a:solidFill>
              <a:latin typeface="Source Sans 3"/>
              <a:ea typeface="Source Sans 3"/>
              <a:cs typeface="Source Sans 3"/>
              <a:sym typeface="Source Sans 3"/>
            </a:endParaRPr>
          </a:p>
        </p:txBody>
      </p:sp>
      <p:sp>
        <p:nvSpPr>
          <p:cNvPr id="858" name="Google Shape;858;p28"/>
          <p:cNvSpPr/>
          <p:nvPr/>
        </p:nvSpPr>
        <p:spPr>
          <a:xfrm>
            <a:off x="609600" y="3008641"/>
            <a:ext cx="4953000" cy="916880"/>
          </a:xfrm>
          <a:prstGeom prst="roundRect">
            <a:avLst>
              <a:gd fmla="val 12466" name="adj"/>
            </a:avLst>
          </a:prstGeom>
          <a:solidFill>
            <a:srgbClr val="EFE6D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28"/>
          <p:cNvSpPr/>
          <p:nvPr/>
        </p:nvSpPr>
        <p:spPr>
          <a:xfrm>
            <a:off x="774700" y="3135641"/>
            <a:ext cx="46863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01F"/>
              </a:buClr>
              <a:buSzPts val="1200"/>
              <a:buFont typeface="Source Sans 3"/>
              <a:buNone/>
            </a:pPr>
            <a:r>
              <a:rPr b="1" i="0" lang="en-US" sz="1200" u="none" cap="none" strike="noStrike">
                <a:solidFill>
                  <a:srgbClr val="B5501F"/>
                </a:solidFill>
                <a:latin typeface="Source Sans 3"/>
                <a:ea typeface="Source Sans 3"/>
                <a:cs typeface="Source Sans 3"/>
                <a:sym typeface="Source Sans 3"/>
              </a:rPr>
              <a:t>VINTAGES</a:t>
            </a:r>
            <a:endParaRPr b="0" i="0" sz="1200" u="none" cap="none" strike="noStrike">
              <a:solidFill>
                <a:schemeClr val="dk1"/>
              </a:solidFill>
              <a:latin typeface="Source Sans 3"/>
              <a:ea typeface="Source Sans 3"/>
              <a:cs typeface="Source Sans 3"/>
              <a:sym typeface="Source Sans 3"/>
            </a:endParaRPr>
          </a:p>
        </p:txBody>
      </p:sp>
      <p:sp>
        <p:nvSpPr>
          <p:cNvPr id="860" name="Google Shape;860;p28"/>
          <p:cNvSpPr/>
          <p:nvPr/>
        </p:nvSpPr>
        <p:spPr>
          <a:xfrm>
            <a:off x="774700" y="3387062"/>
            <a:ext cx="4686300" cy="43686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1" i="0" lang="en-US" sz="1200" u="none" cap="none" strike="noStrike">
                <a:solidFill>
                  <a:srgbClr val="1F3B2D"/>
                </a:solidFill>
                <a:latin typeface="Source Sans 3"/>
                <a:ea typeface="Source Sans 3"/>
                <a:cs typeface="Source Sans 3"/>
                <a:sym typeface="Source Sans 3"/>
              </a:rPr>
              <a:t>Main:</a:t>
            </a:r>
            <a:r>
              <a:rPr b="0" i="0" lang="en-US" sz="1200" u="none" cap="none" strike="noStrike">
                <a:solidFill>
                  <a:srgbClr val="1F3B2D"/>
                </a:solidFill>
                <a:latin typeface="Source Sans 3"/>
                <a:ea typeface="Source Sans 3"/>
                <a:cs typeface="Source Sans 3"/>
                <a:sym typeface="Source Sans 3"/>
              </a:rPr>
              <a:t> Retailer Access Map 2025, driving: 141 tracts. </a:t>
            </a:r>
            <a:endParaRPr b="0" i="0" sz="1200" u="none" cap="none" strike="noStrike">
              <a:solidFill>
                <a:srgbClr val="1F3B2D"/>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1" i="0" lang="en-US" sz="1200" u="none" cap="none" strike="noStrike">
                <a:solidFill>
                  <a:srgbClr val="1F3B2D"/>
                </a:solidFill>
                <a:latin typeface="Source Sans 3"/>
                <a:ea typeface="Source Sans 3"/>
                <a:cs typeface="Source Sans 3"/>
                <a:sym typeface="Source Sans 3"/>
              </a:rPr>
              <a:t>Check:</a:t>
            </a:r>
            <a:r>
              <a:rPr b="0" i="0" lang="en-US" sz="1200" u="none" cap="none" strike="noStrike">
                <a:solidFill>
                  <a:srgbClr val="1F3B2D"/>
                </a:solidFill>
                <a:latin typeface="Source Sans 3"/>
                <a:ea typeface="Source Sans 3"/>
                <a:cs typeface="Source Sans 3"/>
                <a:sym typeface="Source Sans 3"/>
              </a:rPr>
              <a:t> Food Access Atlas 2019: 164 tracts.</a:t>
            </a:r>
            <a:endParaRPr b="0" i="0" sz="1200" u="none" cap="none" strike="noStrike">
              <a:solidFill>
                <a:schemeClr val="dk1"/>
              </a:solidFill>
              <a:latin typeface="Source Sans 3"/>
              <a:ea typeface="Source Sans 3"/>
              <a:cs typeface="Source Sans 3"/>
              <a:sym typeface="Source Sans 3"/>
            </a:endParaRPr>
          </a:p>
        </p:txBody>
      </p:sp>
      <p:sp>
        <p:nvSpPr>
          <p:cNvPr id="861" name="Google Shape;861;p28"/>
          <p:cNvSpPr/>
          <p:nvPr/>
        </p:nvSpPr>
        <p:spPr>
          <a:xfrm>
            <a:off x="5746750" y="1555750"/>
            <a:ext cx="5829300" cy="2369771"/>
          </a:xfrm>
          <a:prstGeom prst="roundRect">
            <a:avLst>
              <a:gd fmla="val 4948"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28"/>
          <p:cNvSpPr/>
          <p:nvPr/>
        </p:nvSpPr>
        <p:spPr>
          <a:xfrm>
            <a:off x="5918200" y="1695450"/>
            <a:ext cx="55562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Pipeline · 1,502 tracts</a:t>
            </a:r>
            <a:endParaRPr b="0" i="0" sz="1300" u="none" cap="none" strike="noStrike">
              <a:solidFill>
                <a:schemeClr val="dk1"/>
              </a:solidFill>
              <a:latin typeface="Source Sans 3"/>
              <a:ea typeface="Source Sans 3"/>
              <a:cs typeface="Source Sans 3"/>
              <a:sym typeface="Source Sans 3"/>
            </a:endParaRPr>
          </a:p>
        </p:txBody>
      </p:sp>
      <p:sp>
        <p:nvSpPr>
          <p:cNvPr id="863" name="Google Shape;863;p28"/>
          <p:cNvSpPr/>
          <p:nvPr/>
        </p:nvSpPr>
        <p:spPr>
          <a:xfrm>
            <a:off x="5918200" y="1977381"/>
            <a:ext cx="5556250" cy="105405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Food shelves active in 2024 at their census-block point · Groceries = supermarket, super store or large grocery on 1 July 2024 · Straight-line miles from where residents live · Capacity = pounds within 10 miles per person in poverty, two-step catchment · Compared with low-income tracts that are not low-access · Fill or repeat = weighted log–log slope with a density control</a:t>
            </a:r>
            <a:endParaRPr b="0" i="0" sz="1200" u="none" cap="none" strike="noStrike">
              <a:solidFill>
                <a:schemeClr val="dk1"/>
              </a:solidFill>
              <a:latin typeface="Source Sans 3"/>
              <a:ea typeface="Source Sans 3"/>
              <a:cs typeface="Source Sans 3"/>
              <a:sym typeface="Source Sans 3"/>
            </a:endParaRPr>
          </a:p>
        </p:txBody>
      </p:sp>
      <p:sp>
        <p:nvSpPr>
          <p:cNvPr id="864" name="Google Shape;864;p28"/>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USDA ERS; USDA FNS; Census 2020 centers of population · Team notebooks Q8_01 and Q8_02</a:t>
            </a:r>
            <a:endParaRPr b="0" i="0" sz="1200" u="none" cap="none" strike="noStrike">
              <a:solidFill>
                <a:schemeClr val="dk1"/>
              </a:solidFill>
              <a:latin typeface="Source Sans 3"/>
              <a:ea typeface="Source Sans 3"/>
              <a:cs typeface="Source Sans 3"/>
              <a:sym typeface="Source Sans 3"/>
            </a:endParaRPr>
          </a:p>
        </p:txBody>
      </p:sp>
      <p:sp>
        <p:nvSpPr>
          <p:cNvPr id="865" name="Google Shape;865;p28"/>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6" name="Google Shape;866;p28"/>
          <p:cNvSpPr/>
          <p:nvPr/>
        </p:nvSpPr>
        <p:spPr>
          <a:xfrm>
            <a:off x="0" y="6803136"/>
            <a:ext cx="10071652"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7" name="Google Shape;867;p2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872" name="Shape 872"/>
        <p:cNvGrpSpPr/>
        <p:nvPr/>
      </p:nvGrpSpPr>
      <p:grpSpPr>
        <a:xfrm>
          <a:off x="0" y="0"/>
          <a:ext cx="0" cy="0"/>
          <a:chOff x="0" y="0"/>
          <a:chExt cx="0" cy="0"/>
        </a:xfrm>
      </p:grpSpPr>
      <p:sp>
        <p:nvSpPr>
          <p:cNvPr id="873" name="Google Shape;873;p29"/>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29"/>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A19 · Q8 reach, fill or repeat</a:t>
            </a:r>
            <a:endParaRPr b="0" i="0" sz="1300" u="none" cap="none" strike="noStrike">
              <a:solidFill>
                <a:schemeClr val="dk1"/>
              </a:solidFill>
              <a:latin typeface="Source Sans 3"/>
              <a:ea typeface="Source Sans 3"/>
              <a:cs typeface="Source Sans 3"/>
              <a:sym typeface="Source Sans 3"/>
            </a:endParaRPr>
          </a:p>
        </p:txBody>
      </p:sp>
      <p:sp>
        <p:nvSpPr>
          <p:cNvPr id="875" name="Google Shape;875;p29"/>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876" name="Google Shape;876;p29"/>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877" name="Google Shape;877;p29"/>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A19</a:t>
            </a:r>
            <a:endParaRPr b="0" i="0" sz="1400" u="none" cap="none" strike="noStrike">
              <a:solidFill>
                <a:schemeClr val="dk1"/>
              </a:solidFill>
              <a:latin typeface="Source Sans 3"/>
              <a:ea typeface="Source Sans 3"/>
              <a:cs typeface="Source Sans 3"/>
              <a:sym typeface="Source Sans 3"/>
            </a:endParaRPr>
          </a:p>
        </p:txBody>
      </p:sp>
      <p:sp>
        <p:nvSpPr>
          <p:cNvPr id="878" name="Google Shape;878;p29"/>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Rural shelves follow grocery distance (</a:t>
            </a:r>
            <a:r>
              <a:rPr b="1" i="0" lang="en-US" sz="2100">
                <a:solidFill>
                  <a:srgbClr val="B5501F"/>
                </a:solidFill>
                <a:latin typeface="Source Serif 4"/>
                <a:ea typeface="Source Serif 4"/>
                <a:cs typeface="Source Serif 4"/>
                <a:sym typeface="Source Serif 4"/>
              </a:rPr>
              <a:t>0.82</a:t>
            </a:r>
            <a:r>
              <a:rPr b="1" i="0" lang="en-US" sz="2100">
                <a:solidFill>
                  <a:srgbClr val="1F3B2D"/>
                </a:solidFill>
                <a:latin typeface="Source Serif 4"/>
                <a:ea typeface="Source Serif 4"/>
                <a:cs typeface="Source Serif 4"/>
                <a:sym typeface="Source Serif 4"/>
              </a:rPr>
              <a:t>); city shelves do not (</a:t>
            </a:r>
            <a:r>
              <a:rPr b="1" i="0" lang="en-US" sz="2100">
                <a:solidFill>
                  <a:srgbClr val="B5501F"/>
                </a:solidFill>
                <a:latin typeface="Source Serif 4"/>
                <a:ea typeface="Source Serif 4"/>
                <a:cs typeface="Source Serif 4"/>
                <a:sym typeface="Source Serif 4"/>
              </a:rPr>
              <a:t>0.33</a:t>
            </a:r>
            <a:r>
              <a:rPr b="1" i="0" lang="en-US" sz="2100">
                <a:solidFill>
                  <a:srgbClr val="1F3B2D"/>
                </a:solidFill>
                <a:latin typeface="Source Serif 4"/>
                <a:ea typeface="Source Serif 4"/>
                <a:cs typeface="Source Serif 4"/>
                <a:sym typeface="Source Serif 4"/>
              </a:rPr>
              <a:t>)</a:t>
            </a:r>
            <a:endParaRPr sz="2100"/>
          </a:p>
        </p:txBody>
      </p:sp>
      <p:sp>
        <p:nvSpPr>
          <p:cNvPr id="879" name="Google Shape;879;p29"/>
          <p:cNvSpPr/>
          <p:nvPr/>
        </p:nvSpPr>
        <p:spPr>
          <a:xfrm>
            <a:off x="615950" y="1555750"/>
            <a:ext cx="6540500" cy="3200400"/>
          </a:xfrm>
          <a:prstGeom prst="roundRect">
            <a:avLst>
              <a:gd fmla="val 337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wo scatter plots of low-income tracts, miles to nearest food shelf vs miles to nearest grocery: cities and suburbs slope 0.33; rural Greater Minnesota slope 0.82." id="880" name="Google Shape;880;p29"/>
          <p:cNvPicPr preferRelativeResize="0"/>
          <p:nvPr/>
        </p:nvPicPr>
        <p:blipFill rotWithShape="1">
          <a:blip r:embed="rId4">
            <a:alphaModFix/>
          </a:blip>
          <a:srcRect b="0" l="-11794" r="-11794" t="0"/>
          <a:stretch/>
        </p:blipFill>
        <p:spPr>
          <a:xfrm>
            <a:off x="711200" y="1651000"/>
            <a:ext cx="6350000" cy="3009900"/>
          </a:xfrm>
          <a:prstGeom prst="rect">
            <a:avLst/>
          </a:prstGeom>
          <a:noFill/>
          <a:ln>
            <a:noFill/>
          </a:ln>
        </p:spPr>
      </p:pic>
      <p:sp>
        <p:nvSpPr>
          <p:cNvPr id="881" name="Google Shape;881;p29"/>
          <p:cNvSpPr/>
          <p:nvPr/>
        </p:nvSpPr>
        <p:spPr>
          <a:xfrm>
            <a:off x="7429500" y="17208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65%</a:t>
            </a:r>
            <a:endParaRPr b="0" i="0" sz="1500" u="none" cap="none" strike="noStrike">
              <a:solidFill>
                <a:schemeClr val="dk1"/>
              </a:solidFill>
              <a:latin typeface="Source Sans 3"/>
              <a:ea typeface="Source Sans 3"/>
              <a:cs typeface="Source Sans 3"/>
              <a:sym typeface="Source Sans 3"/>
            </a:endParaRPr>
          </a:p>
        </p:txBody>
      </p:sp>
      <p:sp>
        <p:nvSpPr>
          <p:cNvPr id="882" name="Google Shape;882;p29"/>
          <p:cNvSpPr/>
          <p:nvPr/>
        </p:nvSpPr>
        <p:spPr>
          <a:xfrm>
            <a:off x="8432800" y="1885248"/>
            <a:ext cx="3244200" cy="21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versus 72%</a:t>
            </a:r>
            <a:endParaRPr b="0" i="0" sz="1400" u="none" cap="none" strike="noStrike">
              <a:solidFill>
                <a:schemeClr val="dk1"/>
              </a:solidFill>
              <a:latin typeface="Source Sans 3"/>
              <a:ea typeface="Source Sans 3"/>
              <a:cs typeface="Source Sans 3"/>
              <a:sym typeface="Source Sans 3"/>
            </a:endParaRPr>
          </a:p>
        </p:txBody>
      </p:sp>
      <p:sp>
        <p:nvSpPr>
          <p:cNvPr id="883" name="Google Shape;883;p29"/>
          <p:cNvSpPr/>
          <p:nvPr/>
        </p:nvSpPr>
        <p:spPr>
          <a:xfrm>
            <a:off x="8432800" y="2136708"/>
            <a:ext cx="37593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People in poverty within USDA distance of a shelf</a:t>
            </a:r>
            <a:endParaRPr b="0" i="0" sz="1200" u="none" cap="none" strike="noStrike">
              <a:solidFill>
                <a:schemeClr val="dk1"/>
              </a:solidFill>
              <a:latin typeface="Source Sans 3"/>
              <a:ea typeface="Source Sans 3"/>
              <a:cs typeface="Source Sans 3"/>
              <a:sym typeface="Source Sans 3"/>
            </a:endParaRPr>
          </a:p>
        </p:txBody>
      </p:sp>
      <p:sp>
        <p:nvSpPr>
          <p:cNvPr id="884" name="Google Shape;884;p29"/>
          <p:cNvSpPr/>
          <p:nvPr/>
        </p:nvSpPr>
        <p:spPr>
          <a:xfrm>
            <a:off x="7429500" y="27495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241</a:t>
            </a:r>
            <a:endParaRPr b="0" i="0" sz="1500" u="none" cap="none" strike="noStrike">
              <a:solidFill>
                <a:schemeClr val="dk1"/>
              </a:solidFill>
              <a:latin typeface="Source Sans 3"/>
              <a:ea typeface="Source Sans 3"/>
              <a:cs typeface="Source Sans 3"/>
              <a:sym typeface="Source Sans 3"/>
            </a:endParaRPr>
          </a:p>
        </p:txBody>
      </p:sp>
      <p:sp>
        <p:nvSpPr>
          <p:cNvPr id="885" name="Google Shape;885;p29"/>
          <p:cNvSpPr/>
          <p:nvPr/>
        </p:nvSpPr>
        <p:spPr>
          <a:xfrm>
            <a:off x="8432800" y="2938780"/>
            <a:ext cx="3244088" cy="213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versus 290 pounds</a:t>
            </a:r>
            <a:endParaRPr b="0" i="0" sz="1400" u="none" cap="none" strike="noStrike">
              <a:solidFill>
                <a:schemeClr val="dk1"/>
              </a:solidFill>
              <a:latin typeface="Source Sans 3"/>
              <a:ea typeface="Source Sans 3"/>
              <a:cs typeface="Source Sans 3"/>
              <a:sym typeface="Source Sans 3"/>
            </a:endParaRPr>
          </a:p>
        </p:txBody>
      </p:sp>
      <p:sp>
        <p:nvSpPr>
          <p:cNvPr id="886" name="Google Shape;886;p29"/>
          <p:cNvSpPr/>
          <p:nvPr/>
        </p:nvSpPr>
        <p:spPr>
          <a:xfrm>
            <a:off x="8432800" y="3190240"/>
            <a:ext cx="3244088"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Food reachable per person a year (within 10 miles)</a:t>
            </a:r>
            <a:endParaRPr b="0" i="0" sz="1200" u="none" cap="none" strike="noStrike">
              <a:solidFill>
                <a:schemeClr val="dk1"/>
              </a:solidFill>
              <a:latin typeface="Source Sans 3"/>
              <a:ea typeface="Source Sans 3"/>
              <a:cs typeface="Source Sans 3"/>
              <a:sym typeface="Source Sans 3"/>
            </a:endParaRPr>
          </a:p>
        </p:txBody>
      </p:sp>
      <p:sp>
        <p:nvSpPr>
          <p:cNvPr id="887" name="Google Shape;887;p29"/>
          <p:cNvSpPr/>
          <p:nvPr/>
        </p:nvSpPr>
        <p:spPr>
          <a:xfrm>
            <a:off x="7429500" y="3778250"/>
            <a:ext cx="812800" cy="812800"/>
          </a:xfrm>
          <a:prstGeom prst="roundRect">
            <a:avLst>
              <a:gd fmla="val 50000" name="adj"/>
            </a:avLst>
          </a:prstGeom>
          <a:solidFill>
            <a:srgbClr val="FFFFFF"/>
          </a:solidFill>
          <a:ln cap="flat" cmpd="sng" w="76200">
            <a:solidFill>
              <a:srgbClr val="D9622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F3B2D"/>
              </a:buClr>
              <a:buSzPts val="1500"/>
              <a:buFont typeface="Source Serif 4"/>
              <a:buNone/>
            </a:pPr>
            <a:r>
              <a:rPr b="1" i="0" lang="en-US" sz="1500" u="none" cap="none" strike="noStrike">
                <a:solidFill>
                  <a:srgbClr val="1F3B2D"/>
                </a:solidFill>
                <a:latin typeface="Source Serif 4"/>
                <a:ea typeface="Source Serif 4"/>
                <a:cs typeface="Source Serif 4"/>
                <a:sym typeface="Source Serif 4"/>
              </a:rPr>
              <a:t>0.82</a:t>
            </a:r>
            <a:endParaRPr b="0" i="0" sz="1500" u="none" cap="none" strike="noStrike">
              <a:solidFill>
                <a:schemeClr val="dk1"/>
              </a:solidFill>
              <a:latin typeface="Source Sans 3"/>
              <a:ea typeface="Source Sans 3"/>
              <a:cs typeface="Source Sans 3"/>
              <a:sym typeface="Source Sans 3"/>
            </a:endParaRPr>
          </a:p>
        </p:txBody>
      </p:sp>
      <p:sp>
        <p:nvSpPr>
          <p:cNvPr id="888" name="Google Shape;888;p29"/>
          <p:cNvSpPr/>
          <p:nvPr/>
        </p:nvSpPr>
        <p:spPr>
          <a:xfrm>
            <a:off x="8432800" y="3982613"/>
            <a:ext cx="3244200" cy="21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F3B2D"/>
              </a:buClr>
              <a:buSzPts val="1400"/>
              <a:buFont typeface="Source Serif 4"/>
              <a:buNone/>
            </a:pPr>
            <a:r>
              <a:rPr b="1" i="0" lang="en-US" sz="1400" u="none" cap="none" strike="noStrike">
                <a:solidFill>
                  <a:srgbClr val="1F3B2D"/>
                </a:solidFill>
                <a:latin typeface="Source Serif 4"/>
                <a:ea typeface="Source Serif 4"/>
                <a:cs typeface="Source Serif 4"/>
                <a:sym typeface="Source Serif 4"/>
              </a:rPr>
              <a:t>Rural slope</a:t>
            </a:r>
            <a:endParaRPr b="0" i="0" sz="1400" u="none" cap="none" strike="noStrike">
              <a:solidFill>
                <a:schemeClr val="dk1"/>
              </a:solidFill>
              <a:latin typeface="Source Sans 3"/>
              <a:ea typeface="Source Sans 3"/>
              <a:cs typeface="Source Sans 3"/>
              <a:sym typeface="Source Sans 3"/>
            </a:endParaRPr>
          </a:p>
        </p:txBody>
      </p:sp>
      <p:sp>
        <p:nvSpPr>
          <p:cNvPr id="889" name="Google Shape;889;p29"/>
          <p:cNvSpPr/>
          <p:nvPr/>
        </p:nvSpPr>
        <p:spPr>
          <a:xfrm>
            <a:off x="8432800" y="4234073"/>
            <a:ext cx="32442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0.55 with a density control; cities 0.07–0.33</a:t>
            </a:r>
            <a:endParaRPr b="0" i="0" sz="1200" u="none" cap="none" strike="noStrike">
              <a:solidFill>
                <a:schemeClr val="dk1"/>
              </a:solidFill>
              <a:latin typeface="Source Sans 3"/>
              <a:ea typeface="Source Sans 3"/>
              <a:cs typeface="Source Sans 3"/>
              <a:sym typeface="Source Sans 3"/>
            </a:endParaRPr>
          </a:p>
        </p:txBody>
      </p:sp>
      <p:sp>
        <p:nvSpPr>
          <p:cNvPr id="890" name="Google Shape;890;p29"/>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Weighted by people in poverty; comparison = low-income, not low-access tracts</a:t>
            </a:r>
            <a:endParaRPr b="0" i="0" sz="1200" u="none" cap="none" strike="noStrike">
              <a:solidFill>
                <a:schemeClr val="dk1"/>
              </a:solidFill>
              <a:latin typeface="Source Sans 3"/>
              <a:ea typeface="Source Sans 3"/>
              <a:cs typeface="Source Sans 3"/>
              <a:sym typeface="Source Sans 3"/>
            </a:endParaRPr>
          </a:p>
        </p:txBody>
      </p:sp>
      <p:sp>
        <p:nvSpPr>
          <p:cNvPr id="891" name="Google Shape;891;p29"/>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2" name="Google Shape;892;p29"/>
          <p:cNvSpPr/>
          <p:nvPr/>
        </p:nvSpPr>
        <p:spPr>
          <a:xfrm>
            <a:off x="0" y="6803136"/>
            <a:ext cx="10601739"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3" name="Google Shape;893;p29"/>
          <p:cNvSpPr/>
          <p:nvPr/>
        </p:nvSpPr>
        <p:spPr>
          <a:xfrm>
            <a:off x="3331030" y="3964214"/>
            <a:ext cx="517070" cy="136071"/>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4" name="Google Shape;894;p29"/>
          <p:cNvSpPr/>
          <p:nvPr/>
        </p:nvSpPr>
        <p:spPr>
          <a:xfrm>
            <a:off x="5848343" y="3964214"/>
            <a:ext cx="530676" cy="136071"/>
          </a:xfrm>
          <a:prstGeom prst="ellipse">
            <a:avLst/>
          </a:prstGeom>
          <a:noFill/>
          <a:ln cap="flat" cmpd="sng" w="31750">
            <a:solidFill>
              <a:srgbClr val="C2410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5" name="Google Shape;895;p2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00" name="Shape 900"/>
        <p:cNvGrpSpPr/>
        <p:nvPr/>
      </p:nvGrpSpPr>
      <p:grpSpPr>
        <a:xfrm>
          <a:off x="0" y="0"/>
          <a:ext cx="0" cy="0"/>
          <a:chOff x="0" y="0"/>
          <a:chExt cx="0" cy="0"/>
        </a:xfrm>
      </p:grpSpPr>
      <p:sp>
        <p:nvSpPr>
          <p:cNvPr id="901" name="Google Shape;901;p30"/>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30"/>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A20 · Q8 gap tracts</a:t>
            </a:r>
            <a:endParaRPr b="0" i="0" sz="1300" u="none" cap="none" strike="noStrike">
              <a:solidFill>
                <a:schemeClr val="dk1"/>
              </a:solidFill>
              <a:latin typeface="Source Sans 3"/>
              <a:ea typeface="Source Sans 3"/>
              <a:cs typeface="Source Sans 3"/>
              <a:sym typeface="Source Sans 3"/>
            </a:endParaRPr>
          </a:p>
        </p:txBody>
      </p:sp>
      <p:sp>
        <p:nvSpPr>
          <p:cNvPr id="903" name="Google Shape;903;p30"/>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904" name="Google Shape;904;p30"/>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905" name="Google Shape;905;p30"/>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A20</a:t>
            </a:r>
            <a:endParaRPr b="0" i="0" sz="1400" u="none" cap="none" strike="noStrike">
              <a:solidFill>
                <a:schemeClr val="dk1"/>
              </a:solidFill>
              <a:latin typeface="Source Sans 3"/>
              <a:ea typeface="Source Sans 3"/>
              <a:cs typeface="Source Sans 3"/>
              <a:sym typeface="Source Sans 3"/>
            </a:endParaRPr>
          </a:p>
        </p:txBody>
      </p:sp>
      <p:sp>
        <p:nvSpPr>
          <p:cNvPr id="906" name="Google Shape;906;p30"/>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B5501F"/>
                </a:solidFill>
                <a:latin typeface="Source Serif 4"/>
                <a:ea typeface="Source Serif 4"/>
                <a:cs typeface="Source Serif 4"/>
                <a:sym typeface="Source Serif 4"/>
              </a:rPr>
              <a:t>28 rural</a:t>
            </a:r>
            <a:r>
              <a:rPr b="1" i="0" lang="en-US" sz="2100">
                <a:solidFill>
                  <a:srgbClr val="1F3B2D"/>
                </a:solidFill>
                <a:latin typeface="Source Serif 4"/>
                <a:ea typeface="Source Serif 4"/>
                <a:cs typeface="Source Serif 4"/>
                <a:sym typeface="Source Serif 4"/>
              </a:rPr>
              <a:t> gap tracts sit 12.6 miles from a shelf; </a:t>
            </a:r>
            <a:r>
              <a:rPr b="1" i="0" lang="en-US" sz="2100">
                <a:solidFill>
                  <a:srgbClr val="B5501F"/>
                </a:solidFill>
                <a:latin typeface="Source Serif 4"/>
                <a:ea typeface="Source Serif 4"/>
                <a:cs typeface="Source Serif 4"/>
                <a:sym typeface="Source Serif 4"/>
              </a:rPr>
              <a:t>89 urban</a:t>
            </a:r>
            <a:r>
              <a:rPr b="1" i="0" lang="en-US" sz="2100">
                <a:solidFill>
                  <a:srgbClr val="1F3B2D"/>
                </a:solidFill>
                <a:latin typeface="Source Serif 4"/>
                <a:ea typeface="Source Serif 4"/>
                <a:cs typeface="Source Serif 4"/>
                <a:sym typeface="Source Serif 4"/>
              </a:rPr>
              <a:t> ones lack cars</a:t>
            </a:r>
            <a:endParaRPr sz="2100"/>
          </a:p>
        </p:txBody>
      </p:sp>
      <p:sp>
        <p:nvSpPr>
          <p:cNvPr id="907" name="Google Shape;907;p30"/>
          <p:cNvSpPr/>
          <p:nvPr/>
        </p:nvSpPr>
        <p:spPr>
          <a:xfrm>
            <a:off x="615950" y="1562100"/>
            <a:ext cx="3238500" cy="3987800"/>
          </a:xfrm>
          <a:prstGeom prst="roundRect">
            <a:avLst>
              <a:gd fmla="val 3333"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Map of Minnesota tracts: orange LILA tracts with no food shelf within USDA distance, blue LILA tracts with one, grey low-income only; dots are food shelves." id="908" name="Google Shape;908;p30"/>
          <p:cNvPicPr preferRelativeResize="0"/>
          <p:nvPr/>
        </p:nvPicPr>
        <p:blipFill rotWithShape="1">
          <a:blip r:embed="rId4">
            <a:alphaModFix/>
          </a:blip>
          <a:srcRect b="0" l="-29" r="-29" t="0"/>
          <a:stretch/>
        </p:blipFill>
        <p:spPr>
          <a:xfrm>
            <a:off x="711200" y="1657350"/>
            <a:ext cx="3048000" cy="3797300"/>
          </a:xfrm>
          <a:prstGeom prst="rect">
            <a:avLst/>
          </a:prstGeom>
          <a:noFill/>
          <a:ln>
            <a:noFill/>
          </a:ln>
        </p:spPr>
      </p:pic>
      <p:sp>
        <p:nvSpPr>
          <p:cNvPr id="909" name="Google Shape;909;p30"/>
          <p:cNvSpPr/>
          <p:nvPr/>
        </p:nvSpPr>
        <p:spPr>
          <a:xfrm>
            <a:off x="4114800" y="1555750"/>
            <a:ext cx="3670300" cy="1192461"/>
          </a:xfrm>
          <a:prstGeom prst="roundRect">
            <a:avLst>
              <a:gd fmla="val 9585"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30"/>
          <p:cNvSpPr/>
          <p:nvPr/>
        </p:nvSpPr>
        <p:spPr>
          <a:xfrm>
            <a:off x="4292600" y="1708150"/>
            <a:ext cx="3390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URBAN · 89 TRACTS</a:t>
            </a:r>
            <a:endParaRPr b="0" i="0" sz="1200" u="none" cap="none" strike="noStrike">
              <a:solidFill>
                <a:schemeClr val="dk1"/>
              </a:solidFill>
              <a:latin typeface="Source Sans 3"/>
              <a:ea typeface="Source Sans 3"/>
              <a:cs typeface="Source Sans 3"/>
              <a:sym typeface="Source Sans 3"/>
            </a:endParaRPr>
          </a:p>
        </p:txBody>
      </p:sp>
      <p:sp>
        <p:nvSpPr>
          <p:cNvPr id="911" name="Google Shape;911;p30"/>
          <p:cNvSpPr/>
          <p:nvPr/>
        </p:nvSpPr>
        <p:spPr>
          <a:xfrm>
            <a:off x="4292600" y="1959570"/>
            <a:ext cx="33909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2E8"/>
              </a:buClr>
              <a:buSzPts val="3000"/>
              <a:buFont typeface="Source Serif 4"/>
              <a:buNone/>
            </a:pPr>
            <a:r>
              <a:rPr b="1" i="0" lang="en-US" sz="3000" u="none" cap="none" strike="noStrike">
                <a:solidFill>
                  <a:srgbClr val="F7F2E8"/>
                </a:solidFill>
                <a:latin typeface="Source Serif 4"/>
                <a:ea typeface="Source Serif 4"/>
                <a:cs typeface="Source Serif 4"/>
                <a:sym typeface="Source Serif 4"/>
              </a:rPr>
              <a:t>48,000</a:t>
            </a:r>
            <a:endParaRPr b="0" i="0" sz="3000" u="none" cap="none" strike="noStrike">
              <a:solidFill>
                <a:schemeClr val="dk1"/>
              </a:solidFill>
              <a:latin typeface="Source Sans 3"/>
              <a:ea typeface="Source Sans 3"/>
              <a:cs typeface="Source Sans 3"/>
              <a:sym typeface="Source Sans 3"/>
            </a:endParaRPr>
          </a:p>
        </p:txBody>
      </p:sp>
      <p:sp>
        <p:nvSpPr>
          <p:cNvPr id="912" name="Google Shape;912;p30"/>
          <p:cNvSpPr/>
          <p:nvPr/>
        </p:nvSpPr>
        <p:spPr>
          <a:xfrm>
            <a:off x="4292600" y="2397720"/>
            <a:ext cx="33909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People in poverty; shelf 1.5 miles away, few cars</a:t>
            </a:r>
            <a:endParaRPr b="0" i="0" sz="1200" u="none" cap="none" strike="noStrike">
              <a:solidFill>
                <a:schemeClr val="dk1"/>
              </a:solidFill>
              <a:latin typeface="Source Sans 3"/>
              <a:ea typeface="Source Sans 3"/>
              <a:cs typeface="Source Sans 3"/>
              <a:sym typeface="Source Sans 3"/>
            </a:endParaRPr>
          </a:p>
        </p:txBody>
      </p:sp>
      <p:sp>
        <p:nvSpPr>
          <p:cNvPr id="913" name="Google Shape;913;p30"/>
          <p:cNvSpPr/>
          <p:nvPr/>
        </p:nvSpPr>
        <p:spPr>
          <a:xfrm>
            <a:off x="7912100" y="1555750"/>
            <a:ext cx="3670300" cy="1192461"/>
          </a:xfrm>
          <a:prstGeom prst="roundRect">
            <a:avLst>
              <a:gd fmla="val 9585" name="adj"/>
            </a:avLst>
          </a:prstGeom>
          <a:gradFill>
            <a:gsLst>
              <a:gs pos="0">
                <a:srgbClr val="D9622B"/>
              </a:gs>
              <a:gs pos="100000">
                <a:srgbClr val="E5814A"/>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30"/>
          <p:cNvSpPr/>
          <p:nvPr/>
        </p:nvSpPr>
        <p:spPr>
          <a:xfrm>
            <a:off x="8089900" y="1708150"/>
            <a:ext cx="33909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1A14"/>
              </a:buClr>
              <a:buSzPts val="1200"/>
              <a:buFont typeface="Source Sans 3"/>
              <a:buNone/>
            </a:pPr>
            <a:r>
              <a:rPr b="1" i="0" lang="en-US" sz="1200" u="none" cap="none" strike="noStrike">
                <a:solidFill>
                  <a:srgbClr val="1F1A14"/>
                </a:solidFill>
                <a:latin typeface="Source Sans 3"/>
                <a:ea typeface="Source Sans 3"/>
                <a:cs typeface="Source Sans 3"/>
                <a:sym typeface="Source Sans 3"/>
              </a:rPr>
              <a:t>RURAL · 28 TRACTS</a:t>
            </a:r>
            <a:endParaRPr b="0" i="0" sz="1200" u="none" cap="none" strike="noStrike">
              <a:solidFill>
                <a:schemeClr val="dk1"/>
              </a:solidFill>
              <a:latin typeface="Source Sans 3"/>
              <a:ea typeface="Source Sans 3"/>
              <a:cs typeface="Source Sans 3"/>
              <a:sym typeface="Source Sans 3"/>
            </a:endParaRPr>
          </a:p>
        </p:txBody>
      </p:sp>
      <p:sp>
        <p:nvSpPr>
          <p:cNvPr id="915" name="Google Shape;915;p30"/>
          <p:cNvSpPr/>
          <p:nvPr/>
        </p:nvSpPr>
        <p:spPr>
          <a:xfrm>
            <a:off x="8089900" y="1959570"/>
            <a:ext cx="3390900" cy="42545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1F1A14"/>
              </a:buClr>
              <a:buSzPts val="3000"/>
              <a:buFont typeface="Source Serif 4"/>
              <a:buNone/>
            </a:pPr>
            <a:r>
              <a:rPr b="1" i="0" lang="en-US" sz="3000" u="none" cap="none" strike="noStrike">
                <a:solidFill>
                  <a:srgbClr val="1F1A14"/>
                </a:solidFill>
                <a:latin typeface="Source Serif 4"/>
                <a:ea typeface="Source Serif 4"/>
                <a:cs typeface="Source Serif 4"/>
                <a:sym typeface="Source Serif 4"/>
              </a:rPr>
              <a:t>12.6 miles</a:t>
            </a:r>
            <a:endParaRPr b="0" i="0" sz="3000" u="none" cap="none" strike="noStrike">
              <a:solidFill>
                <a:schemeClr val="dk1"/>
              </a:solidFill>
              <a:latin typeface="Source Sans 3"/>
              <a:ea typeface="Source Sans 3"/>
              <a:cs typeface="Source Sans 3"/>
              <a:sym typeface="Source Sans 3"/>
            </a:endParaRPr>
          </a:p>
        </p:txBody>
      </p:sp>
      <p:sp>
        <p:nvSpPr>
          <p:cNvPr id="916" name="Google Shape;916;p30"/>
          <p:cNvSpPr/>
          <p:nvPr/>
        </p:nvSpPr>
        <p:spPr>
          <a:xfrm>
            <a:off x="8089900" y="2397720"/>
            <a:ext cx="3390900" cy="2234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F1A14"/>
              </a:buClr>
              <a:buSzPts val="1200"/>
              <a:buFont typeface="Source Sans 3"/>
              <a:buNone/>
            </a:pPr>
            <a:r>
              <a:rPr b="0" i="0" lang="en-US" sz="1200" u="none" cap="none" strike="noStrike">
                <a:solidFill>
                  <a:srgbClr val="1F1A14"/>
                </a:solidFill>
                <a:latin typeface="Source Sans 3"/>
                <a:ea typeface="Source Sans 3"/>
                <a:cs typeface="Source Sans 3"/>
                <a:sym typeface="Source Sans 3"/>
              </a:rPr>
              <a:t>Median distance to a shelf; up to 27 miles in Beltrami</a:t>
            </a:r>
            <a:endParaRPr b="0" i="0" sz="1200" u="none" cap="none" strike="noStrike">
              <a:solidFill>
                <a:schemeClr val="dk1"/>
              </a:solidFill>
              <a:latin typeface="Source Sans 3"/>
              <a:ea typeface="Source Sans 3"/>
              <a:cs typeface="Source Sans 3"/>
              <a:sym typeface="Source Sans 3"/>
            </a:endParaRPr>
          </a:p>
        </p:txBody>
      </p:sp>
      <p:sp>
        <p:nvSpPr>
          <p:cNvPr id="917" name="Google Shape;917;p30"/>
          <p:cNvSpPr/>
          <p:nvPr/>
        </p:nvSpPr>
        <p:spPr>
          <a:xfrm>
            <a:off x="4121150" y="290061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30"/>
          <p:cNvSpPr/>
          <p:nvPr/>
        </p:nvSpPr>
        <p:spPr>
          <a:xfrm>
            <a:off x="4292600" y="303396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Rural food-desert tracts</a:t>
            </a:r>
            <a:endParaRPr b="0" i="0" sz="1300" u="none" cap="none" strike="noStrike">
              <a:solidFill>
                <a:schemeClr val="dk1"/>
              </a:solidFill>
              <a:latin typeface="Source Sans 3"/>
              <a:ea typeface="Source Sans 3"/>
              <a:cs typeface="Source Sans 3"/>
              <a:sym typeface="Source Sans 3"/>
            </a:endParaRPr>
          </a:p>
        </p:txBody>
      </p:sp>
      <p:sp>
        <p:nvSpPr>
          <p:cNvPr id="919" name="Google Shape;919;p30"/>
          <p:cNvSpPr/>
          <p:nvPr/>
        </p:nvSpPr>
        <p:spPr>
          <a:xfrm>
            <a:off x="4292600" y="331589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Reach 94 pounds per person a year, versus 172 in other rural low-income tracts.</a:t>
            </a:r>
            <a:endParaRPr b="0" i="0" sz="1200" u="none" cap="none" strike="noStrike">
              <a:solidFill>
                <a:schemeClr val="dk1"/>
              </a:solidFill>
              <a:latin typeface="Source Sans 3"/>
              <a:ea typeface="Source Sans 3"/>
              <a:cs typeface="Source Sans 3"/>
              <a:sym typeface="Source Sans 3"/>
            </a:endParaRPr>
          </a:p>
        </p:txBody>
      </p:sp>
      <p:sp>
        <p:nvSpPr>
          <p:cNvPr id="920" name="Google Shape;920;p30"/>
          <p:cNvSpPr/>
          <p:nvPr/>
        </p:nvSpPr>
        <p:spPr>
          <a:xfrm>
            <a:off x="4121150" y="380737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30"/>
          <p:cNvSpPr/>
          <p:nvPr/>
        </p:nvSpPr>
        <p:spPr>
          <a:xfrm>
            <a:off x="4292600" y="394072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Tribal areas</a:t>
            </a:r>
            <a:endParaRPr b="0" i="0" sz="1300" u="none" cap="none" strike="noStrike">
              <a:solidFill>
                <a:schemeClr val="dk1"/>
              </a:solidFill>
              <a:latin typeface="Source Sans 3"/>
              <a:ea typeface="Source Sans 3"/>
              <a:cs typeface="Source Sans 3"/>
              <a:sym typeface="Source Sans 3"/>
            </a:endParaRPr>
          </a:p>
        </p:txBody>
      </p:sp>
      <p:sp>
        <p:nvSpPr>
          <p:cNvPr id="922" name="Google Shape;922;p30"/>
          <p:cNvSpPr/>
          <p:nvPr/>
        </p:nvSpPr>
        <p:spPr>
          <a:xfrm>
            <a:off x="4292600" y="422265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118 pounds versus 280 elsewhere (tribal food programs are not in this data).</a:t>
            </a:r>
            <a:endParaRPr b="0" i="0" sz="1200" u="none" cap="none" strike="noStrike">
              <a:solidFill>
                <a:schemeClr val="dk1"/>
              </a:solidFill>
              <a:latin typeface="Source Sans 3"/>
              <a:ea typeface="Source Sans 3"/>
              <a:cs typeface="Source Sans 3"/>
              <a:sym typeface="Source Sans 3"/>
            </a:endParaRPr>
          </a:p>
        </p:txBody>
      </p:sp>
      <p:sp>
        <p:nvSpPr>
          <p:cNvPr id="923" name="Google Shape;923;p30"/>
          <p:cNvSpPr/>
          <p:nvPr/>
        </p:nvSpPr>
        <p:spPr>
          <a:xfrm>
            <a:off x="4121150" y="4714131"/>
            <a:ext cx="7454900" cy="754360"/>
          </a:xfrm>
          <a:prstGeom prst="roundRect">
            <a:avLst>
              <a:gd fmla="val 14310"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30"/>
          <p:cNvSpPr/>
          <p:nvPr/>
        </p:nvSpPr>
        <p:spPr>
          <a:xfrm>
            <a:off x="4292600" y="4847481"/>
            <a:ext cx="71818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St. Cloud</a:t>
            </a:r>
            <a:endParaRPr b="0" i="0" sz="1300" u="none" cap="none" strike="noStrike">
              <a:solidFill>
                <a:schemeClr val="dk1"/>
              </a:solidFill>
              <a:latin typeface="Source Sans 3"/>
              <a:ea typeface="Source Sans 3"/>
              <a:cs typeface="Source Sans 3"/>
              <a:sym typeface="Source Sans 3"/>
            </a:endParaRPr>
          </a:p>
        </p:txBody>
      </p:sp>
      <p:sp>
        <p:nvSpPr>
          <p:cNvPr id="925" name="Google Shape;925;p30"/>
          <p:cNvSpPr/>
          <p:nvPr/>
        </p:nvSpPr>
        <p:spPr>
          <a:xfrm>
            <a:off x="4292600" y="5129411"/>
            <a:ext cx="7181850" cy="2311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Holds 5 of the 15 largest gap tracts.</a:t>
            </a:r>
            <a:endParaRPr b="0" i="0" sz="1200" u="none" cap="none" strike="noStrike">
              <a:solidFill>
                <a:schemeClr val="dk1"/>
              </a:solidFill>
              <a:latin typeface="Source Sans 3"/>
              <a:ea typeface="Source Sans 3"/>
              <a:cs typeface="Source Sans 3"/>
              <a:sym typeface="Source Sans 3"/>
            </a:endParaRPr>
          </a:p>
        </p:txBody>
      </p:sp>
      <p:sp>
        <p:nvSpPr>
          <p:cNvPr id="926" name="Google Shape;926;p30"/>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Gap list: q8_gap_tracts.csv (LILA 2025 or 2019, no shelf within 1 mile urban / 10 miles rural)</a:t>
            </a:r>
            <a:endParaRPr b="0" i="0" sz="1200" u="none" cap="none" strike="noStrike">
              <a:solidFill>
                <a:schemeClr val="dk1"/>
              </a:solidFill>
              <a:latin typeface="Source Sans 3"/>
              <a:ea typeface="Source Sans 3"/>
              <a:cs typeface="Source Sans 3"/>
              <a:sym typeface="Source Sans 3"/>
            </a:endParaRPr>
          </a:p>
        </p:txBody>
      </p:sp>
      <p:sp>
        <p:nvSpPr>
          <p:cNvPr id="927" name="Google Shape;927;p30"/>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30"/>
          <p:cNvSpPr/>
          <p:nvPr/>
        </p:nvSpPr>
        <p:spPr>
          <a:xfrm>
            <a:off x="0" y="6803136"/>
            <a:ext cx="11131826"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30"/>
          <p:cNvSpPr/>
          <p:nvPr/>
        </p:nvSpPr>
        <p:spPr>
          <a:xfrm>
            <a:off x="2563385" y="2456781"/>
            <a:ext cx="1093951" cy="420754"/>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0" name="Google Shape;930;p30"/>
          <p:cNvSpPr txBox="1"/>
          <p:nvPr/>
        </p:nvSpPr>
        <p:spPr>
          <a:xfrm>
            <a:off x="2815835" y="2846998"/>
            <a:ext cx="748660" cy="3556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000" u="none" cap="none" strike="noStrike">
                <a:solidFill>
                  <a:srgbClr val="1F3B2D"/>
                </a:solidFill>
                <a:latin typeface="Source Sans 3"/>
                <a:ea typeface="Source Sans 3"/>
                <a:cs typeface="Source Sans 3"/>
                <a:sym typeface="Source Sans 3"/>
              </a:rPr>
              <a:t>Rural gap</a:t>
            </a:r>
            <a:endParaRPr/>
          </a:p>
          <a:p>
            <a:pPr indent="0" lvl="0" marL="0" marR="0" rtl="0" algn="l">
              <a:lnSpc>
                <a:spcPct val="100000"/>
              </a:lnSpc>
              <a:spcBef>
                <a:spcPts val="0"/>
              </a:spcBef>
              <a:spcAft>
                <a:spcPts val="0"/>
              </a:spcAft>
              <a:buNone/>
            </a:pPr>
            <a:r>
              <a:rPr b="1" i="0" lang="en-US" sz="1000" u="none" cap="none" strike="noStrike">
                <a:solidFill>
                  <a:srgbClr val="1F3B2D"/>
                </a:solidFill>
                <a:latin typeface="Source Sans 3"/>
                <a:ea typeface="Source Sans 3"/>
                <a:cs typeface="Source Sans 3"/>
                <a:sym typeface="Source Sans 3"/>
              </a:rPr>
              <a:t>tracts</a:t>
            </a:r>
            <a:endParaRPr/>
          </a:p>
        </p:txBody>
      </p:sp>
      <p:sp>
        <p:nvSpPr>
          <p:cNvPr id="931" name="Google Shape;931;p30"/>
          <p:cNvSpPr/>
          <p:nvPr/>
        </p:nvSpPr>
        <p:spPr>
          <a:xfrm>
            <a:off x="2268860" y="3887343"/>
            <a:ext cx="378675" cy="357640"/>
          </a:xfrm>
          <a:prstGeom prst="ellipse">
            <a:avLst/>
          </a:prstGeom>
          <a:noFill/>
          <a:ln cap="flat" cmpd="sng" w="31750">
            <a:solidFill>
              <a:srgbClr val="1F3B2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2" name="Google Shape;932;p30"/>
          <p:cNvSpPr txBox="1"/>
          <p:nvPr/>
        </p:nvSpPr>
        <p:spPr>
          <a:xfrm>
            <a:off x="2668572" y="3898882"/>
            <a:ext cx="1091560" cy="355600"/>
          </a:xfrm>
          <a:prstGeom prst="rect">
            <a:avLst/>
          </a:prstGeom>
          <a:solidFill>
            <a:srgbClr val="FFFFFF"/>
          </a:solidFill>
          <a:ln>
            <a:noFill/>
          </a:ln>
        </p:spPr>
        <p:txBody>
          <a:bodyPr anchorCtr="0" anchor="ctr" bIns="22850" lIns="45700" spcFirstLastPara="1" rIns="45700" wrap="square" tIns="22850">
            <a:noAutofit/>
          </a:bodyPr>
          <a:lstStyle/>
          <a:p>
            <a:pPr indent="0" lvl="0" marL="0" marR="0" rtl="0" algn="l">
              <a:lnSpc>
                <a:spcPct val="100000"/>
              </a:lnSpc>
              <a:spcBef>
                <a:spcPts val="0"/>
              </a:spcBef>
              <a:spcAft>
                <a:spcPts val="0"/>
              </a:spcAft>
              <a:buNone/>
            </a:pPr>
            <a:r>
              <a:rPr b="1" i="0" lang="en-US" sz="1000" u="none" cap="none" strike="noStrike">
                <a:solidFill>
                  <a:srgbClr val="1F3B2D"/>
                </a:solidFill>
                <a:latin typeface="Source Sans 3"/>
                <a:ea typeface="Source Sans 3"/>
                <a:cs typeface="Source Sans 3"/>
                <a:sym typeface="Source Sans 3"/>
              </a:rPr>
              <a:t>Urban gap</a:t>
            </a:r>
            <a:endParaRPr/>
          </a:p>
          <a:p>
            <a:pPr indent="0" lvl="0" marL="0" marR="0" rtl="0" algn="l">
              <a:lnSpc>
                <a:spcPct val="100000"/>
              </a:lnSpc>
              <a:spcBef>
                <a:spcPts val="0"/>
              </a:spcBef>
              <a:spcAft>
                <a:spcPts val="0"/>
              </a:spcAft>
              <a:buNone/>
            </a:pPr>
            <a:r>
              <a:rPr b="1" i="0" lang="en-US" sz="1000" u="none" cap="none" strike="noStrike">
                <a:solidFill>
                  <a:srgbClr val="1F3B2D"/>
                </a:solidFill>
                <a:latin typeface="Source Sans 3"/>
                <a:ea typeface="Source Sans 3"/>
                <a:cs typeface="Source Sans 3"/>
                <a:sym typeface="Source Sans 3"/>
              </a:rPr>
              <a:t>tracts (metro)</a:t>
            </a:r>
            <a:endParaRPr/>
          </a:p>
        </p:txBody>
      </p:sp>
      <p:sp>
        <p:nvSpPr>
          <p:cNvPr id="933" name="Google Shape;933;p30"/>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38" name="Shape 938"/>
        <p:cNvGrpSpPr/>
        <p:nvPr/>
      </p:nvGrpSpPr>
      <p:grpSpPr>
        <a:xfrm>
          <a:off x="0" y="0"/>
          <a:ext cx="0" cy="0"/>
          <a:chOff x="0" y="0"/>
          <a:chExt cx="0" cy="0"/>
        </a:xfrm>
      </p:grpSpPr>
      <p:sp>
        <p:nvSpPr>
          <p:cNvPr id="939" name="Google Shape;939;p31"/>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31"/>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A21 · Q8 robustness</a:t>
            </a:r>
            <a:endParaRPr b="0" i="0" sz="1300" u="none" cap="none" strike="noStrike">
              <a:solidFill>
                <a:schemeClr val="dk1"/>
              </a:solidFill>
              <a:latin typeface="Source Sans 3"/>
              <a:ea typeface="Source Sans 3"/>
              <a:cs typeface="Source Sans 3"/>
              <a:sym typeface="Source Sans 3"/>
            </a:endParaRPr>
          </a:p>
        </p:txBody>
      </p:sp>
      <p:sp>
        <p:nvSpPr>
          <p:cNvPr id="941" name="Google Shape;941;p31"/>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942" name="Google Shape;942;p31"/>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943" name="Google Shape;943;p31"/>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A21</a:t>
            </a:r>
            <a:endParaRPr b="0" i="0" sz="1400" u="none" cap="none" strike="noStrike">
              <a:solidFill>
                <a:schemeClr val="dk1"/>
              </a:solidFill>
              <a:latin typeface="Source Sans 3"/>
              <a:ea typeface="Source Sans 3"/>
              <a:cs typeface="Source Sans 3"/>
              <a:sym typeface="Source Sans 3"/>
            </a:endParaRPr>
          </a:p>
        </p:txBody>
      </p:sp>
      <p:sp>
        <p:nvSpPr>
          <p:cNvPr id="944" name="Google Shape;944;p31"/>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Food deserts trail on reach in </a:t>
            </a:r>
            <a:r>
              <a:rPr b="1" i="0" lang="en-US" sz="2100">
                <a:solidFill>
                  <a:srgbClr val="B5501F"/>
                </a:solidFill>
                <a:latin typeface="Source Serif 4"/>
                <a:ea typeface="Source Serif 4"/>
                <a:cs typeface="Source Serif 4"/>
                <a:sym typeface="Source Serif 4"/>
              </a:rPr>
              <a:t>10 of 10</a:t>
            </a:r>
            <a:r>
              <a:rPr b="1" i="0" lang="en-US" sz="2100">
                <a:solidFill>
                  <a:srgbClr val="1F3B2D"/>
                </a:solidFill>
                <a:latin typeface="Source Serif 4"/>
                <a:ea typeface="Source Serif 4"/>
                <a:cs typeface="Source Serif 4"/>
                <a:sym typeface="Source Serif 4"/>
              </a:rPr>
              <a:t> definitions, on food in </a:t>
            </a:r>
            <a:r>
              <a:rPr b="1" i="0" lang="en-US" sz="2100">
                <a:solidFill>
                  <a:srgbClr val="B5501F"/>
                </a:solidFill>
                <a:latin typeface="Source Serif 4"/>
                <a:ea typeface="Source Serif 4"/>
                <a:cs typeface="Source Serif 4"/>
                <a:sym typeface="Source Serif 4"/>
              </a:rPr>
              <a:t>9 of 10</a:t>
            </a:r>
            <a:endParaRPr sz="2100"/>
          </a:p>
        </p:txBody>
      </p:sp>
      <p:graphicFrame>
        <p:nvGraphicFramePr>
          <p:cNvPr id="945" name="Google Shape;945;p31"/>
          <p:cNvGraphicFramePr/>
          <p:nvPr/>
        </p:nvGraphicFramePr>
        <p:xfrm>
          <a:off x="622300" y="1555750"/>
          <a:ext cx="3000000" cy="3000000"/>
        </p:xfrm>
        <a:graphic>
          <a:graphicData uri="http://schemas.openxmlformats.org/drawingml/2006/table">
            <a:tbl>
              <a:tblPr>
                <a:noFill/>
                <a:tableStyleId>{3A549D05-5588-473D-A51F-5109B3858E67}</a:tableStyleId>
              </a:tblPr>
              <a:tblGrid>
                <a:gridCol w="4603250"/>
                <a:gridCol w="1534425"/>
                <a:gridCol w="2849625"/>
                <a:gridCol w="1972825"/>
              </a:tblGrid>
              <a:tr h="379700">
                <a:tc>
                  <a:txBody>
                    <a:bodyPr/>
                    <a:lstStyle/>
                    <a:p>
                      <a:pPr indent="0" lvl="0" marL="0" marR="0" rtl="0" algn="l">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Variant</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LILA tracts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Near a shelf: LILA versus other</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c>
                  <a:txBody>
                    <a:bodyPr/>
                    <a:lstStyle/>
                    <a:p>
                      <a:pPr indent="0" lvl="0" marL="0" marR="0" rtl="0" algn="r">
                        <a:lnSpc>
                          <a:spcPct val="115000"/>
                        </a:lnSpc>
                        <a:spcBef>
                          <a:spcPts val="0"/>
                        </a:spcBef>
                        <a:spcAft>
                          <a:spcPts val="0"/>
                        </a:spcAft>
                        <a:buClr>
                          <a:srgbClr val="FFFFFF"/>
                        </a:buClr>
                        <a:buSzPts val="1300"/>
                        <a:buFont typeface="Source Sans 3"/>
                        <a:buNone/>
                      </a:pPr>
                      <a:r>
                        <a:rPr b="1" lang="en-US" sz="1300" u="none" cap="none" strike="noStrike">
                          <a:solidFill>
                            <a:srgbClr val="FFFFFF"/>
                          </a:solidFill>
                          <a:latin typeface="Source Sans 3"/>
                          <a:ea typeface="Source Sans 3"/>
                          <a:cs typeface="Source Sans 3"/>
                          <a:sym typeface="Source Sans 3"/>
                        </a:rPr>
                        <a:t>Pounds per person</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1D3227"/>
                      </a:solidFill>
                      <a:prstDash val="solid"/>
                      <a:round/>
                      <a:headEnd len="sm" w="sm" type="none"/>
                      <a:tailEnd len="sm" w="sm" type="none"/>
                    </a:lnL>
                    <a:lnR cap="flat" cmpd="sng" w="12700">
                      <a:solidFill>
                        <a:srgbClr val="1D3227"/>
                      </a:solidFill>
                      <a:prstDash val="solid"/>
                      <a:round/>
                      <a:headEnd len="sm" w="sm" type="none"/>
                      <a:tailEnd len="sm" w="sm" type="none"/>
                    </a:lnR>
                    <a:lnT cap="flat" cmpd="sng" w="12700">
                      <a:solidFill>
                        <a:srgbClr val="C5C1B9"/>
                      </a:solidFill>
                      <a:prstDash val="solid"/>
                      <a:round/>
                      <a:headEnd len="sm" w="sm" type="none"/>
                      <a:tailEnd len="sm" w="sm" type="none"/>
                    </a:lnT>
                    <a:lnB cap="flat" cmpd="sng" w="12700">
                      <a:solidFill>
                        <a:srgbClr val="1D3227"/>
                      </a:solidFill>
                      <a:prstDash val="solid"/>
                      <a:round/>
                      <a:headEnd len="sm" w="sm" type="none"/>
                      <a:tailEnd len="sm" w="sm" type="none"/>
                    </a:lnB>
                    <a:solidFill>
                      <a:srgbClr val="1F3B2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Main: 2025, 1 and 10 miles, driving</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versus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241 versus 290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1D3227"/>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straight-line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49</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50% versus 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193 versus 283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½ and 10 miles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291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58% versus 86%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271 versus 284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1 and 20 miles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106</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66% versus 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262 versus 281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2025, vehicle access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104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versus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288 versus 271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2019 Atlas (brief's source)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164</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60% versus 74%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226 versus 298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Fixed sites only</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63% versus 69%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241 versus 290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Capacity within 5 miles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versus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260 versus 279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Capacity within 20 miles</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65% versus 72%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249 versus 291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BCAC6"/>
                      </a:solidFill>
                      <a:prstDash val="solid"/>
                      <a:round/>
                      <a:headEnd len="sm" w="sm" type="none"/>
                      <a:tailEnd len="sm" w="sm" type="none"/>
                    </a:lnL>
                    <a:lnR cap="flat" cmpd="sng" w="12700">
                      <a:solidFill>
                        <a:srgbClr val="CBCAC6"/>
                      </a:solidFill>
                      <a:prstDash val="solid"/>
                      <a:round/>
                      <a:headEnd len="sm" w="sm" type="none"/>
                      <a:tailEnd len="sm" w="sm" type="none"/>
                    </a:lnR>
                    <a:lnT cap="flat" cmpd="sng" w="12700">
                      <a:solidFill>
                        <a:srgbClr val="C2BCB1"/>
                      </a:solidFill>
                      <a:prstDash val="solid"/>
                      <a:round/>
                      <a:headEnd len="sm" w="sm" type="none"/>
                      <a:tailEnd len="sm" w="sm" type="none"/>
                    </a:lnT>
                    <a:lnB cap="flat" cmpd="sng" w="12700">
                      <a:solidFill>
                        <a:srgbClr val="CBCAC6"/>
                      </a:solidFill>
                      <a:prstDash val="solid"/>
                      <a:round/>
                      <a:headEnd len="sm" w="sm" type="none"/>
                      <a:tailEnd len="sm" w="sm" type="none"/>
                    </a:lnB>
                    <a:solidFill>
                      <a:srgbClr val="FFFDF8"/>
                    </a:solidFill>
                  </a:tcPr>
                </a:tc>
              </a:tr>
              <a:tr h="379700">
                <a:tc>
                  <a:txBody>
                    <a:bodyPr/>
                    <a:lstStyle/>
                    <a:p>
                      <a:pPr indent="0" lvl="0" marL="0" marR="0" rtl="0" algn="l">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Weights: 2019 low-income</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5C1B9"/>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141</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61% versus 70%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c>
                  <a:txBody>
                    <a:bodyPr/>
                    <a:lstStyle/>
                    <a:p>
                      <a:pPr indent="0" lvl="0" marL="0" marR="0" rtl="0" algn="r">
                        <a:lnSpc>
                          <a:spcPct val="115000"/>
                        </a:lnSpc>
                        <a:spcBef>
                          <a:spcPts val="0"/>
                        </a:spcBef>
                        <a:spcAft>
                          <a:spcPts val="0"/>
                        </a:spcAft>
                        <a:buClr>
                          <a:srgbClr val="1F3B2D"/>
                        </a:buClr>
                        <a:buSzPts val="1300"/>
                        <a:buFont typeface="Source Sans 3"/>
                        <a:buNone/>
                      </a:pPr>
                      <a:r>
                        <a:rPr lang="en-US" sz="1300" u="none" cap="none" strike="noStrike">
                          <a:solidFill>
                            <a:srgbClr val="1F3B2D"/>
                          </a:solidFill>
                          <a:latin typeface="Source Sans 3"/>
                          <a:ea typeface="Source Sans 3"/>
                          <a:cs typeface="Source Sans 3"/>
                          <a:sym typeface="Source Sans 3"/>
                        </a:rPr>
                        <a:t>93 versus 125 ✓</a:t>
                      </a:r>
                      <a:endParaRPr sz="1300" u="none" cap="none" strike="noStrike">
                        <a:latin typeface="Source Sans 3"/>
                        <a:ea typeface="Source Sans 3"/>
                        <a:cs typeface="Source Sans 3"/>
                        <a:sym typeface="Source Sans 3"/>
                      </a:endParaRPr>
                    </a:p>
                  </a:txBody>
                  <a:tcPr marT="50800" marB="50800" marR="101600" marL="101600">
                    <a:lnL cap="flat" cmpd="sng" w="12700">
                      <a:solidFill>
                        <a:srgbClr val="C2BCB1"/>
                      </a:solidFill>
                      <a:prstDash val="solid"/>
                      <a:round/>
                      <a:headEnd len="sm" w="sm" type="none"/>
                      <a:tailEnd len="sm" w="sm" type="none"/>
                    </a:lnL>
                    <a:lnR cap="flat" cmpd="sng" w="12700">
                      <a:solidFill>
                        <a:srgbClr val="C2BCB1"/>
                      </a:solidFill>
                      <a:prstDash val="solid"/>
                      <a:round/>
                      <a:headEnd len="sm" w="sm" type="none"/>
                      <a:tailEnd len="sm" w="sm" type="none"/>
                    </a:lnR>
                    <a:lnT cap="flat" cmpd="sng" w="12700">
                      <a:solidFill>
                        <a:srgbClr val="CBCAC6"/>
                      </a:solidFill>
                      <a:prstDash val="solid"/>
                      <a:round/>
                      <a:headEnd len="sm" w="sm" type="none"/>
                      <a:tailEnd len="sm" w="sm" type="none"/>
                    </a:lnT>
                    <a:lnB cap="flat" cmpd="sng" w="12700">
                      <a:solidFill>
                        <a:srgbClr val="C2BCB1"/>
                      </a:solidFill>
                      <a:prstDash val="solid"/>
                      <a:round/>
                      <a:headEnd len="sm" w="sm" type="none"/>
                      <a:tailEnd len="sm" w="sm" type="none"/>
                    </a:lnB>
                    <a:solidFill>
                      <a:srgbClr val="F3ECDD"/>
                    </a:solidFill>
                  </a:tcPr>
                </a:tc>
              </a:tr>
            </a:tbl>
          </a:graphicData>
        </a:graphic>
      </p:graphicFrame>
      <p:sp>
        <p:nvSpPr>
          <p:cNvPr id="946" name="Google Shape;946;p31"/>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Team notebook Q8_02, section 4; q8_robustness.csv · The vehicle-access definition reverses capacity</a:t>
            </a:r>
            <a:endParaRPr b="0" i="0" sz="1200" u="none" cap="none" strike="noStrike">
              <a:solidFill>
                <a:schemeClr val="dk1"/>
              </a:solidFill>
              <a:latin typeface="Source Sans 3"/>
              <a:ea typeface="Source Sans 3"/>
              <a:cs typeface="Source Sans 3"/>
              <a:sym typeface="Source Sans 3"/>
            </a:endParaRPr>
          </a:p>
        </p:txBody>
      </p:sp>
      <p:sp>
        <p:nvSpPr>
          <p:cNvPr id="947" name="Google Shape;947;p31"/>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8" name="Google Shape;948;p31"/>
          <p:cNvSpPr/>
          <p:nvPr/>
        </p:nvSpPr>
        <p:spPr>
          <a:xfrm>
            <a:off x="0" y="6803136"/>
            <a:ext cx="11661913"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9" name="Google Shape;949;p31"/>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8"/>
        </a:solidFill>
      </p:bgPr>
    </p:bg>
    <p:spTree>
      <p:nvGrpSpPr>
        <p:cNvPr id="954" name="Shape 954"/>
        <p:cNvGrpSpPr/>
        <p:nvPr/>
      </p:nvGrpSpPr>
      <p:grpSpPr>
        <a:xfrm>
          <a:off x="0" y="0"/>
          <a:ext cx="0" cy="0"/>
          <a:chOff x="0" y="0"/>
          <a:chExt cx="0" cy="0"/>
        </a:xfrm>
      </p:grpSpPr>
      <p:sp>
        <p:nvSpPr>
          <p:cNvPr id="955" name="Google Shape;955;p32"/>
          <p:cNvSpPr/>
          <p:nvPr/>
        </p:nvSpPr>
        <p:spPr>
          <a:xfrm>
            <a:off x="609600" y="292100"/>
            <a:ext cx="114300" cy="114300"/>
          </a:xfrm>
          <a:prstGeom prst="roundRect">
            <a:avLst>
              <a:gd fmla="val 16667" name="adj"/>
            </a:avLst>
          </a:prstGeom>
          <a:solidFill>
            <a:srgbClr val="D9622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32"/>
          <p:cNvSpPr/>
          <p:nvPr/>
        </p:nvSpPr>
        <p:spPr>
          <a:xfrm>
            <a:off x="812800" y="228600"/>
            <a:ext cx="7194550" cy="2234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F3B2D"/>
              </a:buClr>
              <a:buSzPts val="1300"/>
              <a:buFont typeface="Source Sans 3"/>
              <a:buNone/>
            </a:pPr>
            <a:r>
              <a:rPr b="1" i="0" lang="en-US" sz="1300" u="none" cap="none" strike="noStrike">
                <a:solidFill>
                  <a:srgbClr val="1F3B2D"/>
                </a:solidFill>
                <a:latin typeface="Source Sans 3"/>
                <a:ea typeface="Source Sans 3"/>
                <a:cs typeface="Source Sans 3"/>
                <a:sym typeface="Source Sans 3"/>
              </a:rPr>
              <a:t>Appendix A22 · Limits and checks</a:t>
            </a:r>
            <a:endParaRPr b="0" i="0" sz="1300" u="none" cap="none" strike="noStrike">
              <a:solidFill>
                <a:schemeClr val="dk1"/>
              </a:solidFill>
              <a:latin typeface="Source Sans 3"/>
              <a:ea typeface="Source Sans 3"/>
              <a:cs typeface="Source Sans 3"/>
              <a:sym typeface="Source Sans 3"/>
            </a:endParaRPr>
          </a:p>
        </p:txBody>
      </p:sp>
      <p:sp>
        <p:nvSpPr>
          <p:cNvPr id="957" name="Google Shape;957;p32"/>
          <p:cNvSpPr/>
          <p:nvPr/>
        </p:nvSpPr>
        <p:spPr>
          <a:xfrm>
            <a:off x="7658100" y="228600"/>
            <a:ext cx="3924300" cy="208260"/>
          </a:xfrm>
          <a:prstGeom prst="rect">
            <a:avLst/>
          </a:prstGeom>
          <a:noFill/>
          <a:ln>
            <a:noFill/>
          </a:ln>
        </p:spPr>
        <p:txBody>
          <a:bodyPr anchorCtr="0" anchor="t" bIns="0" lIns="0" spcFirstLastPara="1" rIns="0" wrap="square" tIns="0">
            <a:noAutofit/>
          </a:bodyPr>
          <a:lstStyle/>
          <a:p>
            <a:pPr indent="0" lvl="0" marL="0" marR="0" rtl="0" algn="r">
              <a:lnSpc>
                <a:spcPct val="120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MinneMUDAC 2026 · The Food Group</a:t>
            </a:r>
            <a:endParaRPr b="0" i="0" sz="1200" u="none" cap="none" strike="noStrike">
              <a:solidFill>
                <a:schemeClr val="dk1"/>
              </a:solidFill>
              <a:latin typeface="Source Sans 3"/>
              <a:ea typeface="Source Sans 3"/>
              <a:cs typeface="Source Sans 3"/>
              <a:sym typeface="Source Sans 3"/>
            </a:endParaRPr>
          </a:p>
        </p:txBody>
      </p:sp>
      <p:pic>
        <p:nvPicPr>
          <p:cNvPr descr="line" id="958" name="Google Shape;958;p32"/>
          <p:cNvPicPr preferRelativeResize="0"/>
          <p:nvPr/>
        </p:nvPicPr>
        <p:blipFill rotWithShape="1">
          <a:blip r:embed="rId3">
            <a:alphaModFix/>
          </a:blip>
          <a:srcRect b="0" l="0" r="0" t="0"/>
          <a:stretch/>
        </p:blipFill>
        <p:spPr>
          <a:xfrm>
            <a:off x="609600" y="546100"/>
            <a:ext cx="10972800" cy="25400"/>
          </a:xfrm>
          <a:prstGeom prst="rect">
            <a:avLst/>
          </a:prstGeom>
          <a:noFill/>
          <a:ln>
            <a:noFill/>
          </a:ln>
        </p:spPr>
      </p:pic>
      <p:sp>
        <p:nvSpPr>
          <p:cNvPr id="959" name="Google Shape;959;p32"/>
          <p:cNvSpPr/>
          <p:nvPr/>
        </p:nvSpPr>
        <p:spPr>
          <a:xfrm>
            <a:off x="609600" y="812800"/>
            <a:ext cx="558800" cy="558800"/>
          </a:xfrm>
          <a:prstGeom prst="roundRect">
            <a:avLst>
              <a:gd fmla="val 18182" name="adj"/>
            </a:avLst>
          </a:prstGeom>
          <a:gradFill>
            <a:gsLst>
              <a:gs pos="0">
                <a:srgbClr val="1F3B2D"/>
              </a:gs>
              <a:gs pos="100000">
                <a:srgbClr val="2C524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Source Serif 4"/>
              <a:buNone/>
            </a:pPr>
            <a:r>
              <a:rPr b="1" i="0" lang="en-US" sz="1400" u="none" cap="none" strike="noStrike">
                <a:solidFill>
                  <a:srgbClr val="FFFFFF"/>
                </a:solidFill>
                <a:latin typeface="Source Serif 4"/>
                <a:ea typeface="Source Serif 4"/>
                <a:cs typeface="Source Serif 4"/>
                <a:sym typeface="Source Serif 4"/>
              </a:rPr>
              <a:t>A22</a:t>
            </a:r>
            <a:endParaRPr b="0" i="0" sz="1400" u="none" cap="none" strike="noStrike">
              <a:solidFill>
                <a:schemeClr val="dk1"/>
              </a:solidFill>
              <a:latin typeface="Source Sans 3"/>
              <a:ea typeface="Source Sans 3"/>
              <a:cs typeface="Source Sans 3"/>
              <a:sym typeface="Source Sans 3"/>
            </a:endParaRPr>
          </a:p>
        </p:txBody>
      </p:sp>
      <p:sp>
        <p:nvSpPr>
          <p:cNvPr id="960" name="Google Shape;960;p32"/>
          <p:cNvSpPr txBox="1"/>
          <p:nvPr>
            <p:ph type="title"/>
          </p:nvPr>
        </p:nvSpPr>
        <p:spPr>
          <a:xfrm>
            <a:off x="1320800" y="945505"/>
            <a:ext cx="10261600" cy="31874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1F3B2D"/>
              </a:buClr>
              <a:buSzPts val="2100"/>
              <a:buFont typeface="Source Serif 4"/>
              <a:buNone/>
            </a:pPr>
            <a:r>
              <a:rPr b="1" i="0" lang="en-US" sz="2100">
                <a:solidFill>
                  <a:srgbClr val="1F3B2D"/>
                </a:solidFill>
                <a:latin typeface="Source Serif 4"/>
                <a:ea typeface="Source Serif 4"/>
                <a:cs typeface="Source Serif 4"/>
                <a:sym typeface="Source Serif 4"/>
              </a:rPr>
              <a:t>Five limits we name, and five checks that tried to prove us wrong</a:t>
            </a:r>
            <a:endParaRPr sz="2100"/>
          </a:p>
        </p:txBody>
      </p:sp>
      <p:sp>
        <p:nvSpPr>
          <p:cNvPr id="961" name="Google Shape;961;p32"/>
          <p:cNvSpPr/>
          <p:nvPr/>
        </p:nvSpPr>
        <p:spPr>
          <a:xfrm>
            <a:off x="615950" y="1555750"/>
            <a:ext cx="5384800" cy="1950000"/>
          </a:xfrm>
          <a:prstGeom prst="roundRect">
            <a:avLst>
              <a:gd fmla="val 6844" name="adj"/>
            </a:avLst>
          </a:prstGeom>
          <a:solidFill>
            <a:srgbClr val="FFFDF8"/>
          </a:solidFill>
          <a:ln cap="flat" cmpd="sng" w="12700">
            <a:solidFill>
              <a:srgbClr val="E3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32"/>
          <p:cNvSpPr/>
          <p:nvPr/>
        </p:nvSpPr>
        <p:spPr>
          <a:xfrm>
            <a:off x="787400" y="1695450"/>
            <a:ext cx="511175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3B2D"/>
              </a:buClr>
              <a:buSzPts val="1300"/>
              <a:buFont typeface="Source Serif 4"/>
              <a:buNone/>
            </a:pPr>
            <a:r>
              <a:rPr b="1" i="0" lang="en-US" sz="1300" u="none" cap="none" strike="noStrike">
                <a:solidFill>
                  <a:srgbClr val="1F3B2D"/>
                </a:solidFill>
                <a:latin typeface="Source Serif 4"/>
                <a:ea typeface="Source Serif 4"/>
                <a:cs typeface="Source Serif 4"/>
                <a:sym typeface="Source Serif 4"/>
              </a:rPr>
              <a:t>Limits</a:t>
            </a:r>
            <a:endParaRPr b="0" i="0" sz="1300" u="none" cap="none" strike="noStrike">
              <a:solidFill>
                <a:schemeClr val="dk1"/>
              </a:solidFill>
              <a:latin typeface="Source Sans 3"/>
              <a:ea typeface="Source Sans 3"/>
              <a:cs typeface="Source Sans 3"/>
              <a:sym typeface="Source Sans 3"/>
            </a:endParaRPr>
          </a:p>
        </p:txBody>
      </p:sp>
      <p:sp>
        <p:nvSpPr>
          <p:cNvPr id="963" name="Google Shape;963;p32"/>
          <p:cNvSpPr/>
          <p:nvPr/>
        </p:nvSpPr>
        <p:spPr>
          <a:xfrm>
            <a:off x="787400" y="1977380"/>
            <a:ext cx="5111750" cy="1500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Households served are not visits (about 28% of published totals)</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Partner network only; 39 sites unlocated</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Straight-line distance, not drive time</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One big SNAP shock to learn from</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5000"/>
              </a:lnSpc>
              <a:spcBef>
                <a:spcPts val="0"/>
              </a:spcBef>
              <a:spcAft>
                <a:spcPts val="0"/>
              </a:spcAft>
              <a:buClr>
                <a:srgbClr val="1F3B2D"/>
              </a:buClr>
              <a:buSzPts val="1200"/>
              <a:buFont typeface="Source Sans 3"/>
              <a:buNone/>
            </a:pPr>
            <a:r>
              <a:rPr b="0" i="0" lang="en-US" sz="1200" u="none" cap="none" strike="noStrike">
                <a:solidFill>
                  <a:srgbClr val="1F3B2D"/>
                </a:solidFill>
                <a:latin typeface="Source Sans 3"/>
                <a:ea typeface="Source Sans 3"/>
                <a:cs typeface="Source Sans 3"/>
                <a:sym typeface="Source Sans 3"/>
              </a:rPr>
              <a:t>• Meal cost not comparable before 2023</a:t>
            </a:r>
            <a:endParaRPr b="0" i="0" sz="1200" u="none" cap="none" strike="noStrike">
              <a:solidFill>
                <a:schemeClr val="dk1"/>
              </a:solidFill>
              <a:latin typeface="Source Sans 3"/>
              <a:ea typeface="Source Sans 3"/>
              <a:cs typeface="Source Sans 3"/>
              <a:sym typeface="Source Sans 3"/>
            </a:endParaRPr>
          </a:p>
        </p:txBody>
      </p:sp>
      <p:sp>
        <p:nvSpPr>
          <p:cNvPr id="964" name="Google Shape;964;p32"/>
          <p:cNvSpPr/>
          <p:nvPr/>
        </p:nvSpPr>
        <p:spPr>
          <a:xfrm>
            <a:off x="6184900" y="1555750"/>
            <a:ext cx="5397500" cy="1950000"/>
          </a:xfrm>
          <a:prstGeom prst="roundRect">
            <a:avLst>
              <a:gd fmla="val 7189" name="adj"/>
            </a:avLst>
          </a:prstGeom>
          <a:gradFill>
            <a:gsLst>
              <a:gs pos="0">
                <a:srgbClr val="1F3B2D"/>
              </a:gs>
              <a:gs pos="100000">
                <a:srgbClr val="2C5240"/>
              </a:gs>
            </a:gsLst>
            <a:lin ang="27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32"/>
          <p:cNvSpPr/>
          <p:nvPr/>
        </p:nvSpPr>
        <p:spPr>
          <a:xfrm>
            <a:off x="6362700" y="1708150"/>
            <a:ext cx="51181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544"/>
              </a:buClr>
              <a:buSzPts val="1200"/>
              <a:buFont typeface="Source Sans 3"/>
              <a:buNone/>
            </a:pPr>
            <a:r>
              <a:rPr b="1" i="0" lang="en-US" sz="1200" u="none" cap="none" strike="noStrike">
                <a:solidFill>
                  <a:srgbClr val="F2B544"/>
                </a:solidFill>
                <a:latin typeface="Source Sans 3"/>
                <a:ea typeface="Source Sans 3"/>
                <a:cs typeface="Source Sans 3"/>
                <a:sym typeface="Source Sans 3"/>
              </a:rPr>
              <a:t>CHECKS</a:t>
            </a:r>
            <a:endParaRPr b="0" i="0" sz="1200" u="none" cap="none" strike="noStrike">
              <a:solidFill>
                <a:schemeClr val="dk1"/>
              </a:solidFill>
              <a:latin typeface="Source Sans 3"/>
              <a:ea typeface="Source Sans 3"/>
              <a:cs typeface="Source Sans 3"/>
              <a:sym typeface="Source Sans 3"/>
            </a:endParaRPr>
          </a:p>
        </p:txBody>
      </p:sp>
      <p:sp>
        <p:nvSpPr>
          <p:cNvPr id="966" name="Google Shape;966;p32"/>
          <p:cNvSpPr/>
          <p:nvPr/>
        </p:nvSpPr>
        <p:spPr>
          <a:xfrm>
            <a:off x="6362700" y="1959570"/>
            <a:ext cx="5118100" cy="15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Q4: The lag failed falsification, so it is not claimed.</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Q5: The placebo test picks spring 2023.</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Q6: The index beats the rate alone.</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Q7: The holdout year rejected the fancier model.</a:t>
            </a:r>
            <a:endParaRPr b="0" i="0" sz="1200" u="none" cap="none" strike="noStrike">
              <a:solidFill>
                <a:schemeClr val="dk1"/>
              </a:solidFill>
              <a:latin typeface="Source Sans 3"/>
              <a:ea typeface="Source Sans 3"/>
              <a:cs typeface="Source Sans 3"/>
              <a:sym typeface="Source Sans 3"/>
            </a:endParaRPr>
          </a:p>
          <a:p>
            <a:pPr indent="0" lvl="0" marL="0" marR="0" rtl="0" algn="l">
              <a:lnSpc>
                <a:spcPct val="130000"/>
              </a:lnSpc>
              <a:spcBef>
                <a:spcPts val="0"/>
              </a:spcBef>
              <a:spcAft>
                <a:spcPts val="0"/>
              </a:spcAft>
              <a:buClr>
                <a:srgbClr val="F7F2E8"/>
              </a:buClr>
              <a:buSzPts val="1200"/>
              <a:buFont typeface="Source Sans 3"/>
              <a:buNone/>
            </a:pPr>
            <a:r>
              <a:rPr b="0" i="0" lang="en-US" sz="1200" u="none" cap="none" strike="noStrike">
                <a:solidFill>
                  <a:srgbClr val="F7F2E8"/>
                </a:solidFill>
                <a:latin typeface="Source Sans 3"/>
                <a:ea typeface="Source Sans 3"/>
                <a:cs typeface="Source Sans 3"/>
                <a:sym typeface="Source Sans 3"/>
              </a:rPr>
              <a:t>• Q8: Results hold in 10 of 10 definitions.</a:t>
            </a:r>
            <a:endParaRPr b="0" i="0" sz="1200" u="none" cap="none" strike="noStrike">
              <a:solidFill>
                <a:schemeClr val="dk1"/>
              </a:solidFill>
              <a:latin typeface="Source Sans 3"/>
              <a:ea typeface="Source Sans 3"/>
              <a:cs typeface="Source Sans 3"/>
              <a:sym typeface="Source Sans 3"/>
            </a:endParaRPr>
          </a:p>
        </p:txBody>
      </p:sp>
      <p:sp>
        <p:nvSpPr>
          <p:cNvPr id="967" name="Google Shape;967;p32"/>
          <p:cNvSpPr/>
          <p:nvPr/>
        </p:nvSpPr>
        <p:spPr>
          <a:xfrm>
            <a:off x="609600" y="6286500"/>
            <a:ext cx="11301984" cy="215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A50"/>
              </a:buClr>
              <a:buSzPts val="1200"/>
              <a:buFont typeface="Source Sans 3"/>
              <a:buNone/>
            </a:pPr>
            <a:r>
              <a:rPr b="0" i="0" lang="en-US" sz="1200" u="none" cap="none" strike="noStrike">
                <a:solidFill>
                  <a:srgbClr val="4B5A50"/>
                </a:solidFill>
                <a:latin typeface="Source Sans 3"/>
                <a:ea typeface="Source Sans 3"/>
                <a:cs typeface="Source Sans 3"/>
                <a:sym typeface="Source Sans 3"/>
              </a:rPr>
              <a:t>Cleaning decisions in Appendix A6</a:t>
            </a:r>
            <a:endParaRPr b="0" i="0" sz="1200" u="none" cap="none" strike="noStrike">
              <a:solidFill>
                <a:schemeClr val="dk1"/>
              </a:solidFill>
              <a:latin typeface="Source Sans 3"/>
              <a:ea typeface="Source Sans 3"/>
              <a:cs typeface="Source Sans 3"/>
              <a:sym typeface="Source Sans 3"/>
            </a:endParaRPr>
          </a:p>
        </p:txBody>
      </p:sp>
      <p:sp>
        <p:nvSpPr>
          <p:cNvPr id="968" name="Google Shape;968;p32"/>
          <p:cNvSpPr/>
          <p:nvPr/>
        </p:nvSpPr>
        <p:spPr>
          <a:xfrm>
            <a:off x="0" y="6803136"/>
            <a:ext cx="12192000" cy="54864"/>
          </a:xfrm>
          <a:prstGeom prst="rect">
            <a:avLst/>
          </a:prstGeom>
          <a:solidFill>
            <a:srgbClr val="E3D9C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9" name="Google Shape;969;p32"/>
          <p:cNvSpPr/>
          <p:nvPr/>
        </p:nvSpPr>
        <p:spPr>
          <a:xfrm>
            <a:off x="0" y="6803136"/>
            <a:ext cx="12192000" cy="54864"/>
          </a:xfrm>
          <a:prstGeom prst="rect">
            <a:avLst/>
          </a:prstGeom>
          <a:solidFill>
            <a:srgbClr val="1F3B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0" name="Google Shape;970;p32"/>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MinneMUDAC 2026: Demand Is Not Need">
  <a:themeElements>
    <a:clrScheme name="MinneMUDAC 2026: Demand Is Not Need">
      <a:dk1>
        <a:srgbClr val="1F3B2D"/>
      </a:dk1>
      <a:lt1>
        <a:srgbClr val="F7F2E8"/>
      </a:lt1>
      <a:dk2>
        <a:srgbClr val="55695C"/>
      </a:dk2>
      <a:lt2>
        <a:srgbClr val="E1E0D5"/>
      </a:lt2>
      <a:accent1>
        <a:srgbClr val="D9622B"/>
      </a:accent1>
      <a:accent2>
        <a:srgbClr val="F2B544"/>
      </a:accent2>
      <a:accent3>
        <a:srgbClr val="B5501F"/>
      </a:accent3>
      <a:accent4>
        <a:srgbClr val="E5814A"/>
      </a:accent4>
      <a:accent5>
        <a:srgbClr val="4B5A50"/>
      </a:accent5>
      <a:accent6>
        <a:srgbClr val="1F1A1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neMUDAC 2026: Demand Is Not Need">
  <a:themeElements>
    <a:clrScheme name="MinneMUDAC 2026: Demand Is Not Need">
      <a:dk1>
        <a:srgbClr val="1F3B2D"/>
      </a:dk1>
      <a:lt1>
        <a:srgbClr val="F7F2E8"/>
      </a:lt1>
      <a:dk2>
        <a:srgbClr val="55695C"/>
      </a:dk2>
      <a:lt2>
        <a:srgbClr val="E1E0D5"/>
      </a:lt2>
      <a:accent1>
        <a:srgbClr val="D9622B"/>
      </a:accent1>
      <a:accent2>
        <a:srgbClr val="F2B544"/>
      </a:accent2>
      <a:accent3>
        <a:srgbClr val="B5501F"/>
      </a:accent3>
      <a:accent4>
        <a:srgbClr val="E5814A"/>
      </a:accent4>
      <a:accent5>
        <a:srgbClr val="4B5A50"/>
      </a:accent5>
      <a:accent6>
        <a:srgbClr val="1F1A1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2026-10-12T16:12:21Z</dcterms:created>
</cp:coreProperties>
</file>